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I'm [name], and I'll be guiding you through this course.</a:t>
            </a:r>
          </a:p>
          <a:p/>
          <a:p>
            <a:r>
              <a:t>Before we dive into the syllabus, let me tell you the single idea that drives this entire course: by the end of 10 sessions, each of you will have built a complete embedded Linux system from scratch on a Raspberry Pi 4. Not a demo. Not a tutorial you follow along with. A real system — cross-compiled kernel, custom rootfs, bootloader configuration, and a running application.</a:t>
            </a:r>
          </a:p>
          <a:p/>
          <a:p>
            <a:r>
              <a:t>This is a professional-paced course. You're working engineers, so I'm going to treat you like colleagues, not students. That means dense content, real tools, and hands-on labs starting from session 1.</a:t>
            </a:r>
          </a:p>
          <a:p/>
          <a:p>
            <a:r>
              <a:t>We'll use the Raspberry Pi 4 as our hardware target because it's powerful enough to run mainline Linux well, affordable, and the BCM2711 SoC has excellent upstream support — which means what you learn here transfers to custom ARM boards you'll encounter in industry.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destination. By the end of this course, you will have built every layer of an embedded Linux system for the Raspberry Pi 4.</a:t>
            </a:r>
          </a:p>
          <a:p/>
          <a:p>
            <a:r>
              <a:t>Let me be specific about what "from scratch" means. You will not download a pre-built SD card image and call it done. You will:</a:t>
            </a:r>
          </a:p>
          <a:p/>
          <a:p>
            <a:r>
              <a:t>1. Build a cross-compiler toolchain that runs on your x86 laptop but produces ARM64 binaries.</a:t>
            </a:r>
          </a:p>
          <a:p>
            <a:r>
              <a:t>2. Configure and compile the Linux kernel, understanding what goes into .config.</a:t>
            </a:r>
          </a:p>
          <a:p>
            <a:r>
              <a:t>3. Build a minimal root filesystem — deciding what goes in, what stays out.</a:t>
            </a:r>
          </a:p>
          <a:p>
            <a:r>
              <a:t>4. Configure U-Boot to load your kernel from the SD card.</a:t>
            </a:r>
          </a:p>
          <a:p>
            <a:r>
              <a:t>5. Write a C application, cross-compile it, and run it on the RPi4.</a:t>
            </a:r>
          </a:p>
          <a:p>
            <a:r>
              <a:t>6. Debug it remotely using GDB over a serial connection.</a:t>
            </a:r>
          </a:p>
          <a:p/>
          <a:p>
            <a:r>
              <a:t>This is the workflow professional embedded Linux engineers use every day. The RPi4 is our vehicle, but the skills transfer directly to custom boards — NXP i.MX, TI Sitara, Microchip SAMA5 — that you'll encounter in industry.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break down each of these four pillars, because this is what separates embedded Linux from "I installed Ubuntu on a Pi."</a:t>
            </a:r>
          </a:p>
          <a:p/>
          <a:p>
            <a:r>
              <a:t>Cross-compile the kernel: You'll run make on your x86 workstation, but the output is an ARM64 kernel image. Understanding the toolchain — the cross-compiler, linker, and sysroot — is Session 2's topic.</a:t>
            </a:r>
          </a:p>
          <a:p/>
          <a:p>
            <a:r>
              <a:t>Build the root filesystem: A rootfs is not just "some files." It's a deliberate selection of libraries, an init system, device nodes in /dev, and configuration files. You'll build one two ways: with Buildroot (automated) and by hand (to understand what's inside). That's Sessions 3 and 4.</a:t>
            </a:r>
          </a:p>
          <a:p/>
          <a:p>
            <a:r>
              <a:t>Configure the bootloader: On ARM systems, U-Boot is the standard. You'll learn the boot sequence — ROM code loads SPL, SPL loads U-Boot, U-Boot loads the kernel — and how to configure boot arguments. Session 2 covers this.</a:t>
            </a:r>
          </a:p>
          <a:p/>
          <a:p>
            <a:r>
              <a:t>Write and deploy an application: This is where it all comes together. You'll write a C program, cross-compile it, get it onto the target (via NFS or SD card), and run it. Then you'll debug it with GDB connected over serial. Sessions 5-9 build toward this.</a:t>
            </a:r>
          </a:p>
          <a:p/>
          <a:p>
            <a:r>
              <a:t>The key insight: each layer depends on the one below it. That's why we build bottom-up.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10-session arc. Notice the structure: we start with the big picture today, then go deep on each layer of the stack, and finish with realtime — which is where many of you will apply these skills.</a:t>
            </a:r>
          </a:p>
          <a:p/>
          <a:p>
            <a:r>
              <a:t>Sessions 2-4 are the build phase: toolchain, bootloader, kernel, rootfs. This is the "plumbing" — not glamorous, but absolutely essential. If you don't understand how your kernel got built and how it boots, you'll be lost when things go wrong in the field.</a:t>
            </a:r>
          </a:p>
          <a:p/>
          <a:p>
            <a:r>
              <a:t>Sessions 5-6 go inside the kernel: how it's organized, how device trees describe hardware, how interrupts work. This is where bare-metal engineers often have "aha" moments — you'll see how the kernel abstracts the hardware you already understand.</a:t>
            </a:r>
          </a:p>
          <a:p/>
          <a:p>
            <a:r>
              <a:t>Sessions 7-8 are application-level: processes, threads, IPC, and embedded Python. This is where you write the code that actually does the thing your product needs to do.</a:t>
            </a:r>
          </a:p>
          <a:p/>
          <a:p>
            <a:r>
              <a:t>Session 9 is debug and profiling: GDB, strace, perf, ftrace. In industry, you spend more time debugging than writing new code. This session teaches you the tools.</a:t>
            </a:r>
          </a:p>
          <a:p/>
          <a:p>
            <a:r>
              <a:t>Session 10 is realtime: PREEMPT_RT, scheduling latency, cyclictest. This is critical for control systems, robotics, and industrial applications.</a:t>
            </a:r>
          </a:p>
          <a:p/>
          <a:p>
            <a:r>
              <a:t>Today, we start at the top — understanding the destination — and then we'll begin the build.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run through the hardware list. You need a Raspberry Pi 4 — the 2GB model is fine, though 4GB gives you more headroom. The microSD card should be at least 16GB, Class 10 or better.</a:t>
            </a:r>
          </a:p>
          <a:p/>
          <a:p>
            <a:r>
              <a:t>The serial cable is critical. You'll use a USB-to-TTL serial adapter — 3.3V logic level, not RS-232. The FTDI FT232R or CP2102 based cables work well. You'll connect it to the RPi4's GPIO UART pins (GPIO 14/15, pins 8/10 on the header). This serial console is how you'll see boot messages and interact with U-Boot before Linux even starts networking.</a:t>
            </a:r>
          </a:p>
          <a:p/>
          <a:p>
            <a:r>
              <a:t>For prerequisites: you need to be comfortable in C. We'll write C programs and read kernel code. You don't need to be a kernel hacker — I'll teach you what you need. Bare-metal experience is helpful because you'll already understand registers, memory-mapped I/O, and the boot process at a conceptual level. But if you come from a pure software background, you'll be fine — we cover the hardware interface.</a:t>
            </a:r>
          </a:p>
          <a:p/>
          <a:p>
            <a:r>
              <a:t>You should have completed the AI for Programmers session, because we're going to use AI coding assistants as a core tool in this course starting today.</a:t>
            </a:r>
          </a:p>
          <a:p/>
          <a:p>
            <a:r>
              <a:t>For your workstation, I recommend Ubuntu 22.04 or newer. Any Linux distro works, but the lab instructions will assume Ubuntu/Debian package names. macOS with Homebrew is possible but you may hit edge cases with USB device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makes embedded Linux different from the Linux you run on a server or desktop?</a:t>
            </a:r>
          </a:p>
          <a:p/>
          <a:p>
            <a:r>
              <a:t>First, resources. Your RPi4 has 2-8GB of RAM and a microSD card for storage. That sounds like a lot compared to a microcontroller, but it's tiny compared to a server. You need to think about what goes into your rootfs, what kernel features you enable, and how much RAM your application needs.</a:t>
            </a:r>
          </a:p>
          <a:p/>
          <a:p>
            <a:r>
              <a:t>Second, cross-development. The RPi4 can technically compile software natively, but it's slow and impractical. In production embedded systems, the target often doesn't have enough resources to build anything. So you build on a powerful x86 host and transfer binaries to the ARM target. This host-target split is fundamental to embedded development.</a:t>
            </a:r>
          </a:p>
          <a:p/>
          <a:p>
            <a:r>
              <a:t>Third, the boot process. On a PC, BIOS or UEFI handles hardware initialization and finds a bootloader. On ARM embedded systems, there's no standard firmware interface. The ROM code on the SoC loads a secondary program loader, which loads U-Boot, which loads the kernel. You configure every step. This is more work, but it means you have complete control.</a:t>
            </a:r>
          </a:p>
          <a:p/>
          <a:p>
            <a:r>
              <a:t>Fourth, no GUI. Your embedded system will talk to you over a serial cable at 115200 baud. If you need a display, you add it deliberately. The serial console is your primary debug and management interface throughout this course.</a:t>
            </a:r>
          </a:p>
          <a:p/>
          <a:p>
            <a:r>
              <a:t>Fifth, hardware description. On ARM, we use device trees — data structures that tell the kernel what hardware is present. On x86, ACPI does this. You'll write and modify device trees in Session 6.</a:t>
            </a:r>
          </a:p>
          <a:p/>
          <a:p>
            <a:r>
              <a:t>Finally, updates. In embedded systems, you can't just run apt upgrade. You need a strategy for updating firmware, kernel, and application in the field — safely, with rollback capability. We cover this in Session 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the mental model for the entire course. Every embedded Linux system has these five layers, and each one is a course topic.</a:t>
            </a:r>
          </a:p>
          <a:p/>
          <a:p>
            <a:r>
              <a:t>At the bottom: hardware. The Raspberry Pi 4 uses the Broadcom BCM2711 SoC with four Cortex-A72 cores running at 1.5GHz. It has RAM, USB, Ethernet, GPIO, UART, SPI, I2C — all the interfaces you'd expect. You don't need to be a hardware designer, but you need to understand what the SoC provides.</a:t>
            </a:r>
          </a:p>
          <a:p/>
          <a:p>
            <a:r>
              <a:t>Layer 2: the bootloader. U-Boot — "Universal Boot Loader" — is the standard for ARM embedded Linux. It initializes DRAM, sets up the memory controller, loads the kernel from storage into RAM, and jumps to it. U-Boot also provides a command-line interface over serial, which is invaluable for debugging boot problems.</a:t>
            </a:r>
          </a:p>
          <a:p/>
          <a:p>
            <a:r>
              <a:t>Layer 3: the Linux kernel. This is the heart of the system — process scheduling, memory management, device drivers, filesystems, networking. We'll configure and build a custom kernel, and you'll understand what each major subsystem does.</a:t>
            </a:r>
          </a:p>
          <a:p/>
          <a:p>
            <a:r>
              <a:t>Layer 4: the root filesystem. This is the userspace — the init system, shared libraries, configuration files, and utilities your application needs. We'll build minimal rootfs images and understand exactly what's in them.</a:t>
            </a:r>
          </a:p>
          <a:p/>
          <a:p>
            <a:r>
              <a:t>Layer 5: your application. This is the code that makes your product do its thing. We'll write, cross-compile, deploy, and debug a real application.</a:t>
            </a:r>
          </a:p>
          <a:p/>
          <a:p>
            <a:r>
              <a:t>The key point: we build this stack bottom-up in the course. You can't run an application if your kernel doesn't boot. You can't boot a kernel if your bootloader isn't configured. Each session builds on the last.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Linux and not FreeRTOS, Zephyr, or a bare-metal approach? And why Linux and not a proprietary RTOS?</a:t>
            </a:r>
          </a:p>
          <a:p/>
          <a:p>
            <a:r>
              <a:t>First, open source. You have access to the full source code of the kernel, bootloader, toolchain, and most userspace components. When something breaks — and it will — you can read the source. You're not dependent on a vendor's support contract.</a:t>
            </a:r>
          </a:p>
          <a:p/>
          <a:p>
            <a:r>
              <a:t>Second, hardware support. The mainline Linux kernel supports the RPi4's BCM2711 SoC, including USB, Ethernet, GPIO, SPI, I2C, and the VideoCore GPU. This level of support took years of community effort. On a custom board, you'd write a device tree to describe your hardware, and all those drivers just work.</a:t>
            </a:r>
          </a:p>
          <a:p/>
          <a:p>
            <a:r>
              <a:t>Third, the toolchain. GCC, GDB, and binutils are production-quality tools that have been used in embedded development for decades. The Arm GNU Toolchain (formerly ARM GNU Toolchain) provides a maintained aarch64 cross-compiler.</a:t>
            </a:r>
          </a:p>
          <a:p/>
          <a:p>
            <a:r>
              <a:t>Fourth, community. The Linux kernel documentation at kernel.org/doc is excellent. Bootlin's free training materials at bootlin.com/doc/training cover embedded Linux comprehensively. LWN.net provides deep technical articles on kernel development.</a:t>
            </a:r>
          </a:p>
          <a:p/>
          <a:p>
            <a:r>
              <a:t>Now, the licensing point is important for industry. Linux is GPL v2. If you distribute a product with a modified kernel, you must make your kernel modifications available. This doesn't apply to your application — the kernel's syscall interface is considered a system library exception. But if you modify kernel drivers, those changes must be shared. Userspace libraries vary: glibc is LGPL (you can link dynamically without sharing your code), while many embedded libraries use BSD or MIT licenses. Always check the license of every component in your product.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something that surprises people: the same RPi4 hardware can become radically different systems depending on your software choices.</a:t>
            </a:r>
          </a:p>
          <a:p/>
          <a:p>
            <a:r>
              <a:t>Want a minimal real-time controller? You'd use a PREEMPT_RT patched kernel, a tiny BusyBox rootfs, and a single application that talks to GPIO. Boot time under one second. Deterministic response to interrupts.</a:t>
            </a:r>
          </a:p>
          <a:p/>
          <a:p>
            <a:r>
              <a:t>Want a network gateway? Full networking stack, iptables, a web configuration interface, maybe Docker containers. Boot time doesn't matter much. Throughput matters.</a:t>
            </a:r>
          </a:p>
          <a:p/>
          <a:p>
            <a:r>
              <a:t>Want an AI edge device? You'd add TensorFlow Lite, a camera driver, and use the VideoCore GPU for inference. The kernel needs GPU drivers and DMA support. Your rootfs needs Python and ML libraries.</a:t>
            </a:r>
          </a:p>
          <a:p/>
          <a:p>
            <a:r>
              <a:t>Want a desktop? Install a full Debian userspace with X11 or Wayland, a web browser, office tools. The RPi4 can actually do this — it's what Raspberry Pi Desktop does.</a:t>
            </a:r>
          </a:p>
          <a:p/>
          <a:p>
            <a:r>
              <a:t>The point is: embedded Linux is not one thing. It's a design space. The hardware is fixed, but your choices of kernel configuration, rootfs contents, init system, and application architecture determine what the system becomes.</a:t>
            </a:r>
          </a:p>
          <a:p/>
          <a:p>
            <a:r>
              <a:t>This course teaches you to make those choices deliberately. Every decision — which kernel features to enable, which libraries to include, which init system to use — has tradeoffs in boot time, memory usage, security, and maintainability.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Cross-development is the defining workflow of embedded Linux. Let me make this concrete.</a:t>
            </a:r>
          </a:p>
          <a:p/>
          <a:p>
            <a:r>
              <a:t>Your workstation is an x86_64 machine — probably an Intel or AMD processor. It has 16+ GB of RAM, a fast SSD, and a powerful compiler. The RPi4 is an aarch64 machine — ARMv8-A architecture. These are completely different instruction sets. A binary compiled for x86 will not run on ARM, and vice versa.</a:t>
            </a:r>
          </a:p>
          <a:p/>
          <a:p>
            <a:r>
              <a:t>The solution is a cross-compiler: a compiler that runs on x86 but produces ARM64 binaries. The standard toolchain uses the target triplet aarch64-none-linux-gnu. The 'none' means no vendor, 'linux' means Linux target, 'gnu' means GNU libc (glibc). So the cross-compiler binary is named aarch64-none-linux-gnu-gcc.</a:t>
            </a:r>
          </a:p>
          <a:p/>
          <a:p>
            <a:r>
              <a:t>This toolchain is part of the Arm GNU Toolchain, available as a pre-built download from developer.arm.com. You'll install it in Session 2.</a:t>
            </a:r>
          </a:p>
          <a:p/>
          <a:p>
            <a:r>
              <a:t>The workflow is: write code on the host, compile with the cross-compiler, transfer the binary to the target (via NFS, SCP, or SD card), run it on the target, observe the result, debug, repeat.</a:t>
            </a:r>
          </a:p>
          <a:p/>
          <a:p>
            <a:r>
              <a:t>I recommend the Bootlin embedded Linux training materials as a reference throughout this course. Bootlin is a professional embedded Linux consulting company, and they publish their training slides and lab materials under a Creative Commons license. The URL is bootlin.com/doc/training/embedded-linux. These materials are excellent and align well with this course's content.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 development workflow you'll use in this course, because it's different from normal software development.</a:t>
            </a:r>
          </a:p>
          <a:p/>
          <a:p>
            <a:r>
              <a:t>Step 1: Edit. You write C code on your host machine using whatever editor you prefer. The source files live on your workstation.</a:t>
            </a:r>
          </a:p>
          <a:p/>
          <a:p>
            <a:r>
              <a:t>Step 2: Cross-compile. You run aarch64-none-linux-gnu-gcc to compile your source into an ARM64 binary. If you forget the cross-compiler and use the system gcc instead, you'll get an x86 binary that won't run on the target. This is the single most common mistake in embedded development — I guarantee at least half of you will do it at least once.</a:t>
            </a:r>
          </a:p>
          <a:p/>
          <a:p>
            <a:r>
              <a:t>Step 3: Transfer. You get the binary onto the target. Early in the course, you'll copy it to the SD card. Later, you'll use NFS — Network File System — where the target mounts its root filesystem over the network from your host. This is a game-changer for development speed: you edit and compile on the host, and the target sees the new binary instantly. No more flashing SD cards.</a:t>
            </a:r>
          </a:p>
          <a:p/>
          <a:p>
            <a:r>
              <a:t>Step 4: Test. You run the binary on the target and observe what it does. Usually via the serial console.</a:t>
            </a:r>
          </a:p>
          <a:p/>
          <a:p>
            <a:r>
              <a:t>Step 5: Debug. When it doesn't work — and it won't, the first time — you use GDB. The GDB debugger runs on your host, and gdbserver runs on the target. They communicate over a TCP or serial connection. You can set breakpoints, inspect variables, and step through code — all while the program runs on the ARM target.</a:t>
            </a:r>
          </a:p>
          <a:p/>
          <a:p>
            <a:r>
              <a:t>The serial cable you bought isn't just for boot messages. It's your primary debug interface throughout the entire course. Get comfortable with it early.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course integrates AI as a development tool, not as a gimmick. You completed the AI for Programmers session, so you know how to use AI coding assistants. Here's how we'll use them in this course.</a:t>
            </a:r>
          </a:p>
          <a:p/>
          <a:p>
            <a:r>
              <a:t>Layer 1 is AI as your build assistant, starting today. When your cross-compilation fails with a cryptic error, paste it into your AI assistant and ask for help. When you need to write a Kconfig snippet or a device tree node, ask the AI to generate a first draft. The AI is fast at boilerplate and pattern-matching — let it do that work while you focus on understanding the system.</a:t>
            </a:r>
          </a:p>
          <a:p/>
          <a:p>
            <a:r>
              <a:t>Layer 2 is AI for code analysis. In Session 2, you'll use AI to explain the output of readelf and objdump — tools that show you the internals of your compiled binaries. The AI can help you understand why your cross-compiled binary has the sections it does, what the architecture flags mean, and how the dynamic linker resolves symbols.</a:t>
            </a:r>
          </a:p>
          <a:p/>
          <a:p>
            <a:r>
              <a:t>Layer 3 is AI for system design. In the later sessions, when you're making design decisions — should I use Buildroot or Yocto? Should I use systemd or BusyBox init? — you can use AI to evaluate tradeoffs. But always verify. AI is a knowledgeable colleague who sometimes confidently gives wrong answers. You're the engineer; you make the final call.</a:t>
            </a:r>
          </a:p>
          <a:p/>
          <a:p>
            <a:r>
              <a:t>The AI persona prompt on Slide 21 will configure your assistant with the right context for this course. Use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pipeline visualized. Each session maps to a layer in the architecture stack.</a:t>
            </a:r>
          </a:p>
          <a:p/>
          <a:p>
            <a:r>
              <a:t>Right now, in Session 1, we're at the top — understanding the whole system. You'll boot the RPi4 with a stock Raspberry Pi OS image today, just to verify your hardware works. That's not "from scratch" — that's a smoke test.</a:t>
            </a:r>
          </a:p>
          <a:p/>
          <a:p>
            <a:r>
              <a:t>Session 2 is where the real work begins: you'll install the cross-compiler, build U-Boot from source, and understand the boot sequence at the register level.</a:t>
            </a:r>
          </a:p>
          <a:p/>
          <a:p>
            <a:r>
              <a:t>Session 3 introduces Yocto and Buildroot — automated build systems that can produce a complete Linux system image from metadata. Yocto is the industry standard for complex products; Buildroot is simpler and great for learning.</a:t>
            </a:r>
          </a:p>
          <a:p/>
          <a:p>
            <a:r>
              <a:t>Session 4 covers storage and filesystems — how to lay out your SD card partitions, which filesystem to use for each partition (ext4, squashfs, ubifs), and how to design OTA updates that won't brick your device.</a:t>
            </a:r>
          </a:p>
          <a:p/>
          <a:p>
            <a:r>
              <a:t>Sessions 5-6 go inside the kernel. You'll write a simple kernel module, understand how the init system starts userspace, write a device tree overlay, and handle interrupts.</a:t>
            </a:r>
          </a:p>
          <a:p/>
          <a:p>
            <a:r>
              <a:t>Sessions 7-8 are application development — processes, threads, IPC, and embedded Python.</a:t>
            </a:r>
          </a:p>
          <a:p/>
          <a:p>
            <a:r>
              <a:t>Session 9 is the debug session — the one everyone wishes they'd had earlier.</a:t>
            </a:r>
          </a:p>
          <a:p/>
          <a:p>
            <a:r>
              <a:t>Session 10 is realtime — taking everything you've built and making it deterministic.</a:t>
            </a:r>
          </a:p>
          <a:p/>
          <a:p>
            <a:r>
              <a:t>Notice the progression: hardware → firmware → kernel → userspace → application → debug → realtime. Each layer depends on the one below.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toolchain is the most fundamental tool in embedded development. Without it, you can't produce code that runs on your target.</a:t>
            </a:r>
          </a:p>
          <a:p/>
          <a:p>
            <a:r>
              <a:t>The Arm GNU Toolchain provides a complete cross-compilation environment. The target triplet aarch64-none-linux-gnu tells you everything: aarch64 is the ARM 64-bit architecture, none means no specific vendor, linux means the target OS is linux, gnu means we're using glibc as the C library.</a:t>
            </a:r>
          </a:p>
          <a:p/>
          <a:p>
            <a:r>
              <a:t>The toolchain includes the compiler (gcc), C++ compiler (g++), linker (ld), assembler (as), and debugger (gdb). All of these run on your x86 host but produce or debug ARM64 code.</a:t>
            </a:r>
          </a:p>
          <a:p/>
          <a:p>
            <a:r>
              <a:t>You can download pre-built binaries from developer.arm.com — they provide versions for x86_64 Linux, macOS, and Windows. In Session 2, you'll install the Linux version, add it to your PATH, and verify it works by compiling a simple Hello World.</a:t>
            </a:r>
          </a:p>
          <a:p/>
          <a:p>
            <a:r>
              <a:t>The command will look like: aarch64-none-linux-gnu-gcc -o hello hello.c</a:t>
            </a:r>
          </a:p>
          <a:p/>
          <a:p>
            <a:r>
              <a:t>Then you'll use the file command to inspect the output: file hello</a:t>
            </a:r>
          </a:p>
          <a:p/>
          <a:p>
            <a:r>
              <a:t>You should see "ELF 64-bit LSB executable, ARM aarch64" — confirming you produced an ARM binary on your x86 machine. That moment — seeing that output — is when cross-development becomes real.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bootloader is the first software you control in the boot chain. On the RPi4, the boot sequence is a bit unusual because of the GPU.</a:t>
            </a:r>
          </a:p>
          <a:p/>
          <a:p>
            <a:r>
              <a:t>The BCM2711 SoC boots from the GPU, not the ARM core. The ROM code on the SoC loads bootcode.bin from the SD card into the GPU's L2 cache. The GPU then loads start4.elf, which reads config.txt and decides what to load next.</a:t>
            </a:r>
          </a:p>
          <a:p/>
          <a:p>
            <a:r>
              <a:t>By default, the RPi4 loads the Linux kernel directly — there's no U-Boot in the stock boot path. In this course, we'll insert U-Boot into the chain because understanding the bootloader is essential for embedded Linux work. On most non-Pi ARM boards, U-Boot is the standard first-stage bootloader.</a:t>
            </a:r>
          </a:p>
          <a:p/>
          <a:p>
            <a:r>
              <a:t>U-Boot gives you a command-line interface over the serial console. You can interrupt the automatic boot by pressing a key, and then you get a prompt. From there, you can print environment variables, load a kernel from different locations, modify boot arguments, and more.</a:t>
            </a:r>
          </a:p>
          <a:p/>
          <a:p>
            <a:r>
              <a:t>The most important U-Boot variable is bootargs — the kernel command line. This tells the kernel where its root filesystem is, what console to use, and other boot parameters. For example: console=ttyS0,115200 root=/dev/mmcblk0p2 rootwait</a:t>
            </a:r>
          </a:p>
          <a:p/>
          <a:p>
            <a:r>
              <a:t>In Session 2, you'll build U-Boot from source, configure it for the RPi4, and boot it from the SD card. You'll see the U-Boot prompt on your serial console — that's a milestone moment.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configuration is one of the most powerful — and most overwhelming — aspects of embedded Linux. The .config file in the kernel source tree defines every feature the kernel will include.</a:t>
            </a:r>
          </a:p>
          <a:p/>
          <a:p>
            <a:r>
              <a:t>There are thousands of options. Do you need Bluetooth? WiFi? USB gadget support? A specific filesystem? Each one is a config option. For an embedded system, you typically disable most of them — you only compile what your hardware and application need. This reduces kernel size, boot time, and attack surface.</a:t>
            </a:r>
          </a:p>
          <a:p/>
          <a:p>
            <a:r>
              <a:t>The most common way to configure the kernel is make menuconfig, which gives you a text-based menu interface in the terminal. It's navigated with arrow keys, Enter, and Space. Options have three states: Y (built-in), M (module), or N (excluded).</a:t>
            </a:r>
          </a:p>
          <a:p/>
          <a:p>
            <a:r>
              <a:t>For the RPi4, you'd start with make bcm2711_defconfig, which sets reasonable defaults for the BCM2711 SoC. Then you customize from there.</a:t>
            </a:r>
          </a:p>
          <a:p/>
          <a:p>
            <a:r>
              <a:t>Built-in (=y) means the code is compiled directly into the kernel image (zImage or Image). It's always present in memory. Use this for essential drivers — the SD card controller, the UART for your serial console, the filesystem driver for your rootfs.</a:t>
            </a:r>
          </a:p>
          <a:p/>
          <a:p>
            <a:r>
              <a:t>Module (=m) means the code is compiled separately and can be loaded and unloaded at runtime. Use this for things you don't need at boot — USB drivers for devices you might plug in, optional filesystems, experimental features.</a:t>
            </a:r>
          </a:p>
          <a:p/>
          <a:p>
            <a:r>
              <a:t>Not compiled (=n) means the code isn't built at all. This is what you do for features your system will never use.</a:t>
            </a:r>
          </a:p>
          <a:p/>
          <a:p>
            <a:r>
              <a:t>In Session 3, you'll configure and build a custom kernel. It takes about 15-20 minutes on a modern workstation. The result is a kernel image tailored to your RPi4.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filesystem is the userspace environment your kernel boots into. When the kernel finishes booting, it mounts the rootfs and runs /sbin/init — the first userspace process. Everything else flows from there.</a:t>
            </a:r>
          </a:p>
          <a:p/>
          <a:p>
            <a:r>
              <a:t>A minimal rootfs needs surprisingly little. You need an init process, the C library (libc) and math library (libm) that your application links against, device nodes in /dev so programs can access hardware, and basic configuration in /etc.</a:t>
            </a:r>
          </a:p>
          <a:p/>
          <a:p>
            <a:r>
              <a:t>The /proc and /sys directories aren't on the SD card — they're virtual filesystems that the kernel mounts at boot, providing a window into kernel state. You'll use them throughout the course.</a:t>
            </a:r>
          </a:p>
          <a:p/>
          <a:p>
            <a:r>
              <a:t>For the init system, you have two main choices in embedded. systemd is what most Linux distributions use — it's full-featured, handles service dependencies, socket activation, and more. But it's large and complex. BusyBox with runit is minimal — a few hundred KB, fast boot, simple service management. For many embedded systems, BusyBox is the right choice.</a:t>
            </a:r>
          </a:p>
          <a:p/>
          <a:p>
            <a:r>
              <a:t>You'll build a root filesystem three ways in this course. First, by hand — copying files into a directory, creating device nodes with mknob, and understanding what each file does. Second, with Buildroot — a tool that automates the process with a menuconfig interface similar to the kernel's. Third, with Yocto — the industry-standard build system that uses BitBake recipes and layers.</a:t>
            </a:r>
          </a:p>
          <a:p/>
          <a:p>
            <a:r>
              <a:t>Each approach teaches you something different. The "by hand" approach teaches you what's actually in a rootfs. Buildroot teaches you automation. Yocto teaches you how professional embedded Linux products are built.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give you a preview of the debug tools you'll use, because they're what separate professional embedded developers from hobbyists.</a:t>
            </a:r>
          </a:p>
          <a:p/>
          <a:p>
            <a:r>
              <a:t>Remote GDB is the most important debug tool. You run the full GDB debugger on your host machine, and a small server program (gdbserver) on the target. GDB connects to gdbserver over a serial or network connection. You can set breakpoints, examine memory, inspect registers, and step through your program — all while it runs on the ARM target. In Session 9, you'll use this extensively.</a:t>
            </a:r>
          </a:p>
          <a:p/>
          <a:p>
            <a:r>
              <a:t>The serial cable you bought is your lifeline. It's how you see U-Boot output, kernel boot messages, and the shell prompt. The settings are 115200 baud, 8 data bits, no parity, 1 stop bit — abbreviated 8N1. On Linux, you'll use screen or minicom: screen /dev/ttyUSB0 115200</a:t>
            </a:r>
          </a:p>
          <a:p/>
          <a:p>
            <a:r>
              <a:t>Here's a fun first debug exercise: blink an LED. Wire an LED (with a current-limiting resistor) to a GPIO pin on the RPi4 header. Write a C program that toggles the GPIO. Cross-compile it, transfer it to the target, and run it. If the LED blinks, it proves your entire toolchain works — compiler, linker, transfer mechanism, and deployment. If it doesn't blink, you debug. Either way, you learn.</a:t>
            </a:r>
          </a:p>
          <a:p/>
          <a:p>
            <a:r>
              <a:t>Session 9 covers the full debug toolkit: GDB for source-level debugging, strace for tracing system calls, perf for performance profiling, and ftrace for kernel-level tracing. These are the tools you'll use in your professional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let's get hands on. This is your first lab — flash an SD card and boot the RPi4. This uses a stock Raspberry Pi OS image, not our custom build. We're just verifying your hardware works before we start building from scratch.</a:t>
            </a:r>
          </a:p>
          <a:p/>
          <a:p>
            <a:r>
              <a:t>Step 1: Download Raspberry Pi Imager. It's available from rpi.io/downloads, or you can install it with apt install rpi-imager on Ubuntu.</a:t>
            </a:r>
          </a:p>
          <a:p/>
          <a:p>
            <a:r>
              <a:t>Step 2: Insert your microSD card, launch the imager, and select Raspberry Pi OS Lite (64-bit). We want the Lite version — no desktop environment, just a command line. This keeps things fast and minimal. Click Write and wait for it to finish.</a:t>
            </a:r>
          </a:p>
          <a:p/>
          <a:p>
            <a:r>
              <a:t>Step 3: Insert the SD card into the RPi4. Connect your USB-to-serial cable to the GPIO header — ground to pin 6, TX to pin 10 (GPIO 15), RX to pin 8 (GPIO 14). Then power on the RPi4.</a:t>
            </a:r>
          </a:p>
          <a:p/>
          <a:p>
            <a:r>
              <a:t>Step 4: Open your serial console. On Linux: screen /dev/ttyUSB0 115200. You should see boot messages scrolling by, and eventually get a login prompt. The default username is pi, password is raspberry.</a:t>
            </a:r>
          </a:p>
          <a:p/>
          <a:p>
            <a:r>
              <a:t>Once logged in, run uname -a. You should see aarch64 in the output — confirming you're running a 64-bit ARM kernel. Then run cat /proc/cpuinfo and look for Cortex-A72 — that's the RPi4's CPU.</a:t>
            </a:r>
          </a:p>
          <a:p/>
          <a:p>
            <a:r>
              <a:t>If you see all that, your hardware is working. Take a moment to celebrate — you just booted Linux on ARM and talked to it over a serial cable. That's the foundation everything else builds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cross-compilation in action. This is a preview of Session 2's lab — we won't complete it today, but I want you to see what's coming.</a:t>
            </a:r>
          </a:p>
          <a:p/>
          <a:p>
            <a:r>
              <a:t>Write a simple Hello World in C. Nothing fancy — just printf "Hello from ARM64!" and return.</a:t>
            </a:r>
          </a:p>
          <a:p/>
          <a:p>
            <a:r>
              <a:t>First, compile it with your system's gcc. Run file on the output and you'll see x86-64 — that's your workstation's architecture. This binary will NOT run on the RPi4.</a:t>
            </a:r>
          </a:p>
          <a:p/>
          <a:p>
            <a:r>
              <a:t>Now compile it with the cross-compiler: aarch64-none-linux-gnu-gcc. Run file on this output and you'll see ARM aarch64. This binary WILL run on the RPi4.</a:t>
            </a:r>
          </a:p>
          <a:p/>
          <a:p>
            <a:r>
              <a:t>The file command is your best friend in embedded development. It tells you the architecture, endianness, linking type (static or dynamic), and other properties of a binary. Get in the habit of running it on everything you compile.</a:t>
            </a:r>
          </a:p>
          <a:p/>
          <a:p>
            <a:r>
              <a:t>In Session 2, you'll install the cross-compiler, compile this program, transfer it to the RPi4 (via SCP or SD card), and run it. When you see "Hello from ARM64!" on your serial console, you'll know your cross-development pipeline works.</a:t>
            </a:r>
          </a:p>
          <a:p/>
          <a:p>
            <a:r>
              <a:t>The key insight: the source code is identical. Only the compiler changes. That's the power of cross-compilation — you write code once and compile it for any architecture, as long as you have the right toolchain.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AI persona prompt I mentioned earlier. Copy this into your AI coding assistant — Claude Code, Codex, Copilot, whatever you're using. This gives the AI the right context for this course.</a:t>
            </a:r>
          </a:p>
          <a:p/>
          <a:p>
            <a:r>
              <a:t>The prompt tells the AI that you're working on a Raspberry Pi 4 with the BCM2711 SoC and Cortex-A72 cores, targeting aarch64. It tells the AI to be precise about architecture differences and toolchain details. And critically, it tells the AI to check for host-target confusion — the most common mistake in embedded development.</a:t>
            </a:r>
          </a:p>
          <a:p/>
          <a:p>
            <a:r>
              <a:t>Here's a lab exercise to try right now: take the two binaries you compiled in the previous slide (hello_x86 and hello_arm). Run readelf -h on both binaries. readelf -h shows the ELF header, which contains the architecture, entry point, and other metadata.</a:t>
            </a:r>
          </a:p>
          <a:p/>
          <a:p>
            <a:r>
              <a:t>Paste the output into your AI assistant and ask it to explain the differences. A well-configured assistant should point out the Machine field (x86-64 vs AArch64), the difference in virtual addresses, and any ABI differences.</a:t>
            </a:r>
          </a:p>
          <a:p/>
          <a:p>
            <a:r>
              <a:t>This is Layer 2 AI integration — using AI to analyze build output. It's incredibly useful when you're staring at a cryptic error message at 11pm the night before a lab is due.</a:t>
            </a:r>
          </a:p>
          <a:p/>
          <a:p>
            <a:r>
              <a:t>Remember: the AI is a knowledgeable colleague, not an oracle. Always verify its suggestions against the actual hardware and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recap what we covered today.</a:t>
            </a:r>
          </a:p>
          <a:p/>
          <a:p>
            <a:r>
              <a:t>You now know where we're going: a complete embedded Linux system on the RPi4, built from scratch over 10 sessions. You understand the architecture stack — hardware, bootloader, kernel, rootfs, application — and how each layer maps to a course session.</a:t>
            </a:r>
          </a:p>
          <a:p/>
          <a:p>
            <a:r>
              <a:t>You understand cross-development: build on x86, run on ARM. This is the fundamental workflow of embedded Linux, and everything in the course builds on it.</a:t>
            </a:r>
          </a:p>
          <a:p/>
          <a:p>
            <a:r>
              <a:t>You've seen the 10-session roadmap and how each session maps to a layer in the build pipeline. Sessions 2-4 are the build phase, 5-6 go inside the kernel, 7-8 are application development, 9 is debug, and 10 is realtime.</a:t>
            </a:r>
          </a:p>
          <a:p/>
          <a:p>
            <a:r>
              <a:t>You've set up your AI assistant with the embedded Linux persona. Use it throughout the course — for explaining errors, generating boilerplate, and analyzing build output.</a:t>
            </a:r>
          </a:p>
          <a:p/>
          <a:p>
            <a:r>
              <a:t>And you've completed your first lab: flashing an SD card and booting the RPi4. If you got to a shell prompt over serial, you're ready for Session 2.</a:t>
            </a:r>
          </a:p>
          <a:p/>
          <a:p>
            <a:r>
              <a:t>For next session: complete the flash-and-boot lab if you haven't already. Install the Arm GNU Toolchain on your workstation — the download link is on developer.arm.com. And bring your RPi4, serial cable, and SD card to class. Session 2 is where the real build begins.</a:t>
            </a:r>
          </a:p>
          <a:p/>
          <a:p>
            <a:r>
              <a:t>See you next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sz="3200" b="1">
                <a:solidFill>
                  <a:srgbClr val="152334"/>
                </a:solidFill>
                <a:latin typeface="Arial"/>
              </a:rPr>
              <a:t>Building Embedded Linux on the RPi4</a:t>
            </a:r>
          </a:p>
        </p:txBody>
      </p:sp>
      <p:sp>
        <p:nvSpPr>
          <p:cNvPr id="3" name="Content Placeholder 2"/>
          <p:cNvSpPr>
            <a:spLocks noGrp="1"/>
          </p:cNvSpPr>
          <p:nvPr>
            <p:ph idx="1"/>
          </p:nvPr>
        </p:nvSpPr>
        <p:spPr/>
        <p:txBody>
          <a:bodyPr/>
          <a:lstStyle/>
          <a:p>
            <a:r>
              <a:rPr sz="1400">
                <a:solidFill>
                  <a:srgbClr val="152334"/>
                </a:solidFill>
                <a:latin typeface="Arial"/>
              </a:rPr>
              <a:t>Instructor: [Your Name]</a:t>
            </a:r>
          </a:p>
          <a:p>
            <a:r>
              <a:rPr sz="1400">
                <a:solidFill>
                  <a:srgbClr val="152334"/>
                </a:solidFill>
                <a:latin typeface="Arial"/>
              </a:rPr>
              <a:t>UCSC Extension — Professional Program</a:t>
            </a:r>
          </a:p>
          <a:p>
            <a:r>
              <a:rPr sz="1400">
                <a:solidFill>
                  <a:srgbClr val="152334"/>
                </a:solidFill>
                <a:latin typeface="Arial"/>
              </a:rPr>
              <a:t>Summer/Fall 2026</a:t>
            </a:r>
          </a:p>
          <a:p/>
          <a:p>
            <a:r>
              <a:rPr sz="1400">
                <a:solidFill>
                  <a:srgbClr val="152334"/>
                </a:solidFill>
                <a:latin typeface="Arial"/>
              </a:rPr>
              <a:t>A hands-on journey from blank SD card to booting Linux on real hardware.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The Course Project</a:t>
            </a:r>
          </a:p>
        </p:txBody>
      </p:sp>
      <p:sp>
        <p:nvSpPr>
          <p:cNvPr id="3" name="Content Placeholder 2"/>
          <p:cNvSpPr>
            <a:spLocks noGrp="1"/>
          </p:cNvSpPr>
          <p:nvPr>
            <p:ph idx="1"/>
          </p:nvPr>
        </p:nvSpPr>
        <p:spPr/>
        <p:txBody>
          <a:bodyPr/>
          <a:lstStyle/>
          <a:p>
            <a:r>
              <a:rPr sz="1400">
                <a:solidFill>
                  <a:srgbClr val="152334"/>
                </a:solidFill>
                <a:latin typeface="Arial"/>
              </a:rPr>
              <a:t>Build a bootable RPi4 system from scratch</a:t>
            </a:r>
          </a:p>
          <a:p/>
          <a:p>
            <a:r>
              <a:rPr sz="1400">
                <a:solidFill>
                  <a:srgbClr val="152334"/>
                </a:solidFill>
                <a:latin typeface="Arial"/>
              </a:rPr>
              <a:t>What you'll produce by Session 10:</a:t>
            </a:r>
          </a:p>
          <a:p>
            <a:r>
              <a:rPr sz="1400">
                <a:solidFill>
                  <a:srgbClr val="152334"/>
                </a:solidFill>
                <a:latin typeface="Arial"/>
              </a:rPr>
              <a:t>  • SD card that boots to a shell prompt on the RPi4</a:t>
            </a:r>
          </a:p>
          <a:p>
            <a:r>
              <a:rPr sz="1400">
                <a:solidFill>
                  <a:srgbClr val="152334"/>
                </a:solidFill>
                <a:latin typeface="Arial"/>
              </a:rPr>
              <a:t>  • Cross-compiled Linux kernel with custom configuration</a:t>
            </a:r>
          </a:p>
          <a:p>
            <a:r>
              <a:rPr sz="1400">
                <a:solidFill>
                  <a:srgbClr val="152334"/>
                </a:solidFill>
                <a:latin typeface="Arial"/>
              </a:rPr>
              <a:t>  • Minimal root filesystem you built yourself</a:t>
            </a:r>
          </a:p>
          <a:p>
            <a:r>
              <a:rPr sz="1400">
                <a:solidFill>
                  <a:srgbClr val="152334"/>
                </a:solidFill>
                <a:latin typeface="Arial"/>
              </a:rPr>
              <a:t>  • U-Boot bootloader configured and understood</a:t>
            </a:r>
          </a:p>
          <a:p>
            <a:r>
              <a:rPr sz="1400">
                <a:solidFill>
                  <a:srgbClr val="152334"/>
                </a:solidFill>
                <a:latin typeface="Arial"/>
              </a:rPr>
              <a:t>  • A running C application on the target</a:t>
            </a:r>
          </a:p>
          <a:p>
            <a:r>
              <a:rPr sz="1400">
                <a:solidFill>
                  <a:srgbClr val="152334"/>
                </a:solidFill>
                <a:latin typeface="Arial"/>
              </a:rPr>
              <a:t>  • Remote debugging via GDB over serial</a:t>
            </a:r>
          </a:p>
          <a:p/>
          <a:p>
            <a:r>
              <a:rPr sz="1400">
                <a:solidFill>
                  <a:srgbClr val="152334"/>
                </a:solidFill>
                <a:latin typeface="Arial"/>
              </a:rPr>
              <a:t>All built with your own toolchain, not a pre-made image.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What "From Scratch" Means</a:t>
            </a:r>
          </a:p>
        </p:txBody>
      </p:sp>
      <p:sp>
        <p:nvSpPr>
          <p:cNvPr id="3" name="Content Placeholder 2"/>
          <p:cNvSpPr>
            <a:spLocks noGrp="1"/>
          </p:cNvSpPr>
          <p:nvPr>
            <p:ph idx="1"/>
          </p:nvPr>
        </p:nvSpPr>
        <p:spPr/>
        <p:txBody>
          <a:bodyPr/>
          <a:lstStyle/>
          <a:p>
            <a:r>
              <a:rPr sz="1400">
                <a:solidFill>
                  <a:srgbClr val="152334"/>
                </a:solidFill>
                <a:latin typeface="Arial"/>
              </a:rPr>
              <a:t>Cross-compile the kernel</a:t>
            </a:r>
          </a:p>
          <a:p>
            <a:r>
              <a:rPr sz="1400">
                <a:solidFill>
                  <a:srgbClr val="152334"/>
                </a:solidFill>
                <a:latin typeface="Arial"/>
              </a:rPr>
              <a:t>  — Build on x86, run on ARM64 (aarch64)</a:t>
            </a:r>
          </a:p>
          <a:p/>
          <a:p>
            <a:r>
              <a:rPr sz="1400">
                <a:solidFill>
                  <a:srgbClr val="152334"/>
                </a:solidFill>
                <a:latin typeface="Arial"/>
              </a:rPr>
              <a:t>Build the root filesystem</a:t>
            </a:r>
          </a:p>
          <a:p>
            <a:r>
              <a:rPr sz="1400">
                <a:solidFill>
                  <a:srgbClr val="152334"/>
                </a:solidFill>
                <a:latin typeface="Arial"/>
              </a:rPr>
              <a:t>  — Select libraries, init system, device nodes</a:t>
            </a:r>
          </a:p>
          <a:p/>
          <a:p>
            <a:r>
              <a:rPr sz="1400">
                <a:solidFill>
                  <a:srgbClr val="152334"/>
                </a:solidFill>
                <a:latin typeface="Arial"/>
              </a:rPr>
              <a:t>Configure the bootloader</a:t>
            </a:r>
          </a:p>
          <a:p>
            <a:r>
              <a:rPr sz="1400">
                <a:solidFill>
                  <a:srgbClr val="152334"/>
                </a:solidFill>
                <a:latin typeface="Arial"/>
              </a:rPr>
              <a:t>  — U-Boot: boot sequence, environment variables</a:t>
            </a:r>
          </a:p>
          <a:p/>
          <a:p>
            <a:r>
              <a:rPr sz="1400">
                <a:solidFill>
                  <a:srgbClr val="152334"/>
                </a:solidFill>
                <a:latin typeface="Arial"/>
              </a:rPr>
              <a:t>Write and deploy an application</a:t>
            </a:r>
          </a:p>
          <a:p>
            <a:r>
              <a:rPr sz="1400">
                <a:solidFill>
                  <a:srgbClr val="152334"/>
                </a:solidFill>
                <a:latin typeface="Arial"/>
              </a:rPr>
              <a:t>  — C program, cross-compiled, transferred to target</a:t>
            </a:r>
          </a:p>
          <a:p/>
          <a:p>
            <a:r>
              <a:rPr sz="1400">
                <a:solidFill>
                  <a:srgbClr val="152334"/>
                </a:solidFill>
                <a:latin typeface="Arial"/>
              </a:rPr>
              <a:t>Debug on real hardware</a:t>
            </a:r>
          </a:p>
          <a:p>
            <a:r>
              <a:rPr sz="1400">
                <a:solidFill>
                  <a:srgbClr val="152334"/>
                </a:solidFill>
                <a:latin typeface="Arial"/>
              </a:rPr>
              <a:t>  — Serial console, remote GDB, LED blinking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The 10-Session Roadmap</a:t>
            </a:r>
          </a:p>
        </p:txBody>
      </p:sp>
      <p:sp>
        <p:nvSpPr>
          <p:cNvPr id="3" name="Content Placeholder 2"/>
          <p:cNvSpPr>
            <a:spLocks noGrp="1"/>
          </p:cNvSpPr>
          <p:nvPr>
            <p:ph idx="1"/>
          </p:nvPr>
        </p:nvSpPr>
        <p:spPr/>
        <p:txBody>
          <a:bodyPr/>
          <a:lstStyle/>
          <a:p>
            <a:r>
              <a:rPr sz="1400">
                <a:solidFill>
                  <a:srgbClr val="152334"/>
                </a:solidFill>
                <a:latin typeface="Arial"/>
              </a:rPr>
              <a:t>Session 1  →  Introduction &amp; First Boot  [YOU ARE HERE]</a:t>
            </a:r>
          </a:p>
          <a:p>
            <a:r>
              <a:rPr sz="1400">
                <a:solidFill>
                  <a:srgbClr val="152334"/>
                </a:solidFill>
                <a:latin typeface="Arial"/>
              </a:rPr>
              <a:t>Session 2  →  Toolchains &amp; Bootloaders</a:t>
            </a:r>
          </a:p>
          <a:p>
            <a:r>
              <a:rPr sz="1400">
                <a:solidFill>
                  <a:srgbClr val="152334"/>
                </a:solidFill>
                <a:latin typeface="Arial"/>
              </a:rPr>
              <a:t>Session 3  →  Yocto &amp; Buildroot</a:t>
            </a:r>
          </a:p>
          <a:p>
            <a:r>
              <a:rPr sz="1400">
                <a:solidFill>
                  <a:srgbClr val="152334"/>
                </a:solidFill>
                <a:latin typeface="Arial"/>
              </a:rPr>
              <a:t>Session 4  →  System Architecture &amp; Storage</a:t>
            </a:r>
          </a:p>
          <a:p>
            <a:r>
              <a:rPr sz="1400">
                <a:solidFill>
                  <a:srgbClr val="152334"/>
                </a:solidFill>
                <a:latin typeface="Arial"/>
              </a:rPr>
              <a:t>Session 5  →  Linux Kernel Overview</a:t>
            </a:r>
          </a:p>
          <a:p>
            <a:r>
              <a:rPr sz="1400">
                <a:solidFill>
                  <a:srgbClr val="152334"/>
                </a:solidFill>
                <a:latin typeface="Arial"/>
              </a:rPr>
              <a:t>Session 6  →  Kernel Architecture &amp; Device Trees</a:t>
            </a:r>
          </a:p>
          <a:p>
            <a:r>
              <a:rPr sz="1400">
                <a:solidFill>
                  <a:srgbClr val="152334"/>
                </a:solidFill>
                <a:latin typeface="Arial"/>
              </a:rPr>
              <a:t>Session 7  →  Systems Programming</a:t>
            </a:r>
          </a:p>
          <a:p>
            <a:r>
              <a:rPr sz="1400">
                <a:solidFill>
                  <a:srgbClr val="152334"/>
                </a:solidFill>
                <a:latin typeface="Arial"/>
              </a:rPr>
              <a:t>Session 8  →  Embedded Applications</a:t>
            </a:r>
          </a:p>
          <a:p>
            <a:r>
              <a:rPr sz="1400">
                <a:solidFill>
                  <a:srgbClr val="152334"/>
                </a:solidFill>
                <a:latin typeface="Arial"/>
              </a:rPr>
              <a:t>Session 9  →  Debug &amp; Profiling</a:t>
            </a:r>
          </a:p>
          <a:p>
            <a:r>
              <a:rPr sz="1400">
                <a:solidFill>
                  <a:srgbClr val="152334"/>
                </a:solidFill>
                <a:latin typeface="Arial"/>
              </a:rPr>
              <a:t>Session 10 →  Realtime Systems</a:t>
            </a:r>
          </a:p>
          <a:p/>
          <a:p>
            <a:r>
              <a:rPr sz="1400">
                <a:solidFill>
                  <a:srgbClr val="152334"/>
                </a:solidFill>
                <a:latin typeface="Arial"/>
              </a:rPr>
              <a:t>Each session maps to a layer in the build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What You Need</a:t>
            </a:r>
          </a:p>
        </p:txBody>
      </p:sp>
      <p:sp>
        <p:nvSpPr>
          <p:cNvPr id="3" name="Content Placeholder 2"/>
          <p:cNvSpPr>
            <a:spLocks noGrp="1"/>
          </p:cNvSpPr>
          <p:nvPr>
            <p:ph idx="1"/>
          </p:nvPr>
        </p:nvSpPr>
        <p:spPr/>
        <p:txBody>
          <a:bodyPr/>
          <a:lstStyle/>
          <a:p>
            <a:r>
              <a:rPr sz="1400">
                <a:solidFill>
                  <a:srgbClr val="152334"/>
                </a:solidFill>
                <a:latin typeface="Arial"/>
              </a:rPr>
              <a:t>Hardware:</a:t>
            </a:r>
          </a:p>
          <a:p>
            <a:r>
              <a:rPr sz="1400">
                <a:solidFill>
                  <a:srgbClr val="152334"/>
                </a:solidFill>
                <a:latin typeface="Arial"/>
              </a:rPr>
              <a:t>  • Raspberry Pi 4 Model B (2GB+ RAM)</a:t>
            </a:r>
          </a:p>
          <a:p>
            <a:r>
              <a:rPr sz="1400">
                <a:solidFill>
                  <a:srgbClr val="152334"/>
                </a:solidFill>
                <a:latin typeface="Arial"/>
              </a:rPr>
              <a:t>  • MicroSD card (16GB+, Class 10)</a:t>
            </a:r>
          </a:p>
          <a:p>
            <a:r>
              <a:rPr sz="1400">
                <a:solidFill>
                  <a:srgbClr val="152334"/>
                </a:solidFill>
                <a:latin typeface="Arial"/>
              </a:rPr>
              <a:t>  • USB-to-TTL serial cable (3.3V, e.g., FTDI FT232R)</a:t>
            </a:r>
          </a:p>
          <a:p>
            <a:r>
              <a:rPr sz="1400">
                <a:solidFill>
                  <a:srgbClr val="152334"/>
                </a:solidFill>
                <a:latin typeface="Arial"/>
              </a:rPr>
              <a:t>  • Ethernet cable or WiFi for your network</a:t>
            </a:r>
          </a:p>
          <a:p>
            <a:r>
              <a:rPr sz="1400">
                <a:solidFill>
                  <a:srgbClr val="152334"/>
                </a:solidFill>
                <a:latin typeface="Arial"/>
              </a:rPr>
              <a:t>  • 5V USB-C power supply for RPi4</a:t>
            </a:r>
          </a:p>
          <a:p/>
          <a:p>
            <a:r>
              <a:rPr sz="1400">
                <a:solidFill>
                  <a:srgbClr val="152334"/>
                </a:solidFill>
                <a:latin typeface="Arial"/>
              </a:rPr>
              <a:t>Prerequisites:</a:t>
            </a:r>
          </a:p>
          <a:p>
            <a:r>
              <a:rPr sz="1400">
                <a:solidFill>
                  <a:srgbClr val="152334"/>
                </a:solidFill>
                <a:latin typeface="Arial"/>
              </a:rPr>
              <a:t>  • C/C++ programming (comfortable)</a:t>
            </a:r>
          </a:p>
          <a:p>
            <a:r>
              <a:rPr sz="1400">
                <a:solidFill>
                  <a:srgbClr val="152334"/>
                </a:solidFill>
                <a:latin typeface="Arial"/>
              </a:rPr>
              <a:t>  • Linux command line (basic navigation, file ops)</a:t>
            </a:r>
          </a:p>
          <a:p>
            <a:r>
              <a:rPr sz="1400">
                <a:solidFill>
                  <a:srgbClr val="152334"/>
                </a:solidFill>
                <a:latin typeface="Arial"/>
              </a:rPr>
              <a:t>  • Bare-metal/embedded experience (helpful, not required)</a:t>
            </a:r>
          </a:p>
          <a:p>
            <a:r>
              <a:rPr sz="1400">
                <a:solidFill>
                  <a:srgbClr val="152334"/>
                </a:solidFill>
                <a:latin typeface="Arial"/>
              </a:rPr>
              <a:t>  • AI for Programmers session (completed)</a:t>
            </a:r>
          </a:p>
          <a:p/>
          <a:p>
            <a:r>
              <a:rPr sz="1400">
                <a:solidFill>
                  <a:srgbClr val="152334"/>
                </a:solidFill>
                <a:latin typeface="Arial"/>
              </a:rPr>
              <a:t>Software: Linux workstation (Ubuntu 22.04+ recommended)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What Makes Embedded Linux Different</a:t>
            </a:r>
          </a:p>
        </p:txBody>
      </p:sp>
      <p:sp>
        <p:nvSpPr>
          <p:cNvPr id="3" name="Content Placeholder 2"/>
          <p:cNvSpPr>
            <a:spLocks noGrp="1"/>
          </p:cNvSpPr>
          <p:nvPr>
            <p:ph idx="1"/>
          </p:nvPr>
        </p:nvSpPr>
        <p:spPr/>
        <p:txBody>
          <a:bodyPr/>
          <a:lstStyle/>
          <a:p>
            <a:r>
              <a:rPr sz="1400">
                <a:solidFill>
                  <a:srgbClr val="152334"/>
                </a:solidFill>
                <a:latin typeface="Arial"/>
              </a:rPr>
              <a:t>Constrained resources</a:t>
            </a:r>
          </a:p>
          <a:p>
            <a:r>
              <a:rPr sz="1400">
                <a:solidFill>
                  <a:srgbClr val="152334"/>
                </a:solidFill>
                <a:latin typeface="Arial"/>
              </a:rPr>
              <a:t>  — Limited RAM, flash, CPU compared to servers</a:t>
            </a:r>
          </a:p>
          <a:p/>
          <a:p>
            <a:r>
              <a:rPr sz="1400">
                <a:solidFill>
                  <a:srgbClr val="152334"/>
                </a:solidFill>
                <a:latin typeface="Arial"/>
              </a:rPr>
              <a:t>Cross-development is mandatory</a:t>
            </a:r>
          </a:p>
          <a:p>
            <a:r>
              <a:rPr sz="1400">
                <a:solidFill>
                  <a:srgbClr val="152334"/>
                </a:solidFill>
                <a:latin typeface="Arial"/>
              </a:rPr>
              <a:t>  — Target can't build its own software</a:t>
            </a:r>
          </a:p>
          <a:p/>
          <a:p>
            <a:r>
              <a:rPr sz="1400">
                <a:solidFill>
                  <a:srgbClr val="152334"/>
                </a:solidFill>
                <a:latin typeface="Arial"/>
              </a:rPr>
              <a:t>Boot process is explicit and configurable</a:t>
            </a:r>
          </a:p>
          <a:p>
            <a:r>
              <a:rPr sz="1400">
                <a:solidFill>
                  <a:srgbClr val="152334"/>
                </a:solidFill>
                <a:latin typeface="Arial"/>
              </a:rPr>
              <a:t>  — No BIOS/UEFI hand-holding; you control every step</a:t>
            </a:r>
          </a:p>
          <a:p/>
          <a:p>
            <a:r>
              <a:rPr sz="1400">
                <a:solidFill>
                  <a:srgbClr val="152334"/>
                </a:solidFill>
                <a:latin typeface="Arial"/>
              </a:rPr>
              <a:t>No GUI by default</a:t>
            </a:r>
          </a:p>
          <a:p>
            <a:r>
              <a:rPr sz="1400">
                <a:solidFill>
                  <a:srgbClr val="152334"/>
                </a:solidFill>
                <a:latin typeface="Arial"/>
              </a:rPr>
              <a:t>  • Serial console is the primary interface</a:t>
            </a:r>
          </a:p>
          <a:p/>
          <a:p>
            <a:r>
              <a:rPr sz="1400">
                <a:solidFill>
                  <a:srgbClr val="152334"/>
                </a:solidFill>
                <a:latin typeface="Arial"/>
              </a:rPr>
              <a:t>Hardware-specific configuration</a:t>
            </a:r>
          </a:p>
          <a:p>
            <a:r>
              <a:rPr sz="1400">
                <a:solidFill>
                  <a:srgbClr val="152334"/>
                </a:solidFill>
                <a:latin typeface="Arial"/>
              </a:rPr>
              <a:t>  — Device trees describe the board to the kernel</a:t>
            </a:r>
          </a:p>
          <a:p/>
          <a:p>
            <a:r>
              <a:rPr sz="1400">
                <a:solidFill>
                  <a:srgbClr val="152334"/>
                </a:solidFill>
                <a:latin typeface="Arial"/>
              </a:rPr>
              <a:t>Updates are deliberate</a:t>
            </a:r>
          </a:p>
          <a:p>
            <a:r>
              <a:rPr sz="1400">
                <a:solidFill>
                  <a:srgbClr val="152334"/>
                </a:solidFill>
                <a:latin typeface="Arial"/>
              </a:rPr>
              <a:t>  — OTA updates must be designed, not assumed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The Embedded Linux Architecture Stack</a:t>
            </a:r>
          </a:p>
        </p:txBody>
      </p:sp>
      <p:sp>
        <p:nvSpPr>
          <p:cNvPr id="3" name="Content Placeholder 2"/>
          <p:cNvSpPr>
            <a:spLocks noGrp="1"/>
          </p:cNvSpPr>
          <p:nvPr>
            <p:ph idx="1"/>
          </p:nvPr>
        </p:nvSpPr>
        <p:spPr/>
        <p:txBody>
          <a:bodyPr/>
          <a:lstStyle/>
          <a:p>
            <a:r>
              <a:rPr sz="1400">
                <a:solidFill>
                  <a:srgbClr val="152334"/>
                </a:solidFill>
                <a:latin typeface="Arial"/>
              </a:rPr>
              <a:t>┌─────────────────────────────┐</a:t>
            </a:r>
          </a:p>
          <a:p>
            <a:r>
              <a:rPr sz="1400">
                <a:solidFill>
                  <a:srgbClr val="152334"/>
                </a:solidFill>
                <a:latin typeface="Arial"/>
              </a:rPr>
              <a:t>│       Application           │  ← Your code</a:t>
            </a:r>
          </a:p>
          <a:p>
            <a:r>
              <a:rPr sz="1400">
                <a:solidFill>
                  <a:srgbClr val="152334"/>
                </a:solidFill>
                <a:latin typeface="Arial"/>
              </a:rPr>
              <a:t>├─────────────────────────────┤</a:t>
            </a:r>
          </a:p>
          <a:p>
            <a:r>
              <a:rPr sz="1400">
                <a:solidFill>
                  <a:srgbClr val="152334"/>
                </a:solidFill>
                <a:latin typeface="Arial"/>
              </a:rPr>
              <a:t>│       Root Filesystem       │  ← Libraries, init, config</a:t>
            </a:r>
          </a:p>
          <a:p>
            <a:r>
              <a:rPr sz="1400">
                <a:solidFill>
                  <a:srgbClr val="152334"/>
                </a:solidFill>
                <a:latin typeface="Arial"/>
              </a:rPr>
              <a:t>├─────────────────────────────┤</a:t>
            </a:r>
          </a:p>
          <a:p>
            <a:r>
              <a:rPr sz="1400">
                <a:solidFill>
                  <a:srgbClr val="152334"/>
                </a:solidFill>
                <a:latin typeface="Arial"/>
              </a:rPr>
              <a:t>│       Linux Kernel          │  ← Drivers, scheduling, MM</a:t>
            </a:r>
          </a:p>
          <a:p>
            <a:r>
              <a:rPr sz="1400">
                <a:solidFill>
                  <a:srgbClr val="152334"/>
                </a:solidFill>
                <a:latin typeface="Arial"/>
              </a:rPr>
              <a:t>├─────────────────────────────┤</a:t>
            </a:r>
          </a:p>
          <a:p>
            <a:r>
              <a:rPr sz="1400">
                <a:solidFill>
                  <a:srgbClr val="152334"/>
                </a:solidFill>
                <a:latin typeface="Arial"/>
              </a:rPr>
              <a:t>│       Bootloader (U-Boot)   │  ← HW init, kernel load</a:t>
            </a:r>
          </a:p>
          <a:p>
            <a:r>
              <a:rPr sz="1400">
                <a:solidFill>
                  <a:srgbClr val="152334"/>
                </a:solidFill>
                <a:latin typeface="Arial"/>
              </a:rPr>
              <a:t>├─────────────────────────────┤</a:t>
            </a:r>
          </a:p>
          <a:p>
            <a:r>
              <a:rPr sz="1400">
                <a:solidFill>
                  <a:srgbClr val="152334"/>
                </a:solidFill>
                <a:latin typeface="Arial"/>
              </a:rPr>
              <a:t>│       Hardware (RPi4)       │  ← BCM2711, Cortex-A72</a:t>
            </a:r>
          </a:p>
          <a:p>
            <a:r>
              <a:rPr sz="1400">
                <a:solidFill>
                  <a:srgbClr val="152334"/>
                </a:solidFill>
                <a:latin typeface="Arial"/>
              </a:rPr>
              <a:t>└─────────────────────────────┘</a:t>
            </a:r>
          </a:p>
          <a:p/>
          <a:p>
            <a:r>
              <a:rPr sz="1400">
                <a:solidFill>
                  <a:srgbClr val="152334"/>
                </a:solidFill>
                <a:latin typeface="Arial"/>
              </a:rPr>
              <a:t>Each layer is a course topic. We build bottom-up.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Why Linux for Embedded</a:t>
            </a:r>
          </a:p>
        </p:txBody>
      </p:sp>
      <p:sp>
        <p:nvSpPr>
          <p:cNvPr id="3" name="Content Placeholder 2"/>
          <p:cNvSpPr>
            <a:spLocks noGrp="1"/>
          </p:cNvSpPr>
          <p:nvPr>
            <p:ph idx="1"/>
          </p:nvPr>
        </p:nvSpPr>
        <p:spPr/>
        <p:txBody>
          <a:bodyPr/>
          <a:lstStyle/>
          <a:p>
            <a:r>
              <a:rPr sz="1400">
                <a:solidFill>
                  <a:srgbClr val="152334"/>
                </a:solidFill>
                <a:latin typeface="Arial"/>
              </a:rPr>
              <a:t>Open source — full source code access</a:t>
            </a:r>
          </a:p>
          <a:p>
            <a:r>
              <a:rPr sz="1400">
                <a:solidFill>
                  <a:srgbClr val="152334"/>
                </a:solidFill>
                <a:latin typeface="Arial"/>
              </a:rPr>
              <a:t>  • Modify kernel, drivers, bootloader freely</a:t>
            </a:r>
          </a:p>
          <a:p/>
          <a:p>
            <a:r>
              <a:rPr sz="1400">
                <a:solidFill>
                  <a:srgbClr val="152334"/>
                </a:solidFill>
                <a:latin typeface="Arial"/>
              </a:rPr>
              <a:t>Massive hardware support</a:t>
            </a:r>
          </a:p>
          <a:p>
            <a:r>
              <a:rPr sz="1400">
                <a:solidFill>
                  <a:srgbClr val="152334"/>
                </a:solidFill>
                <a:latin typeface="Arial"/>
              </a:rPr>
              <a:t>  • Mainline kernel supports RPi4, NXP, TI, Microchip...</a:t>
            </a:r>
          </a:p>
          <a:p/>
          <a:p>
            <a:r>
              <a:rPr sz="1400">
                <a:solidFill>
                  <a:srgbClr val="152334"/>
                </a:solidFill>
                <a:latin typeface="Arial"/>
              </a:rPr>
              <a:t>Rich driver ecosystem</a:t>
            </a:r>
          </a:p>
          <a:p>
            <a:r>
              <a:rPr sz="1400">
                <a:solidFill>
                  <a:srgbClr val="152334"/>
                </a:solidFill>
                <a:latin typeface="Arial"/>
              </a:rPr>
              <a:t>  • USB, networking, GPU, SPI, I2C, UART — all upstream</a:t>
            </a:r>
          </a:p>
          <a:p/>
          <a:p>
            <a:r>
              <a:rPr sz="1400">
                <a:solidFill>
                  <a:srgbClr val="152334"/>
                </a:solidFill>
                <a:latin typeface="Arial"/>
              </a:rPr>
              <a:t>Mature toolchain</a:t>
            </a:r>
          </a:p>
          <a:p>
            <a:r>
              <a:rPr sz="1400">
                <a:solidFill>
                  <a:srgbClr val="152334"/>
                </a:solidFill>
                <a:latin typeface="Arial"/>
              </a:rPr>
              <a:t>  • GCC, GDB, binutils — production quality, decades of use</a:t>
            </a:r>
          </a:p>
          <a:p/>
          <a:p>
            <a:r>
              <a:rPr sz="1400">
                <a:solidFill>
                  <a:srgbClr val="152334"/>
                </a:solidFill>
                <a:latin typeface="Arial"/>
              </a:rPr>
              <a:t>Community and documentation</a:t>
            </a:r>
          </a:p>
          <a:p>
            <a:r>
              <a:rPr sz="1400">
                <a:solidFill>
                  <a:srgbClr val="152334"/>
                </a:solidFill>
                <a:latin typeface="Arial"/>
              </a:rPr>
              <a:t>  • Kernel docs, Bootlin training, LWN articles</a:t>
            </a:r>
          </a:p>
          <a:p/>
          <a:p>
            <a:r>
              <a:rPr sz="1400">
                <a:solidFill>
                  <a:srgbClr val="152334"/>
                </a:solidFill>
                <a:latin typeface="Arial"/>
              </a:rPr>
              <a:t>GPL licensing implications</a:t>
            </a:r>
          </a:p>
          <a:p>
            <a:r>
              <a:rPr sz="1400">
                <a:solidFill>
                  <a:srgbClr val="152334"/>
                </a:solidFill>
                <a:latin typeface="Arial"/>
              </a:rPr>
              <a:t>  • Kernel modifications must be shared if distributed</a:t>
            </a:r>
          </a:p>
          <a:p>
            <a:r>
              <a:rPr sz="1400">
                <a:solidFill>
                  <a:srgbClr val="152334"/>
                </a:solidFill>
                <a:latin typeface="Arial"/>
              </a:rPr>
              <a:t>  • Userspace (LGPL, BSD, MIT) is more permissive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The Design Space</a:t>
            </a:r>
          </a:p>
        </p:txBody>
      </p:sp>
      <p:sp>
        <p:nvSpPr>
          <p:cNvPr id="3" name="Content Placeholder 2"/>
          <p:cNvSpPr>
            <a:spLocks noGrp="1"/>
          </p:cNvSpPr>
          <p:nvPr>
            <p:ph idx="1"/>
          </p:nvPr>
        </p:nvSpPr>
        <p:spPr/>
        <p:txBody>
          <a:bodyPr/>
          <a:lstStyle/>
          <a:p>
            <a:r>
              <a:rPr sz="1400">
                <a:solidFill>
                  <a:srgbClr val="152334"/>
                </a:solidFill>
                <a:latin typeface="Arial"/>
              </a:rPr>
              <a:t>Same RPi4 hardware — many possible systems:</a:t>
            </a:r>
          </a:p>
          <a:p/>
          <a:p>
            <a:r>
              <a:rPr sz="1400">
                <a:solidFill>
                  <a:srgbClr val="152334"/>
                </a:solidFill>
                <a:latin typeface="Arial"/>
              </a:rPr>
              <a:t>Minimal real-time controller</a:t>
            </a:r>
          </a:p>
          <a:p>
            <a:r>
              <a:rPr sz="1400">
                <a:solidFill>
                  <a:srgbClr val="152334"/>
                </a:solidFill>
                <a:latin typeface="Arial"/>
              </a:rPr>
              <a:t>  → Small rootfs, PREEMPT_RT kernel, bare application</a:t>
            </a:r>
          </a:p>
          <a:p/>
          <a:p>
            <a:r>
              <a:rPr sz="1400">
                <a:solidFill>
                  <a:srgbClr val="152334"/>
                </a:solidFill>
                <a:latin typeface="Arial"/>
              </a:rPr>
              <a:t>Network appliance / gateway</a:t>
            </a:r>
          </a:p>
          <a:p>
            <a:r>
              <a:rPr sz="1400">
                <a:solidFill>
                  <a:srgbClr val="152334"/>
                </a:solidFill>
                <a:latin typeface="Arial"/>
              </a:rPr>
              <a:t>  → Full networking stack, firewall, web interface</a:t>
            </a:r>
          </a:p>
          <a:p/>
          <a:p>
            <a:r>
              <a:rPr sz="1400">
                <a:solidFill>
                  <a:srgbClr val="152334"/>
                </a:solidFill>
                <a:latin typeface="Arial"/>
              </a:rPr>
              <a:t>AI edge inference device</a:t>
            </a:r>
          </a:p>
          <a:p>
            <a:r>
              <a:rPr sz="1400">
                <a:solidFill>
                  <a:srgbClr val="152334"/>
                </a:solidFill>
                <a:latin typeface="Arial"/>
              </a:rPr>
              <a:t>  → TensorFlow Lite, camera input, GPU acceleration</a:t>
            </a:r>
          </a:p>
          <a:p/>
          <a:p>
            <a:r>
              <a:rPr sz="1400">
                <a:solidFill>
                  <a:srgbClr val="152334"/>
                </a:solidFill>
                <a:latin typeface="Arial"/>
              </a:rPr>
              <a:t>Desktop replacement</a:t>
            </a:r>
          </a:p>
          <a:p>
            <a:r>
              <a:rPr sz="1400">
                <a:solidFill>
                  <a:srgbClr val="152334"/>
                </a:solidFill>
                <a:latin typeface="Arial"/>
              </a:rPr>
              <a:t>  → X11/Wayland, browser, full Debian userspace</a:t>
            </a:r>
          </a:p>
          <a:p/>
          <a:p>
            <a:r>
              <a:rPr sz="1400">
                <a:solidFill>
                  <a:srgbClr val="152334"/>
                </a:solidFill>
                <a:latin typeface="Arial"/>
              </a:rPr>
              <a:t>Your design choices determine:</a:t>
            </a:r>
          </a:p>
          <a:p>
            <a:r>
              <a:rPr sz="1400">
                <a:solidFill>
                  <a:srgbClr val="152334"/>
                </a:solidFill>
                <a:latin typeface="Arial"/>
              </a:rPr>
              <a:t>  • Kernel features enabled</a:t>
            </a:r>
          </a:p>
          <a:p>
            <a:r>
              <a:rPr sz="1400">
                <a:solidFill>
                  <a:srgbClr val="152334"/>
                </a:solidFill>
                <a:latin typeface="Arial"/>
              </a:rPr>
              <a:t>  • Rootfs size and contents</a:t>
            </a:r>
          </a:p>
          <a:p>
            <a:r>
              <a:rPr sz="1400">
                <a:solidFill>
                  <a:srgbClr val="152334"/>
                </a:solidFill>
                <a:latin typeface="Arial"/>
              </a:rPr>
              <a:t>  • Boot time requirements</a:t>
            </a:r>
          </a:p>
          <a:p>
            <a:r>
              <a:rPr sz="1400">
                <a:solidFill>
                  <a:srgbClr val="152334"/>
                </a:solidFill>
                <a:latin typeface="Arial"/>
              </a:rPr>
              <a:t>  • Real-time behavior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Cross-Development</a:t>
            </a:r>
          </a:p>
        </p:txBody>
      </p:sp>
      <p:sp>
        <p:nvSpPr>
          <p:cNvPr id="3" name="Content Placeholder 2"/>
          <p:cNvSpPr>
            <a:spLocks noGrp="1"/>
          </p:cNvSpPr>
          <p:nvPr>
            <p:ph idx="1"/>
          </p:nvPr>
        </p:nvSpPr>
        <p:spPr/>
        <p:txBody>
          <a:bodyPr/>
          <a:lstStyle/>
          <a:p>
            <a:r>
              <a:rPr sz="1400">
                <a:solidFill>
                  <a:srgbClr val="152334"/>
                </a:solidFill>
                <a:latin typeface="Arial"/>
              </a:rPr>
              <a:t>Build on x86 → Run on ARM</a:t>
            </a:r>
          </a:p>
          <a:p/>
          <a:p>
            <a:r>
              <a:rPr sz="1400">
                <a:solidFill>
                  <a:srgbClr val="152334"/>
                </a:solidFill>
                <a:latin typeface="Arial"/>
              </a:rPr>
              <a:t>Host (your workstation):</a:t>
            </a:r>
          </a:p>
          <a:p>
            <a:r>
              <a:rPr sz="1400">
                <a:solidFill>
                  <a:srgbClr val="152334"/>
                </a:solidFill>
                <a:latin typeface="Arial"/>
              </a:rPr>
              <a:t>  • x86_64, powerful, runs IDE and compiler</a:t>
            </a:r>
          </a:p>
          <a:p>
            <a:r>
              <a:rPr sz="1400">
                <a:solidFill>
                  <a:srgbClr val="152334"/>
                </a:solidFill>
                <a:latin typeface="Arial"/>
              </a:rPr>
              <a:t>  • Produces ARM64 binaries via cross-compiler</a:t>
            </a:r>
          </a:p>
          <a:p/>
          <a:p>
            <a:r>
              <a:rPr sz="1400">
                <a:solidFill>
                  <a:srgbClr val="152334"/>
                </a:solidFill>
                <a:latin typeface="Arial"/>
              </a:rPr>
              <a:t>Target (RPi4):</a:t>
            </a:r>
          </a:p>
          <a:p>
            <a:r>
              <a:rPr sz="1400">
                <a:solidFill>
                  <a:srgbClr val="152334"/>
                </a:solidFill>
                <a:latin typeface="Arial"/>
              </a:rPr>
              <a:t>  • aarch64 (ARMv8-A), limited resources</a:t>
            </a:r>
          </a:p>
          <a:p>
            <a:r>
              <a:rPr sz="1400">
                <a:solidFill>
                  <a:srgbClr val="152334"/>
                </a:solidFill>
                <a:latin typeface="Arial"/>
              </a:rPr>
              <a:t>  • Runs the compiled binaries</a:t>
            </a:r>
          </a:p>
          <a:p/>
          <a:p>
            <a:r>
              <a:rPr sz="1400">
                <a:solidFill>
                  <a:srgbClr val="152334"/>
                </a:solidFill>
                <a:latin typeface="Arial"/>
              </a:rPr>
              <a:t>The cross-compiler:</a:t>
            </a:r>
          </a:p>
          <a:p>
            <a:r>
              <a:rPr sz="1400">
                <a:solidFill>
                  <a:srgbClr val="152334"/>
                </a:solidFill>
                <a:latin typeface="Arial"/>
              </a:rPr>
              <a:t>  • aarch64-none-linux-gnu-gcc</a:t>
            </a:r>
          </a:p>
          <a:p>
            <a:r>
              <a:rPr sz="1400">
                <a:solidFill>
                  <a:srgbClr val="152334"/>
                </a:solidFill>
                <a:latin typeface="Arial"/>
              </a:rPr>
              <a:t>  • Runs on x86, produces ARM64 code</a:t>
            </a:r>
          </a:p>
          <a:p>
            <a:r>
              <a:rPr sz="1400">
                <a:solidFill>
                  <a:srgbClr val="152334"/>
                </a:solidFill>
                <a:latin typeface="Arial"/>
              </a:rPr>
              <a:t>  • Part of the Arm GNU Toolchain</a:t>
            </a:r>
          </a:p>
          <a:p/>
          <a:p>
            <a:r>
              <a:rPr sz="1400">
                <a:solidFill>
                  <a:srgbClr val="152334"/>
                </a:solidFill>
                <a:latin typeface="Arial"/>
              </a:rPr>
              <a:t>Reference: Bootlin embedded Linux training materials</a:t>
            </a:r>
          </a:p>
          <a:p>
            <a:r>
              <a:rPr sz="1400">
                <a:solidFill>
                  <a:srgbClr val="152334"/>
                </a:solidFill>
                <a:latin typeface="Arial"/>
              </a:rPr>
              <a:t>  bootlin.com/doc/training/embedded-linux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The Development Workflow</a:t>
            </a:r>
          </a:p>
        </p:txBody>
      </p:sp>
      <p:sp>
        <p:nvSpPr>
          <p:cNvPr id="3" name="Content Placeholder 2"/>
          <p:cNvSpPr>
            <a:spLocks noGrp="1"/>
          </p:cNvSpPr>
          <p:nvPr>
            <p:ph idx="1"/>
          </p:nvPr>
        </p:nvSpPr>
        <p:spPr/>
        <p:txBody>
          <a:bodyPr/>
          <a:lstStyle/>
          <a:p>
            <a:r>
              <a:rPr sz="1400">
                <a:solidFill>
                  <a:srgbClr val="152334"/>
                </a:solidFill>
                <a:latin typeface="Arial"/>
              </a:rPr>
              <a:t>Edit → Cross-compile → Transfer → Test → Debug</a:t>
            </a:r>
          </a:p>
          <a:p/>
          <a:p>
            <a:r>
              <a:rPr sz="1400">
                <a:solidFill>
                  <a:srgbClr val="152334"/>
                </a:solidFill>
                <a:latin typeface="Arial"/>
              </a:rPr>
              <a:t>Edit:     Source code on host (your IDE/editor)</a:t>
            </a:r>
          </a:p>
          <a:p>
            <a:r>
              <a:rPr sz="1400">
                <a:solidFill>
                  <a:srgbClr val="152334"/>
                </a:solidFill>
                <a:latin typeface="Arial"/>
              </a:rPr>
              <a:t>Compile:  aarch64-none-linux-gnu-gcc -o app app.c</a:t>
            </a:r>
          </a:p>
          <a:p>
            <a:r>
              <a:rPr sz="1400">
                <a:solidFill>
                  <a:srgbClr val="152334"/>
                </a:solidFill>
                <a:latin typeface="Arial"/>
              </a:rPr>
              <a:t>Transfer: NFS rootfs, SCP, or SD card copy</a:t>
            </a:r>
          </a:p>
          <a:p>
            <a:r>
              <a:rPr sz="1400">
                <a:solidFill>
                  <a:srgbClr val="152334"/>
                </a:solidFill>
                <a:latin typeface="Arial"/>
              </a:rPr>
              <a:t>Test:     Run on target, observe output</a:t>
            </a:r>
          </a:p>
          <a:p>
            <a:r>
              <a:rPr sz="1400">
                <a:solidFill>
                  <a:srgbClr val="152334"/>
                </a:solidFill>
                <a:latin typeface="Arial"/>
              </a:rPr>
              <a:t>Debug:    GDB on host, gdbserver on target</a:t>
            </a:r>
          </a:p>
          <a:p/>
          <a:p>
            <a:r>
              <a:rPr sz="1400">
                <a:solidFill>
                  <a:srgbClr val="152334"/>
                </a:solidFill>
                <a:latin typeface="Arial"/>
              </a:rPr>
              <a:t>NFS root filesystem for rapid iteration:</a:t>
            </a:r>
          </a:p>
          <a:p>
            <a:r>
              <a:rPr sz="1400">
                <a:solidFill>
                  <a:srgbClr val="152334"/>
                </a:solidFill>
                <a:latin typeface="Arial"/>
              </a:rPr>
              <a:t>  • Target mounts rootfs over network</a:t>
            </a:r>
          </a:p>
          <a:p>
            <a:r>
              <a:rPr sz="1400">
                <a:solidFill>
                  <a:srgbClr val="152334"/>
                </a:solidFill>
                <a:latin typeface="Arial"/>
              </a:rPr>
              <a:t>  • Edit on host → instantly visible on target</a:t>
            </a:r>
          </a:p>
          <a:p>
            <a:r>
              <a:rPr sz="1400">
                <a:solidFill>
                  <a:srgbClr val="152334"/>
                </a:solidFill>
                <a:latin typeface="Arial"/>
              </a:rPr>
              <a:t>  • No SD card flashing cycle</a:t>
            </a:r>
          </a:p>
          <a:p/>
          <a:p>
            <a:r>
              <a:rPr sz="1400">
                <a:solidFill>
                  <a:srgbClr val="152334"/>
                </a:solidFill>
                <a:latin typeface="Arial"/>
              </a:rPr>
              <a:t>Serial console for output and U-Boot interaction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AI in This Course</a:t>
            </a:r>
          </a:p>
        </p:txBody>
      </p:sp>
      <p:sp>
        <p:nvSpPr>
          <p:cNvPr id="3" name="Content Placeholder 2"/>
          <p:cNvSpPr>
            <a:spLocks noGrp="1"/>
          </p:cNvSpPr>
          <p:nvPr>
            <p:ph idx="1"/>
          </p:nvPr>
        </p:nvSpPr>
        <p:spPr/>
        <p:txBody>
          <a:bodyPr/>
          <a:lstStyle/>
          <a:p>
            <a:r>
              <a:rPr sz="1400">
                <a:solidFill>
                  <a:srgbClr val="152334"/>
                </a:solidFill>
                <a:latin typeface="Arial"/>
              </a:rPr>
              <a:t>Three layers of AI integration:</a:t>
            </a:r>
          </a:p>
          <a:p/>
          <a:p>
            <a:r>
              <a:rPr sz="1400">
                <a:solidFill>
                  <a:srgbClr val="152334"/>
                </a:solidFill>
                <a:latin typeface="Arial"/>
              </a:rPr>
              <a:t>Layer 1 — AI as Build Assistant</a:t>
            </a:r>
          </a:p>
          <a:p>
            <a:r>
              <a:rPr sz="1400">
                <a:solidFill>
                  <a:srgbClr val="152334"/>
                </a:solidFill>
                <a:latin typeface="Arial"/>
              </a:rPr>
              <a:t>  • Explain error messages, suggest fixes</a:t>
            </a:r>
          </a:p>
          <a:p>
            <a:r>
              <a:rPr sz="1400">
                <a:solidFill>
                  <a:srgbClr val="152334"/>
                </a:solidFill>
                <a:latin typeface="Arial"/>
              </a:rPr>
              <a:t>  • Generate boilerplate code, Kconfig snippets</a:t>
            </a:r>
          </a:p>
          <a:p>
            <a:r>
              <a:rPr sz="1400">
                <a:solidFill>
                  <a:srgbClr val="152334"/>
                </a:solidFill>
                <a:latin typeface="Arial"/>
              </a:rPr>
              <a:t>  • Starting today, in every session</a:t>
            </a:r>
          </a:p>
          <a:p/>
          <a:p>
            <a:r>
              <a:rPr sz="1400">
                <a:solidFill>
                  <a:srgbClr val="152334"/>
                </a:solidFill>
                <a:latin typeface="Arial"/>
              </a:rPr>
              <a:t>Layer 2 — AI for Code Analysis</a:t>
            </a:r>
          </a:p>
          <a:p>
            <a:r>
              <a:rPr sz="1400">
                <a:solidFill>
                  <a:srgbClr val="152334"/>
                </a:solidFill>
                <a:latin typeface="Arial"/>
              </a:rPr>
              <a:t>  • Read and explain kernel config options</a:t>
            </a:r>
          </a:p>
          <a:p>
            <a:r>
              <a:rPr sz="1400">
                <a:solidFill>
                  <a:srgbClr val="152334"/>
                </a:solidFill>
                <a:latin typeface="Arial"/>
              </a:rPr>
              <a:t>  • Analyze cross-compilation output (readelf, objdump)</a:t>
            </a:r>
          </a:p>
          <a:p>
            <a:r>
              <a:rPr sz="1400">
                <a:solidFill>
                  <a:srgbClr val="152334"/>
                </a:solidFill>
                <a:latin typeface="Arial"/>
              </a:rPr>
              <a:t>  • Lab exercise in Session 2</a:t>
            </a:r>
          </a:p>
          <a:p/>
          <a:p>
            <a:r>
              <a:rPr sz="1400">
                <a:solidFill>
                  <a:srgbClr val="152334"/>
                </a:solidFill>
                <a:latin typeface="Arial"/>
              </a:rPr>
              <a:t>Layer 3 — AI for System Design</a:t>
            </a:r>
          </a:p>
          <a:p>
            <a:r>
              <a:rPr sz="1400">
                <a:solidFill>
                  <a:srgbClr val="152334"/>
                </a:solidFill>
                <a:latin typeface="Arial"/>
              </a:rPr>
              <a:t>  • Evaluate design tradeoffs</a:t>
            </a:r>
          </a:p>
          <a:p>
            <a:r>
              <a:rPr sz="1400">
                <a:solidFill>
                  <a:srgbClr val="152334"/>
                </a:solidFill>
                <a:latin typeface="Arial"/>
              </a:rPr>
              <a:t>  • Suggest kernel configuration for requirements</a:t>
            </a:r>
          </a:p>
          <a:p>
            <a:r>
              <a:rPr sz="1400">
                <a:solidFill>
                  <a:srgbClr val="152334"/>
                </a:solidFill>
                <a:latin typeface="Arial"/>
              </a:rPr>
              <a:t>  • Capstone project support in Sessions 9-10</a:t>
            </a:r>
          </a:p>
          <a:p/>
          <a:p>
            <a:r>
              <a:rPr sz="1400">
                <a:solidFill>
                  <a:srgbClr val="152334"/>
                </a:solidFill>
                <a:latin typeface="Arial"/>
              </a:rPr>
              <a:t>You completed the AI for Programmers session — this is where we apply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Session-by-Session Build Pipeline</a:t>
            </a:r>
          </a:p>
        </p:txBody>
      </p:sp>
      <p:sp>
        <p:nvSpPr>
          <p:cNvPr id="3" name="Content Placeholder 2"/>
          <p:cNvSpPr>
            <a:spLocks noGrp="1"/>
          </p:cNvSpPr>
          <p:nvPr>
            <p:ph idx="1"/>
          </p:nvPr>
        </p:nvSpPr>
        <p:spPr/>
        <p:txBody>
          <a:bodyPr/>
          <a:lstStyle/>
          <a:p>
            <a:r>
              <a:rPr sz="1400">
                <a:solidFill>
                  <a:srgbClr val="152334"/>
                </a:solidFill>
                <a:latin typeface="Arial"/>
              </a:rPr>
              <a:t>Hardware ──→ Bootloader ──→ Kernel ──→ Rootfs ──→ App</a:t>
            </a:r>
          </a:p>
          <a:p>
            <a:r>
              <a:rPr sz="1400">
                <a:solidFill>
                  <a:srgbClr val="152334"/>
                </a:solidFill>
                <a:latin typeface="Arial"/>
              </a:rPr>
              <a:t>              Session 2    Session 3   Session 4   Session 7-8</a:t>
            </a:r>
          </a:p>
          <a:p/>
          <a:p>
            <a:r>
              <a:rPr sz="1400">
                <a:solidFill>
                  <a:srgbClr val="152334"/>
                </a:solidFill>
                <a:latin typeface="Arial"/>
              </a:rPr>
              <a:t>Sess 1: Overview &amp; First Boot [NOW]</a:t>
            </a:r>
          </a:p>
          <a:p>
            <a:r>
              <a:rPr sz="1400">
                <a:solidFill>
                  <a:srgbClr val="152334"/>
                </a:solidFill>
                <a:latin typeface="Arial"/>
              </a:rPr>
              <a:t>Sess 2: Toolchain + U-Boot</a:t>
            </a:r>
          </a:p>
          <a:p>
            <a:r>
              <a:rPr sz="1400">
                <a:solidFill>
                  <a:srgbClr val="152334"/>
                </a:solidFill>
                <a:latin typeface="Arial"/>
              </a:rPr>
              <a:t>Sess 3: Yocto/Buildroot (automated build)</a:t>
            </a:r>
          </a:p>
          <a:p>
            <a:r>
              <a:rPr sz="1400">
                <a:solidFill>
                  <a:srgbClr val="152334"/>
                </a:solidFill>
                <a:latin typeface="Arial"/>
              </a:rPr>
              <a:t>Sess 4: Storage, filesystems, OTA updates</a:t>
            </a:r>
          </a:p>
          <a:p>
            <a:r>
              <a:rPr sz="1400">
                <a:solidFill>
                  <a:srgbClr val="152334"/>
                </a:solidFill>
                <a:latin typeface="Arial"/>
              </a:rPr>
              <a:t>Sess 5: Kernel internals, modules, init</a:t>
            </a:r>
          </a:p>
          <a:p>
            <a:r>
              <a:rPr sz="1400">
                <a:solidFill>
                  <a:srgbClr val="152334"/>
                </a:solidFill>
                <a:latin typeface="Arial"/>
              </a:rPr>
              <a:t>Sess 6: Device trees, sysfs, interrupts</a:t>
            </a:r>
          </a:p>
          <a:p>
            <a:r>
              <a:rPr sz="1400">
                <a:solidFill>
                  <a:srgbClr val="152334"/>
                </a:solidFill>
                <a:latin typeface="Arial"/>
              </a:rPr>
              <a:t>Sess 7: Processes, threads, IPC</a:t>
            </a:r>
          </a:p>
          <a:p>
            <a:r>
              <a:rPr sz="1400">
                <a:solidFill>
                  <a:srgbClr val="152334"/>
                </a:solidFill>
                <a:latin typeface="Arial"/>
              </a:rPr>
              <a:t>Sess 8: Embedded applications, Python</a:t>
            </a:r>
          </a:p>
          <a:p>
            <a:r>
              <a:rPr sz="1400">
                <a:solidFill>
                  <a:srgbClr val="152334"/>
                </a:solidFill>
                <a:latin typeface="Arial"/>
              </a:rPr>
              <a:t>Sess 9: GDB, strace, perf, ftrace</a:t>
            </a:r>
          </a:p>
          <a:p>
            <a:r>
              <a:rPr sz="1400">
                <a:solidFill>
                  <a:srgbClr val="152334"/>
                </a:solidFill>
                <a:latin typeface="Arial"/>
              </a:rPr>
              <a:t>Sess 10: PREEMPT_RT, latency measurement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The Toolchain</a:t>
            </a:r>
          </a:p>
        </p:txBody>
      </p:sp>
      <p:sp>
        <p:nvSpPr>
          <p:cNvPr id="3" name="Content Placeholder 2"/>
          <p:cNvSpPr>
            <a:spLocks noGrp="1"/>
          </p:cNvSpPr>
          <p:nvPr>
            <p:ph idx="1"/>
          </p:nvPr>
        </p:nvSpPr>
        <p:spPr/>
        <p:txBody>
          <a:bodyPr/>
          <a:lstStyle/>
          <a:p>
            <a:r>
              <a:rPr sz="1400">
                <a:solidFill>
                  <a:srgbClr val="152334"/>
                </a:solidFill>
                <a:latin typeface="Arial"/>
              </a:rPr>
              <a:t>GCC Cross-Compiler</a:t>
            </a:r>
          </a:p>
          <a:p>
            <a:r>
              <a:rPr sz="1400">
                <a:solidFill>
                  <a:srgbClr val="152334"/>
                </a:solidFill>
                <a:latin typeface="Arial"/>
              </a:rPr>
              <a:t>  • Host: x86_64 Linux workstation</a:t>
            </a:r>
          </a:p>
          <a:p>
            <a:r>
              <a:rPr sz="1400">
                <a:solidFill>
                  <a:srgbClr val="152334"/>
                </a:solidFill>
                <a:latin typeface="Arial"/>
              </a:rPr>
              <a:t>  • Target: aarch64 (ARMv8-A)</a:t>
            </a:r>
          </a:p>
          <a:p>
            <a:r>
              <a:rPr sz="1400">
                <a:solidFill>
                  <a:srgbClr val="152334"/>
                </a:solidFill>
                <a:latin typeface="Arial"/>
              </a:rPr>
              <a:t>  • Triplet: aarch64-none-linux-gnu</a:t>
            </a:r>
          </a:p>
          <a:p/>
          <a:p>
            <a:r>
              <a:rPr sz="1400">
                <a:solidFill>
                  <a:srgbClr val="152334"/>
                </a:solidFill>
                <a:latin typeface="Arial"/>
              </a:rPr>
              <a:t>Components:</a:t>
            </a:r>
          </a:p>
          <a:p>
            <a:r>
              <a:rPr sz="1400">
                <a:solidFill>
                  <a:srgbClr val="152334"/>
                </a:solidFill>
                <a:latin typeface="Arial"/>
              </a:rPr>
              <a:t>  • aarch64-none-linux-gnu-gcc    (C compiler)</a:t>
            </a:r>
          </a:p>
          <a:p>
            <a:r>
              <a:rPr sz="1400">
                <a:solidFill>
                  <a:srgbClr val="152334"/>
                </a:solidFill>
                <a:latin typeface="Arial"/>
              </a:rPr>
              <a:t>  • aarch64-none-linux-gnu-g++    (C++ compiler)</a:t>
            </a:r>
          </a:p>
          <a:p>
            <a:r>
              <a:rPr sz="1400">
                <a:solidFill>
                  <a:srgbClr val="152334"/>
                </a:solidFill>
                <a:latin typeface="Arial"/>
              </a:rPr>
              <a:t>  • aarch64-none-linux-gnu-ld     (linker)</a:t>
            </a:r>
          </a:p>
          <a:p>
            <a:r>
              <a:rPr sz="1400">
                <a:solidFill>
                  <a:srgbClr val="152334"/>
                </a:solidFill>
                <a:latin typeface="Arial"/>
              </a:rPr>
              <a:t>  • aarch64-none-linux-gnu-as     (assembler)</a:t>
            </a:r>
          </a:p>
          <a:p>
            <a:r>
              <a:rPr sz="1400">
                <a:solidFill>
                  <a:srgbClr val="152334"/>
                </a:solidFill>
                <a:latin typeface="Arial"/>
              </a:rPr>
              <a:t>  • aarch64-none-linux-gnu-gdb    (debugger)</a:t>
            </a:r>
          </a:p>
          <a:p/>
          <a:p>
            <a:r>
              <a:rPr sz="1400">
                <a:solidFill>
                  <a:srgbClr val="152334"/>
                </a:solidFill>
                <a:latin typeface="Arial"/>
              </a:rPr>
              <a:t>Source: Arm GNU Toolchain</a:t>
            </a:r>
          </a:p>
          <a:p>
            <a:r>
              <a:rPr sz="1400">
                <a:solidFill>
                  <a:srgbClr val="152334"/>
                </a:solidFill>
                <a:latin typeface="Arial"/>
              </a:rPr>
              <a:t>  developer.arm.com/downloads</a:t>
            </a:r>
          </a:p>
          <a:p/>
          <a:p>
            <a:r>
              <a:rPr sz="1400">
                <a:solidFill>
                  <a:srgbClr val="152334"/>
                </a:solidFill>
                <a:latin typeface="Arial"/>
              </a:rPr>
              <a:t>Session 2: Install, verify, compile first binary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Bootloader Concepts</a:t>
            </a:r>
          </a:p>
        </p:txBody>
      </p:sp>
      <p:sp>
        <p:nvSpPr>
          <p:cNvPr id="3" name="Content Placeholder 2"/>
          <p:cNvSpPr>
            <a:spLocks noGrp="1"/>
          </p:cNvSpPr>
          <p:nvPr>
            <p:ph idx="1"/>
          </p:nvPr>
        </p:nvSpPr>
        <p:spPr/>
        <p:txBody>
          <a:bodyPr/>
          <a:lstStyle/>
          <a:p>
            <a:r>
              <a:rPr sz="1400">
                <a:solidFill>
                  <a:srgbClr val="152334"/>
                </a:solidFill>
                <a:latin typeface="Arial"/>
              </a:rPr>
              <a:t>U-Boot: Universal Boot Loader</a:t>
            </a:r>
          </a:p>
          <a:p>
            <a:r>
              <a:rPr sz="1400">
                <a:solidFill>
                  <a:srgbClr val="152334"/>
                </a:solidFill>
                <a:latin typeface="Arial"/>
              </a:rPr>
              <a:t>  • Standard bootloader for ARM embedded Linux</a:t>
            </a:r>
          </a:p>
          <a:p>
            <a:r>
              <a:rPr sz="1400">
                <a:solidFill>
                  <a:srgbClr val="152334"/>
                </a:solidFill>
                <a:latin typeface="Arial"/>
              </a:rPr>
              <a:t>  • Open source (GPL), actively maintained</a:t>
            </a:r>
          </a:p>
          <a:p/>
          <a:p>
            <a:r>
              <a:rPr sz="1400">
                <a:solidFill>
                  <a:srgbClr val="152334"/>
                </a:solidFill>
                <a:latin typeface="Arial"/>
              </a:rPr>
              <a:t>Boot sequence on RPi4:</a:t>
            </a:r>
          </a:p>
          <a:p>
            <a:r>
              <a:rPr sz="1400">
                <a:solidFill>
                  <a:srgbClr val="152334"/>
                </a:solidFill>
                <a:latin typeface="Arial"/>
              </a:rPr>
              <a:t>  1. ROM code (in SoC) — first code that runs</a:t>
            </a:r>
          </a:p>
          <a:p>
            <a:r>
              <a:rPr sz="1400">
                <a:solidFill>
                  <a:srgbClr val="152334"/>
                </a:solidFill>
                <a:latin typeface="Arial"/>
              </a:rPr>
              <a:t>  2. bootcode.bin (on SD card) — GPU firmware</a:t>
            </a:r>
          </a:p>
          <a:p>
            <a:r>
              <a:rPr sz="1400">
                <a:solidFill>
                  <a:srgbClr val="152334"/>
                </a:solidFill>
                <a:latin typeface="Arial"/>
              </a:rPr>
              <a:t>  3. start4.elf — GPU firmware, loads config.txt</a:t>
            </a:r>
          </a:p>
          <a:p>
            <a:r>
              <a:rPr sz="1400">
                <a:solidFill>
                  <a:srgbClr val="152334"/>
                </a:solidFill>
                <a:latin typeface="Arial"/>
              </a:rPr>
              <a:t>  4. U-Boot (or Linux kernel directly)</a:t>
            </a:r>
          </a:p>
          <a:p>
            <a:r>
              <a:rPr sz="1400">
                <a:solidFill>
                  <a:srgbClr val="152334"/>
                </a:solidFill>
                <a:latin typeface="Arial"/>
              </a:rPr>
              <a:t>  5. Linux kernel</a:t>
            </a:r>
          </a:p>
          <a:p/>
          <a:p>
            <a:r>
              <a:rPr sz="1400">
                <a:solidFill>
                  <a:srgbClr val="152334"/>
                </a:solidFill>
                <a:latin typeface="Arial"/>
              </a:rPr>
              <a:t>U-Boot provides:</a:t>
            </a:r>
          </a:p>
          <a:p>
            <a:r>
              <a:rPr sz="1400">
                <a:solidFill>
                  <a:srgbClr val="152334"/>
                </a:solidFill>
                <a:latin typeface="Arial"/>
              </a:rPr>
              <a:t>  • Serial console command interface</a:t>
            </a:r>
          </a:p>
          <a:p>
            <a:r>
              <a:rPr sz="1400">
                <a:solidFill>
                  <a:srgbClr val="152334"/>
                </a:solidFill>
                <a:latin typeface="Arial"/>
              </a:rPr>
              <a:t>  • Environment variables (bootargs)</a:t>
            </a:r>
          </a:p>
          <a:p>
            <a:r>
              <a:rPr sz="1400">
                <a:solidFill>
                  <a:srgbClr val="152334"/>
                </a:solidFill>
                <a:latin typeface="Arial"/>
              </a:rPr>
              <a:t>  • Storage access (SD, USB, network)</a:t>
            </a:r>
          </a:p>
          <a:p>
            <a:r>
              <a:rPr sz="1400">
                <a:solidFill>
                  <a:srgbClr val="152334"/>
                </a:solidFill>
                <a:latin typeface="Arial"/>
              </a:rPr>
              <a:t>  • Kernel loading and boot</a:t>
            </a:r>
          </a:p>
          <a:p/>
          <a:p>
            <a:r>
              <a:rPr sz="1400">
                <a:solidFill>
                  <a:srgbClr val="152334"/>
                </a:solidFill>
                <a:latin typeface="Arial"/>
              </a:rPr>
              <a:t>Session 2: Build U-Boot from source, configure boot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Kernel Configuration</a:t>
            </a:r>
          </a:p>
        </p:txBody>
      </p:sp>
      <p:sp>
        <p:nvSpPr>
          <p:cNvPr id="3" name="Content Placeholder 2"/>
          <p:cNvSpPr>
            <a:spLocks noGrp="1"/>
          </p:cNvSpPr>
          <p:nvPr>
            <p:ph idx="1"/>
          </p:nvPr>
        </p:nvSpPr>
        <p:spPr/>
        <p:txBody>
          <a:bodyPr/>
          <a:lstStyle/>
          <a:p>
            <a:r>
              <a:rPr sz="1400">
                <a:solidFill>
                  <a:srgbClr val="152334"/>
                </a:solidFill>
                <a:latin typeface="Arial"/>
              </a:rPr>
              <a:t>The .config file</a:t>
            </a:r>
          </a:p>
          <a:p>
            <a:r>
              <a:rPr sz="1400">
                <a:solidFill>
                  <a:srgbClr val="152334"/>
                </a:solidFill>
                <a:latin typeface="Arial"/>
              </a:rPr>
              <a:t>  • Defines every kernel feature, driver, and option</a:t>
            </a:r>
          </a:p>
          <a:p>
            <a:r>
              <a:rPr sz="1400">
                <a:solidFill>
                  <a:srgbClr val="152334"/>
                </a:solidFill>
                <a:latin typeface="Arial"/>
              </a:rPr>
              <a:t>  • Thousands of configurable items</a:t>
            </a:r>
          </a:p>
          <a:p/>
          <a:p>
            <a:r>
              <a:rPr sz="1400">
                <a:solidFill>
                  <a:srgbClr val="152334"/>
                </a:solidFill>
                <a:latin typeface="Arial"/>
              </a:rPr>
              <a:t>Configuration methods:</a:t>
            </a:r>
          </a:p>
          <a:p>
            <a:r>
              <a:rPr sz="1400">
                <a:solidFill>
                  <a:srgbClr val="152334"/>
                </a:solidFill>
                <a:latin typeface="Arial"/>
              </a:rPr>
              <a:t>  • make menuconfig  — ncurses TUI (most common)</a:t>
            </a:r>
          </a:p>
          <a:p>
            <a:r>
              <a:rPr sz="1400">
                <a:solidFill>
                  <a:srgbClr val="152334"/>
                </a:solidFill>
                <a:latin typeface="Arial"/>
              </a:rPr>
              <a:t>  • make xconfig     — Qt GUI</a:t>
            </a:r>
          </a:p>
          <a:p>
            <a:r>
              <a:rPr sz="1400">
                <a:solidFill>
                  <a:srgbClr val="152334"/>
                </a:solidFill>
                <a:latin typeface="Arial"/>
              </a:rPr>
              <a:t>  • make defconfig   — default for the architecture</a:t>
            </a:r>
          </a:p>
          <a:p>
            <a:r>
              <a:rPr sz="1400">
                <a:solidFill>
                  <a:srgbClr val="152334"/>
                </a:solidFill>
                <a:latin typeface="Arial"/>
              </a:rPr>
              <a:t>  • make bcm2711_defconfig — RPi4 defaults</a:t>
            </a:r>
          </a:p>
          <a:p/>
          <a:p>
            <a:r>
              <a:rPr sz="1400">
                <a:solidFill>
                  <a:srgbClr val="152334"/>
                </a:solidFill>
                <a:latin typeface="Arial"/>
              </a:rPr>
              <a:t>Built-in vs Module:</a:t>
            </a:r>
          </a:p>
          <a:p>
            <a:r>
              <a:rPr sz="1400">
                <a:solidFill>
                  <a:srgbClr val="152334"/>
                </a:solidFill>
                <a:latin typeface="Arial"/>
              </a:rPr>
              <a:t>  • =y  → Compiled into the kernel image (always present)</a:t>
            </a:r>
          </a:p>
          <a:p>
            <a:r>
              <a:rPr sz="1400">
                <a:solidFill>
                  <a:srgbClr val="152334"/>
                </a:solidFill>
                <a:latin typeface="Arial"/>
              </a:rPr>
              <a:t>  • =m  → Compiled as a loadable module (loaded on demand)</a:t>
            </a:r>
          </a:p>
          <a:p>
            <a:r>
              <a:rPr sz="1400">
                <a:solidFill>
                  <a:srgbClr val="152334"/>
                </a:solidFill>
                <a:latin typeface="Arial"/>
              </a:rPr>
              <a:t>  • =n  → Not compiled at all</a:t>
            </a:r>
          </a:p>
          <a:p/>
          <a:p>
            <a:r>
              <a:rPr sz="1400">
                <a:solidFill>
                  <a:srgbClr val="152334"/>
                </a:solidFill>
                <a:latin typeface="Arial"/>
              </a:rPr>
              <a:t>Session 3: Configure and build a custom kernel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Root Filesystem Construction</a:t>
            </a:r>
          </a:p>
        </p:txBody>
      </p:sp>
      <p:sp>
        <p:nvSpPr>
          <p:cNvPr id="3" name="Content Placeholder 2"/>
          <p:cNvSpPr>
            <a:spLocks noGrp="1"/>
          </p:cNvSpPr>
          <p:nvPr>
            <p:ph idx="1"/>
          </p:nvPr>
        </p:nvSpPr>
        <p:spPr/>
        <p:txBody>
          <a:bodyPr/>
          <a:lstStyle/>
          <a:p>
            <a:r>
              <a:rPr sz="1400">
                <a:solidFill>
                  <a:srgbClr val="152334"/>
                </a:solidFill>
                <a:latin typeface="Arial"/>
              </a:rPr>
              <a:t>Minimal rootfs contents:</a:t>
            </a:r>
          </a:p>
          <a:p>
            <a:r>
              <a:rPr sz="1400">
                <a:solidFill>
                  <a:srgbClr val="152334"/>
                </a:solidFill>
                <a:latin typeface="Arial"/>
              </a:rPr>
              <a:t>  • /sbin/init        — first userspace process</a:t>
            </a:r>
          </a:p>
          <a:p>
            <a:r>
              <a:rPr sz="1400">
                <a:solidFill>
                  <a:srgbClr val="152334"/>
                </a:solidFill>
                <a:latin typeface="Arial"/>
              </a:rPr>
              <a:t>  • /lib              — shared libraries (libc, libm, etc.)</a:t>
            </a:r>
          </a:p>
          <a:p>
            <a:r>
              <a:rPr sz="1400">
                <a:solidFill>
                  <a:srgbClr val="152334"/>
                </a:solidFill>
                <a:latin typeface="Arial"/>
              </a:rPr>
              <a:t>  • /dev              — device nodes (console, tty, null)</a:t>
            </a:r>
          </a:p>
          <a:p>
            <a:r>
              <a:rPr sz="1400">
                <a:solidFill>
                  <a:srgbClr val="152334"/>
                </a:solidFill>
                <a:latin typeface="Arial"/>
              </a:rPr>
              <a:t>  • /etc              — configuration files</a:t>
            </a:r>
          </a:p>
          <a:p>
            <a:r>
              <a:rPr sz="1400">
                <a:solidFill>
                  <a:srgbClr val="152334"/>
                </a:solidFill>
                <a:latin typeface="Arial"/>
              </a:rPr>
              <a:t>  • /proc, /sys       — kernel interfaces (mounted at boot)</a:t>
            </a:r>
          </a:p>
          <a:p/>
          <a:p>
            <a:r>
              <a:rPr sz="1400">
                <a:solidFill>
                  <a:srgbClr val="152334"/>
                </a:solidFill>
                <a:latin typeface="Arial"/>
              </a:rPr>
              <a:t>Init system choices:</a:t>
            </a:r>
          </a:p>
          <a:p>
            <a:r>
              <a:rPr sz="1400">
                <a:solidFill>
                  <a:srgbClr val="152334"/>
                </a:solidFill>
                <a:latin typeface="Arial"/>
              </a:rPr>
              <a:t>  • systemd  — full-featured, used by most distros</a:t>
            </a:r>
          </a:p>
          <a:p>
            <a:r>
              <a:rPr sz="1400">
                <a:solidFill>
                  <a:srgbClr val="152334"/>
                </a:solidFill>
                <a:latin typeface="Arial"/>
              </a:rPr>
              <a:t>  • BusyBox runit  — minimal, fast, common in embedded</a:t>
            </a:r>
          </a:p>
          <a:p/>
          <a:p>
            <a:r>
              <a:rPr sz="1400">
                <a:solidFill>
                  <a:srgbClr val="152334"/>
                </a:solidFill>
                <a:latin typeface="Arial"/>
              </a:rPr>
              <a:t>Building approaches:</a:t>
            </a:r>
          </a:p>
          <a:p>
            <a:r>
              <a:rPr sz="1400">
                <a:solidFill>
                  <a:srgbClr val="152334"/>
                </a:solidFill>
                <a:latin typeface="Arial"/>
              </a:rPr>
              <a:t>  • By hand — understand every file (Session 4 lab)</a:t>
            </a:r>
          </a:p>
          <a:p>
            <a:r>
              <a:rPr sz="1400">
                <a:solidFill>
                  <a:srgbClr val="152334"/>
                </a:solidFill>
                <a:latin typeface="Arial"/>
              </a:rPr>
              <a:t>  • Buildroot — automated, simple (Session 3)</a:t>
            </a:r>
          </a:p>
          <a:p>
            <a:r>
              <a:rPr sz="1400">
                <a:solidFill>
                  <a:srgbClr val="152334"/>
                </a:solidFill>
                <a:latin typeface="Arial"/>
              </a:rPr>
              <a:t>  • Yocto — automated, flexible, industry standard (Session 3)</a:t>
            </a:r>
          </a:p>
          <a:p/>
          <a:p>
            <a:r>
              <a:rPr sz="1400">
                <a:solidFill>
                  <a:srgbClr val="152334"/>
                </a:solidFill>
                <a:latin typeface="Arial"/>
              </a:rPr>
              <a:t>Session 3-4: Build rootfs three ways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Debug and Profiling Preview</a:t>
            </a:r>
          </a:p>
        </p:txBody>
      </p:sp>
      <p:sp>
        <p:nvSpPr>
          <p:cNvPr id="3" name="Content Placeholder 2"/>
          <p:cNvSpPr>
            <a:spLocks noGrp="1"/>
          </p:cNvSpPr>
          <p:nvPr>
            <p:ph idx="1"/>
          </p:nvPr>
        </p:nvSpPr>
        <p:spPr/>
        <p:txBody>
          <a:bodyPr/>
          <a:lstStyle/>
          <a:p>
            <a:r>
              <a:rPr sz="1400">
                <a:solidFill>
                  <a:srgbClr val="152334"/>
                </a:solidFill>
                <a:latin typeface="Arial"/>
              </a:rPr>
              <a:t>Remote GDB debugging:</a:t>
            </a:r>
          </a:p>
          <a:p>
            <a:r>
              <a:rPr sz="1400">
                <a:solidFill>
                  <a:srgbClr val="152334"/>
                </a:solidFill>
                <a:latin typeface="Arial"/>
              </a:rPr>
              <a:t>  • GDB runs on host, gdbserver on target</a:t>
            </a:r>
          </a:p>
          <a:p>
            <a:r>
              <a:rPr sz="1400">
                <a:solidFill>
                  <a:srgbClr val="152334"/>
                </a:solidFill>
                <a:latin typeface="Arial"/>
              </a:rPr>
              <a:t>  • Set breakpoints, inspect variables, step through code</a:t>
            </a:r>
          </a:p>
          <a:p>
            <a:r>
              <a:rPr sz="1400">
                <a:solidFill>
                  <a:srgbClr val="152334"/>
                </a:solidFill>
                <a:latin typeface="Arial"/>
              </a:rPr>
              <a:t>  • Over serial or TCP connection</a:t>
            </a:r>
          </a:p>
          <a:p/>
          <a:p>
            <a:r>
              <a:rPr sz="1400">
                <a:solidFill>
                  <a:srgbClr val="152334"/>
                </a:solidFill>
                <a:latin typeface="Arial"/>
              </a:rPr>
              <a:t>Serial console:</a:t>
            </a:r>
          </a:p>
          <a:p>
            <a:r>
              <a:rPr sz="1400">
                <a:solidFill>
                  <a:srgbClr val="152334"/>
                </a:solidFill>
                <a:latin typeface="Arial"/>
              </a:rPr>
              <a:t>  • Primary interface throughout the course</a:t>
            </a:r>
          </a:p>
          <a:p>
            <a:r>
              <a:rPr sz="1400">
                <a:solidFill>
                  <a:srgbClr val="152334"/>
                </a:solidFill>
                <a:latin typeface="Arial"/>
              </a:rPr>
              <a:t>  • Boot messages, U-Boot prompt, shell access</a:t>
            </a:r>
          </a:p>
          <a:p>
            <a:r>
              <a:rPr sz="1400">
                <a:solidFill>
                  <a:srgbClr val="152334"/>
                </a:solidFill>
                <a:latin typeface="Arial"/>
              </a:rPr>
              <a:t>  • 115200 baud, 8N1, 3.3V TTL</a:t>
            </a:r>
          </a:p>
          <a:p/>
          <a:p>
            <a:r>
              <a:rPr sz="1400">
                <a:solidFill>
                  <a:srgbClr val="152334"/>
                </a:solidFill>
                <a:latin typeface="Arial"/>
              </a:rPr>
              <a:t>LED blinking as first debug exercise:</a:t>
            </a:r>
          </a:p>
          <a:p>
            <a:r>
              <a:rPr sz="1400">
                <a:solidFill>
                  <a:srgbClr val="152334"/>
                </a:solidFill>
                <a:latin typeface="Arial"/>
              </a:rPr>
              <a:t>  • Write a C program that toggles a GPIO pin</a:t>
            </a:r>
          </a:p>
          <a:p>
            <a:r>
              <a:rPr sz="1400">
                <a:solidFill>
                  <a:srgbClr val="152334"/>
                </a:solidFill>
                <a:latin typeface="Arial"/>
              </a:rPr>
              <a:t>  • Wire an LED to a GPIO pin on the RPi4 header</a:t>
            </a:r>
          </a:p>
          <a:p>
            <a:r>
              <a:rPr sz="1400">
                <a:solidFill>
                  <a:srgbClr val="152334"/>
                </a:solidFill>
                <a:latin typeface="Arial"/>
              </a:rPr>
              <a:t>  • Cross-compile, deploy, run — verify on hardware</a:t>
            </a:r>
          </a:p>
          <a:p>
            <a:r>
              <a:rPr sz="1400">
                <a:solidFill>
                  <a:srgbClr val="152334"/>
                </a:solidFill>
                <a:latin typeface="Arial"/>
              </a:rPr>
              <a:t>  • If the LED blinks: your toolchain, transfer, and deployment work</a:t>
            </a:r>
          </a:p>
          <a:p/>
          <a:p>
            <a:r>
              <a:rPr sz="1400">
                <a:solidFill>
                  <a:srgbClr val="152334"/>
                </a:solidFill>
                <a:latin typeface="Arial"/>
              </a:rPr>
              <a:t>Session 9: Deep dive into GDB, strace, perf, ftrace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Lab: Flash and Boot</a:t>
            </a:r>
          </a:p>
        </p:txBody>
      </p:sp>
      <p:sp>
        <p:nvSpPr>
          <p:cNvPr id="3" name="Content Placeholder 2"/>
          <p:cNvSpPr>
            <a:spLocks noGrp="1"/>
          </p:cNvSpPr>
          <p:nvPr>
            <p:ph idx="1"/>
          </p:nvPr>
        </p:nvSpPr>
        <p:spPr/>
        <p:txBody>
          <a:bodyPr/>
          <a:lstStyle/>
          <a:p>
            <a:r>
              <a:rPr sz="1400">
                <a:solidFill>
                  <a:srgbClr val="152334"/>
                </a:solidFill>
                <a:latin typeface="Arial"/>
              </a:rPr>
              <a:t>Step 1: Download Raspberry Pi Imager</a:t>
            </a:r>
          </a:p>
          <a:p>
            <a:r>
              <a:rPr sz="1400">
                <a:solidFill>
                  <a:srgbClr val="152334"/>
                </a:solidFill>
                <a:latin typeface="Arial"/>
              </a:rPr>
              <a:t>  • rpi.io/downloads (or apt install rpi-imager)</a:t>
            </a:r>
          </a:p>
          <a:p/>
          <a:p>
            <a:r>
              <a:rPr sz="1400">
                <a:solidFill>
                  <a:srgbClr val="152334"/>
                </a:solidFill>
                <a:latin typeface="Arial"/>
              </a:rPr>
              <a:t>Step 2: Flash Raspberry Pi OS Lite (64-bit) to SD card</a:t>
            </a:r>
          </a:p>
          <a:p>
            <a:r>
              <a:rPr sz="1400">
                <a:solidFill>
                  <a:srgbClr val="152334"/>
                </a:solidFill>
                <a:latin typeface="Arial"/>
              </a:rPr>
              <a:t>  • Select OS → Raspberry Pi OS (other) → Raspberry Pi OS Lite (64-bit)</a:t>
            </a:r>
          </a:p>
          <a:p>
            <a:r>
              <a:rPr sz="1400">
                <a:solidFill>
                  <a:srgbClr val="152334"/>
                </a:solidFill>
                <a:latin typeface="Arial"/>
              </a:rPr>
              <a:t>  • Select SD card → Write</a:t>
            </a:r>
          </a:p>
          <a:p/>
          <a:p>
            <a:r>
              <a:rPr sz="1400">
                <a:solidFill>
                  <a:srgbClr val="152334"/>
                </a:solidFill>
                <a:latin typeface="Arial"/>
              </a:rPr>
              <a:t>Step 3: Boot the RPi4</a:t>
            </a:r>
          </a:p>
          <a:p>
            <a:r>
              <a:rPr sz="1400">
                <a:solidFill>
                  <a:srgbClr val="152334"/>
                </a:solidFill>
                <a:latin typeface="Arial"/>
              </a:rPr>
              <a:t>  • Insert SD card, connect serial cable, power on</a:t>
            </a:r>
          </a:p>
          <a:p>
            <a:r>
              <a:rPr sz="1400">
                <a:solidFill>
                  <a:srgbClr val="152334"/>
                </a:solidFill>
                <a:latin typeface="Arial"/>
              </a:rPr>
              <a:t>  • Open serial console: screen /dev/ttyUSB0 115200</a:t>
            </a:r>
          </a:p>
          <a:p/>
          <a:p>
            <a:r>
              <a:rPr sz="1400">
                <a:solidFill>
                  <a:srgbClr val="152334"/>
                </a:solidFill>
                <a:latin typeface="Arial"/>
              </a:rPr>
              <a:t>Step 4: Verify</a:t>
            </a:r>
          </a:p>
          <a:p>
            <a:r>
              <a:rPr sz="1400">
                <a:solidFill>
                  <a:srgbClr val="152334"/>
                </a:solidFill>
                <a:latin typeface="Arial"/>
              </a:rPr>
              <a:t>  • $ uname -a</a:t>
            </a:r>
          </a:p>
          <a:p>
            <a:r>
              <a:rPr sz="1400">
                <a:solidFill>
                  <a:srgbClr val="152334"/>
                </a:solidFill>
                <a:latin typeface="Arial"/>
              </a:rPr>
              <a:t>    → Linux raspberrypi 6.x.x-v8+ aarch64 GNU/Linux</a:t>
            </a:r>
          </a:p>
          <a:p>
            <a:r>
              <a:rPr sz="1400">
                <a:solidFill>
                  <a:srgbClr val="152334"/>
                </a:solidFill>
                <a:latin typeface="Arial"/>
              </a:rPr>
              <a:t>  • $ cat /proc/cpuinfo</a:t>
            </a:r>
          </a:p>
          <a:p>
            <a:r>
              <a:rPr sz="1400">
                <a:solidFill>
                  <a:srgbClr val="152334"/>
                </a:solidFill>
                <a:latin typeface="Arial"/>
              </a:rPr>
              <a:t>    → model name: Cortex-A72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Your First Cross-Compilation</a:t>
            </a:r>
          </a:p>
        </p:txBody>
      </p:sp>
      <p:sp>
        <p:nvSpPr>
          <p:cNvPr id="3" name="Content Placeholder 2"/>
          <p:cNvSpPr>
            <a:spLocks noGrp="1"/>
          </p:cNvSpPr>
          <p:nvPr>
            <p:ph idx="1"/>
          </p:nvPr>
        </p:nvSpPr>
        <p:spPr/>
        <p:txBody>
          <a:bodyPr/>
          <a:lstStyle/>
          <a:p>
            <a:r>
              <a:rPr sz="1400">
                <a:solidFill>
                  <a:srgbClr val="152334"/>
                </a:solidFill>
                <a:latin typeface="Arial"/>
              </a:rPr>
              <a:t>Write Hello World in C:</a:t>
            </a:r>
          </a:p>
          <a:p>
            <a:r>
              <a:rPr sz="1400">
                <a:solidFill>
                  <a:srgbClr val="152334"/>
                </a:solidFill>
                <a:latin typeface="Arial"/>
              </a:rPr>
              <a:t>  #include &lt;stdio.h&gt;</a:t>
            </a:r>
          </a:p>
          <a:p>
            <a:r>
              <a:rPr sz="1400">
                <a:solidFill>
                  <a:srgbClr val="152334"/>
                </a:solidFill>
                <a:latin typeface="Arial"/>
              </a:rPr>
              <a:t>  int main(void) {</a:t>
            </a:r>
          </a:p>
          <a:p>
            <a:r>
              <a:rPr sz="1400">
                <a:solidFill>
                  <a:srgbClr val="152334"/>
                </a:solidFill>
                <a:latin typeface="Arial"/>
              </a:rPr>
              <a:t>      printf("Hello from ARM64!\n");</a:t>
            </a:r>
          </a:p>
          <a:p>
            <a:r>
              <a:rPr sz="1400">
                <a:solidFill>
                  <a:srgbClr val="152334"/>
                </a:solidFill>
                <a:latin typeface="Arial"/>
              </a:rPr>
              <a:t>      return 0;</a:t>
            </a:r>
          </a:p>
          <a:p>
            <a:r>
              <a:rPr sz="1400">
                <a:solidFill>
                  <a:srgbClr val="152334"/>
                </a:solidFill>
                <a:latin typeface="Arial"/>
              </a:rPr>
              <a:t>  }</a:t>
            </a:r>
          </a:p>
          <a:p/>
          <a:p>
            <a:r>
              <a:rPr sz="1400">
                <a:solidFill>
                  <a:srgbClr val="152334"/>
                </a:solidFill>
                <a:latin typeface="Arial"/>
              </a:rPr>
              <a:t>Compile on host with system GCC:</a:t>
            </a:r>
          </a:p>
          <a:p>
            <a:r>
              <a:rPr sz="1400">
                <a:solidFill>
                  <a:srgbClr val="152334"/>
                </a:solidFill>
                <a:latin typeface="Arial"/>
              </a:rPr>
              <a:t>  $ gcc -o hello_x86 hello.c</a:t>
            </a:r>
          </a:p>
          <a:p>
            <a:r>
              <a:rPr sz="1400">
                <a:solidFill>
                  <a:srgbClr val="152334"/>
                </a:solidFill>
                <a:latin typeface="Arial"/>
              </a:rPr>
              <a:t>  $ file hello_x86</a:t>
            </a:r>
          </a:p>
          <a:p>
            <a:r>
              <a:rPr sz="1400">
                <a:solidFill>
                  <a:srgbClr val="152334"/>
                </a:solidFill>
                <a:latin typeface="Arial"/>
              </a:rPr>
              <a:t>  → hello_x86: ELF 64-bit LSB executable, x86-64</a:t>
            </a:r>
          </a:p>
          <a:p/>
          <a:p>
            <a:r>
              <a:rPr sz="1400">
                <a:solidFill>
                  <a:srgbClr val="152334"/>
                </a:solidFill>
                <a:latin typeface="Arial"/>
              </a:rPr>
              <a:t>Compile with cross-compiler:</a:t>
            </a:r>
          </a:p>
          <a:p>
            <a:r>
              <a:rPr sz="1400">
                <a:solidFill>
                  <a:srgbClr val="152334"/>
                </a:solidFill>
                <a:latin typeface="Arial"/>
              </a:rPr>
              <a:t>  $ aarch64-none-linux-gnu-gcc -o hello_arm hello.c</a:t>
            </a:r>
          </a:p>
          <a:p>
            <a:r>
              <a:rPr sz="1400">
                <a:solidFill>
                  <a:srgbClr val="152334"/>
                </a:solidFill>
                <a:latin typeface="Arial"/>
              </a:rPr>
              <a:t>  $ file hello_arm</a:t>
            </a:r>
          </a:p>
          <a:p>
            <a:r>
              <a:rPr sz="1400">
                <a:solidFill>
                  <a:srgbClr val="152334"/>
                </a:solidFill>
                <a:latin typeface="Arial"/>
              </a:rPr>
              <a:t>  → hello_arm: ELF 64-bit LSB executable, ARM aarch64</a:t>
            </a:r>
          </a:p>
          <a:p/>
          <a:p>
            <a:r>
              <a:rPr sz="1400">
                <a:solidFill>
                  <a:srgbClr val="152334"/>
                </a:solidFill>
                <a:latin typeface="Arial"/>
              </a:rPr>
              <a:t>Transfer to target and run — Session 2 lab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AI as Your Build Assistant</a:t>
            </a:r>
          </a:p>
        </p:txBody>
      </p:sp>
      <p:sp>
        <p:nvSpPr>
          <p:cNvPr id="3" name="Content Placeholder 2"/>
          <p:cNvSpPr>
            <a:spLocks noGrp="1"/>
          </p:cNvSpPr>
          <p:nvPr>
            <p:ph idx="1"/>
          </p:nvPr>
        </p:nvSpPr>
        <p:spPr/>
        <p:txBody>
          <a:bodyPr/>
          <a:lstStyle/>
          <a:p>
            <a:r>
              <a:rPr sz="1400">
                <a:solidFill>
                  <a:srgbClr val="152334"/>
                </a:solidFill>
                <a:latin typeface="Arial"/>
              </a:rPr>
              <a:t>Configure your AI coding assistant with this system prompt:</a:t>
            </a:r>
          </a:p>
          <a:p/>
          <a:p>
            <a:r>
              <a:rPr sz="1400">
                <a:solidFill>
                  <a:srgbClr val="152334"/>
                </a:solidFill>
                <a:latin typeface="Arial"/>
              </a:rPr>
              <a:t>You are an expert embedded Linux engineer specializing in</a:t>
            </a:r>
          </a:p>
          <a:p>
            <a:r>
              <a:rPr sz="1400">
                <a:solidFill>
                  <a:srgbClr val="152334"/>
                </a:solidFill>
                <a:latin typeface="Arial"/>
              </a:rPr>
              <a:t>Raspberry Pi 4 (BCM2711, Cortex-A72, aarch64) development.</a:t>
            </a:r>
          </a:p>
          <a:p>
            <a:r>
              <a:rPr sz="1400">
                <a:solidFill>
                  <a:srgbClr val="152334"/>
                </a:solidFill>
                <a:latin typeface="Arial"/>
              </a:rPr>
              <a:t>You help students building a custom embedded Linux system</a:t>
            </a:r>
          </a:p>
          <a:p>
            <a:r>
              <a:rPr sz="1400">
                <a:solidFill>
                  <a:srgbClr val="152334"/>
                </a:solidFill>
                <a:latin typeface="Arial"/>
              </a:rPr>
              <a:t>from scratch using cross-compilation.</a:t>
            </a:r>
          </a:p>
          <a:p/>
          <a:p>
            <a:r>
              <a:rPr sz="1400">
                <a:solidFill>
                  <a:srgbClr val="152334"/>
                </a:solidFill>
                <a:latin typeface="Arial"/>
              </a:rPr>
              <a:t>You are precise about architecture differences (ARM vs x86),</a:t>
            </a:r>
          </a:p>
          <a:p>
            <a:r>
              <a:rPr sz="1400">
                <a:solidFill>
                  <a:srgbClr val="152334"/>
                </a:solidFill>
                <a:latin typeface="Arial"/>
              </a:rPr>
              <a:t>toolchain details (aarch64-none-linux-gnu), boot sequence</a:t>
            </a:r>
          </a:p>
          <a:p>
            <a:r>
              <a:rPr sz="1400">
                <a:solidFill>
                  <a:srgbClr val="152334"/>
                </a:solidFill>
                <a:latin typeface="Arial"/>
              </a:rPr>
              <a:t>(U-Boot), and kernel configuration.</a:t>
            </a:r>
          </a:p>
          <a:p/>
          <a:p>
            <a:r>
              <a:rPr sz="1400">
                <a:solidFill>
                  <a:srgbClr val="152334"/>
                </a:solidFill>
                <a:latin typeface="Arial"/>
              </a:rPr>
              <a:t>When explaining build errors, always check whether the issue</a:t>
            </a:r>
          </a:p>
          <a:p>
            <a:r>
              <a:rPr sz="1400">
                <a:solidFill>
                  <a:srgbClr val="152334"/>
                </a:solidFill>
                <a:latin typeface="Arial"/>
              </a:rPr>
              <a:t>is host-target confusion, missing cross-compilation flags,</a:t>
            </a:r>
          </a:p>
          <a:p>
            <a:r>
              <a:rPr sz="1400">
                <a:solidFill>
                  <a:srgbClr val="152334"/>
                </a:solidFill>
                <a:latin typeface="Arial"/>
              </a:rPr>
              <a:t>or architecture mismatch.</a:t>
            </a:r>
          </a:p>
          <a:p/>
          <a:p>
            <a:r>
              <a:rPr sz="1400">
                <a:solidFill>
                  <a:srgbClr val="152334"/>
                </a:solidFill>
                <a:latin typeface="Arial"/>
              </a:rPr>
              <a:t>You encourage students to verify AI suggestions against actual</a:t>
            </a:r>
          </a:p>
          <a:p>
            <a:r>
              <a:rPr sz="1400">
                <a:solidFill>
                  <a:srgbClr val="152334"/>
                </a:solidFill>
                <a:latin typeface="Arial"/>
              </a:rPr>
              <a:t>hardware and never trust blindly.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5" name="Rectangle 4"/>
          <p:cNvSpPr/>
          <p:nvPr/>
        </p:nvSpPr>
        <p:spPr>
          <a:xfrm>
            <a:off x="0" y="6756400"/>
            <a:ext cx="9144000" cy="101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15240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3200" b="1">
                <a:solidFill>
                  <a:srgbClr val="152334"/>
                </a:solidFill>
                <a:latin typeface="Arial"/>
              </a:rPr>
              <a:t>Summary and Preview</a:t>
            </a:r>
          </a:p>
        </p:txBody>
      </p:sp>
      <p:sp>
        <p:nvSpPr>
          <p:cNvPr id="3" name="Content Placeholder 2"/>
          <p:cNvSpPr>
            <a:spLocks noGrp="1"/>
          </p:cNvSpPr>
          <p:nvPr>
            <p:ph idx="1"/>
          </p:nvPr>
        </p:nvSpPr>
        <p:spPr/>
        <p:txBody>
          <a:bodyPr/>
          <a:lstStyle/>
          <a:p>
            <a:r>
              <a:rPr sz="1400">
                <a:solidFill>
                  <a:srgbClr val="152334"/>
                </a:solidFill>
                <a:latin typeface="Arial"/>
              </a:rPr>
              <a:t>Today we covered:</a:t>
            </a:r>
          </a:p>
          <a:p>
            <a:r>
              <a:rPr sz="1400">
                <a:solidFill>
                  <a:srgbClr val="152334"/>
                </a:solidFill>
                <a:latin typeface="Arial"/>
              </a:rPr>
              <a:t>  • The course project: build a bootable RPi4 from scratch</a:t>
            </a:r>
          </a:p>
          <a:p>
            <a:r>
              <a:rPr sz="1400">
                <a:solidFill>
                  <a:srgbClr val="152334"/>
                </a:solidFill>
                <a:latin typeface="Arial"/>
              </a:rPr>
              <a:t>  • The embedded Linux architecture stack</a:t>
            </a:r>
          </a:p>
          <a:p>
            <a:r>
              <a:rPr sz="1400">
                <a:solidFill>
                  <a:srgbClr val="152334"/>
                </a:solidFill>
                <a:latin typeface="Arial"/>
              </a:rPr>
              <a:t>  • Cross-development workflow</a:t>
            </a:r>
          </a:p>
          <a:p>
            <a:r>
              <a:rPr sz="1400">
                <a:solidFill>
                  <a:srgbClr val="152334"/>
                </a:solidFill>
                <a:latin typeface="Arial"/>
              </a:rPr>
              <a:t>  • The 10-session roadmap</a:t>
            </a:r>
          </a:p>
          <a:p>
            <a:r>
              <a:rPr sz="1400">
                <a:solidFill>
                  <a:srgbClr val="152334"/>
                </a:solidFill>
                <a:latin typeface="Arial"/>
              </a:rPr>
              <a:t>  • AI integration throughout the course</a:t>
            </a:r>
          </a:p>
          <a:p>
            <a:r>
              <a:rPr sz="1400">
                <a:solidFill>
                  <a:srgbClr val="152334"/>
                </a:solidFill>
                <a:latin typeface="Arial"/>
              </a:rPr>
              <a:t>  • First lab: flash SD card and boot RPi4</a:t>
            </a:r>
          </a:p>
          <a:p/>
          <a:p>
            <a:r>
              <a:rPr sz="1400">
                <a:solidFill>
                  <a:srgbClr val="152334"/>
                </a:solidFill>
                <a:latin typeface="Arial"/>
              </a:rPr>
              <a:t>Next session — Session 2: Toolchains &amp; Bootloaders</a:t>
            </a:r>
          </a:p>
          <a:p>
            <a:r>
              <a:rPr sz="1400">
                <a:solidFill>
                  <a:srgbClr val="152334"/>
                </a:solidFill>
                <a:latin typeface="Arial"/>
              </a:rPr>
              <a:t>  • Install the Arm GNU Toolchain</a:t>
            </a:r>
          </a:p>
          <a:p>
            <a:r>
              <a:rPr sz="1400">
                <a:solidFill>
                  <a:srgbClr val="152334"/>
                </a:solidFill>
                <a:latin typeface="Arial"/>
              </a:rPr>
              <a:t>  • Build U-Boot from source</a:t>
            </a:r>
          </a:p>
          <a:p>
            <a:r>
              <a:rPr sz="1400">
                <a:solidFill>
                  <a:srgbClr val="152334"/>
                </a:solidFill>
                <a:latin typeface="Arial"/>
              </a:rPr>
              <a:t>  • Understand the RPi4 boot sequence</a:t>
            </a:r>
          </a:p>
          <a:p>
            <a:r>
              <a:rPr sz="1400">
                <a:solidFill>
                  <a:srgbClr val="152334"/>
                </a:solidFill>
                <a:latin typeface="Arial"/>
              </a:rPr>
              <a:t>  • First cross-compilation lab</a:t>
            </a:r>
          </a:p>
          <a:p>
            <a:r>
              <a:rPr sz="1400">
                <a:solidFill>
                  <a:srgbClr val="152334"/>
                </a:solidFill>
                <a:latin typeface="Arial"/>
              </a:rPr>
              <a:t>  • Configure AI assistant with embedded Linux persona</a:t>
            </a:r>
          </a:p>
          <a:p/>
          <a:p>
            <a:r>
              <a:rPr sz="1400">
                <a:solidFill>
                  <a:srgbClr val="152334"/>
                </a:solidFill>
                <a:latin typeface="Arial"/>
              </a:rPr>
              <a:t>Before next session:</a:t>
            </a:r>
          </a:p>
          <a:p>
            <a:r>
              <a:rPr sz="1400">
                <a:solidFill>
                  <a:srgbClr val="152334"/>
                </a:solidFill>
                <a:latin typeface="Arial"/>
              </a:rPr>
              <a:t>  • Complete the flash-and-boot lab</a:t>
            </a:r>
          </a:p>
          <a:p>
            <a:r>
              <a:rPr sz="1400">
                <a:solidFill>
                  <a:srgbClr val="152334"/>
                </a:solidFill>
                <a:latin typeface="Arial"/>
              </a:rPr>
              <a:t>  • Install the Arm GNU Toolchain on your workstation</a:t>
            </a:r>
          </a:p>
          <a:p>
            <a:r>
              <a:rPr sz="1400">
                <a:solidFill>
                  <a:srgbClr val="152334"/>
                </a:solidFill>
                <a:latin typeface="Arial"/>
              </a:rPr>
              <a:t>  • Bring your RPi4, serial cable, and SD card to class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