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Nunito Sans"/>
              </a:defRPr>
            </a:pPr>
            <a:r>
              <a:t>Welcome to Embedded Linux Design. This first session sets expectations: what this course covers,</a:t>
            </a:r>
            <a:br/>
            <a:r>
              <a:t>how it's structured, what tools we use, and how AI fits into modern embedded development.</a:t>
            </a:r>
            <a:br/>
            <a:r>
              <a:t>By the end of today, you'll know exactly what you're signing up for and what you'll walk away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Nunito Sans"/>
              </a:defRPr>
            </a:pPr>
            <a:r>
              <a:t>Customize with your photo, bio, credentials, and teaching philosophy.</a:t>
            </a:r>
            <a:br/>
            <a:r>
              <a:t>Key message: you're learning from someone who has shipped products using embedded Linux.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Nunito Sans"/>
              </a:defRPr>
            </a:pPr>
            <a:r>
              <a:t>Three principles: 1) CONCEPT FIRST — We start with the problem, not the API.</a:t>
            </a:r>
            <a:br/>
            <a:r>
              <a:t>2) BUILD SECOND — Every session has labs on real hardware.</a:t>
            </a:r>
            <a:br/>
            <a:r>
              <a:t>3) DEPTH OVER BREADTH — Fewer topics, deeper understanding.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Nunito Sans"/>
              </a:defRPr>
            </a:pPr>
            <a:r>
              <a:t>Each session: Lecture -&gt; Deep Dive -&gt; Lab -&gt; Wrap-Up. ~3 hours total.</a:t>
            </a:r>
            <a:br/>
            <a:r>
              <a:t>Labs are the most important part — that's where real learning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Nunito Sans"/>
              </a:defRPr>
            </a:pPr>
            <a:r>
              <a:t>Full embedded Linux stack: bootloader -&gt; kernel -&gt; rootfs -&gt; apps -&gt; debug -&gt; real-time.</a:t>
            </a:r>
            <a:br/>
            <a:r>
              <a:t>Target: Raspberry Pi 4 (ARM64). Cross-compile on host, deploy to 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Nunito Sans"/>
              </a:defRPr>
            </a:pPr>
            <a:r>
              <a:t>SCALE: Linux dominates embedded. PROBLEM: Ancient unmaintained kernels, stale vendor BSPs.</a:t>
            </a:r>
            <a:br/>
            <a:r>
              <a:t>OPPORTUNITY: High-value skill set, senior engineers in demand across industries.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Nunito Sans"/>
              </a:defRPr>
            </a:pPr>
            <a:r>
              <a:t>For working professionals: firmware engineers, software developers, system architects, career changers.</a:t>
            </a:r>
            <a:br/>
            <a:r>
              <a:t>Need: C/C++, basic Linux CLI. Don't need: kernel dev, Yocto, ARM asm — that's what we teach.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Nunito Sans"/>
              </a:defRPr>
            </a:pPr>
            <a:r>
              <a:t>Bootlin materials are the primary reference. Kernel.org for authoritative API docs.</a:t>
            </a:r>
            <a:br/>
            <a:r>
              <a:t>LWN.net for understanding WHY things changed. Elixir for browsing kernel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Nunito Sans"/>
              </a:defRPr>
            </a:pPr>
            <a:r>
              <a:t>Linux host (Ubuntu 24.04 recommended). Target: RPi 4 with 4GB+.</a:t>
            </a:r>
            <a:br/>
            <a:r>
              <a:t>USB-to-TTL serial cable (3.3V) is essential. 115200 8N1.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Nunito Sans"/>
              </a:defRPr>
            </a:pPr>
            <a:r>
              <a:t>1. ASK QUESTIONS — If something doesn't make sense, speak up.</a:t>
            </a:r>
            <a:br/>
            <a:r>
              <a:t>2. DO THE LABS — You cannot learn embedded Linux from slides alone.</a:t>
            </a:r>
            <a:br/>
            <a:r>
              <a:t>3. USE AI WISELY — AI fluency is a course outcome, not a shortcut.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Nunito Sans"/>
              </a:defRPr>
            </a:pPr>
            <a:r>
              <a:t>Ten sessions, each building on the last. By the end: a complete bootable Linux system on RPi 4, from scratch.</a:t>
            </a:r>
            <a:br/>
            <a:r>
              <a:t>Sessions 1-2: Foundation. 3-4: Build systems. 5-6: Kernel. 7-8: Applications. 9-10: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Nunito Sans"/>
              </a:defRPr>
            </a:pPr>
            <a:r>
              <a:t>DELEGATE: AI for boilerplate. DEBATE: Challenge AI output. DEBUG: AI code has bugs.</a:t>
            </a:r>
            <a:br/>
            <a:r>
              <a:t>DIRECT: Prompt engineering is a real skill. We'll practice all four.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Nunito Sans"/>
              </a:defRPr>
            </a:pPr>
            <a:r>
              <a:t>USE AI FOR: explaining concepts, boilerplate, debugging, test cases.</a:t>
            </a:r>
            <a:br/>
            <a:r>
              <a:t>GROUND RULES: Understand every line. Cite AI use. Never submit blindly.</a:t>
            </a:r>
            <a:br/>
            <a:r>
              <a:t>Goal: AI fluency — being a better engineer WITH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100">
                <a:solidFill>
                  <a:srgbClr val="FFFFFF"/>
                </a:solidFill>
                <a:latin typeface="Nunito Sans"/>
              </a:defRPr>
            </a:pPr>
            <a:r>
              <a:t>Bridge slide into Session 1. Message: this course is real, hands-on, tangible.</a:t>
            </a:r>
            <a:br/>
            <a:r>
              <a:t>You will build a custom toolchain, boot U-Boot, compile a kernel, create a device tree,</a:t>
            </a:r>
            <a:br/>
            <a:r>
              <a:t>write a kernel module, and build a real-time application. End with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778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B438"/>
                </a:solidFill>
                <a:latin typeface="Lora"/>
              </a:defRPr>
            </a:pPr>
            <a:r>
              <a:t>Embedded Linux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Nunito Sans"/>
              </a:defRPr>
            </a:pPr>
            <a:r>
              <a:t>Session 0 — Welcome &amp; Course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unito Sans"/>
              </a:defRPr>
            </a:pPr>
            <a:r>
              <a:t>This session sets the stage: who you are, who I am, how this course works,</a:t>
            </a:r>
            <a:br/>
            <a:r>
              <a:t>and what you will build by the end of our ten sessions.</a:t>
            </a:r>
            <a:br/>
            <a:br/>
            <a:r>
              <a:t>We will also talk about AI — how it is changing software development,</a:t>
            </a:r>
            <a:br/>
            <a:r>
              <a:t>and specifically how we will use it in this course.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0" y="1371600"/>
            <a:ext cx="2926080" cy="5029200"/>
          </a:xfrm>
          <a:prstGeom prst="rect">
            <a:avLst/>
          </a:prstGeom>
          <a:solidFill>
            <a:srgbClr val="2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55448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B438"/>
                </a:solidFill>
                <a:latin typeface="Lora"/>
              </a:defRPr>
            </a:pPr>
            <a:r>
              <a:t>UCSC Extension</a:t>
            </a:r>
            <a:br/>
            <a:br/>
            <a:r>
              <a:t>Professional Engineers</a:t>
            </a:r>
            <a:br/>
            <a:br/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  <a:latin typeface="Nunito Sans"/>
              </a:defRPr>
            </a:pPr>
            <a:r>
              <a:t>Session 0 — Introduction | UCSC Extension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B438"/>
                </a:solidFill>
                <a:latin typeface="Lora"/>
              </a:defRPr>
            </a:pPr>
            <a:r>
              <a:t>About Your Instructor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unito Sans"/>
              </a:defRPr>
            </a:pPr>
            <a:r>
              <a:t>[Instructor photo / bio placeholder]</a:t>
            </a:r>
            <a:br/>
            <a:br/>
            <a:r>
              <a:t>• [Years] in embedded systems</a:t>
            </a:r>
            <a:br/>
            <a:r>
              <a:t>• FPGA, ASIC, SoC bring-up experience</a:t>
            </a:r>
            <a:br/>
            <a:r>
              <a:t>• Industry background: [your domain]</a:t>
            </a:r>
            <a:br/>
            <a:r>
              <a:t>• Teaching philosophy: learn by building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371600"/>
            <a:ext cx="4754880" cy="4572000"/>
          </a:xfrm>
          <a:prstGeom prst="rect">
            <a:avLst/>
          </a:prstGeom>
          <a:solidFill>
            <a:srgbClr val="2A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15544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Nunito Sans"/>
              </a:defRPr>
            </a:pPr>
            <a:r>
              <a:t>Why I teach this course</a:t>
            </a:r>
            <a:br/>
            <a:br/>
            <a:r>
              <a:t>Embedded Linux is the backbone of modern devices — from IoT sensors to</a:t>
            </a:r>
            <a:br/>
            <a:r>
              <a:t>automotive systems to industrial controllers.</a:t>
            </a:r>
            <a:br/>
            <a:br/>
            <a:r>
              <a:t>This course gives you hands-on experience, not just theory.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B438"/>
                </a:solidFill>
                <a:latin typeface="Lora"/>
              </a:defRPr>
            </a:pPr>
            <a:r>
              <a:t>How I Teach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3474720" cy="502920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Concept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1089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Every topic starts with WHY</a:t>
            </a:r>
            <a:br/>
            <a:r>
              <a:t>• Real-world context before detail</a:t>
            </a:r>
            <a:br/>
            <a:r>
              <a:t>• You learn what problem is solved</a:t>
            </a:r>
            <a:br/>
            <a:r>
              <a:t>• Not just how the API 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097280"/>
            <a:ext cx="3474720" cy="502920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234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Build Second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645920"/>
            <a:ext cx="31089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Hands-on labs every session</a:t>
            </a:r>
            <a:br/>
            <a:r>
              <a:t>• Real hardware, real tools</a:t>
            </a:r>
            <a:br/>
            <a:r>
              <a:t>• No simulation-only exercises</a:t>
            </a:r>
            <a:br/>
            <a:r>
              <a:t>• Build a bootable RPi4 by hand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097280"/>
            <a:ext cx="3200400" cy="502920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344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Depth Over Breadth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645920"/>
            <a:ext cx="28346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Go deep on what matters</a:t>
            </a:r>
            <a:br/>
            <a:r>
              <a:t>• Kernel internals, not trivia</a:t>
            </a:r>
            <a:br/>
            <a:r>
              <a:t>• Toolchain to deployment</a:t>
            </a:r>
            <a:br/>
            <a:r>
              <a:t>• Debugging real failures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B438"/>
                </a:solidFill>
                <a:latin typeface="Lora"/>
              </a:defRPr>
            </a:pPr>
            <a:r>
              <a:t>Anatomy of a Session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2560320" cy="502920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ora"/>
              </a:defRPr>
            </a:pPr>
            <a:r>
              <a:t>1. 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1945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45–60 minutes</a:t>
            </a:r>
            <a:br/>
            <a:r>
              <a:t>• Dense, visual slides</a:t>
            </a:r>
            <a:br/>
            <a:r>
              <a:t>• Real examples &amp; demos</a:t>
            </a:r>
            <a:br/>
            <a:r>
              <a:t>• Q&amp;A encouraged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097280"/>
            <a:ext cx="2560320" cy="502920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234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ora"/>
              </a:defRPr>
            </a:pPr>
            <a:r>
              <a:t>2. Deep 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645920"/>
            <a:ext cx="21945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30–45 minutes</a:t>
            </a:r>
            <a:br/>
            <a:r>
              <a:t>• Architecture details</a:t>
            </a:r>
            <a:br/>
            <a:r>
              <a:t>• Code walkthroughs</a:t>
            </a:r>
            <a:br/>
            <a:r>
              <a:t>• Trade-off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097280"/>
            <a:ext cx="2560320" cy="502920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23444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3.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645920"/>
            <a:ext cx="21945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60–90 minutes</a:t>
            </a:r>
            <a:br/>
            <a:r>
              <a:t>• Guided exercises</a:t>
            </a:r>
            <a:br/>
            <a:r>
              <a:t>• Real hardware</a:t>
            </a:r>
            <a:br/>
            <a:r>
              <a:t>• You build, I coach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1097280"/>
            <a:ext cx="2926080" cy="502920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234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ora"/>
              </a:defRPr>
            </a:pPr>
            <a:r>
              <a:t>4. Wrap-Up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1645920"/>
            <a:ext cx="25603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Recap key takeaways</a:t>
            </a:r>
            <a:br/>
            <a:r>
              <a:t>• Preview next session</a:t>
            </a:r>
            <a:br/>
            <a:r>
              <a:t>• Q&amp;A / discussion</a:t>
            </a:r>
            <a:br/>
            <a:r>
              <a:t>• Homework assigned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B438"/>
                </a:solidFill>
                <a:latin typeface="Lora"/>
              </a:defRPr>
            </a:pPr>
            <a:r>
              <a:t>What This Course Is 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778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unito Sans"/>
              </a:defRPr>
            </a:pPr>
            <a:r>
              <a:t>Embedded Linux Design teaches you how to build, configure, and debug Linux-based</a:t>
            </a:r>
            <a:br/>
            <a:r>
              <a:t>embedded systems — from hardware bring-up to application deployment.</a:t>
            </a:r>
            <a:br/>
            <a:br/>
            <a:r>
              <a:t>This is a hands-on course. You will work with real ARM hardware, real toolchains,</a:t>
            </a:r>
            <a:br/>
            <a:r>
              <a:t>and real development workflows used in industry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432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Topics covered:</a:t>
            </a:r>
            <a:br/>
            <a:br/>
            <a:r>
              <a:t>• Cross-compilation toolchains</a:t>
            </a:r>
            <a:br/>
            <a:r>
              <a:t>• Bootloaders (U-Boot)</a:t>
            </a:r>
            <a:br/>
            <a:r>
              <a:t>• Linux kernel configuration &amp; build</a:t>
            </a:r>
            <a:br/>
            <a:r>
              <a:t>• Root filesystems &amp; init systems</a:t>
            </a:r>
            <a:br/>
            <a:r>
              <a:t>• Yocto Project &amp; Buildroot</a:t>
            </a:r>
            <a:br/>
            <a:r>
              <a:t>• Device trees &amp; kernel modules</a:t>
            </a:r>
            <a:br/>
            <a:r>
              <a:t>• Systems programming</a:t>
            </a:r>
            <a:br/>
            <a:r>
              <a:t>• Debugging &amp; profiling</a:t>
            </a:r>
            <a:br/>
            <a:r>
              <a:t>• Real-time Linux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74320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B438"/>
                </a:solidFill>
                <a:latin typeface="Nunito Sans"/>
              </a:defRPr>
            </a:pPr>
            <a:r>
              <a:t>Hardware:</a:t>
            </a:r>
            <a:br/>
            <a:br/>
            <a:r>
              <a:t>Raspberry Pi 4 (ARM64)</a:t>
            </a:r>
            <a:br/>
            <a:br/>
            <a:r>
              <a:t>Software:</a:t>
            </a:r>
            <a:br/>
            <a:br/>
            <a:r>
              <a:t>Ubuntu 24.04 cross-dev</a:t>
            </a:r>
            <a:br/>
            <a:r>
              <a:t>U-Boot / mainline kernel</a:t>
            </a:r>
            <a:br/>
            <a:r>
              <a:t>Yocto Project (kirkstone+)</a:t>
            </a:r>
            <a:br/>
            <a:r>
              <a:t>Buildroot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B438"/>
                </a:solidFill>
                <a:latin typeface="Lora"/>
              </a:defRPr>
            </a:pPr>
            <a: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Nunito Sans"/>
              </a:defRPr>
            </a:pPr>
            <a:r>
              <a:t>Linux powers the vast majority of embedded devices. Understanding how to build</a:t>
            </a:r>
            <a:br/>
            <a:r>
              <a:t>and maintain these systems is a critical engineering skill.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474720" cy="438912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The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1089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90%+ of smart devices run Linux</a:t>
            </a:r>
            <a:br/>
            <a:r>
              <a:t>• IoT, automotive, industrial</a:t>
            </a:r>
            <a:br/>
            <a:r>
              <a:t>• Medical devices, networking</a:t>
            </a:r>
            <a:br/>
            <a:r>
              <a:t>• Set-top boxes, printers, routers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2011680"/>
            <a:ext cx="3474720" cy="438912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2148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560320"/>
            <a:ext cx="31089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End-of-life kernel versions</a:t>
            </a:r>
            <a:br/>
            <a:r>
              <a:t>• Unpatched CVEs in the field</a:t>
            </a:r>
            <a:br/>
            <a:r>
              <a:t>• Vendor BSPs go stale fast</a:t>
            </a:r>
            <a:br/>
            <a:r>
              <a:t>• No upgrade path without expertise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2011680"/>
            <a:ext cx="3200400" cy="438912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21488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The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560320"/>
            <a:ext cx="28346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High demand, low supply</a:t>
            </a:r>
            <a:br/>
            <a:r>
              <a:t>• Senior embedded roles pay well</a:t>
            </a:r>
            <a:br/>
            <a:r>
              <a:t>• Skills transfer across domains</a:t>
            </a:r>
            <a:br/>
            <a:r>
              <a:t>• Foundation for RTOS + Linux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B438"/>
                </a:solidFill>
                <a:latin typeface="Lora"/>
              </a:defRPr>
            </a:pPr>
            <a:r>
              <a:t>Who This Course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unito Sans"/>
              </a:defRPr>
            </a:pPr>
            <a:r>
              <a:t>This course is designed for working professionals who want to move into or</a:t>
            </a:r>
            <a:br/>
            <a:r>
              <a:t>deepen their embedded Linux skills.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029200" cy="457200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Ideal 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663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C/C++ programming experience</a:t>
            </a:r>
            <a:br/>
            <a:r>
              <a:t>• Basic Linux command line comfort</a:t>
            </a:r>
            <a:br/>
            <a:r>
              <a:t>• Some bare-metal or RTOS exposure</a:t>
            </a:r>
            <a:br/>
            <a:r>
              <a:t>• Understanding of computer architecture</a:t>
            </a:r>
            <a:br/>
            <a:r>
              <a:t>• Familiarity with makefiles and build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828800"/>
            <a:ext cx="5029200" cy="457200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659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ora"/>
              </a:defRPr>
            </a:pPr>
            <a:r>
              <a:t>What You Don't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77440"/>
            <a:ext cx="4663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Prior kernel development experience</a:t>
            </a:r>
            <a:br/>
            <a:r>
              <a:t>• Device driver writing background</a:t>
            </a:r>
            <a:br/>
            <a:r>
              <a:t>• Yocto or Buildroot knowledge</a:t>
            </a:r>
            <a:br/>
            <a:r>
              <a:t>• ARM assembly expertise</a:t>
            </a:r>
            <a:br/>
            <a:r>
              <a:t>• Electronics or PCB design skills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B438"/>
                </a:solidFill>
                <a:latin typeface="Lora"/>
              </a:defRPr>
            </a:pPr>
            <a:r>
              <a:t>Reference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unito Sans"/>
              </a:defRPr>
            </a:pPr>
            <a:r>
              <a:t>These are the primary references we will use throughout the course.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029200" cy="475488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Core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Bootlin Training Materials</a:t>
            </a:r>
            <a:br/>
            <a:r>
              <a:t>•   bootlin.com/doc/training</a:t>
            </a:r>
            <a:br/>
            <a:r>
              <a:t>• </a:t>
            </a:r>
            <a:br/>
            <a:r>
              <a:t>• The Linux Kernel Documentation</a:t>
            </a:r>
            <a:br/>
            <a:r>
              <a:t>•   kernel.org/doc</a:t>
            </a:r>
            <a:br/>
            <a:r>
              <a:t>• </a:t>
            </a:r>
            <a:br/>
            <a:r>
              <a:t>• Yocto Project Documentation</a:t>
            </a:r>
            <a:br/>
            <a:r>
              <a:t>•   docs.yoctoproject.org</a:t>
            </a:r>
            <a:br/>
            <a:r>
              <a:t>• </a:t>
            </a:r>
            <a:br/>
            <a:r>
              <a:t>• Buildroot Manual</a:t>
            </a:r>
            <a:br/>
            <a:r>
              <a:t>•   buildroot.org/downloads/manual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5029200" cy="475488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7830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ora"/>
              </a:defRPr>
            </a:pPr>
            <a:r>
              <a:t>Supplementary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466344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Linux Weekly News (lwn.net)</a:t>
            </a:r>
            <a:br/>
            <a:r>
              <a:t>•   Kernel development context</a:t>
            </a:r>
            <a:br/>
            <a:r>
              <a:t>• </a:t>
            </a:r>
            <a:br/>
            <a:r>
              <a:t>• Elixir Cross Referencer</a:t>
            </a:r>
            <a:br/>
            <a:r>
              <a:t>•   elixir.bootlin.com</a:t>
            </a:r>
            <a:br/>
            <a:r>
              <a:t>• </a:t>
            </a:r>
            <a:br/>
            <a:r>
              <a:t>• PREEMPT_RT Wiki</a:t>
            </a:r>
            <a:br/>
            <a:r>
              <a:t>•   wiki.linuxfoundation.org/realtime</a:t>
            </a:r>
            <a:br/>
            <a:r>
              <a:t>• </a:t>
            </a:r>
            <a:br/>
            <a:r>
              <a:t>• Embedded Linux Wiki</a:t>
            </a:r>
            <a:br/>
            <a:r>
              <a:t>•   elinux.org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B438"/>
                </a:solidFill>
                <a:latin typeface="Lora"/>
              </a:defRPr>
            </a:pPr>
            <a:r>
              <a:t>Lab Infrastructure &amp;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029200" cy="502920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Your Workstation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663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Linux host (Ubuntu 24.04 recommended)</a:t>
            </a:r>
            <a:br/>
            <a:r>
              <a:t>• or macOS with Homebrew</a:t>
            </a:r>
            <a:br/>
            <a:r>
              <a:t>• or Windows + WSL2</a:t>
            </a:r>
            <a:br/>
            <a:r>
              <a:t>• </a:t>
            </a:r>
            <a:br/>
            <a:r>
              <a:t>• Required tools:</a:t>
            </a:r>
            <a:br/>
            <a:r>
              <a:t>•   • git, make, gcc</a:t>
            </a:r>
            <a:br/>
            <a:r>
              <a:t>•   • minicom or picocom (serial)</a:t>
            </a:r>
            <a:br/>
            <a:r>
              <a:t>•   • ssh, scp</a:t>
            </a:r>
            <a:br/>
            <a:r>
              <a:t>•   • Python 3.11+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097280"/>
            <a:ext cx="5029200" cy="502920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23444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ora"/>
              </a:defRPr>
            </a:pPr>
            <a:r>
              <a:t>Target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645920"/>
            <a:ext cx="4663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Raspberry Pi 4 (4GB+)</a:t>
            </a:r>
            <a:br/>
            <a:r>
              <a:t>• MicroSD card (32GB+)</a:t>
            </a:r>
            <a:br/>
            <a:r>
              <a:t>• USB-to-TTL serial cable</a:t>
            </a:r>
            <a:br/>
            <a:r>
              <a:t>• Ethernet or WiFi</a:t>
            </a:r>
            <a:br/>
            <a:r>
              <a:t>• </a:t>
            </a:r>
            <a:br/>
            <a:r>
              <a:t>• Serial console is essential:</a:t>
            </a:r>
            <a:br/>
            <a:r>
              <a:t>•   115200 baud, 8N1</a:t>
            </a:r>
            <a:br/>
            <a:r>
              <a:t>•   Access U-Boot and kernel boot</a:t>
            </a:r>
            <a:br/>
            <a:r>
              <a:t>•   Primary debug channel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B438"/>
                </a:solidFill>
                <a:latin typeface="Lora"/>
              </a:defRPr>
            </a:pPr>
            <a:r>
              <a:t>Rules of the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unito Sans"/>
              </a:defRPr>
            </a:pPr>
            <a:r>
              <a:t>A few ground rules to make this course work for everyone.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200400" cy="457200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1. Ask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8346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No question is too basic</a:t>
            </a:r>
            <a:br/>
            <a:r>
              <a:t>• If you're confused, others are too</a:t>
            </a:r>
            <a:br/>
            <a:r>
              <a:t>• Interrupt anytime</a:t>
            </a:r>
            <a:br/>
            <a:r>
              <a:t>• Slack/Discord between sessions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645920"/>
            <a:ext cx="3200400" cy="457200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7830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2. Do the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28346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Lectures without labs = nothing</a:t>
            </a:r>
            <a:br/>
            <a:r>
              <a:t>• Struggle is part of learning</a:t>
            </a:r>
            <a:br/>
            <a:r>
              <a:t>• Break things on purpose</a:t>
            </a:r>
            <a:br/>
            <a:r>
              <a:t>• That's how you learn debugging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1645920"/>
            <a:ext cx="3749039" cy="457200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783080"/>
            <a:ext cx="3383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3. Use AI Wisely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194560"/>
            <a:ext cx="3383279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AI is a tool, not a crutch</a:t>
            </a:r>
            <a:br/>
            <a:r>
              <a:t>• Understand before you generate</a:t>
            </a:r>
            <a:br/>
            <a:r>
              <a:t>• We'll learn prompt engineering</a:t>
            </a:r>
            <a:br/>
            <a:r>
              <a:t>• AI fluency is a course outcome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B438"/>
                </a:solidFill>
                <a:latin typeface="Lora"/>
              </a:defRPr>
            </a:pPr>
            <a:r>
              <a:t>What You Will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unito Sans"/>
              </a:defRPr>
            </a:pPr>
            <a:r>
              <a:t>Ten sessions. One coherent journey from hardware to deployed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337"/>
                </a:solidFill>
                <a:latin typeface="Lora"/>
              </a:defRPr>
            </a:pPr>
            <a:r>
              <a:t>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unito Sans"/>
              </a:defRPr>
            </a:pPr>
            <a:r>
              <a:t>Introduction &amp; Key Concepts</a:t>
            </a:r>
            <a:br/>
            <a:r>
              <a:t>Requirements, embedded attributes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337"/>
                </a:solidFill>
                <a:latin typeface="Lora"/>
              </a:defRPr>
            </a:pPr>
            <a:r>
              <a:t>S2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unito Sans"/>
              </a:defRPr>
            </a:pPr>
            <a:r>
              <a:t>Toolchains &amp; Bootloaders</a:t>
            </a:r>
            <a:br/>
            <a:r>
              <a:t>Cross-compilation, U-Boot, kernel 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474720"/>
            <a:ext cx="457200" cy="457200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337"/>
                </a:solidFill>
                <a:latin typeface="Lora"/>
              </a:defRPr>
            </a:pPr>
            <a:r>
              <a:t>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unito Sans"/>
              </a:defRPr>
            </a:pPr>
            <a:r>
              <a:t>Yocto &amp; Buildroot</a:t>
            </a:r>
            <a:br/>
            <a:r>
              <a:t>BitBake, layer model, distro builds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80560"/>
            <a:ext cx="457200" cy="457200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337"/>
                </a:solidFill>
                <a:latin typeface="Lora"/>
              </a:defRPr>
            </a:pPr>
            <a:r>
              <a:t>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805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unito Sans"/>
              </a:defRPr>
            </a:pPr>
            <a:r>
              <a:t>System Architecture</a:t>
            </a:r>
            <a:br/>
            <a:r>
              <a:t>Flash, memory layout, filesystems, updates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486400"/>
            <a:ext cx="457200" cy="457200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337"/>
                </a:solidFill>
                <a:latin typeface="Lora"/>
              </a:defRPr>
            </a:pPr>
            <a:r>
              <a:t>S5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486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unito Sans"/>
              </a:defRPr>
            </a:pPr>
            <a:r>
              <a:t>Linux Kernel Overview</a:t>
            </a:r>
            <a:br/>
            <a:r>
              <a:t>Kernel concepts, modules, init vs systemd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463040"/>
            <a:ext cx="457200" cy="457200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337"/>
                </a:solidFill>
                <a:latin typeface="Lora"/>
              </a:defRPr>
            </a:pPr>
            <a:r>
              <a:t>S6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14630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unito Sans"/>
              </a:defRPr>
            </a:pPr>
            <a:r>
              <a:t>Kernel Architecture</a:t>
            </a:r>
            <a:br/>
            <a:r>
              <a:t>/proc, device trees, sysfs, interrupts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2468880"/>
            <a:ext cx="457200" cy="457200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337"/>
                </a:solidFill>
                <a:latin typeface="Lora"/>
              </a:defRPr>
            </a:pPr>
            <a:r>
              <a:t>S7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468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unito Sans"/>
              </a:defRPr>
            </a:pPr>
            <a:r>
              <a:t>Systems Programming</a:t>
            </a:r>
            <a:br/>
            <a:r>
              <a:t>Processes, threads, IPC, signals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474720"/>
            <a:ext cx="457200" cy="457200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337"/>
                </a:solidFill>
                <a:latin typeface="Lora"/>
              </a:defRPr>
            </a:pPr>
            <a:r>
              <a:t>S8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474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unito Sans"/>
              </a:defRPr>
            </a:pPr>
            <a:r>
              <a:t>Embedded Applications</a:t>
            </a:r>
            <a:br/>
            <a:r>
              <a:t>Application concepts, embedded Python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480560"/>
            <a:ext cx="457200" cy="457200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337"/>
                </a:solidFill>
                <a:latin typeface="Lora"/>
              </a:defRPr>
            </a:pPr>
            <a:r>
              <a:t>S9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4805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unito Sans"/>
              </a:defRPr>
            </a:pPr>
            <a:r>
              <a:t>Debug &amp; Profiling</a:t>
            </a:r>
            <a:br/>
            <a:r>
              <a:t>GDB, strace, perf, ftrace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5486400"/>
            <a:ext cx="457200" cy="457200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22337"/>
                </a:solidFill>
                <a:latin typeface="Lora"/>
              </a:defRPr>
            </a:pPr>
            <a:r>
              <a:t>S10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486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Nunito Sans"/>
              </a:defRPr>
            </a:pPr>
            <a:r>
              <a:t>Real-Time Systems</a:t>
            </a:r>
            <a:br/>
            <a:r>
              <a:t>PREEMPT_RT, latency, cyclictest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B438"/>
                </a:solidFill>
                <a:latin typeface="Lora"/>
              </a:defRPr>
            </a:pPr>
            <a:r>
              <a:t>The 4 Ds of AI Fluency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unito Sans"/>
              </a:defRPr>
            </a:pPr>
            <a:r>
              <a:t>AI is changing how we develop software. This course teaches you to use it effectively.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468880" cy="475488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Delegate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1031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Let AI handle boilerplate</a:t>
            </a:r>
            <a:br/>
            <a:r>
              <a:t>• Code generation, documentation</a:t>
            </a:r>
            <a:br/>
            <a:r>
              <a:t>• Repetitive tasks</a:t>
            </a:r>
            <a:br/>
            <a:r>
              <a:t>• Focus your time on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554480"/>
            <a:ext cx="2468880" cy="475488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691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Debate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103120"/>
            <a:ext cx="21031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Challenge AI output</a:t>
            </a:r>
            <a:br/>
            <a:r>
              <a:t>• Ask for alternatives</a:t>
            </a:r>
            <a:br/>
            <a:r>
              <a:t>• Probe edge cases</a:t>
            </a:r>
            <a:br/>
            <a:r>
              <a:t>• Don't accept blindly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554480"/>
            <a:ext cx="2468880" cy="475488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Debug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103120"/>
            <a:ext cx="21031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AI code has bugs</a:t>
            </a:r>
            <a:br/>
            <a:r>
              <a:t>• Understand before deploying</a:t>
            </a:r>
            <a:br/>
            <a:r>
              <a:t>• Read every line</a:t>
            </a:r>
            <a:br/>
            <a:r>
              <a:t>• Test thoroughly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554480"/>
            <a:ext cx="2926080" cy="475488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Direct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103120"/>
            <a:ext cx="2560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Prompt engineering is a skill</a:t>
            </a:r>
            <a:br/>
            <a:r>
              <a:t>• Be specific and contextual</a:t>
            </a:r>
            <a:br/>
            <a:r>
              <a:t>• Iterate on prompts</a:t>
            </a:r>
            <a:br/>
            <a:r>
              <a:t>• Learn what works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B438"/>
                </a:solidFill>
                <a:latin typeface="Lora"/>
              </a:defRPr>
            </a:pPr>
            <a:r>
              <a:t>AI in This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Nunito Sans"/>
              </a:defRPr>
            </a:pPr>
            <a:r>
              <a:t>We will use AI tools actively — but with discipline.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5029200" cy="457200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How We Use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663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Code generation for boilerplate</a:t>
            </a:r>
            <a:br/>
            <a:r>
              <a:t>• Explaining kernel concepts</a:t>
            </a:r>
            <a:br/>
            <a:r>
              <a:t>• Debugging assistance</a:t>
            </a:r>
            <a:br/>
            <a:r>
              <a:t>• Writing test cases</a:t>
            </a:r>
            <a:br/>
            <a:r>
              <a:t>• Documentation and notes</a:t>
            </a:r>
            <a:br/>
            <a:r>
              <a:t>• Exploring unfamiliar APIs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645920"/>
            <a:ext cx="5029200" cy="457200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7830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ora"/>
              </a:defRPr>
            </a:pPr>
            <a:r>
              <a:t>The Ground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94560"/>
            <a:ext cx="4663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You must understand every line</a:t>
            </a:r>
            <a:br/>
            <a:r>
              <a:t>• AI output is a starting point</a:t>
            </a:r>
            <a:br/>
            <a:r>
              <a:t>• Cite AI use in assignments</a:t>
            </a:r>
            <a:br/>
            <a:r>
              <a:t>• Never submit AI code blindly</a:t>
            </a:r>
            <a:br/>
            <a:r>
              <a:t>• The exam is without AI</a:t>
            </a:r>
            <a:br/>
            <a:r>
              <a:t>• Learning &gt; convenience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88952" cy="54864"/>
          </a:xfrm>
          <a:prstGeom prst="rect">
            <a:avLst/>
          </a:prstGeom>
          <a:solidFill>
            <a:srgbClr val="D4B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B438"/>
                </a:solidFill>
                <a:latin typeface="Lora"/>
              </a:defRPr>
            </a:pPr>
            <a:r>
              <a:t>Let's Build Something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8778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Nunito Sans"/>
              </a:defRPr>
            </a:pPr>
            <a:r>
              <a:t>By the end of this course, you will have built a complete embedded Linux system</a:t>
            </a:r>
            <a:br/>
            <a:r>
              <a:t>on a Raspberry Pi 4 — from scratch.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029200" cy="457200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B438"/>
                </a:solidFill>
                <a:latin typeface="Lora"/>
              </a:defRPr>
            </a:pPr>
            <a:r>
              <a:t>What You'll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663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Custom cross-compilation toolchain</a:t>
            </a:r>
            <a:br/>
            <a:r>
              <a:t>• U-Boot bootloader on SD card</a:t>
            </a:r>
            <a:br/>
            <a:r>
              <a:t>• Mainline Linux kernel (6.x)</a:t>
            </a:r>
            <a:br/>
            <a:r>
              <a:t>• Minimal root filesystem</a:t>
            </a:r>
            <a:br/>
            <a:r>
              <a:t>• Device tree for your hardware</a:t>
            </a:r>
            <a:br/>
            <a:r>
              <a:t>• Kernel module from scratch</a:t>
            </a:r>
            <a:br/>
            <a:r>
              <a:t>• Real-time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828800"/>
            <a:ext cx="5029200" cy="4572000"/>
          </a:xfrm>
          <a:prstGeom prst="rect">
            <a:avLst/>
          </a:prstGeom>
          <a:solidFill>
            <a:srgbClr val="2A2B45"/>
          </a:solidFill>
          <a:ln w="12700">
            <a:solidFill>
              <a:srgbClr val="3A3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96596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Lora"/>
              </a:defRPr>
            </a:pPr>
            <a:r>
              <a:t>What You'll Know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77440"/>
            <a:ext cx="4663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Nunito Sans"/>
              </a:defRPr>
            </a:pPr>
            <a:r>
              <a:t>• How embedded Linux boots</a:t>
            </a:r>
            <a:br/>
            <a:r>
              <a:t>• How to configure the kernel</a:t>
            </a:r>
            <a:br/>
            <a:r>
              <a:t>• How to build with Yocto</a:t>
            </a:r>
            <a:br/>
            <a:r>
              <a:t>• How to debug at every layer</a:t>
            </a:r>
            <a:br/>
            <a:r>
              <a:t>• How to measure real-time latency</a:t>
            </a:r>
            <a:br/>
            <a:r>
              <a:t>• How to use AI as a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B438"/>
                </a:solidFill>
                <a:latin typeface="Lora"/>
              </a:defRPr>
            </a:pPr>
            <a:r>
              <a:t>Session 1 starts now. Let's 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