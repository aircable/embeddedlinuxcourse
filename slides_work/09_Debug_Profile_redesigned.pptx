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Welcome to Session 9. Today we shift from building to observing and fixing. By the end of this session, you will be able to use GDB for remote debugging of embedded targets, profile system performance with perf and ftrace, trace system calls with strace, and identify memory leaks and OOM conditions. We will also cover why the observer effect matters and how to choose the right tool for the job. Expect hands-on time with kernel Oops analysis, perf stat, and memory leak detection.</a:t>
            </a:r>
          </a:p>
          <a:p/>
          <a:p>
            <a:r>
              <a:t>Prerequisites: Sessions 6 (kernel architecture) and 7 (systems programming). Students should have GDB installed on their host.</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These six objectives map directly to what embedded Linux engineers do daily. GDB remote debugging is not optional -- when your target has no keyboard or display, gdbserver over serial or TCP is the only way. Core file analysis lets you debug crashes that happened in the field. Profiling with perf is how you find the 5% of code consuming 80% of CPU. strace is the first command you run when a program silently fails. And memory debugging is critical when you have 64MB of RAM and a leak that eats 2MB per hour.</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GDB is the most widely used debugger in the Linux world. It has been around since 1986 and is still the primary tool for C and C++ debugging. For embedded Linux, the remote debugging mode is what matters. You compile your program on the host with debug symbols, copy it to the target, start gdbserver, and connect from the host.</a:t>
            </a:r>
          </a:p>
          <a:p/>
          <a:p>
            <a:r>
              <a:t>In Yocto, you add 'dbg-pkgs' to produce packages with debug symbols. In Buildroot, enable BR2_ENABLE_DEBUG. The -ggdb flag produces information specifically for GDB, while -g is more portable. For embedded, always use -ggdb.</a:t>
            </a:r>
          </a:p>
          <a:p/>
          <a:p>
            <a:r>
              <a:t>One critical debugging principle: never try to debug optimized code. The compiler reorders instructions, inlines functions, and eliminates variables. Use -Og which optimizes for debug experience.</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Students sometimes wonder why their breakpoints do not work or variables show as 'optimized out'. This slide shows the compilation pipeline. The -ggdb flag is specific to GCC and GDB -- it produces DWARF debug information that GDB can read.</a:t>
            </a:r>
          </a:p>
          <a:p/>
          <a:p>
            <a:r>
              <a:t>The file command output is your quick check. If you see 'not stripped' and 'with debug_info', you are good. If you see 'stripped', you will not be able to use source-level debugging.</a:t>
            </a:r>
          </a:p>
          <a:p/>
          <a:p>
            <a:r>
              <a:t>For production embedded systems, you strip the symbols from the binary on the but keep a copy of the unstripped version on the host. The --add-gnu-debuglink option lets GDB find the debug symbols from a separate file.</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This is the most important slide for embedded developers. You will rarely debug natively on the target. Instead, gdbserver runs on the embedded device and your cross-GDB runs on the host. The communication uses the GDB remote serial protocol over TCP or serial.</a:t>
            </a:r>
          </a:p>
          <a:p/>
          <a:p>
            <a:r>
              <a:t>The key insight: GDB on the host knows about source code and debug symbols. gdbserver on the target knows about memory and registers. The remote protocol bridges them. When you type 'print x' in GDB, it sends a memory read request to gdbserver.</a:t>
            </a:r>
          </a:p>
          <a:p/>
          <a:p>
            <a:r>
              <a:t>For network debugging, use 'target remote &lt;ip&gt;:&lt;port&gt;'. For serial, use a device path. The serial mode is common in early boot when the network is not up yet.</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Yocto and Buildroot handle debug setup very differently. Yocto is more complex but more flexible -- you can install gdbserver into the target image and build an SDK that includes the cross-GDB. The INHIBIT_PACKAGE_STRIP variable prevents Yocto from stripping symbols, which it does by default to save space.</a:t>
            </a:r>
          </a:p>
          <a:p/>
          <a:p>
            <a:r>
              <a:t>Buildroot is simpler: just enable gdbserver and gdb in the menus. Buildroot does not strip by default when BR2_ENABLE_DEBUG is set.</a:t>
            </a:r>
          </a:p>
          <a:p/>
          <a:p>
            <a:r>
              <a:t>In both cases, you need the unstripped binary on the host for GDB to use. The stripped binary goes on the target.</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Core files are incredibly valuable in embedded because you often cannot attach a debugger in real-time. A device in the field crashes -- you retrieve the core file and analyze it on your host.</a:t>
            </a:r>
          </a:p>
          <a:p/>
          <a:p>
            <a:r>
              <a:t>On many embedded systems, ulimit defaults to 0, meaning core dumps are disabled. You need to set it to unlimited in your startup scripts. The core_format proc entry lets you name cores with the executable name and PID for later identification.</a:t>
            </a:r>
          </a:p>
          <a:p/>
          <a:p>
            <a:r>
              <a:t>The analysis workflow is identical to live debugging -- bt, frame, print, list. The only difference is that you cannot step forward. But you have the full state at the moment of the crash, which is usually enough.</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Kernel debugging is a different world from application debugging. kgdb gives you full source-level debugging of the kernel, but it requires a serial or network connection to the host and CONFIG_KGDB built into the kernel. The target kernel stops and waits for GDB when you trigger it via sysrq.</a:t>
            </a:r>
          </a:p>
          <a:p/>
          <a:p>
            <a:r>
              <a:t>kdb is lighter -- it is built into the kernel and accessible via serial console with no host needed. But it does not support source-level debugging. Many engineers use kdb for quick checks (is this function called? what is in this memory?) and kgdb for deep investigation.</a:t>
            </a:r>
          </a:p>
          <a:p/>
          <a:p>
            <a:r>
              <a:t>For the course labs, we will trigger an intentional kernel oops and decode it, which is more practical than full kgdb setup for a classroom environment.</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Reading an Oops is a critical skill. When the kernel crashes, you get one shot at the output -- it is printed to the console and may scroll away. The Program Counter (PC) is the most important piece of information because it tells you exactly which instruction caused the crash.</a:t>
            </a:r>
          </a:p>
          <a:p/>
          <a:p>
            <a:r>
              <a:t>The decode process: take the function name and offset from 'PC is at', then use addr2line with the unstripped kernel module or vmlinux to map it back to a source line. This requires keeping the unstripped vmlinux file on the host. In production, kernel symbols can be stored and matched later.</a:t>
            </a:r>
          </a:p>
          <a:p/>
          <a:p>
            <a:r>
              <a:t>In the lab, students will intentionally trigger an oops using a buggy driver module and practice decoding it with addr2line. This is a real-world skill.</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This is a reference slide -- students should screenshot it. In practice, the most commonly used GDB commands are: break, continue, next, step, print, backtrace, and info registers. Everything else is occasional.</a:t>
            </a:r>
          </a:p>
          <a:p/>
          <a:p>
            <a:r>
              <a:t>A few tips that are not obvious:</a:t>
            </a:r>
          </a:p>
          <a:p>
            <a:r>
              <a:t>- 'watch' is incredible for finding who changed a variable</a:t>
            </a:r>
          </a:p>
          <a:p>
            <a:r>
              <a:t>- 'display' runs a print automatically after each step command</a:t>
            </a:r>
          </a:p>
          <a:p>
            <a:r>
              <a:t>- 'set sysroot' is essential for cross-debugging to find shared library symbols</a:t>
            </a:r>
          </a:p>
          <a:p>
            <a:r>
              <a:t>- In GDB TUI mode (Ctrl-X A), you see source code and registers simultaneously</a:t>
            </a:r>
          </a:p>
          <a:p/>
          <a:p>
            <a:r>
              <a:t>Time for a quick live demo: start gdbserver on a target, connect from the host, set a breakpoint, and inspect a variable.</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This is a concept that many engineers overlook. When you attach a profiler to a program, you are changing its behavior. The profiler itself consumes CPU time, pollutes the cache, and may cause additional context switches. This means the profile you see is not exactly the profile of the unprofiled program.</a:t>
            </a:r>
          </a:p>
          <a:p/>
          <a:p>
            <a:r>
              <a:t>The practical implication: use the least intrusive tool first. Start with 'top' or basic perf stat (which uses hardware counters and has near-zero overhead). Only move to more intrusive tools like function tracing when you need more detail.</a:t>
            </a:r>
          </a:p>
          <a:p/>
          <a:p>
            <a:r>
              <a:t>For kernel tracing, you may need to rebuild the kernel with CONFIG_FTRACE and CONFIG_PERF_EVENTS. Plan for this in your development cycle.</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perf is the single most useful profiling tool on Linux. It is part of the kernel source tree (tools/perf) and uses hardware performance counters that have near-zero overhead. On ARM, these counters are part of the PMU (Performance Monitoring Unit).</a:t>
            </a:r>
          </a:p>
          <a:p/>
          <a:p>
            <a:r>
              <a:t>Start with 'perf stat' to get a quick overview: how many cycles, instructions, cache misses, page faults. The 'instructions per cycle' (IPC) metric is a quick health check -- below 1.0 means the CPU is stalling (usually on memory).</a:t>
            </a:r>
          </a:p>
          <a:p/>
          <a:p>
            <a:r>
              <a:t>Then use 'perf record -g' to capture call graphs and 'perf report' to analyze them. The -g flag captures the call stack so you can see not just WHAT is slow but WHY.</a:t>
            </a:r>
          </a:p>
          <a:p/>
          <a:p>
            <a:r>
              <a:t>perf top is like top but shows functions instead of processes. Great for finding CPU hogs on a running system.</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ftrace is the kernel's built-in function tracer. It was created by Steven Rostedt to track down real-time scheduling latencies, which is why it is so good at measuring timing.</a:t>
            </a:r>
          </a:p>
          <a:p/>
          <a:p>
            <a:r>
              <a:t>The function_graph tracer is particularly useful because it shows not just which functions were called, but how long each one took. This is invaluable for finding unexpected delays in driver code.</a:t>
            </a:r>
          </a:p>
          <a:p/>
          <a:p>
            <a:r>
              <a:t>ftrace has some overhead when active, so use filters (set_ftrace_filter) to limit tracing to the functions you care about. The trace_pipe file gives you a live stream -- useful for watching events in real-time.</a:t>
            </a:r>
          </a:p>
          <a:p/>
          <a:p>
            <a:r>
              <a:t>For production systems, ftrace can be configured at boot with kernel command line parameters so you can capture early boot traces.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LTTng and eBPF represent the modern generation of tracing tools. LTTng was designed for production use -- it has near-zero overhead when not actively tracing, which means you can leave it installed in your production image and enable it when needed.</a:t>
            </a:r>
          </a:p>
          <a:p/>
          <a:p>
            <a:r>
              <a:t>eBPF is the most significant addition to Linux tracing in the last decade. It lets you run small programs inside the kernel safely. Tools like bpftrace let you write one-liner tracing scripts: 'bpftrace -e 'tracepoint:syscalls:sys_enter_open { printf("%s %s\n", comm, str(args-&gt;filename)); }'' will trace every file open system call with the process name and filename.</a:t>
            </a:r>
          </a:p>
          <a:p/>
          <a:p>
            <a:r>
              <a:t>For this course, we focus on ftrace and perf as the primary tools, but students should know LTTng and eBPF exist for more advanced use cases.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strace is often the first tool I reach for when something is wrong and I do not know why. It requires no recompilation, no special setup. Just run your program under strace and watch what system calls it makes. If it is failing to open a file, you will see the open() call and its error code immediately.</a:t>
            </a:r>
          </a:p>
          <a:p/>
          <a:p>
            <a:r>
              <a:t>The -c flag gives you a summary: how many of each syscall, how much time spent. This is a quick way to see if your program is I/O-bound (lots of read/write) or CPU-bound (few syscalls, lots of time in the kernel).</a:t>
            </a:r>
          </a:p>
          <a:p/>
          <a:p>
            <a:r>
              <a:t>Valgrind is the gold standard for memory debugging. It catches errors that may not crash your program immediately but cause corruption later. The downside is massive slowdown (10-50x), so it is for testing, not production. For cross-compiled ARM code, you can use qemu-user to run the binary under Valgrind on the host.</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This is a technique from Brendan Gregg, one of the world's foremost performance engineers. It is surprisingly effective. The idea is simple: if you stop a program at random, the probability of seeing a particular function on the stack is proportional to how much time that function consumes.</a:t>
            </a:r>
          </a:p>
          <a:p/>
          <a:p>
            <a:r>
              <a:t>If you take 20 samples and see main_loop() in 12 of them, main_loop() is consuming roughly 60% of the CPU time. This is the same principle that perf uses internally, but perf automates it with hardware timers.</a:t>
            </a:r>
          </a:p>
          <a:p/>
          <a:p>
            <a:r>
              <a:t>The poor man's profiler is invaluable on minimal embedded systems where you may not have perf or ftrace available. If you have GDB (or even /proc/&lt;pid&gt;/stack), you can do statistical profiling.</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This comparison table is the practical takeaway from the profiling section. The key decision factors are: what do you need to measure, and how much overhead can you tolerate?</a:t>
            </a:r>
          </a:p>
          <a:p/>
          <a:p>
            <a:r>
              <a:t>Start with the least intrusive tool. If top shows a process using 90% CPU, use perf record to find which function. If perf shows time in I/O, use strace to see which syscalls. If strace shows excessive read/write, use perf stat to check cache behavior. It is a funnel: broad measurement first, then targeted investigation.</a:t>
            </a:r>
          </a:p>
          <a:p/>
          <a:p>
            <a:r>
              <a:t>For embedded systems, the constraint is often tool availability. perf and ftrace require kernel config options. strace and GDB are the most universally available.</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This lab ties together the entire profiling section. Students work with a deliberately slow application and use the full tool chain: top for initial observation, strace for syscall analysis, perf for CPU profiling, and then fix the bug and verify.</a:t>
            </a:r>
          </a:p>
          <a:p/>
          <a:p>
            <a:r>
              <a:t>The bug in slowapp.c is a classic: an unnecessary memcpy in a tight loop. Before the fix, perf report will show memcpy as the top consumer. After the fix, the CPU usage should drop dramatically.</a:t>
            </a:r>
          </a:p>
          <a:p/>
          <a:p>
            <a:r>
              <a:t>Key teaching moment: show students the 'before' and 'after' perf stat side by side. The cycles count and IPC improvement make the value of profiling concrete.</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Virtual memory is the foundation of how Linux manages memory. Every process thinks it has a full 4 GB address space (on 32-bit). The MMU and page tables make this illusion work.</a:t>
            </a:r>
          </a:p>
          <a:p/>
          <a:p>
            <a:r>
              <a:t>The key insight for embedded developers: malloc() does not allocate physical memory. It allocates virtual addresses. Physical pages are only assigned when the memory is actually accessed (demand paging). This is why you can malloc(1GB) on a system with 256 MB RAM -- until you touch all that memory.</a:t>
            </a:r>
          </a:p>
          <a:p/>
          <a:p>
            <a:r>
              <a:t>The /proc/&lt;pid&gt;/maps file is incredibly useful for understanding how your program's memory is laid out. Show students this output for a running process.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The kernel/user space boundary is critical for embedded. Kernel memory is a fixed resource -- every kmalloc() reduces what is available for other kernel operations. If the kernel runs out of memory, the system panics. There is no OOM handling for kernel allocations.</a:t>
            </a:r>
          </a:p>
          <a:p/>
          <a:p>
            <a:r>
              <a:t>User space memory is more flexible but has its own issues. malloc() uses two mechanisms: brk() extends the data segment for small allocations, and mmap() maps new pages for large ones. The 128 KB threshold is glibc's default (M_MMAP_THRESHOLD).</a:t>
            </a:r>
          </a:p>
          <a:p/>
          <a:p>
            <a:r>
              <a:t>For real-time applications, mlock() is essential. It pins pages in physical memory so they cannot be swapped, eliminating page fault latency.</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Memory leaks are especially dangerous in embedded systems because there is no one to restart the device when it runs out of memory. A leak of 1 KB per hour in a system with 64 MB RAM will crash the system in less than a year.</a:t>
            </a:r>
          </a:p>
          <a:p/>
          <a:p>
            <a:r>
              <a:t>Valgrind is the most reliable detection tool. It tracks every malloc and free, and at exit reports exactly which allocations were not freed and where they were allocated. The --show-leak-kinds=all flag distinguishes 'definitely lost' (no pointer to the memory) from 'still reachable' (pointer exists but was not freed).</a:t>
            </a:r>
          </a:p>
          <a:p/>
          <a:p>
            <a:r>
              <a:t>mtrace is lighter-weight -- it is built into glibc and requires only adding mtrace() and muntrace() calls. The mtrace command analyzes the log and reports unfreed blocks.</a:t>
            </a:r>
          </a:p>
          <a:p/>
          <a:p>
            <a:r>
              <a:t>For long-running embedded systems, monitoring VmRSS over time is a simple leak detection strategy. If it grows without bound, you have a leak.</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The OOM killer is one of the most misunderstood parts of Linux memory management. Linux by default overcommits memory -- it lets processes allocate more than the system has. This works because most allocations are not fully used. But when processes actually touch all their allocated memory, the system runs out.</a:t>
            </a:r>
          </a:p>
          <a:p/>
          <a:p>
            <a:r>
              <a:t>The OOM killer selects a process to kill based on a score. The score considers memory usage (higher = more likely to be killed), CPU time (longer = less likely), and nice value. You can adjust the score via /proc/&lt;pid&gt;/oom_score_adj.</a:t>
            </a:r>
          </a:p>
          <a:p/>
          <a:p>
            <a:r>
              <a:t>For embedded systems, I recommend overcommit=2 (strict) so that malloc() fails instead of triggering the OOM killer. This lets your application handle the error gracefully. Always check malloc() return values -- this is not optional in embedded.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mmap is one of the most powerful system calls in embedded Linux. It lets you map physical memory addresses into your process's virtual address space, giving you direct access to hardware registers from userspace.</a:t>
            </a:r>
          </a:p>
          <a:p/>
          <a:p>
            <a:r>
              <a:t>The classic use case: accessing GPIO registers. On a typical SoC, GPIO control registers are at a known physical address (e.g., 0x48000000 for OMAP). By mmap'ing /dev/mem at that offset, you can read and write registers directly without going through a kernel driver.</a:t>
            </a:r>
          </a:p>
          <a:p/>
          <a:p>
            <a:r>
              <a:t>Caveat: /dev/mem requires root access and is a security concern. Modern kernels restrict /dev/mem access (CONFIG_STRICT_DEVMEM). For production, use a proper kernel driver with mmap support. But for prototyping and debugging, /dev/mem is invaluable.</a:t>
            </a:r>
          </a:p>
          <a:p/>
          <a:p>
            <a:r>
              <a:t>The volatile keyword is essential -- without it, the compiler may optimize away reads/writes to memory-mapped registers.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This lab gives students hands-on experience with both Valgrind and mtrace. The leaky application has three leak paths: an early return after malloc, a loop that allocates without freeing on error, and a lost pointer (overwriting the last reference to allocated memory).</a:t>
            </a:r>
          </a:p>
          <a:p/>
          <a:p>
            <a:r>
              <a:t>Step 2 (watching VmRSS) is important because it shows the real-world symptom of a leak: growing memory usage. In the field, this is often how leaks are first noticed.</a:t>
            </a:r>
          </a:p>
          <a:p/>
          <a:p>
            <a:r>
              <a:t>Step 3 (Valgrind) shows the exact source locations. Students should see three definitely-lost blocks with the corresponding source lines.</a:t>
            </a:r>
          </a:p>
          <a:p/>
          <a:p>
            <a:r>
              <a:t>Step 5 (mtrace) is optional but shows a lighter-weight alternative that can be used in production if Valgrind's overhead is too high.</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This workflow slide ties the entire session together. Debugging is not random -- it is a systematic process. The most common mistake students make is jumping straight to GDB without first reproducing and observing. If you cannot reproduce the bug, you cannot verify the fix.</a:t>
            </a:r>
          </a:p>
          <a:p/>
          <a:p>
            <a:r>
              <a:t>The 'Isolate' step is where tools like top and strace shine. They help you narrow down which process and which subsystem is involved before you invest time in detailed instrumentation.</a:t>
            </a:r>
          </a:p>
          <a:p/>
          <a:p>
            <a:r>
              <a:t>The 'Fix &amp; Verify' step is where I see the most bugs introduced. Students fix the symptom but not the cause, or they fix one thing and break another. Always re-run the full test suite after a fix.</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This is the 'cheat sheet' slide that students will photograph. It maps symptoms to tools. In practice, this is how experienced engineers think: 'my program crashed' → GDB; 'my program is slow' → perf; 'my program silently fails' → strace.</a:t>
            </a:r>
          </a:p>
          <a:p/>
          <a:p>
            <a:r>
              <a:t>The key insight: start with the least intrusive tool that can answer your question. Do not start with GDB if strace can tell you the problem is a missing file. Do not start with ftrace if perf stat shows the problem is cache misses.</a:t>
            </a:r>
          </a:p>
          <a:p/>
          <a:p>
            <a:r>
              <a:t>This slide also serves as a review of the entire session. Walk through each row and ask students: what would you see from this tool that tells you what is wrong?</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Session 9 is one of the most practically valuable sessions in the course. These are the tools that embedded Linux engineers use every day. The key takeaway is not memorizing every GDB command or perf option -- it is knowing which tool to reach for and when.</a:t>
            </a:r>
          </a:p>
          <a:p/>
          <a:p>
            <a:r>
              <a:t>In Session 10, we move to real-time systems. The debugging and profiling skills from today will be essential for measuring and verifying real-time behavior. Specifically, ftrace and perf are the primary tools for measuring scheduling latency, which is the core challenge in real-time Linux.</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The assignment for this session is hands-on: students must demonstrate they can set up a complete remote debugging session and capture a profile. This is not optional -- these are the skills they will use in every embedded Linux job.</a:t>
            </a:r>
          </a:p>
          <a:p/>
          <a:p>
            <a:r>
              <a:t>The quiz covers conceptual understanding: when to use which tool, what the output means, and the trade-offs between different approaches. It is open-book because in the real world, you look things up. What matters is knowing what to look for.</a:t>
            </a:r>
          </a:p>
        </p:txBody>
      </p:sp>
      <p:sp>
        <p:nvSpPr>
          <p:cNvPr id="4" name="Slide Number Placeholder 3"/>
          <p:cNvSpPr>
            <a:spLocks noGrp="1"/>
          </p:cNvSpPr>
          <p:nvPr>
            <p:ph type="sldNum" idx="5" sz="quarter"/>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334"/>
        </a:solidFill>
        <a:effectLst/>
      </p:bgPr>
    </p:bg>
    <p:spTree>
      <p:sp>
        <p:nvSpPr>
          <p:cNvPr id="2" name="Rectangle 1"/>
          <p:cNvSpPr/>
          <p:nvPr/>
        </p:nvSpPr>
        <p:spPr>
          <a:xfrm>
            <a:off x="0" y="0"/>
            <a:ext cx="12191695" cy="137160"/>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1371600"/>
            <a:ext cx="11277295" cy="1371600"/>
          </a:xfrm>
          <a:prstGeom prst="rect">
            <a:avLst/>
          </a:prstGeom>
          <a:noFill/>
        </p:spPr>
        <p:txBody>
          <a:bodyPr wrap="square">
            <a:spAutoFit/>
          </a:bodyPr>
          <a:lstStyle/>
          <a:p>
            <a:pPr algn="l">
              <a:defRPr sz="3600" b="1">
                <a:solidFill>
                  <a:srgbClr val="FFFFFF"/>
                </a:solidFill>
                <a:latin typeface="Arial"/>
              </a:defRPr>
            </a:pPr>
            <a:r>
              <a:t>Session 9: Debugging &amp; Profiling</a:t>
            </a:r>
          </a:p>
        </p:txBody>
      </p:sp>
      <p:sp>
        <p:nvSpPr>
          <p:cNvPr id="4" name="TextBox 3"/>
          <p:cNvSpPr txBox="1"/>
          <p:nvPr/>
        </p:nvSpPr>
        <p:spPr>
          <a:xfrm>
            <a:off x="457200" y="2926080"/>
            <a:ext cx="11277295" cy="914400"/>
          </a:xfrm>
          <a:prstGeom prst="rect">
            <a:avLst/>
          </a:prstGeom>
          <a:noFill/>
        </p:spPr>
        <p:txBody>
          <a:bodyPr wrap="square">
            <a:spAutoFit/>
          </a:bodyPr>
          <a:lstStyle/>
          <a:p>
            <a:pPr algn="l">
              <a:defRPr sz="2400" b="1">
                <a:solidFill>
                  <a:srgbClr val="F0B342"/>
                </a:solidFill>
                <a:latin typeface="Arial"/>
              </a:defRPr>
            </a:pPr>
            <a:r>
              <a:t>GDB, Tracing, Performance Analysis &amp; Memory Management</a:t>
            </a:r>
          </a:p>
        </p:txBody>
      </p:sp>
      <p:sp>
        <p:nvSpPr>
          <p:cNvPr id="5" name="TextBox 4"/>
          <p:cNvSpPr txBox="1"/>
          <p:nvPr/>
        </p:nvSpPr>
        <p:spPr>
          <a:xfrm>
            <a:off x="457200" y="6537960"/>
            <a:ext cx="11277295" cy="274320"/>
          </a:xfrm>
          <a:prstGeom prst="rect">
            <a:avLst/>
          </a:prstGeom>
          <a:noFill/>
        </p:spPr>
        <p:txBody>
          <a:bodyPr wrap="square">
            <a:spAutoFit/>
          </a:bodyPr>
          <a:lstStyle/>
          <a:p>
            <a:pPr algn="l">
              <a:defRPr sz="1100" b="0">
                <a:solidFill>
                  <a:srgbClr val="999999"/>
                </a:solidFill>
                <a:latin typeface="Arial"/>
              </a:defRPr>
            </a:pPr>
            <a:r>
              <a:t>Embedded Linux Design  •  Session 9  •  Debugging, Tracing &amp; Profiling</a:t>
            </a:r>
          </a:p>
        </p:txBody>
      </p:sp>
      <p:sp>
        <p:nvSpPr>
          <p:cNvPr id="6" name="Rectangle 5"/>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Learning Objectives</a:t>
            </a:r>
          </a:p>
        </p:txBody>
      </p:sp>
      <p:sp>
        <p:nvSpPr>
          <p:cNvPr id="4" name="TextBox 3"/>
          <p:cNvSpPr txBox="1"/>
          <p:nvPr/>
        </p:nvSpPr>
        <p:spPr>
          <a:xfrm>
            <a:off x="457200" y="822960"/>
            <a:ext cx="11277295" cy="5623560"/>
          </a:xfrm>
          <a:prstGeom prst="rect">
            <a:avLst/>
          </a:prstGeom>
          <a:noFill/>
        </p:spPr>
        <p:txBody>
          <a:bodyPr wrap="square">
            <a:spAutoFit/>
          </a:bodyPr>
          <a:lstStyle/>
          <a:p>
            <a:pPr>
              <a:spcAft>
                <a:spcPts val="600"/>
              </a:spcAft>
              <a:defRPr sz="1400">
                <a:solidFill>
                  <a:srgbClr val="152334"/>
                </a:solidFill>
                <a:latin typeface="Arial"/>
              </a:defRPr>
            </a:pPr>
            <a:r>
              <a:t>Use GDB for application debugging natively and remotely via gdbserver</a:t>
            </a:r>
          </a:p>
          <a:p>
            <a:pPr>
              <a:spcAft>
                <a:spcPts val="600"/>
              </a:spcAft>
              <a:defRPr sz="1400">
                <a:solidFill>
                  <a:srgbClr val="152334"/>
                </a:solidFill>
                <a:latin typeface="Arial"/>
              </a:defRPr>
            </a:pPr>
            <a:r>
              <a:t>Analyze postmortem core files and kernel Oops messages</a:t>
            </a:r>
          </a:p>
          <a:p>
            <a:pPr>
              <a:spcAft>
                <a:spcPts val="600"/>
              </a:spcAft>
              <a:defRPr sz="1400">
                <a:solidFill>
                  <a:srgbClr val="152334"/>
                </a:solidFill>
                <a:latin typeface="Arial"/>
              </a:defRPr>
            </a:pPr>
            <a:r>
              <a:t>Profile system performance with perf, ftrace, and LTTng</a:t>
            </a:r>
          </a:p>
          <a:p>
            <a:pPr>
              <a:spcAft>
                <a:spcPts val="600"/>
              </a:spcAft>
              <a:defRPr sz="1400">
                <a:solidFill>
                  <a:srgbClr val="152334"/>
                </a:solidFill>
                <a:latin typeface="Arial"/>
              </a:defRPr>
            </a:pPr>
            <a:r>
              <a:t>Trace system calls and library calls with strace</a:t>
            </a:r>
          </a:p>
          <a:p>
            <a:pPr>
              <a:spcAft>
                <a:spcPts val="600"/>
              </a:spcAft>
              <a:defRPr sz="1400">
                <a:solidFill>
                  <a:srgbClr val="152334"/>
                </a:solidFill>
                <a:latin typeface="Arial"/>
              </a:defRPr>
            </a:pPr>
            <a:r>
              <a:t>Detect memory leaks and diagnose out-of-memory conditions</a:t>
            </a:r>
          </a:p>
          <a:p>
            <a:pPr>
              <a:spcAft>
                <a:spcPts val="600"/>
              </a:spcAft>
              <a:defRPr sz="1400">
                <a:solidFill>
                  <a:srgbClr val="152334"/>
                </a:solidFill>
                <a:latin typeface="Arial"/>
              </a:defRPr>
            </a:pPr>
            <a:r>
              <a:t>Choose the right debugging and profiling tool for a given problem</a:t>
            </a:r>
          </a:p>
        </p:txBody>
      </p:sp>
      <p:sp>
        <p:nvSpPr>
          <p:cNvPr id="5" name="Rectangle 4"/>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GDB: The GNU Project Debugger</a:t>
            </a:r>
          </a:p>
        </p:txBody>
      </p:sp>
      <p:sp>
        <p:nvSpPr>
          <p:cNvPr id="4" name="Rounded Rectangle 3"/>
          <p:cNvSpPr/>
          <p:nvPr/>
        </p:nvSpPr>
        <p:spPr>
          <a:xfrm>
            <a:off x="457200" y="822960"/>
            <a:ext cx="5547207" cy="1783080"/>
          </a:xfrm>
          <a:prstGeom prst="roundRect">
            <a:avLst/>
          </a:prstGeom>
          <a:solidFill>
            <a:srgbClr val="FDF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822960"/>
            <a:ext cx="5547207" cy="365760"/>
          </a:xfrm>
          <a:prstGeom prst="round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5272887" cy="365760"/>
          </a:xfrm>
          <a:prstGeom prst="rect">
            <a:avLst/>
          </a:prstGeom>
          <a:noFill/>
        </p:spPr>
        <p:txBody>
          <a:bodyPr wrap="square">
            <a:spAutoFit/>
          </a:bodyPr>
          <a:lstStyle/>
          <a:p>
            <a:pPr>
              <a:defRPr sz="2000" b="1">
                <a:solidFill>
                  <a:srgbClr val="FFFFFF"/>
                </a:solidFill>
                <a:latin typeface="Arial"/>
              </a:defRPr>
            </a:pPr>
            <a:r>
              <a:t>What is GDB?</a:t>
            </a:r>
          </a:p>
        </p:txBody>
      </p:sp>
      <p:sp>
        <p:nvSpPr>
          <p:cNvPr id="7" name="TextBox 6"/>
          <p:cNvSpPr txBox="1"/>
          <p:nvPr/>
        </p:nvSpPr>
        <p:spPr>
          <a:xfrm>
            <a:off x="594360" y="1280160"/>
            <a:ext cx="5272887" cy="1280160"/>
          </a:xfrm>
          <a:prstGeom prst="rect">
            <a:avLst/>
          </a:prstGeom>
          <a:noFill/>
        </p:spPr>
        <p:txBody>
          <a:bodyPr wrap="square">
            <a:spAutoFit/>
          </a:bodyPr>
          <a:lstStyle/>
          <a:p>
            <a:pPr>
              <a:spcAft>
                <a:spcPts val="600"/>
              </a:spcAft>
              <a:defRPr sz="1200">
                <a:solidFill>
                  <a:srgbClr val="152334"/>
                </a:solidFill>
                <a:latin typeface="Arial"/>
              </a:defRPr>
            </a:pPr>
            <a:r>
              <a:t>S</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b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x</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b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y</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y</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a:t>
            </a:r>
          </a:p>
        </p:txBody>
      </p:sp>
      <p:sp>
        <p:nvSpPr>
          <p:cNvPr id="8" name="Rounded Rectangle 7"/>
          <p:cNvSpPr/>
          <p:nvPr/>
        </p:nvSpPr>
        <p:spPr>
          <a:xfrm>
            <a:off x="6187287" y="822960"/>
            <a:ext cx="5547207" cy="1783080"/>
          </a:xfrm>
          <a:prstGeom prst="roundRect">
            <a:avLst/>
          </a:prstGeom>
          <a:solidFill>
            <a:srgbClr val="E6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7287" y="822960"/>
            <a:ext cx="5547207" cy="365760"/>
          </a:xfrm>
          <a:prstGeom prst="round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868680"/>
            <a:ext cx="5272887" cy="365760"/>
          </a:xfrm>
          <a:prstGeom prst="rect">
            <a:avLst/>
          </a:prstGeom>
          <a:noFill/>
        </p:spPr>
        <p:txBody>
          <a:bodyPr wrap="square">
            <a:spAutoFit/>
          </a:bodyPr>
          <a:lstStyle/>
          <a:p>
            <a:pPr>
              <a:defRPr sz="2000" b="1">
                <a:solidFill>
                  <a:srgbClr val="FFFFFF"/>
                </a:solidFill>
                <a:latin typeface="Arial"/>
              </a:defRPr>
            </a:pPr>
            <a:r>
              <a:t>Two Debugging Modes</a:t>
            </a:r>
          </a:p>
        </p:txBody>
      </p:sp>
      <p:sp>
        <p:nvSpPr>
          <p:cNvPr id="11" name="TextBox 10"/>
          <p:cNvSpPr txBox="1"/>
          <p:nvPr/>
        </p:nvSpPr>
        <p:spPr>
          <a:xfrm>
            <a:off x="6324447" y="1280160"/>
            <a:ext cx="5272887" cy="1280160"/>
          </a:xfrm>
          <a:prstGeom prst="rect">
            <a:avLst/>
          </a:prstGeom>
          <a:noFill/>
        </p:spPr>
        <p:txBody>
          <a:bodyPr wrap="square">
            <a:spAutoFit/>
          </a:bodyPr>
          <a:lstStyle/>
          <a:p>
            <a:pPr>
              <a:spcAft>
                <a:spcPts val="600"/>
              </a:spcAft>
              <a:defRPr sz="1200">
                <a:solidFill>
                  <a:srgbClr val="152334"/>
                </a:solidFill>
                <a:latin typeface="Arial"/>
              </a:defRPr>
            </a:pPr>
            <a:r>
              <a:t>N</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b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l</a:t>
            </a:r>
          </a:p>
        </p:txBody>
      </p:sp>
      <p:sp>
        <p:nvSpPr>
          <p:cNvPr id="12" name="Rounded Rectangle 11"/>
          <p:cNvSpPr/>
          <p:nvPr/>
        </p:nvSpPr>
        <p:spPr>
          <a:xfrm>
            <a:off x="457200" y="2697480"/>
            <a:ext cx="5547207" cy="1783080"/>
          </a:xfrm>
          <a:prstGeom prst="roundRect">
            <a:avLst/>
          </a:prstGeom>
          <a:solidFill>
            <a:srgbClr val="EB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2697480"/>
            <a:ext cx="5547207" cy="365760"/>
          </a:xfrm>
          <a:prstGeom prst="round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743200"/>
            <a:ext cx="5272887" cy="365760"/>
          </a:xfrm>
          <a:prstGeom prst="rect">
            <a:avLst/>
          </a:prstGeom>
          <a:noFill/>
        </p:spPr>
        <p:txBody>
          <a:bodyPr wrap="square">
            <a:spAutoFit/>
          </a:bodyPr>
          <a:lstStyle/>
          <a:p>
            <a:pPr>
              <a:defRPr sz="2000" b="1">
                <a:solidFill>
                  <a:srgbClr val="FFFFFF"/>
                </a:solidFill>
                <a:latin typeface="Arial"/>
              </a:defRPr>
            </a:pPr>
            <a:r>
              <a:t>Key Principle</a:t>
            </a:r>
          </a:p>
        </p:txBody>
      </p:sp>
      <p:sp>
        <p:nvSpPr>
          <p:cNvPr id="15" name="TextBox 14"/>
          <p:cNvSpPr txBox="1"/>
          <p:nvPr/>
        </p:nvSpPr>
        <p:spPr>
          <a:xfrm>
            <a:off x="594360" y="3154680"/>
            <a:ext cx="5272887" cy="1280160"/>
          </a:xfrm>
          <a:prstGeom prst="rect">
            <a:avLst/>
          </a:prstGeom>
          <a:noFill/>
        </p:spPr>
        <p:txBody>
          <a:bodyPr wrap="square">
            <a:spAutoFit/>
          </a:bodyPr>
          <a:lstStyle/>
          <a:p>
            <a:pPr>
              <a:spcAft>
                <a:spcPts val="600"/>
              </a:spcAft>
              <a:defRPr sz="1200">
                <a:solidFill>
                  <a:srgbClr val="152334"/>
                </a:solidFill>
                <a:latin typeface="Arial"/>
              </a:defRPr>
            </a:pPr>
            <a:r>
              <a:t>A</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y</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y</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b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z</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2</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3</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b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y</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e</a:t>
            </a:r>
          </a:p>
        </p:txBody>
      </p:sp>
      <p:sp>
        <p:nvSpPr>
          <p:cNvPr id="16" name="Rectangle 15"/>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Preparing Code for Debugging</a:t>
            </a:r>
          </a:p>
        </p:txBody>
      </p:sp>
      <p:sp>
        <p:nvSpPr>
          <p:cNvPr id="4" name="Rounded Rectangle 3"/>
          <p:cNvSpPr/>
          <p:nvPr/>
        </p:nvSpPr>
        <p:spPr>
          <a:xfrm>
            <a:off x="457200" y="822960"/>
            <a:ext cx="11277295" cy="562356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60120"/>
            <a:ext cx="11002975" cy="5349240"/>
          </a:xfrm>
          <a:prstGeom prst="rect">
            <a:avLst/>
          </a:prstGeom>
          <a:noFill/>
        </p:spPr>
        <p:txBody>
          <a:bodyPr wrap="square">
            <a:spAutoFit/>
          </a:bodyPr>
          <a:lstStyle/>
          <a:p>
            <a:pPr>
              <a:defRPr sz="1100">
                <a:solidFill>
                  <a:srgbClr val="D4D4D4"/>
                </a:solidFill>
                <a:latin typeface="Courier New"/>
              </a:defRPr>
            </a:pPr>
            <a:r>
              <a:t># Compile with debug symbols</a:t>
            </a:r>
            <a:br/>
            <a:r>
              <a:t>$ aarch64-none-linux-gnu-gcc -ggdb -o myapp myapp.c</a:t>
            </a:r>
            <a:br/>
            <a:br/>
            <a:r>
              <a:t># Verify debug symbols are present</a:t>
            </a:r>
            <a:br/>
            <a:r>
              <a:t>$ file myapp</a:t>
            </a:r>
            <a:br/>
            <a:r>
              <a:t>myapp: ELF 64-bit LSB executable, ARM aarch64, version 1 (SYSV),</a:t>
            </a:r>
            <a:br/>
            <a:r>
              <a:t>       dynamically linked, interpreter /lib/ld-linux-aarch64.so.1,</a:t>
            </a:r>
            <a:br/>
            <a:r>
              <a:t>       with debug_info, not stripped    &lt;-- KEY: with debug_info</a:t>
            </a:r>
            <a:br/>
            <a:br/>
            <a:r>
              <a:t>$ readelf -S myapp | grep debug</a:t>
            </a:r>
            <a:br/>
            <a:r>
              <a:t>  [27] .debug_info       PROGBITS         0000000000000000  00003048</a:t>
            </a:r>
            <a:br/>
            <a:r>
              <a:t>  [28] .debug_abbrev     PROGBITS         0000000000000000  00005021</a:t>
            </a:r>
            <a:br/>
            <a:r>
              <a:t>  [29] .debug_line       PROGBITS         0000000000000000  00005110</a:t>
            </a:r>
            <a:br/>
            <a:br/>
            <a:r>
              <a:t># Compile flags comparison:</a:t>
            </a:r>
            <a:br/>
            <a:r>
              <a:t># -g      : Standard debug information</a:t>
            </a:r>
            <a:br/>
            <a:r>
              <a:t># -ggdb   : Extra GDB-specific information (recommended)</a:t>
            </a:r>
            <a:br/>
            <a:r>
              <a:t># -Og     : Optimize for debugging (since GCC 4.8)</a:t>
            </a:r>
            <a:br/>
            <a:r>
              <a:t># -O0     : No optimization (easiest to debug, but not representative)</a:t>
            </a:r>
            <a:br/>
            <a:r>
              <a:t># -O2/-O3 : Standard optimization (hard to debug)</a:t>
            </a:r>
            <a:br/>
            <a:br/>
            <a:r>
              <a:t># For production: strip symbols into a separate file</a:t>
            </a:r>
            <a:br/>
            <a:r>
              <a:t>$ aarch64-none-linux-gnu-objcopy --only-keep-debug myapp myapp.debug</a:t>
            </a:r>
            <a:br/>
            <a:r>
              <a:t>$ aarch64-none-linux-gnu-strip --strip-debug myapp</a:t>
            </a:r>
            <a:br/>
            <a:r>
              <a:t>$ aarch64-none-linux-gnu-objcopy --add-gnu-debuglink=myapp.debug myapp</a:t>
            </a:r>
          </a:p>
        </p:txBody>
      </p:sp>
      <p:sp>
        <p:nvSpPr>
          <p:cNvPr id="6" name="Rectangle 5"/>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Remote Debugging: gdbserver + cross-GDB</a:t>
            </a:r>
          </a:p>
        </p:txBody>
      </p:sp>
      <p:sp>
        <p:nvSpPr>
          <p:cNvPr id="4" name="TextBox 3"/>
          <p:cNvSpPr txBox="1"/>
          <p:nvPr/>
        </p:nvSpPr>
        <p:spPr>
          <a:xfrm>
            <a:off x="457200" y="822960"/>
            <a:ext cx="5501487" cy="457200"/>
          </a:xfrm>
          <a:prstGeom prst="rect">
            <a:avLst/>
          </a:prstGeom>
          <a:noFill/>
        </p:spPr>
        <p:txBody>
          <a:bodyPr wrap="square">
            <a:spAutoFit/>
          </a:bodyPr>
          <a:lstStyle/>
          <a:p>
            <a:pPr algn="l">
              <a:defRPr sz="2000" b="1">
                <a:solidFill>
                  <a:srgbClr val="152334"/>
                </a:solidFill>
                <a:latin typeface="Arial"/>
              </a:defRPr>
            </a:pPr>
            <a:r>
              <a:t>Target Side (embedded device)</a:t>
            </a:r>
          </a:p>
        </p:txBody>
      </p:sp>
      <p:sp>
        <p:nvSpPr>
          <p:cNvPr id="5" name="TextBox 4"/>
          <p:cNvSpPr txBox="1"/>
          <p:nvPr/>
        </p:nvSpPr>
        <p:spPr>
          <a:xfrm>
            <a:off x="457200"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Install gdbserver in rootfs (Buildroot: BR2_PACKAGE_GDBSERVER)</a:t>
            </a:r>
          </a:p>
          <a:p>
            <a:pPr>
              <a:spcAft>
                <a:spcPts val="600"/>
              </a:spcAft>
              <a:defRPr sz="1400">
                <a:solidFill>
                  <a:srgbClr val="152334"/>
                </a:solidFill>
                <a:latin typeface="Arial"/>
              </a:defRPr>
            </a:pPr>
            <a:r>
              <a:t>$ gdbserver :1234 ./myapp        # Listen on TCP port 1234</a:t>
            </a:r>
          </a:p>
          <a:p>
            <a:pPr>
              <a:spcAft>
                <a:spcPts val="600"/>
              </a:spcAft>
              <a:defRPr sz="1400">
                <a:solidFill>
                  <a:srgbClr val="152334"/>
                </a:solidFill>
                <a:latin typeface="Arial"/>
              </a:defRPr>
            </a:pPr>
            <a:r>
              <a:t>$ gdbserver /dev/ttyS0 ./myapp  # Or serial console</a:t>
            </a:r>
          </a:p>
          <a:p>
            <a:pPr>
              <a:spcAft>
                <a:spcPts val="600"/>
              </a:spcAft>
              <a:defRPr sz="1400">
                <a:solidFill>
                  <a:srgbClr val="152334"/>
                </a:solidFill>
                <a:latin typeface="Arial"/>
              </a:defRPr>
            </a:pPr>
            <a:r>
              <a:t>gdbserver loads program, sets breakpoint, waits for GDB</a:t>
            </a:r>
          </a:p>
          <a:p>
            <a:pPr>
              <a:spcAft>
                <a:spcPts val="600"/>
              </a:spcAft>
              <a:defRPr sz="1400">
                <a:solidFill>
                  <a:srgbClr val="152334"/>
                </a:solidFill>
                <a:latin typeface="Arial"/>
              </a:defRPr>
            </a:pPr>
            <a:r>
              <a:t>Controls execution of the target program</a:t>
            </a:r>
          </a:p>
          <a:p>
            <a:pPr>
              <a:spcAft>
                <a:spcPts val="600"/>
              </a:spcAft>
              <a:defRPr sz="1400">
                <a:solidFill>
                  <a:srgbClr val="152334"/>
                </a:solidFill>
                <a:latin typeface="Arial"/>
              </a:defRPr>
            </a:pPr>
            <a:r>
              <a:t>Translates memory/register reads to GDB remote protocol</a:t>
            </a:r>
          </a:p>
        </p:txBody>
      </p:sp>
      <p:sp>
        <p:nvSpPr>
          <p:cNvPr id="6" name="TextBox 5"/>
          <p:cNvSpPr txBox="1"/>
          <p:nvPr/>
        </p:nvSpPr>
        <p:spPr>
          <a:xfrm>
            <a:off x="6233007" y="822960"/>
            <a:ext cx="5501487" cy="457200"/>
          </a:xfrm>
          <a:prstGeom prst="rect">
            <a:avLst/>
          </a:prstGeom>
          <a:noFill/>
        </p:spPr>
        <p:txBody>
          <a:bodyPr wrap="square">
            <a:spAutoFit/>
          </a:bodyPr>
          <a:lstStyle/>
          <a:p>
            <a:pPr algn="l">
              <a:defRPr sz="2000" b="1">
                <a:solidFill>
                  <a:srgbClr val="152334"/>
                </a:solidFill>
                <a:latin typeface="Arial"/>
              </a:defRPr>
            </a:pPr>
            <a:r>
              <a:t>Host Side (development machine)</a:t>
            </a:r>
          </a:p>
        </p:txBody>
      </p:sp>
      <p:sp>
        <p:nvSpPr>
          <p:cNvPr id="7" name="TextBox 6"/>
          <p:cNvSpPr txBox="1"/>
          <p:nvPr/>
        </p:nvSpPr>
        <p:spPr>
          <a:xfrm>
            <a:off x="6233007"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Use cross-GDB from your toolchain</a:t>
            </a:r>
          </a:p>
          <a:p>
            <a:pPr>
              <a:spcAft>
                <a:spcPts val="600"/>
              </a:spcAft>
              <a:defRPr sz="1400">
                <a:solidFill>
                  <a:srgbClr val="152334"/>
                </a:solidFill>
                <a:latin typeface="Arial"/>
              </a:defRPr>
            </a:pPr>
            <a:r>
              <a:t>$ aarch64-none-linux-gnu-gdb ./myapp</a:t>
            </a:r>
          </a:p>
          <a:p>
            <a:pPr>
              <a:spcAft>
                <a:spcPts val="600"/>
              </a:spcAft>
              <a:defRPr sz="1400">
                <a:solidFill>
                  <a:srgbClr val="152334"/>
                </a:solidFill>
                <a:latin typeface="Arial"/>
              </a:defRPr>
            </a:pPr>
            <a:r>
              <a:t>(gdb) target remote 192.168.1.42:1234</a:t>
            </a:r>
          </a:p>
          <a:p>
            <a:pPr>
              <a:spcAft>
                <a:spcPts val="600"/>
              </a:spcAft>
              <a:defRPr sz="1400">
                <a:solidFill>
                  <a:srgbClr val="152334"/>
                </a:solidFill>
                <a:latin typeface="Arial"/>
              </a:defRPr>
            </a:pPr>
            <a:r>
              <a:t>(gdb) break main</a:t>
            </a:r>
          </a:p>
          <a:p>
            <a:pPr>
              <a:spcAft>
                <a:spcPts val="600"/>
              </a:spcAft>
              <a:defRPr sz="1400">
                <a:solidFill>
                  <a:srgbClr val="152334"/>
                </a:solidFill>
                <a:latin typeface="Arial"/>
              </a:defRPr>
            </a:pPr>
            <a:r>
              <a:t>(gdb) continue</a:t>
            </a:r>
          </a:p>
          <a:p>
            <a:pPr>
              <a:spcAft>
                <a:spcPts val="600"/>
              </a:spcAft>
              <a:defRPr sz="1400">
                <a:solidFill>
                  <a:srgbClr val="152334"/>
                </a:solidFill>
                <a:latin typeface="Arial"/>
              </a:defRPr>
            </a:pPr>
            <a:r>
              <a:t>(gdb) next / step / print var / backtrace</a:t>
            </a:r>
          </a:p>
          <a:p>
            <a:pPr>
              <a:spcAft>
                <a:spcPts val="600"/>
              </a:spcAft>
              <a:defRPr sz="1400">
                <a:solidFill>
                  <a:srgbClr val="152334"/>
                </a:solidFill>
                <a:latin typeface="Arial"/>
              </a:defRPr>
            </a:pPr>
            <a:r>
              <a:t>All normal GDB commands work transparently</a:t>
            </a:r>
          </a:p>
        </p:txBody>
      </p:sp>
      <p:sp>
        <p:nvSpPr>
          <p:cNvPr id="8" name="Rectangle 7"/>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Setting Up the Build System for Remote Debugging</a:t>
            </a:r>
          </a:p>
        </p:txBody>
      </p:sp>
      <p:sp>
        <p:nvSpPr>
          <p:cNvPr id="4" name="TextBox 3"/>
          <p:cNvSpPr txBox="1"/>
          <p:nvPr/>
        </p:nvSpPr>
        <p:spPr>
          <a:xfrm>
            <a:off x="457200" y="822960"/>
            <a:ext cx="5501487" cy="457200"/>
          </a:xfrm>
          <a:prstGeom prst="rect">
            <a:avLst/>
          </a:prstGeom>
          <a:noFill/>
        </p:spPr>
        <p:txBody>
          <a:bodyPr wrap="square">
            <a:spAutoFit/>
          </a:bodyPr>
          <a:lstStyle/>
          <a:p>
            <a:pPr algn="l">
              <a:defRPr sz="2000" b="1">
                <a:solidFill>
                  <a:srgbClr val="152334"/>
                </a:solidFill>
                <a:latin typeface="Arial"/>
              </a:defRPr>
            </a:pPr>
            <a:r>
              <a:t>Yocto Project</a:t>
            </a:r>
          </a:p>
        </p:txBody>
      </p:sp>
      <p:sp>
        <p:nvSpPr>
          <p:cNvPr id="5" name="TextBox 4"/>
          <p:cNvSpPr txBox="1"/>
          <p:nvPr/>
        </p:nvSpPr>
        <p:spPr>
          <a:xfrm>
            <a:off x="457200"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Add gdbserver to target image:</a:t>
            </a:r>
          </a:p>
          <a:p>
            <a:pPr>
              <a:spcAft>
                <a:spcPts val="600"/>
              </a:spcAft>
              <a:defRPr sz="1400">
                <a:solidFill>
                  <a:srgbClr val="152334"/>
                </a:solidFill>
                <a:latin typeface="Arial"/>
              </a:defRPr>
            </a:pPr>
            <a:r>
              <a:t>  IMAGE_INSTALL:append = ' gdbserver'</a:t>
            </a:r>
          </a:p>
          <a:p>
            <a:pPr>
              <a:spcAft>
                <a:spcPts val="600"/>
              </a:spcAft>
              <a:defRPr sz="1400">
                <a:solidFill>
                  <a:srgbClr val="152334"/>
                </a:solidFill>
                <a:latin typeface="Arial"/>
              </a:defRPr>
            </a:pPr>
          </a:p>
          <a:p>
            <a:pPr>
              <a:spcAft>
                <a:spcPts val="600"/>
              </a:spcAft>
              <a:defRPr sz="1400">
                <a:solidFill>
                  <a:srgbClr val="152334"/>
                </a:solidFill>
                <a:latin typeface="Arial"/>
              </a:defRPr>
            </a:pPr>
            <a:r>
              <a:t>Preserve debug symbols (prevent stripping):</a:t>
            </a:r>
          </a:p>
          <a:p>
            <a:pPr>
              <a:spcAft>
                <a:spcPts val="600"/>
              </a:spcAft>
              <a:defRPr sz="1400">
                <a:solidFill>
                  <a:srgbClr val="152334"/>
                </a:solidFill>
                <a:latin typeface="Arial"/>
              </a:defRPr>
            </a:pPr>
            <a:r>
              <a:t>  INHIBIT_PACKAGE_STRIP = '1'</a:t>
            </a:r>
          </a:p>
          <a:p>
            <a:pPr>
              <a:spcAft>
                <a:spcPts val="600"/>
              </a:spcAft>
              <a:defRPr sz="1400">
                <a:solidFill>
                  <a:srgbClr val="152334"/>
                </a:solidFill>
                <a:latin typeface="Arial"/>
              </a:defRPr>
            </a:pPr>
            <a:r>
              <a:t>  INHIBIT_SYSROOT_STRIP = '1'</a:t>
            </a:r>
          </a:p>
          <a:p>
            <a:pPr>
              <a:spcAft>
                <a:spcPts val="600"/>
              </a:spcAft>
              <a:defRPr sz="1400">
                <a:solidFill>
                  <a:srgbClr val="152334"/>
                </a:solidFill>
                <a:latin typeface="Arial"/>
              </a:defRPr>
            </a:pPr>
          </a:p>
          <a:p>
            <a:pPr>
              <a:spcAft>
                <a:spcPts val="600"/>
              </a:spcAft>
              <a:defRPr sz="1400">
                <a:solidFill>
                  <a:srgbClr val="152334"/>
                </a:solidFill>
                <a:latin typeface="Arial"/>
              </a:defRPr>
            </a:pPr>
            <a:r>
              <a:t>Build and deploy SDK with GDB:</a:t>
            </a:r>
          </a:p>
          <a:p>
            <a:pPr>
              <a:spcAft>
                <a:spcPts val="600"/>
              </a:spcAft>
              <a:defRPr sz="1400">
                <a:solidFill>
                  <a:srgbClr val="152334"/>
                </a:solidFill>
                <a:latin typeface="Arial"/>
              </a:defRPr>
            </a:pPr>
            <a:r>
              <a:t>  bitbake -c populate_sdk &lt;image&gt;</a:t>
            </a:r>
          </a:p>
          <a:p>
            <a:pPr>
              <a:spcAft>
                <a:spcPts val="600"/>
              </a:spcAft>
              <a:defRPr sz="1400">
                <a:solidFill>
                  <a:srgbClr val="152334"/>
                </a:solidFill>
                <a:latin typeface="Arial"/>
              </a:defRPr>
            </a:pPr>
          </a:p>
          <a:p>
            <a:pPr>
              <a:spcAft>
                <a:spcPts val="600"/>
              </a:spcAft>
              <a:defRPr sz="1400">
                <a:solidFill>
                  <a:srgbClr val="152334"/>
                </a:solidFill>
                <a:latin typeface="Arial"/>
              </a:defRPr>
            </a:pPr>
            <a:r>
              <a:t>Run the SDK installer → get cross-GDB</a:t>
            </a:r>
          </a:p>
        </p:txBody>
      </p:sp>
      <p:sp>
        <p:nvSpPr>
          <p:cNvPr id="6" name="TextBox 5"/>
          <p:cNvSpPr txBox="1"/>
          <p:nvPr/>
        </p:nvSpPr>
        <p:spPr>
          <a:xfrm>
            <a:off x="6233007" y="822960"/>
            <a:ext cx="5501487" cy="457200"/>
          </a:xfrm>
          <a:prstGeom prst="rect">
            <a:avLst/>
          </a:prstGeom>
          <a:noFill/>
        </p:spPr>
        <p:txBody>
          <a:bodyPr wrap="square">
            <a:spAutoFit/>
          </a:bodyPr>
          <a:lstStyle/>
          <a:p>
            <a:pPr algn="l">
              <a:defRPr sz="2000" b="1">
                <a:solidFill>
                  <a:srgbClr val="152334"/>
                </a:solidFill>
                <a:latin typeface="Arial"/>
              </a:defRPr>
            </a:pPr>
            <a:r>
              <a:t>Buildroot</a:t>
            </a:r>
          </a:p>
        </p:txBody>
      </p:sp>
      <p:sp>
        <p:nvSpPr>
          <p:cNvPr id="7" name="TextBox 6"/>
          <p:cNvSpPr txBox="1"/>
          <p:nvPr/>
        </p:nvSpPr>
        <p:spPr>
          <a:xfrm>
            <a:off x="6233007"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Enable gdbserver in menuconfig:</a:t>
            </a:r>
          </a:p>
          <a:p>
            <a:pPr>
              <a:spcAft>
                <a:spcPts val="600"/>
              </a:spcAft>
              <a:defRPr sz="1400">
                <a:solidFill>
                  <a:srgbClr val="152334"/>
                </a:solidFill>
                <a:latin typeface="Arial"/>
              </a:defRPr>
            </a:pPr>
            <a:r>
              <a:t>  Package Selection → Debugging, profiling → gdbserver</a:t>
            </a:r>
          </a:p>
          <a:p>
            <a:pPr>
              <a:spcAft>
                <a:spcPts val="600"/>
              </a:spcAft>
              <a:defRPr sz="1400">
                <a:solidFill>
                  <a:srgbClr val="152334"/>
                </a:solidFill>
                <a:latin typeface="Arial"/>
              </a:defRPr>
            </a:pPr>
          </a:p>
          <a:p>
            <a:pPr>
              <a:spcAft>
                <a:spcPts val="600"/>
              </a:spcAft>
              <a:defRPr sz="1400">
                <a:solidFill>
                  <a:srgbClr val="152334"/>
                </a:solidFill>
                <a:latin typeface="Arial"/>
              </a:defRPr>
            </a:pPr>
            <a:r>
              <a:t>Enable GDB on host (for cross-debugging):</a:t>
            </a:r>
          </a:p>
          <a:p>
            <a:pPr>
              <a:spcAft>
                <a:spcPts val="600"/>
              </a:spcAft>
              <a:defRPr sz="1400">
                <a:solidFill>
                  <a:srgbClr val="152334"/>
                </a:solidFill>
                <a:latin typeface="Arial"/>
              </a:defRPr>
            </a:pPr>
            <a:r>
              <a:t>  Same menu → gdb</a:t>
            </a:r>
          </a:p>
          <a:p>
            <a:pPr>
              <a:spcAft>
                <a:spcPts val="600"/>
              </a:spcAft>
              <a:defRPr sz="1400">
                <a:solidFill>
                  <a:srgbClr val="152334"/>
                </a:solidFill>
                <a:latin typeface="Arial"/>
              </a:defRPr>
            </a:pPr>
          </a:p>
          <a:p>
            <a:pPr>
              <a:spcAft>
                <a:spcPts val="600"/>
              </a:spcAft>
              <a:defRPr sz="1400">
                <a:solidFill>
                  <a:srgbClr val="152334"/>
                </a:solidFill>
                <a:latin typeface="Arial"/>
              </a:defRPr>
            </a:pPr>
            <a:r>
              <a:t>No separation between build and app dev environments</a:t>
            </a:r>
          </a:p>
          <a:p>
            <a:pPr>
              <a:spcAft>
                <a:spcPts val="600"/>
              </a:spcAft>
              <a:defRPr sz="1400">
                <a:solidFill>
                  <a:srgbClr val="152334"/>
                </a:solidFill>
                <a:latin typeface="Arial"/>
              </a:defRPr>
            </a:pPr>
          </a:p>
          <a:p>
            <a:pPr>
              <a:spcAft>
                <a:spcPts val="600"/>
              </a:spcAft>
              <a:defRPr sz="1400">
                <a:solidFill>
                  <a:srgbClr val="152334"/>
                </a:solidFill>
                <a:latin typeface="Arial"/>
              </a:defRPr>
            </a:pPr>
            <a:r>
              <a:t>Buildroot does not strip by default in debug builds</a:t>
            </a:r>
          </a:p>
          <a:p>
            <a:pPr>
              <a:spcAft>
                <a:spcPts val="600"/>
              </a:spcAft>
              <a:defRPr sz="1400">
                <a:solidFill>
                  <a:srgbClr val="152334"/>
                </a:solidFill>
                <a:latin typeface="Arial"/>
              </a:defRPr>
            </a:pPr>
            <a:r>
              <a:t>BR2_ENABLE_DEBUG = y</a:t>
            </a:r>
          </a:p>
        </p:txBody>
      </p:sp>
      <p:sp>
        <p:nvSpPr>
          <p:cNvPr id="8" name="Rectangle 7"/>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Core Files: Postmortem Debugging</a:t>
            </a:r>
          </a:p>
        </p:txBody>
      </p:sp>
      <p:sp>
        <p:nvSpPr>
          <p:cNvPr id="4" name="Rounded Rectangle 3"/>
          <p:cNvSpPr/>
          <p:nvPr/>
        </p:nvSpPr>
        <p:spPr>
          <a:xfrm>
            <a:off x="457200" y="822960"/>
            <a:ext cx="11277295" cy="562356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60120"/>
            <a:ext cx="11002975" cy="5349240"/>
          </a:xfrm>
          <a:prstGeom prst="rect">
            <a:avLst/>
          </a:prstGeom>
          <a:noFill/>
        </p:spPr>
        <p:txBody>
          <a:bodyPr wrap="square">
            <a:spAutoFit/>
          </a:bodyPr>
          <a:lstStyle/>
          <a:p>
            <a:pPr>
              <a:defRPr sz="1100">
                <a:solidFill>
                  <a:srgbClr val="D4D4D4"/>
                </a:solidFill>
                <a:latin typeface="Courier New"/>
              </a:defRPr>
            </a:pPr>
            <a:r>
              <a:t># Enable core dumps on the target</a:t>
            </a:r>
            <a:br/>
            <a:r>
              <a:t>$ ulimit -c unlimited                    # Allow unlimited core size</a:t>
            </a:r>
            <a:br/>
            <a:r>
              <a:t>$ echo "/tmp/core.%e.%p" &gt; /proc/sys/kernel/core_format</a:t>
            </a:r>
            <a:br/>
            <a:br/>
            <a:r>
              <a:t># Trigger and capture a crash</a:t>
            </a:r>
            <a:br/>
            <a:r>
              <a:t>$ ./myapp</a:t>
            </a:r>
            <a:br/>
            <a:r>
              <a:t>Segmentation fault (core dumped)</a:t>
            </a:r>
            <a:br/>
            <a:r>
              <a:t>$ ls -lh /tmp/core.myapp.1234</a:t>
            </a:r>
            <a:br/>
            <a:r>
              <a:t>-rw------- 1 root root 12M Jan 15 09:23 /tmp/core.myapp.1234</a:t>
            </a:r>
            <a:br/>
            <a:br/>
            <a:r>
              <a:t># Analyze the core file on the host with cross-GDB</a:t>
            </a:r>
            <a:br/>
            <a:r>
              <a:t>$ aarch64-none-linux-gnu-gdb ./myapp /tmp/core.myapp.1234</a:t>
            </a:r>
            <a:br/>
            <a:br/>
            <a:r>
              <a:t>(gdb) bt</a:t>
            </a:r>
            <a:br/>
            <a:r>
              <a:t>#0  0x0000000000400568 in risky_function (ptr=0x0) at myapp.c:42</a:t>
            </a:r>
            <a:br/>
            <a:r>
              <a:t>#1  0x00000000004005a4 in main () at myapp.c:87</a:t>
            </a:r>
            <a:br/>
            <a:br/>
            <a:r>
              <a:t>(gdb) frame 0</a:t>
            </a:r>
            <a:br/>
            <a:r>
              <a:t>(gdb) print ptr</a:t>
            </a:r>
            <a:br/>
            <a:r>
              <a:t>$1 = (int *) 0x0</a:t>
            </a:r>
            <a:br/>
            <a:br/>
            <a:r>
              <a:t>(gdb) list myapp.c:42</a:t>
            </a:r>
            <a:br/>
            <a:r>
              <a:t>   40  void risky_function(int *ptr) {</a:t>
            </a:r>
            <a:br/>
            <a:r>
              <a:t>   41      // BUG: no null check!</a:t>
            </a:r>
            <a:br/>
            <a:r>
              <a:t>   42      *ptr = 42;    ← Crash here</a:t>
            </a:r>
            <a:br/>
            <a:r>
              <a:t>   43  }</a:t>
            </a:r>
            <a:br/>
            <a:br/>
            <a:r>
              <a:t># Key insight: core files capture the entire process state</a:t>
            </a:r>
            <a:br/>
            <a:r>
              <a:t># at the moment of the crash -- memory, registers, stack</a:t>
            </a:r>
          </a:p>
        </p:txBody>
      </p:sp>
      <p:sp>
        <p:nvSpPr>
          <p:cNvPr id="6" name="Rectangle 5"/>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Debugging Kernel Code</a:t>
            </a:r>
          </a:p>
        </p:txBody>
      </p:sp>
      <p:sp>
        <p:nvSpPr>
          <p:cNvPr id="4" name="TextBox 3"/>
          <p:cNvSpPr txBox="1"/>
          <p:nvPr/>
        </p:nvSpPr>
        <p:spPr>
          <a:xfrm>
            <a:off x="457200" y="822960"/>
            <a:ext cx="5501487" cy="457200"/>
          </a:xfrm>
          <a:prstGeom prst="rect">
            <a:avLst/>
          </a:prstGeom>
          <a:noFill/>
        </p:spPr>
        <p:txBody>
          <a:bodyPr wrap="square">
            <a:spAutoFit/>
          </a:bodyPr>
          <a:lstStyle/>
          <a:p>
            <a:pPr algn="l">
              <a:defRPr sz="2000" b="1">
                <a:solidFill>
                  <a:srgbClr val="152334"/>
                </a:solidFill>
                <a:latin typeface="Arial"/>
              </a:defRPr>
            </a:pPr>
            <a:r>
              <a:t>kgdb (Kernel GDB)</a:t>
            </a:r>
          </a:p>
        </p:txBody>
      </p:sp>
      <p:sp>
        <p:nvSpPr>
          <p:cNvPr id="5" name="TextBox 4"/>
          <p:cNvSpPr txBox="1"/>
          <p:nvPr/>
        </p:nvSpPr>
        <p:spPr>
          <a:xfrm>
            <a:off x="457200"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Source-level kernel debugger over serial or Ethernet</a:t>
            </a:r>
          </a:p>
          <a:p>
            <a:pPr>
              <a:spcAft>
                <a:spcPts val="600"/>
              </a:spcAft>
              <a:defRPr sz="1400">
                <a:solidFill>
                  <a:srgbClr val="152334"/>
                </a:solidFill>
                <a:latin typeface="Arial"/>
              </a:defRPr>
            </a:pPr>
            <a:r>
              <a:t>Requires: CONFIG_KGDB=y in kernel config</a:t>
            </a:r>
          </a:p>
          <a:p>
            <a:pPr>
              <a:spcAft>
                <a:spcPts val="600"/>
              </a:spcAft>
              <a:defRPr sz="1400">
                <a:solidFill>
                  <a:srgbClr val="152334"/>
                </a:solidFill>
                <a:latin typeface="Arial"/>
              </a:defRPr>
            </a:pPr>
            <a:r>
              <a:t>Target connects to host GDB via kgdboc (kgdb over console)</a:t>
            </a:r>
          </a:p>
          <a:p>
            <a:pPr>
              <a:spcAft>
                <a:spcPts val="600"/>
              </a:spcAft>
              <a:defRPr sz="1400">
                <a:solidFill>
                  <a:srgbClr val="152334"/>
                </a:solidFill>
                <a:latin typeface="Arial"/>
              </a:defRPr>
            </a:pPr>
            <a:r>
              <a:t>echo ttyS0 &gt; /sys/module/parameters/kgdboc</a:t>
            </a:r>
          </a:p>
          <a:p>
            <a:pPr>
              <a:spcAft>
                <a:spcPts val="600"/>
              </a:spcAft>
              <a:defRPr sz="1400">
                <a:solidFill>
                  <a:srgbClr val="152334"/>
                </a:solidFill>
                <a:latin typeface="Arial"/>
              </a:defRPr>
            </a:pPr>
            <a:r>
              <a:t>Then trigger: echo g &gt; /proc/sysrq-trigger</a:t>
            </a:r>
          </a:p>
          <a:p>
            <a:pPr>
              <a:spcAft>
                <a:spcPts val="600"/>
              </a:spcAft>
              <a:defRPr sz="1400">
                <a:solidFill>
                  <a:srgbClr val="152334"/>
                </a:solidFill>
                <a:latin typeface="Arial"/>
              </a:defRPr>
            </a:pPr>
            <a:r>
              <a:t>GDB on host: can set breakpoints, inspect kernel memory</a:t>
            </a:r>
          </a:p>
          <a:p>
            <a:pPr>
              <a:spcAft>
                <a:spcPts val="600"/>
              </a:spcAft>
              <a:defRPr sz="1400">
                <a:solidFill>
                  <a:srgbClr val="152334"/>
                </a:solidFill>
                <a:latin typeface="Arial"/>
              </a:defRPr>
            </a:pPr>
            <a:r>
              <a:t>Useful for: driver debugging, oops analysis, boot failures</a:t>
            </a:r>
          </a:p>
        </p:txBody>
      </p:sp>
      <p:sp>
        <p:nvSpPr>
          <p:cNvPr id="6" name="TextBox 5"/>
          <p:cNvSpPr txBox="1"/>
          <p:nvPr/>
        </p:nvSpPr>
        <p:spPr>
          <a:xfrm>
            <a:off x="6233007" y="822960"/>
            <a:ext cx="5501487" cy="457200"/>
          </a:xfrm>
          <a:prstGeom prst="rect">
            <a:avLst/>
          </a:prstGeom>
          <a:noFill/>
        </p:spPr>
        <p:txBody>
          <a:bodyPr wrap="square">
            <a:spAutoFit/>
          </a:bodyPr>
          <a:lstStyle/>
          <a:p>
            <a:pPr algn="l">
              <a:defRPr sz="2000" b="1">
                <a:solidFill>
                  <a:srgbClr val="152334"/>
                </a:solidFill>
                <a:latin typeface="Arial"/>
              </a:defRPr>
            </a:pPr>
            <a:r>
              <a:t>kdb (Built-in Kernel Debugger)</a:t>
            </a:r>
          </a:p>
        </p:txBody>
      </p:sp>
      <p:sp>
        <p:nvSpPr>
          <p:cNvPr id="7" name="TextBox 6"/>
          <p:cNvSpPr txBox="1"/>
          <p:nvPr/>
        </p:nvSpPr>
        <p:spPr>
          <a:xfrm>
            <a:off x="6233007"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Self-hosted: no external dependencies</a:t>
            </a:r>
          </a:p>
          <a:p>
            <a:pPr>
              <a:spcAft>
                <a:spcPts val="600"/>
              </a:spcAft>
              <a:defRPr sz="1400">
                <a:solidFill>
                  <a:srgbClr val="152334"/>
                </a:solidFill>
                <a:latin typeface="Arial"/>
              </a:defRPr>
            </a:pPr>
            <a:r>
              <a:t>Simple command-line on serial console</a:t>
            </a:r>
          </a:p>
          <a:p>
            <a:pPr>
              <a:spcAft>
                <a:spcPts val="600"/>
              </a:spcAft>
              <a:defRPr sz="1400">
                <a:solidFill>
                  <a:srgbClr val="152334"/>
                </a:solidFill>
                <a:latin typeface="Arial"/>
              </a:defRPr>
            </a:pPr>
            <a:r>
              <a:t>Triggered via sysrq, oops, or breakpoint</a:t>
            </a:r>
          </a:p>
          <a:p>
            <a:pPr>
              <a:spcAft>
                <a:spcPts val="600"/>
              </a:spcAft>
              <a:defRPr sz="1400">
                <a:solidFill>
                  <a:srgbClr val="152334"/>
                </a:solidFill>
                <a:latin typeface="Arial"/>
              </a:defRPr>
            </a:pPr>
            <a:r>
              <a:t>Commands: md (memory display), bt (backtrace), go (continue)</a:t>
            </a:r>
          </a:p>
          <a:p>
            <a:pPr>
              <a:spcAft>
                <a:spcPts val="600"/>
              </a:spcAft>
              <a:defRPr sz="1400">
                <a:solidFill>
                  <a:srgbClr val="152334"/>
                </a:solidFill>
                <a:latin typeface="Arial"/>
              </a:defRPr>
            </a:pPr>
            <a:r>
              <a:t>Good for: quick checks, early boot, systems without GDB host</a:t>
            </a:r>
          </a:p>
          <a:p>
            <a:pPr>
              <a:spcAft>
                <a:spcPts val="600"/>
              </a:spcAft>
              <a:defRPr sz="1400">
                <a:solidFill>
                  <a:srgbClr val="152334"/>
                </a:solidFill>
                <a:latin typeface="Arial"/>
              </a:defRPr>
            </a:pPr>
            <a:r>
              <a:t>Limitation: no source-level debugging</a:t>
            </a:r>
          </a:p>
          <a:p>
            <a:pPr>
              <a:spcAft>
                <a:spcPts val="600"/>
              </a:spcAft>
              <a:defRPr sz="1400">
                <a:solidFill>
                  <a:srgbClr val="152334"/>
                </a:solidFill>
                <a:latin typeface="Arial"/>
              </a:defRPr>
            </a:pPr>
            <a:r>
              <a:t>Often used alongside printk for light debugging</a:t>
            </a:r>
          </a:p>
        </p:txBody>
      </p:sp>
      <p:sp>
        <p:nvSpPr>
          <p:cNvPr id="8" name="Rectangle 7"/>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Reading a Kernel Oops</a:t>
            </a:r>
          </a:p>
        </p:txBody>
      </p:sp>
      <p:sp>
        <p:nvSpPr>
          <p:cNvPr id="4" name="Rounded Rectangle 3"/>
          <p:cNvSpPr/>
          <p:nvPr/>
        </p:nvSpPr>
        <p:spPr>
          <a:xfrm>
            <a:off x="457200" y="822960"/>
            <a:ext cx="11277295" cy="562356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60120"/>
            <a:ext cx="11002975" cy="5349240"/>
          </a:xfrm>
          <a:prstGeom prst="rect">
            <a:avLst/>
          </a:prstGeom>
          <a:noFill/>
        </p:spPr>
        <p:txBody>
          <a:bodyPr wrap="square">
            <a:spAutoFit/>
          </a:bodyPr>
          <a:lstStyle/>
          <a:p>
            <a:pPr>
              <a:defRPr sz="1100">
                <a:solidFill>
                  <a:srgbClr val="D4D4D4"/>
                </a:solidFill>
                <a:latin typeface="Courier New"/>
              </a:defRPr>
            </a:pPr>
            <a:r>
              <a:t># Trigger an oops for demonstration (DANGEROOD -- lab only!)</a:t>
            </a:r>
            <a:br/>
            <a:r>
              <a:t># echo "hello" &gt; /dev/null  # safe way: use a test module</a:t>
            </a:r>
            <a:br/>
            <a:br/>
            <a:r>
              <a:t># Sample Oops output (from serial console):</a:t>
            </a:r>
            <a:br/>
            <a:r>
              <a:t>Unable to handle kernel NULL pointer dereference at virtual address 00000000</a:t>
            </a:r>
            <a:br/>
            <a:r>
              <a:t>pgd = c0004000</a:t>
            </a:r>
            <a:br/>
            <a:r>
              <a:t>[00000000] *pgd=00000000</a:t>
            </a:r>
            <a:br/>
            <a:r>
              <a:t>Internal error: Oops: 80000005 [#1] PREEMPT SMP ARM</a:t>
            </a:r>
            <a:br/>
            <a:r>
              <a:t>Modules linked in: my_driver</a:t>
            </a:r>
            <a:br/>
            <a:r>
              <a:t>CPU: 0 Not tainted  5.15.72-v7l #1</a:t>
            </a:r>
            <a:br/>
            <a:r>
              <a:t>PC is at my_driver_write+0x14/0x30 [my_driver]</a:t>
            </a:r>
            <a:br/>
            <a:r>
              <a:t>LR is at vfs_write+0x128/0x260</a:t>
            </a:r>
            <a:br/>
            <a:r>
              <a:t>pc : [&lt;bf000014&gt;]    lr : [&lt;c02a3b28&gt;]    psr: 60000013</a:t>
            </a:r>
            <a:br/>
            <a:br/>
            <a:r>
              <a:t># How to decode:</a:t>
            </a:r>
            <a:br/>
            <a:r>
              <a:t># 1. PC (Program Counter) tells you WHERE it crashed</a:t>
            </a:r>
            <a:br/>
            <a:r>
              <a:t>#    my_driver_write+0x14 = function + offset 0x14 bytes</a:t>
            </a:r>
            <a:br/>
            <a:r>
              <a:t># 2. Use addr2line to find the source line:</a:t>
            </a:r>
            <a:br/>
            <a:r>
              <a:t>$ arm-none-linux-gnueabi-addr2line -e my_driver.ko -f -i my_driver_write+0x14</a:t>
            </a:r>
            <a:br/>
            <a:r>
              <a:t>my_driver_write</a:t>
            </a:r>
            <a:br/>
            <a:r>
              <a:t>/home/dev/drivers/my_driver.c:87</a:t>
            </a:r>
            <a:br/>
            <a:br/>
            <a:r>
              <a:t># Or use GDB:</a:t>
            </a:r>
            <a:br/>
            <a:r>
              <a:t>$ arm-none-linux-gnueabi-gdb my_driver.ko</a:t>
            </a:r>
            <a:br/>
            <a:r>
              <a:t>(gdb) list *(my_driver_write+0x14)</a:t>
            </a:r>
            <a:br/>
            <a:r>
              <a:t>   85  static ssize_t my_driver_write(struct file *f, const char *buf, ...) {</a:t>
            </a:r>
            <a:br/>
            <a:r>
              <a:t>   86      // BUG: checking user buffer AFTER copy</a:t>
            </a:r>
            <a:br/>
            <a:r>
              <a:t>   87      copy_from_user(local_buf, buf, count);   ← Oops here</a:t>
            </a:r>
            <a:br/>
            <a:r>
              <a:t>   88      if (count &lt; 0 || count &gt; MAX_BUF)</a:t>
            </a:r>
            <a:br/>
            <a:r>
              <a:t>   89          return -EINVAL;</a:t>
            </a:r>
          </a:p>
        </p:txBody>
      </p:sp>
      <p:sp>
        <p:nvSpPr>
          <p:cNvPr id="6" name="Rectangle 5"/>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Lab: Kernel Oops Analysis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GDB Command Cheat Sheet</a:t>
            </a:r>
          </a:p>
        </p:txBody>
      </p:sp>
      <p:sp>
        <p:nvSpPr>
          <p:cNvPr id="4" name="Rounded Rectangle 3"/>
          <p:cNvSpPr/>
          <p:nvPr/>
        </p:nvSpPr>
        <p:spPr>
          <a:xfrm>
            <a:off x="457200" y="822960"/>
            <a:ext cx="5547207" cy="1314450"/>
          </a:xfrm>
          <a:prstGeom prst="roundRect">
            <a:avLst/>
          </a:prstGeom>
          <a:solidFill>
            <a:srgbClr val="FDF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822960"/>
            <a:ext cx="5547207" cy="365760"/>
          </a:xfrm>
          <a:prstGeom prst="round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5272887" cy="365760"/>
          </a:xfrm>
          <a:prstGeom prst="rect">
            <a:avLst/>
          </a:prstGeom>
          <a:noFill/>
        </p:spPr>
        <p:txBody>
          <a:bodyPr wrap="square">
            <a:spAutoFit/>
          </a:bodyPr>
          <a:lstStyle/>
          <a:p>
            <a:pPr>
              <a:defRPr sz="2000" b="1">
                <a:solidFill>
                  <a:srgbClr val="FFFFFF"/>
                </a:solidFill>
                <a:latin typeface="Arial"/>
              </a:defRPr>
            </a:pPr>
            <a:r>
              <a:t>Starting &amp; Connecting</a:t>
            </a:r>
          </a:p>
        </p:txBody>
      </p:sp>
      <p:sp>
        <p:nvSpPr>
          <p:cNvPr id="7" name="TextBox 6"/>
          <p:cNvSpPr txBox="1"/>
          <p:nvPr/>
        </p:nvSpPr>
        <p:spPr>
          <a:xfrm>
            <a:off x="594360" y="1280160"/>
            <a:ext cx="5272887" cy="811530"/>
          </a:xfrm>
          <a:prstGeom prst="rect">
            <a:avLst/>
          </a:prstGeom>
          <a:noFill/>
        </p:spPr>
        <p:txBody>
          <a:bodyPr wrap="square">
            <a:spAutoFit/>
          </a:bodyPr>
          <a:lstStyle/>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y</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b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1</a:t>
            </a:r>
          </a:p>
          <a:p>
            <a:pPr>
              <a:spcAft>
                <a:spcPts val="600"/>
              </a:spcAft>
              <a:defRPr sz="1200">
                <a:solidFill>
                  <a:srgbClr val="152334"/>
                </a:solidFill>
                <a:latin typeface="Arial"/>
              </a:defRPr>
            </a:pPr>
            <a:r>
              <a:t>2</a:t>
            </a:r>
          </a:p>
          <a:p>
            <a:pPr>
              <a:spcAft>
                <a:spcPts val="600"/>
              </a:spcAft>
              <a:defRPr sz="1200">
                <a:solidFill>
                  <a:srgbClr val="152334"/>
                </a:solidFill>
                <a:latin typeface="Arial"/>
              </a:defRPr>
            </a:pPr>
            <a:r>
              <a:t>3</a:t>
            </a:r>
          </a:p>
          <a:p>
            <a:pPr>
              <a:spcAft>
                <a:spcPts val="600"/>
              </a:spcAft>
              <a:defRPr sz="1200">
                <a:solidFill>
                  <a:srgbClr val="152334"/>
                </a:solidFill>
                <a:latin typeface="Arial"/>
              </a:defRPr>
            </a:pPr>
            <a:r>
              <a:t>4</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b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y</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s</a:t>
            </a:r>
          </a:p>
        </p:txBody>
      </p:sp>
      <p:sp>
        <p:nvSpPr>
          <p:cNvPr id="8" name="Rounded Rectangle 7"/>
          <p:cNvSpPr/>
          <p:nvPr/>
        </p:nvSpPr>
        <p:spPr>
          <a:xfrm>
            <a:off x="6187287" y="822960"/>
            <a:ext cx="5547207" cy="1314450"/>
          </a:xfrm>
          <a:prstGeom prst="roundRect">
            <a:avLst/>
          </a:prstGeom>
          <a:solidFill>
            <a:srgbClr val="E6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7287" y="822960"/>
            <a:ext cx="5547207" cy="365760"/>
          </a:xfrm>
          <a:prstGeom prst="round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868680"/>
            <a:ext cx="5272887" cy="365760"/>
          </a:xfrm>
          <a:prstGeom prst="rect">
            <a:avLst/>
          </a:prstGeom>
          <a:noFill/>
        </p:spPr>
        <p:txBody>
          <a:bodyPr wrap="square">
            <a:spAutoFit/>
          </a:bodyPr>
          <a:lstStyle/>
          <a:p>
            <a:pPr>
              <a:defRPr sz="2000" b="1">
                <a:solidFill>
                  <a:srgbClr val="FFFFFF"/>
                </a:solidFill>
                <a:latin typeface="Arial"/>
              </a:defRPr>
            </a:pPr>
            <a:r>
              <a:t>Breakpoints</a:t>
            </a:r>
          </a:p>
        </p:txBody>
      </p:sp>
      <p:sp>
        <p:nvSpPr>
          <p:cNvPr id="11" name="TextBox 10"/>
          <p:cNvSpPr txBox="1"/>
          <p:nvPr/>
        </p:nvSpPr>
        <p:spPr>
          <a:xfrm>
            <a:off x="6324447" y="1280160"/>
            <a:ext cx="5272887" cy="811530"/>
          </a:xfrm>
          <a:prstGeom prst="rect">
            <a:avLst/>
          </a:prstGeom>
          <a:noFill/>
        </p:spPr>
        <p:txBody>
          <a:bodyPr wrap="square">
            <a:spAutoFit/>
          </a:bodyPr>
          <a:lstStyle/>
          <a:p>
            <a:pPr>
              <a:spcAft>
                <a:spcPts val="600"/>
              </a:spcAft>
              <a:defRPr sz="1200">
                <a:solidFill>
                  <a:srgbClr val="152334"/>
                </a:solidFill>
                <a:latin typeface="Arial"/>
              </a:defRPr>
            </a:pPr>
            <a:r>
              <a:t>b</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b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4</a:t>
            </a:r>
          </a:p>
          <a:p>
            <a:pPr>
              <a:spcAft>
                <a:spcPts val="600"/>
              </a:spcAft>
              <a:defRPr sz="1200">
                <a:solidFill>
                  <a:srgbClr val="152334"/>
                </a:solidFill>
                <a:latin typeface="Arial"/>
              </a:defRPr>
            </a:pPr>
            <a:r>
              <a:t>2</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b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b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b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b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2</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2</a:t>
            </a:r>
          </a:p>
        </p:txBody>
      </p:sp>
      <p:sp>
        <p:nvSpPr>
          <p:cNvPr id="12" name="Rounded Rectangle 11"/>
          <p:cNvSpPr/>
          <p:nvPr/>
        </p:nvSpPr>
        <p:spPr>
          <a:xfrm>
            <a:off x="457200" y="2228850"/>
            <a:ext cx="5547207" cy="1314450"/>
          </a:xfrm>
          <a:prstGeom prst="roundRect">
            <a:avLst/>
          </a:prstGeom>
          <a:solidFill>
            <a:srgbClr val="EB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2228850"/>
            <a:ext cx="5547207" cy="365760"/>
          </a:xfrm>
          <a:prstGeom prst="round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274570"/>
            <a:ext cx="5272887" cy="365760"/>
          </a:xfrm>
          <a:prstGeom prst="rect">
            <a:avLst/>
          </a:prstGeom>
          <a:noFill/>
        </p:spPr>
        <p:txBody>
          <a:bodyPr wrap="square">
            <a:spAutoFit/>
          </a:bodyPr>
          <a:lstStyle/>
          <a:p>
            <a:pPr>
              <a:defRPr sz="2000" b="1">
                <a:solidFill>
                  <a:srgbClr val="FFFFFF"/>
                </a:solidFill>
                <a:latin typeface="Arial"/>
              </a:defRPr>
            </a:pPr>
            <a:r>
              <a:t>Execution</a:t>
            </a:r>
          </a:p>
        </p:txBody>
      </p:sp>
      <p:sp>
        <p:nvSpPr>
          <p:cNvPr id="15" name="TextBox 14"/>
          <p:cNvSpPr txBox="1"/>
          <p:nvPr/>
        </p:nvSpPr>
        <p:spPr>
          <a:xfrm>
            <a:off x="594360" y="2686050"/>
            <a:ext cx="5272887" cy="811530"/>
          </a:xfrm>
          <a:prstGeom prst="rect">
            <a:avLst/>
          </a:prstGeom>
          <a:noFill/>
        </p:spPr>
        <p:txBody>
          <a:bodyPr wrap="square">
            <a:spAutoFit/>
          </a:bodyPr>
          <a:lstStyle/>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x</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b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x</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b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b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b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p:txBody>
      </p:sp>
      <p:sp>
        <p:nvSpPr>
          <p:cNvPr id="16" name="Rounded Rectangle 15"/>
          <p:cNvSpPr/>
          <p:nvPr/>
        </p:nvSpPr>
        <p:spPr>
          <a:xfrm>
            <a:off x="6187287" y="2228850"/>
            <a:ext cx="5547207" cy="1314450"/>
          </a:xfrm>
          <a:prstGeom prst="roundRect">
            <a:avLst/>
          </a:prstGeom>
          <a:solidFill>
            <a:srgbClr val="FFF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87287" y="2228850"/>
            <a:ext cx="5547207" cy="365760"/>
          </a:xfrm>
          <a:prstGeom prst="round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447" y="2274570"/>
            <a:ext cx="5272887" cy="365760"/>
          </a:xfrm>
          <a:prstGeom prst="rect">
            <a:avLst/>
          </a:prstGeom>
          <a:noFill/>
        </p:spPr>
        <p:txBody>
          <a:bodyPr wrap="square">
            <a:spAutoFit/>
          </a:bodyPr>
          <a:lstStyle/>
          <a:p>
            <a:pPr>
              <a:defRPr sz="2000" b="1">
                <a:solidFill>
                  <a:srgbClr val="FFFFFF"/>
                </a:solidFill>
                <a:latin typeface="Arial"/>
              </a:defRPr>
            </a:pPr>
            <a:r>
              <a:t>Inspection</a:t>
            </a:r>
          </a:p>
        </p:txBody>
      </p:sp>
      <p:sp>
        <p:nvSpPr>
          <p:cNvPr id="19" name="TextBox 18"/>
          <p:cNvSpPr txBox="1"/>
          <p:nvPr/>
        </p:nvSpPr>
        <p:spPr>
          <a:xfrm>
            <a:off x="6324447" y="2686050"/>
            <a:ext cx="5272887" cy="811530"/>
          </a:xfrm>
          <a:prstGeom prst="rect">
            <a:avLst/>
          </a:prstGeom>
          <a:noFill/>
        </p:spPr>
        <p:txBody>
          <a:bodyPr wrap="square">
            <a:spAutoFit/>
          </a:bodyPr>
          <a:lstStyle/>
          <a:p>
            <a:pPr>
              <a:spcAft>
                <a:spcPts val="600"/>
              </a:spcAft>
              <a:defRPr sz="1200">
                <a:solidFill>
                  <a:srgbClr val="152334"/>
                </a:solidFill>
                <a:latin typeface="Arial"/>
              </a:defRPr>
            </a:pPr>
            <a:r>
              <a:t>p</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b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x</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x</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b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y</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b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b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br/>
          </a:p>
          <a:p>
            <a:pPr>
              <a:spcAft>
                <a:spcPts val="600"/>
              </a:spcAft>
              <a:defRPr sz="1200">
                <a:solidFill>
                  <a:srgbClr val="152334"/>
                </a:solidFill>
                <a:latin typeface="Arial"/>
              </a:defRPr>
            </a:pPr>
            <a:r>
              <a:t>x</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1</a:t>
            </a:r>
          </a:p>
          <a:p>
            <a:pPr>
              <a:spcAft>
                <a:spcPts val="600"/>
              </a:spcAft>
              <a:defRPr sz="1200">
                <a:solidFill>
                  <a:srgbClr val="152334"/>
                </a:solidFill>
                <a:latin typeface="Arial"/>
              </a:defRPr>
            </a:pPr>
            <a:r>
              <a:t>6</a:t>
            </a:r>
          </a:p>
          <a:p>
            <a:pPr>
              <a:spcAft>
                <a:spcPts val="600"/>
              </a:spcAft>
              <a:defRPr sz="1200">
                <a:solidFill>
                  <a:srgbClr val="152334"/>
                </a:solidFill>
                <a:latin typeface="Arial"/>
              </a:defRPr>
            </a:pPr>
            <a:r>
              <a:t>x</a:t>
            </a: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x</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y</a:t>
            </a:r>
          </a:p>
        </p:txBody>
      </p:sp>
      <p:sp>
        <p:nvSpPr>
          <p:cNvPr id="20" name="Rectangle 19"/>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The Observer Effect</a:t>
            </a:r>
          </a:p>
        </p:txBody>
      </p:sp>
      <p:sp>
        <p:nvSpPr>
          <p:cNvPr id="4" name="TextBox 3"/>
          <p:cNvSpPr txBox="1"/>
          <p:nvPr/>
        </p:nvSpPr>
        <p:spPr>
          <a:xfrm>
            <a:off x="457200" y="822960"/>
            <a:ext cx="5501487" cy="457200"/>
          </a:xfrm>
          <a:prstGeom prst="rect">
            <a:avLst/>
          </a:prstGeom>
          <a:noFill/>
        </p:spPr>
        <p:txBody>
          <a:bodyPr wrap="square">
            <a:spAutoFit/>
          </a:bodyPr>
          <a:lstStyle/>
          <a:p>
            <a:pPr algn="l">
              <a:defRPr sz="2000" b="1">
                <a:solidFill>
                  <a:srgbClr val="152334"/>
                </a:solidFill>
                <a:latin typeface="Arial"/>
              </a:defRPr>
            </a:pPr>
            <a:r>
              <a:t>Why Measurement Changes Behavior</a:t>
            </a:r>
          </a:p>
        </p:txBody>
      </p:sp>
      <p:sp>
        <p:nvSpPr>
          <p:cNvPr id="5" name="TextBox 4"/>
          <p:cNvSpPr txBox="1"/>
          <p:nvPr/>
        </p:nvSpPr>
        <p:spPr>
          <a:xfrm>
            <a:off x="457200"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Every probe costs CPU cycles</a:t>
            </a:r>
          </a:p>
          <a:p>
            <a:pPr>
              <a:spcAft>
                <a:spcPts val="600"/>
              </a:spcAft>
              <a:defRPr sz="1400">
                <a:solidFill>
                  <a:srgbClr val="152334"/>
                </a:solidFill>
                <a:latin typeface="Arial"/>
              </a:defRPr>
            </a:pPr>
            <a:r>
              <a:t>Profiling tools consume memory bandwidth</a:t>
            </a:r>
          </a:p>
          <a:p>
            <a:pPr>
              <a:spcAft>
                <a:spcPts val="600"/>
              </a:spcAft>
              <a:defRPr sz="1400">
                <a:solidFill>
                  <a:srgbClr val="152334"/>
                </a:solidFill>
                <a:latin typeface="Arial"/>
              </a:defRPr>
            </a:pPr>
            <a:r>
              <a:t>Tracing alters cache behavior (cache pollution)</a:t>
            </a:r>
          </a:p>
          <a:p>
            <a:pPr>
              <a:spcAft>
                <a:spcPts val="600"/>
              </a:spcAft>
              <a:defRPr sz="1400">
                <a:solidFill>
                  <a:srgbClr val="152334"/>
                </a:solidFill>
                <a:latin typeface="Arial"/>
              </a:defRPr>
            </a:pPr>
            <a:r>
              <a:t>Debug instrumentation adds code paths</a:t>
            </a:r>
          </a:p>
          <a:p>
            <a:pPr>
              <a:spcAft>
                <a:spcPts val="600"/>
              </a:spcAft>
              <a:defRPr sz="1400">
                <a:solidFill>
                  <a:srgbClr val="152334"/>
                </a:solidFill>
                <a:latin typeface="Arial"/>
              </a:defRPr>
            </a:pPr>
            <a:r>
              <a:t>Network debugging adds latency</a:t>
            </a:r>
          </a:p>
          <a:p>
            <a:pPr>
              <a:spcAft>
                <a:spcPts val="600"/>
              </a:spcAft>
              <a:defRPr sz="1400">
                <a:solidFill>
                  <a:srgbClr val="152334"/>
                </a:solidFill>
                <a:latin typeface="Arial"/>
              </a:defRPr>
            </a:pPr>
            <a:r>
              <a:t>Goal: minimize observer effect while gathering data</a:t>
            </a:r>
          </a:p>
          <a:p>
            <a:pPr>
              <a:spcAft>
                <a:spcPts val="600"/>
              </a:spcAft>
              <a:defRPr sz="1400">
                <a:solidFill>
                  <a:srgbClr val="152334"/>
                </a:solidFill>
                <a:latin typeface="Arial"/>
              </a:defRPr>
            </a:pPr>
            <a:r>
              <a:t>Rule: measure first, then instrument, then analyze</a:t>
            </a:r>
          </a:p>
        </p:txBody>
      </p:sp>
      <p:sp>
        <p:nvSpPr>
          <p:cNvPr id="6" name="TextBox 5"/>
          <p:cNvSpPr txBox="1"/>
          <p:nvPr/>
        </p:nvSpPr>
        <p:spPr>
          <a:xfrm>
            <a:off x="6233007" y="822960"/>
            <a:ext cx="5501487" cy="457200"/>
          </a:xfrm>
          <a:prstGeom prst="rect">
            <a:avLst/>
          </a:prstGeom>
          <a:noFill/>
        </p:spPr>
        <p:txBody>
          <a:bodyPr wrap="square">
            <a:spAutoFit/>
          </a:bodyPr>
          <a:lstStyle/>
          <a:p>
            <a:pPr algn="l">
              <a:defRPr sz="2000" b="1">
                <a:solidFill>
                  <a:srgbClr val="152334"/>
                </a:solidFill>
                <a:latin typeface="Arial"/>
              </a:defRPr>
            </a:pPr>
            <a:r>
              <a:t>Symbol Tables and Compile Flags</a:t>
            </a:r>
          </a:p>
        </p:txBody>
      </p:sp>
      <p:sp>
        <p:nvSpPr>
          <p:cNvPr id="7" name="TextBox 6"/>
          <p:cNvSpPr txBox="1"/>
          <p:nvPr/>
        </p:nvSpPr>
        <p:spPr>
          <a:xfrm>
            <a:off x="6233007"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Most tools need symbols to be useful</a:t>
            </a:r>
          </a:p>
          <a:p>
            <a:pPr>
              <a:spcAft>
                <a:spcPts val="600"/>
              </a:spcAft>
              <a:defRPr sz="1400">
                <a:solidFill>
                  <a:srgbClr val="152334"/>
                </a:solidFill>
                <a:latin typeface="Arial"/>
              </a:defRPr>
            </a:pPr>
            <a:r>
              <a:t>-g or -ggdb in compile flags</a:t>
            </a:r>
          </a:p>
          <a:p>
            <a:pPr>
              <a:spcAft>
                <a:spcPts val="600"/>
              </a:spcAft>
              <a:defRPr sz="1400">
                <a:solidFill>
                  <a:srgbClr val="152334"/>
                </a:solidFill>
                <a:latin typeface="Arial"/>
              </a:defRPr>
            </a:pPr>
            <a:r>
              <a:t>Some tools need special kernel options</a:t>
            </a:r>
          </a:p>
          <a:p>
            <a:pPr>
              <a:spcAft>
                <a:spcPts val="600"/>
              </a:spcAft>
              <a:defRPr sz="1400">
                <a:solidFill>
                  <a:srgbClr val="152334"/>
                </a:solidFill>
                <a:latin typeface="Arial"/>
              </a:defRPr>
            </a:pPr>
            <a:r>
              <a:t>  CONFIG_FTRACE, CONFIG_PERF_EVENTS</a:t>
            </a:r>
          </a:p>
          <a:p>
            <a:pPr>
              <a:spcAft>
                <a:spcPts val="600"/>
              </a:spcAft>
              <a:defRPr sz="1400">
                <a:solidFill>
                  <a:srgbClr val="152334"/>
                </a:solidFill>
                <a:latin typeface="Arial"/>
              </a:defRPr>
            </a:pPr>
            <a:r>
              <a:t>  CONFIG_KPROBES, CONFIG_UPROBES</a:t>
            </a:r>
          </a:p>
          <a:p>
            <a:pPr>
              <a:spcAft>
                <a:spcPts val="600"/>
              </a:spcAft>
              <a:defRPr sz="1400">
                <a:solidFill>
                  <a:srgbClr val="152334"/>
                </a:solidFill>
                <a:latin typeface="Arial"/>
              </a:defRPr>
            </a:pPr>
            <a:r>
              <a:t>May require building and deploying a new kernel</a:t>
            </a:r>
          </a:p>
          <a:p>
            <a:pPr>
              <a:spcAft>
                <a:spcPts val="600"/>
              </a:spcAft>
              <a:defRPr sz="1400">
                <a:solidFill>
                  <a:srgbClr val="152334"/>
                </a:solidFill>
                <a:latin typeface="Arial"/>
              </a:defRPr>
            </a:pPr>
            <a:r>
              <a:t>Trade-off: more info vs less representative results</a:t>
            </a:r>
          </a:p>
        </p:txBody>
      </p:sp>
      <p:sp>
        <p:nvSpPr>
          <p:cNvPr id="8" name="Rectangle 7"/>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Profiling with perf</a:t>
            </a:r>
          </a:p>
        </p:txBody>
      </p:sp>
      <p:sp>
        <p:nvSpPr>
          <p:cNvPr id="4" name="Rounded Rectangle 3"/>
          <p:cNvSpPr/>
          <p:nvPr/>
        </p:nvSpPr>
        <p:spPr>
          <a:xfrm>
            <a:off x="457200" y="822960"/>
            <a:ext cx="11277295" cy="562356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60120"/>
            <a:ext cx="11002975" cy="5349240"/>
          </a:xfrm>
          <a:prstGeom prst="rect">
            <a:avLst/>
          </a:prstGeom>
          <a:noFill/>
        </p:spPr>
        <p:txBody>
          <a:bodyPr wrap="square">
            <a:spAutoFit/>
          </a:bodyPr>
          <a:lstStyle/>
          <a:p>
            <a:pPr>
              <a:defRPr sz="1100">
                <a:solidFill>
                  <a:srgbClr val="D4D4D4"/>
                </a:solidFill>
                <a:latin typeface="Courier New"/>
              </a:defRPr>
            </a:pPr>
            <a:r>
              <a:t># perf is part of the kernel since 2.6.31</a:t>
            </a:r>
            <a:br/>
            <a:r>
              <a:t># Uses hardware performance counters (minimal overhead)</a:t>
            </a:r>
            <a:br/>
            <a:br/>
            <a:r>
              <a:t># ─── Count events ───</a:t>
            </a:r>
            <a:br/>
            <a:r>
              <a:t>$ perf stat ./myapp</a:t>
            </a:r>
            <a:br/>
            <a:r>
              <a:t> Performance counter stats for './myapp':</a:t>
            </a:r>
            <a:br/>
            <a:r>
              <a:t>        123.45 msec task-clock                #    0.857 CPUs utilized</a:t>
            </a:r>
            <a:br/>
            <a:r>
              <a:t>           1,234      context-switches        #    0.010 M/sec</a:t>
            </a:r>
            <a:br/>
            <a:r>
              <a:t>               5      cpu-migrations          #    0.040 K/sec</a:t>
            </a:r>
            <a:br/>
            <a:r>
              <a:t>             123      page-faults             #    0.996 K/sec</a:t>
            </a:r>
            <a:br/>
            <a:r>
              <a:t>     456,789,012      cycles                  #    3.700 GHz</a:t>
            </a:r>
            <a:br/>
            <a:r>
              <a:t>     234,567,890      instructions            #    0.51  insn per cycle</a:t>
            </a:r>
            <a:br/>
            <a:r>
              <a:t>      45,678,901      branches                #  370.020 M/sec</a:t>
            </a:r>
            <a:br/>
            <a:r>
              <a:t>         123,456      branch-misses           #    0.27% of all branches</a:t>
            </a:r>
            <a:br/>
            <a:br/>
            <a:r>
              <a:t># ─── Record call graph ───</a:t>
            </a:r>
            <a:br/>
            <a:r>
              <a:t>$ perf record -g ./myapp</a:t>
            </a:r>
            <a:br/>
            <a:r>
              <a:t>$ perf report --stdio</a:t>
            </a:r>
            <a:br/>
            <a:r>
              <a:t># Overhead  Command  Shared Object  Symbol</a:t>
            </a:r>
            <a:br/>
            <a:r>
              <a:t>   45.23%  myapp    myapp          [.] process_data</a:t>
            </a:r>
            <a:br/>
            <a:r>
              <a:t>   23.10%  myapp    myapp          [.] read_sensor</a:t>
            </a:r>
            <a:br/>
            <a:r>
              <a:t>   12.34%  myapp    libc-2.31.so   [.] memcpy</a:t>
            </a:r>
            <a:br/>
            <a:r>
              <a:t>    8.76%  myapp    myapp          [.] calculate_average</a:t>
            </a:r>
            <a:br/>
            <a:br/>
            <a:r>
              <a:t># ─── Profile specific events ───</a:t>
            </a:r>
            <a:br/>
            <a:r>
              <a:t>$ perf record -e cache-misses ./myapp</a:t>
            </a:r>
            <a:br/>
            <a:r>
              <a:t>$ perf record -e branch-misses ./myapp</a:t>
            </a:r>
            <a:br/>
            <a:br/>
            <a:r>
              <a:t># ─── Live system profiling ───</a:t>
            </a:r>
            <a:br/>
            <a:r>
              <a:t>$ perf top                    # Like top, but per-function</a:t>
            </a:r>
            <a:br/>
            <a:r>
              <a:t>$ perf top -p &lt;pid&gt;           # Profile specific process</a:t>
            </a:r>
          </a:p>
        </p:txBody>
      </p:sp>
      <p:sp>
        <p:nvSpPr>
          <p:cNvPr id="6" name="Rectangle 5"/>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Function Tracing with ftrace</a:t>
            </a:r>
          </a:p>
        </p:txBody>
      </p:sp>
      <p:sp>
        <p:nvSpPr>
          <p:cNvPr id="4" name="Rounded Rectangle 3"/>
          <p:cNvSpPr/>
          <p:nvPr/>
        </p:nvSpPr>
        <p:spPr>
          <a:xfrm>
            <a:off x="457200" y="822960"/>
            <a:ext cx="11277295" cy="562356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60120"/>
            <a:ext cx="11002975" cy="5349240"/>
          </a:xfrm>
          <a:prstGeom prst="rect">
            <a:avLst/>
          </a:prstGeom>
          <a:noFill/>
        </p:spPr>
        <p:txBody>
          <a:bodyPr wrap="square">
            <a:spAutoFit/>
          </a:bodyPr>
          <a:lstStyle/>
          <a:p>
            <a:pPr>
              <a:defRPr sz="1100">
                <a:solidFill>
                  <a:srgbClr val="D4D4D4"/>
                </a:solidFill>
                <a:latin typeface="Courier New"/>
              </a:defRPr>
            </a:pPr>
            <a:r>
              <a:t># ftrace is built into the kernel (since 2.6.27)</a:t>
            </a:r>
            <a:br/>
            <a:r>
              <a:t># Mount debugfs (usually already mounted):</a:t>
            </a:r>
            <a:br/>
            <a:r>
              <a:t>$ mount -t debugfs none /sys/kernel/debug</a:t>
            </a:r>
            <a:br/>
            <a:br/>
            <a:r>
              <a:t># ─── Available tracers ───</a:t>
            </a:r>
            <a:br/>
            <a:r>
              <a:t>$ cat /sys/kernel/debug/tracing/available_tracers</a:t>
            </a:r>
            <a:br/>
            <a:r>
              <a:t>function function_graph nop</a:t>
            </a:r>
            <a:br/>
            <a:br/>
            <a:r>
              <a:t># ─── Trace function calls ───</a:t>
            </a:r>
            <a:br/>
            <a:r>
              <a:t>$ echo function &gt; /sys/kernel/debug/tracing/current_tracer</a:t>
            </a:r>
            <a:br/>
            <a:r>
              <a:t>$ echo my_driver_write &gt; /sys/kernel/debug/tracing/set_ftrace_filter</a:t>
            </a:r>
            <a:br/>
            <a:r>
              <a:t>$ echo 1 &gt; /sys/kernel/debug/tracing/tracing_on</a:t>
            </a:r>
            <a:br/>
            <a:r>
              <a:t># ... run your test ...</a:t>
            </a:r>
            <a:br/>
            <a:r>
              <a:t>$ echo 0 &gt; /sys/kernel/debug/tracing/tracing_on</a:t>
            </a:r>
            <a:br/>
            <a:r>
              <a:t>$ cat /sys/kernel/debug/tracing/trace</a:t>
            </a:r>
            <a:br/>
            <a:br/>
            <a:r>
              <a:t># ─── Function graph (shows call hierarchy + duration) ───</a:t>
            </a:r>
            <a:br/>
            <a:r>
              <a:t>$ echo function_graph &gt; /sys/kernel/debug/tracing/current_tracer</a:t>
            </a:r>
            <a:br/>
            <a:r>
              <a:t>$ cat /sys/kernel/debug/tracing/trace</a:t>
            </a:r>
            <a:br/>
            <a:r>
              <a:t># CPU  DURATION                  FUNCTION CALLS</a:t>
            </a:r>
            <a:br/>
            <a:r>
              <a:t># |     |   |                     |   |   |   |</a:t>
            </a:r>
            <a:br/>
            <a:r>
              <a:t> 0)               |              my_driver_write() {</a:t>
            </a:r>
            <a:br/>
            <a:r>
              <a:t> 0)   2.345 us    |                copy_from_user();</a:t>
            </a:r>
            <a:br/>
            <a:r>
              <a:t> 0)   5.678 us    |                mutex_lock();</a:t>
            </a:r>
            <a:br/>
            <a:r>
              <a:t> 0) + 12.345 us   |              }  ← total time</a:t>
            </a:r>
            <a:br/>
            <a:br/>
            <a:r>
              <a:t># ─── Trace events (lower overhead) ───</a:t>
            </a:r>
            <a:br/>
            <a:r>
              <a:t>$ echo 1 &gt; /sys/kernel/debug/tracing/events/sched/enable</a:t>
            </a:r>
            <a:br/>
            <a:r>
              <a:t>$ echo 1 &gt; /sys/kernel/debug/tracing/events/irq/enable</a:t>
            </a:r>
            <a:br/>
            <a:r>
              <a:t>$ cat /sys/kernel/debug/tracing/trace_pipe  # Live stream</a:t>
            </a:r>
          </a:p>
        </p:txBody>
      </p:sp>
      <p:sp>
        <p:nvSpPr>
          <p:cNvPr id="6" name="Rectangle 5"/>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Advanced Tracing: LTTng &amp; BPF</a:t>
            </a:r>
          </a:p>
        </p:txBody>
      </p:sp>
      <p:sp>
        <p:nvSpPr>
          <p:cNvPr id="4" name="TextBox 3"/>
          <p:cNvSpPr txBox="1"/>
          <p:nvPr/>
        </p:nvSpPr>
        <p:spPr>
          <a:xfrm>
            <a:off x="457200" y="822960"/>
            <a:ext cx="5501487" cy="457200"/>
          </a:xfrm>
          <a:prstGeom prst="rect">
            <a:avLst/>
          </a:prstGeom>
          <a:noFill/>
        </p:spPr>
        <p:txBody>
          <a:bodyPr wrap="square">
            <a:spAutoFit/>
          </a:bodyPr>
          <a:lstStyle/>
          <a:p>
            <a:pPr algn="l">
              <a:defRPr sz="2000" b="1">
                <a:solidFill>
                  <a:srgbClr val="152334"/>
                </a:solidFill>
                <a:latin typeface="Arial"/>
              </a:defRPr>
            </a:pPr>
            <a:r>
              <a:t>LTTng (Linux Trace Toolkit Next Generation)</a:t>
            </a:r>
          </a:p>
        </p:txBody>
      </p:sp>
      <p:sp>
        <p:nvSpPr>
          <p:cNvPr id="5" name="TextBox 4"/>
          <p:cNvSpPr txBox="1"/>
          <p:nvPr/>
        </p:nvSpPr>
        <p:spPr>
          <a:xfrm>
            <a:off x="457200"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Low-overhead kernel and userspace tracing</a:t>
            </a:r>
          </a:p>
          <a:p>
            <a:pPr>
              <a:spcAft>
                <a:spcPts val="600"/>
              </a:spcAft>
              <a:defRPr sz="1400">
                <a:solidFill>
                  <a:srgbClr val="152334"/>
                </a:solidFill>
                <a:latin typeface="Arial"/>
              </a:defRPr>
            </a:pPr>
            <a:r>
              <a:t>Three components: session daemon, consumer daemon, tracepoint probes</a:t>
            </a:r>
          </a:p>
          <a:p>
            <a:pPr>
              <a:spcAft>
                <a:spcPts val="600"/>
              </a:spcAft>
              <a:defRPr sz="1400">
                <a:solidFill>
                  <a:srgbClr val="152334"/>
                </a:solidFill>
                <a:latin typeface="Arial"/>
              </a:defRPr>
            </a:pPr>
            <a:r>
              <a:t>Designed for production systems (minimal overhead when not tracing)</a:t>
            </a:r>
          </a:p>
          <a:p>
            <a:pPr>
              <a:spcAft>
                <a:spcPts val="600"/>
              </a:spcAft>
              <a:defRPr sz="1400">
                <a:solidFill>
                  <a:srgbClr val="152334"/>
                </a:solidFill>
                <a:latin typeface="Arial"/>
              </a:defRPr>
            </a:pPr>
            <a:r>
              <a:t>Can trace across kernel + userspace boundary</a:t>
            </a:r>
          </a:p>
          <a:p>
            <a:pPr>
              <a:spcAft>
                <a:spcPts val="600"/>
              </a:spcAft>
              <a:defRPr sz="1400">
                <a:solidFill>
                  <a:srgbClr val="152334"/>
                </a:solidFill>
                <a:latin typeface="Arial"/>
              </a:defRPr>
            </a:pPr>
            <a:r>
              <a:t>Output: CTF (Common Trace Format) files</a:t>
            </a:r>
          </a:p>
          <a:p>
            <a:pPr>
              <a:spcAft>
                <a:spcPts val="600"/>
              </a:spcAft>
              <a:defRPr sz="1400">
                <a:solidFill>
                  <a:srgbClr val="152334"/>
                </a:solidFill>
                <a:latin typeface="Arial"/>
              </a:defRPr>
            </a:pPr>
            <a:r>
              <a:t>Analyze with Babeltrace or Trace Compass</a:t>
            </a:r>
          </a:p>
          <a:p>
            <a:pPr>
              <a:spcAft>
                <a:spcPts val="600"/>
              </a:spcAft>
              <a:defRPr sz="1400">
                <a:solidFill>
                  <a:srgbClr val="152334"/>
                </a:solidFill>
                <a:latin typeface="Arial"/>
              </a:defRPr>
            </a:pPr>
            <a:r>
              <a:t>Great for: multi-threaded apps, real-time systems</a:t>
            </a:r>
          </a:p>
        </p:txBody>
      </p:sp>
      <p:sp>
        <p:nvSpPr>
          <p:cNvPr id="6" name="TextBox 5"/>
          <p:cNvSpPr txBox="1"/>
          <p:nvPr/>
        </p:nvSpPr>
        <p:spPr>
          <a:xfrm>
            <a:off x="6233007" y="822960"/>
            <a:ext cx="5501487" cy="457200"/>
          </a:xfrm>
          <a:prstGeom prst="rect">
            <a:avLst/>
          </a:prstGeom>
          <a:noFill/>
        </p:spPr>
        <p:txBody>
          <a:bodyPr wrap="square">
            <a:spAutoFit/>
          </a:bodyPr>
          <a:lstStyle/>
          <a:p>
            <a:pPr algn="l">
              <a:defRPr sz="2000" b="1">
                <a:solidFill>
                  <a:srgbClr val="152334"/>
                </a:solidFill>
                <a:latin typeface="Arial"/>
              </a:defRPr>
            </a:pPr>
            <a:r>
              <a:t>eBPF (Extended Berkeley Packet Filter)</a:t>
            </a:r>
          </a:p>
        </p:txBody>
      </p:sp>
      <p:sp>
        <p:nvSpPr>
          <p:cNvPr id="7" name="TextBox 6"/>
          <p:cNvSpPr txBox="1"/>
          <p:nvPr/>
        </p:nvSpPr>
        <p:spPr>
          <a:xfrm>
            <a:off x="6233007"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Sandboxed VM running inside the kernel</a:t>
            </a:r>
          </a:p>
          <a:p>
            <a:pPr>
              <a:spcAft>
                <a:spcPts val="600"/>
              </a:spcAft>
              <a:defRPr sz="1400">
                <a:solidFill>
                  <a:srgbClr val="152334"/>
                </a:solidFill>
                <a:latin typeface="Arial"/>
              </a:defRPr>
            </a:pPr>
            <a:r>
              <a:t>Originally for network packet filtering (1992)</a:t>
            </a:r>
          </a:p>
          <a:p>
            <a:pPr>
              <a:spcAft>
                <a:spcPts val="600"/>
              </a:spcAft>
              <a:defRPr sz="1400">
                <a:solidFill>
                  <a:srgbClr val="152334"/>
                </a:solidFill>
                <a:latin typeface="Arial"/>
              </a:defRPr>
            </a:pPr>
            <a:r>
              <a:t>Now: general-purpose kernel tracing and monitoring</a:t>
            </a:r>
          </a:p>
          <a:p>
            <a:pPr>
              <a:spcAft>
                <a:spcPts val="600"/>
              </a:spcAft>
              <a:defRPr sz="1400">
                <a:solidFill>
                  <a:srgbClr val="152334"/>
                </a:solidFill>
                <a:latin typeface="Arial"/>
              </a:defRPr>
            </a:pPr>
            <a:r>
              <a:t>Tools: bpftrace, BCC (BPF Compiler Collection)</a:t>
            </a:r>
          </a:p>
          <a:p>
            <a:pPr>
              <a:spcAft>
                <a:spcPts val="600"/>
              </a:spcAft>
              <a:defRPr sz="1400">
                <a:solidFill>
                  <a:srgbClr val="152334"/>
                </a:solidFill>
                <a:latin typeface="Arial"/>
              </a:defRPr>
            </a:pPr>
            <a:r>
              <a:t>Can trace virtually any kernel or userspace event</a:t>
            </a:r>
          </a:p>
          <a:p>
            <a:pPr>
              <a:spcAft>
                <a:spcPts val="600"/>
              </a:spcAft>
              <a:defRPr sz="1400">
                <a:solidFill>
                  <a:srgbClr val="152334"/>
                </a:solidFill>
                <a:latin typeface="Arial"/>
              </a:defRPr>
            </a:pPr>
            <a:r>
              <a:t>Near-zero overhead when not actively tracing</a:t>
            </a:r>
          </a:p>
          <a:p>
            <a:pPr>
              <a:spcAft>
                <a:spcPts val="600"/>
              </a:spcAft>
              <a:defRPr sz="1400">
                <a:solidFill>
                  <a:srgbClr val="152334"/>
                </a:solidFill>
                <a:latin typeface="Arial"/>
              </a:defRPr>
            </a:pPr>
            <a:r>
              <a:t>Examples: opensnoop, execsnoop, biolatency</a:t>
            </a:r>
          </a:p>
        </p:txBody>
      </p:sp>
      <p:sp>
        <p:nvSpPr>
          <p:cNvPr id="8" name="Rectangle 7"/>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strace &amp; Valgrind</a:t>
            </a:r>
          </a:p>
        </p:txBody>
      </p:sp>
      <p:sp>
        <p:nvSpPr>
          <p:cNvPr id="4" name="TextBox 3"/>
          <p:cNvSpPr txBox="1"/>
          <p:nvPr/>
        </p:nvSpPr>
        <p:spPr>
          <a:xfrm>
            <a:off x="457200" y="822960"/>
            <a:ext cx="5501487" cy="457200"/>
          </a:xfrm>
          <a:prstGeom prst="rect">
            <a:avLst/>
          </a:prstGeom>
          <a:noFill/>
        </p:spPr>
        <p:txBody>
          <a:bodyPr wrap="square">
            <a:spAutoFit/>
          </a:bodyPr>
          <a:lstStyle/>
          <a:p>
            <a:pPr algn="l">
              <a:defRPr sz="2000" b="1">
                <a:solidFill>
                  <a:srgbClr val="152334"/>
                </a:solidFill>
                <a:latin typeface="Arial"/>
              </a:defRPr>
            </a:pPr>
            <a:r>
              <a:t>strace (System Call Tracer)</a:t>
            </a:r>
          </a:p>
        </p:txBody>
      </p:sp>
      <p:sp>
        <p:nvSpPr>
          <p:cNvPr id="5" name="TextBox 4"/>
          <p:cNvSpPr txBox="1"/>
          <p:nvPr/>
        </p:nvSpPr>
        <p:spPr>
          <a:xfrm>
            <a:off x="457200"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Captures all system calls made by a program</a:t>
            </a:r>
          </a:p>
          <a:p>
            <a:pPr>
              <a:spcAft>
                <a:spcPts val="600"/>
              </a:spcAft>
              <a:defRPr sz="1400">
                <a:solidFill>
                  <a:srgbClr val="152334"/>
                </a:solidFill>
                <a:latin typeface="Arial"/>
              </a:defRPr>
            </a:pPr>
            <a:r>
              <a:t>$ strace ./myapp           # Trace all syscalls</a:t>
            </a:r>
          </a:p>
          <a:p>
            <a:pPr>
              <a:spcAft>
                <a:spcPts val="600"/>
              </a:spcAft>
              <a:defRPr sz="1400">
                <a:solidFill>
                  <a:srgbClr val="152334"/>
                </a:solidFill>
                <a:latin typeface="Arial"/>
              </a:defRPr>
            </a:pPr>
            <a:r>
              <a:t>$ strace -e open,read,write ./myapp  # Filter</a:t>
            </a:r>
          </a:p>
          <a:p>
            <a:pPr>
              <a:spcAft>
                <a:spcPts val="600"/>
              </a:spcAft>
              <a:defRPr sz="1400">
                <a:solidFill>
                  <a:srgbClr val="152334"/>
                </a:solidFill>
                <a:latin typeface="Arial"/>
              </a:defRPr>
            </a:pPr>
            <a:r>
              <a:t>$ strace -p &lt;pid&gt;          # Attach to running process</a:t>
            </a:r>
          </a:p>
          <a:p>
            <a:pPr>
              <a:spcAft>
                <a:spcPts val="600"/>
              </a:spcAft>
              <a:defRPr sz="1400">
                <a:solidFill>
                  <a:srgbClr val="152334"/>
                </a:solidFill>
                <a:latin typeface="Arial"/>
              </a:defRPr>
            </a:pPr>
            <a:r>
              <a:t>$ strace -c ./myapp        # Summary counts</a:t>
            </a:r>
          </a:p>
          <a:p>
            <a:pPr>
              <a:spcAft>
                <a:spcPts val="600"/>
              </a:spcAft>
              <a:defRPr sz="1400">
                <a:solidFill>
                  <a:srgbClr val="152334"/>
                </a:solidFill>
                <a:latin typeface="Arial"/>
              </a:defRPr>
            </a:pPr>
            <a:r>
              <a:t>Use when: program fails silently, permission issues,</a:t>
            </a:r>
          </a:p>
          <a:p>
            <a:pPr>
              <a:spcAft>
                <a:spcPts val="600"/>
              </a:spcAft>
              <a:defRPr sz="1400">
                <a:solidFill>
                  <a:srgbClr val="152334"/>
                </a:solidFill>
                <a:latin typeface="Arial"/>
              </a:defRPr>
            </a:pPr>
            <a:r>
              <a:t>  file not found, unexpected blocking</a:t>
            </a:r>
          </a:p>
          <a:p>
            <a:pPr>
              <a:spcAft>
                <a:spcPts val="600"/>
              </a:spcAft>
              <a:defRPr sz="1400">
                <a:solidFill>
                  <a:srgbClr val="152334"/>
                </a:solidFill>
                <a:latin typeface="Arial"/>
              </a:defRPr>
            </a:pPr>
            <a:r>
              <a:t>Low overhead, no recompilation needed</a:t>
            </a:r>
          </a:p>
        </p:txBody>
      </p:sp>
      <p:sp>
        <p:nvSpPr>
          <p:cNvPr id="6" name="TextBox 5"/>
          <p:cNvSpPr txBox="1"/>
          <p:nvPr/>
        </p:nvSpPr>
        <p:spPr>
          <a:xfrm>
            <a:off x="6233007" y="822960"/>
            <a:ext cx="5501487" cy="457200"/>
          </a:xfrm>
          <a:prstGeom prst="rect">
            <a:avLst/>
          </a:prstGeom>
          <a:noFill/>
        </p:spPr>
        <p:txBody>
          <a:bodyPr wrap="square">
            <a:spAutoFit/>
          </a:bodyPr>
          <a:lstStyle/>
          <a:p>
            <a:pPr algn="l">
              <a:defRPr sz="2000" b="1">
                <a:solidFill>
                  <a:srgbClr val="152334"/>
                </a:solidFill>
                <a:latin typeface="Arial"/>
              </a:defRPr>
            </a:pPr>
            <a:r>
              <a:t>Valgrind (Memory Profiler)</a:t>
            </a:r>
          </a:p>
        </p:txBody>
      </p:sp>
      <p:sp>
        <p:nvSpPr>
          <p:cNvPr id="7" name="TextBox 6"/>
          <p:cNvSpPr txBox="1"/>
          <p:nvPr/>
        </p:nvSpPr>
        <p:spPr>
          <a:xfrm>
            <a:off x="6233007"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Detects memory errors and leaks</a:t>
            </a:r>
          </a:p>
          <a:p>
            <a:pPr>
              <a:spcAft>
                <a:spcPts val="600"/>
              </a:spcAft>
              <a:defRPr sz="1400">
                <a:solidFill>
                  <a:srgbClr val="152334"/>
                </a:solidFill>
                <a:latin typeface="Arial"/>
              </a:defRPr>
            </a:pPr>
            <a:r>
              <a:t>$ valgrind --leak-check=full ./myapp</a:t>
            </a:r>
          </a:p>
          <a:p>
            <a:pPr>
              <a:spcAft>
                <a:spcPts val="600"/>
              </a:spcAft>
              <a:defRPr sz="1400">
                <a:solidFill>
                  <a:srgbClr val="152334"/>
                </a:solidFill>
                <a:latin typeface="Arial"/>
              </a:defRPr>
            </a:pPr>
            <a:r>
              <a:t>Finds: use-after-free, buffer overflows,</a:t>
            </a:r>
          </a:p>
          <a:p>
            <a:pPr>
              <a:spcAft>
                <a:spcPts val="600"/>
              </a:spcAft>
              <a:defRPr sz="1400">
                <a:solidFill>
                  <a:srgbClr val="152334"/>
                </a:solidFill>
                <a:latin typeface="Arial"/>
              </a:defRPr>
            </a:pPr>
            <a:r>
              <a:t>  uninitialized reads, memory leaks</a:t>
            </a:r>
          </a:p>
          <a:p>
            <a:pPr>
              <a:spcAft>
                <a:spcPts val="600"/>
              </a:spcAft>
              <a:defRPr sz="1400">
                <a:solidFill>
                  <a:srgbClr val="152334"/>
                </a:solidFill>
                <a:latin typeface="Arial"/>
              </a:defRPr>
            </a:pPr>
            <a:r>
              <a:t>Also: cachegrind (cache profiling),</a:t>
            </a:r>
          </a:p>
          <a:p>
            <a:pPr>
              <a:spcAft>
                <a:spcPts val="600"/>
              </a:spcAft>
              <a:defRPr sz="1400">
                <a:solidFill>
                  <a:srgbClr val="152334"/>
                </a:solidFill>
                <a:latin typeface="Arial"/>
              </a:defRPr>
            </a:pPr>
            <a:r>
              <a:t>  callgrind (call graph profiling)</a:t>
            </a:r>
          </a:p>
          <a:p>
            <a:pPr>
              <a:spcAft>
                <a:spcPts val="600"/>
              </a:spcAft>
              <a:defRPr sz="1400">
                <a:solidFill>
                  <a:srgbClr val="152334"/>
                </a:solidFill>
                <a:latin typeface="Arial"/>
              </a:defRPr>
            </a:pPr>
            <a:r>
              <a:t>High overhead (10-50x slower), use for testing only</a:t>
            </a:r>
          </a:p>
          <a:p>
            <a:pPr>
              <a:spcAft>
                <a:spcPts val="600"/>
              </a:spcAft>
              <a:defRPr sz="1400">
                <a:solidFill>
                  <a:srgbClr val="152334"/>
                </a:solidFill>
                <a:latin typeface="Arial"/>
              </a:defRPr>
            </a:pPr>
            <a:r>
              <a:t>Cannot run on cross-compiled ARM binaries directly</a:t>
            </a:r>
          </a:p>
          <a:p>
            <a:pPr>
              <a:spcAft>
                <a:spcPts val="600"/>
              </a:spcAft>
              <a:defRPr sz="1400">
                <a:solidFill>
                  <a:srgbClr val="152334"/>
                </a:solidFill>
                <a:latin typeface="Arial"/>
              </a:defRPr>
            </a:pPr>
            <a:r>
              <a:t>Run on host with qemu-arm or native ARM</a:t>
            </a:r>
          </a:p>
        </p:txBody>
      </p:sp>
      <p:sp>
        <p:nvSpPr>
          <p:cNvPr id="8" name="Rectangle 7"/>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Poor Man's Profiler</a:t>
            </a:r>
          </a:p>
        </p:txBody>
      </p:sp>
      <p:sp>
        <p:nvSpPr>
          <p:cNvPr id="4" name="Rounded Rectangle 3"/>
          <p:cNvSpPr/>
          <p:nvPr/>
        </p:nvSpPr>
        <p:spPr>
          <a:xfrm>
            <a:off x="457200" y="822960"/>
            <a:ext cx="11277295" cy="562356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60120"/>
            <a:ext cx="11002975" cy="5349240"/>
          </a:xfrm>
          <a:prstGeom prst="rect">
            <a:avLst/>
          </a:prstGeom>
          <a:noFill/>
        </p:spPr>
        <p:txBody>
          <a:bodyPr wrap="square">
            <a:spAutoFit/>
          </a:bodyPr>
          <a:lstStyle/>
          <a:p>
            <a:pPr>
              <a:defRPr sz="1100">
                <a:solidFill>
                  <a:srgbClr val="D4D4D4"/>
                </a:solidFill>
                <a:latin typeface="Courier New"/>
              </a:defRPr>
            </a:pPr>
            <a:r>
              <a:t># When you have GDB but no other tools</a:t>
            </a:r>
            <a:br/>
            <a:r>
              <a:t># The idea: stop the program randomly and see what it's doing</a:t>
            </a:r>
            <a:br/>
            <a:br/>
            <a:r>
              <a:t># 1. Attach to a running process</a:t>
            </a:r>
            <a:br/>
            <a:r>
              <a:t>$ gdb -p &lt;pid&gt;</a:t>
            </a:r>
            <a:br/>
            <a:br/>
            <a:r>
              <a:t># 2. Take a backtrace</a:t>
            </a:r>
            <a:br/>
            <a:r>
              <a:t>(gdb) bt</a:t>
            </a:r>
            <a:br/>
            <a:r>
              <a:t>#0  0x7f3a in __poll () at poll.c:29</a:t>
            </a:r>
            <a:br/>
            <a:r>
              <a:t>#1  0x4012 in main_loop () at app.c:156</a:t>
            </a:r>
            <a:br/>
            <a:r>
              <a:t>#2  0x4089 in main () at app.c:234</a:t>
            </a:r>
            <a:br/>
            <a:br/>
            <a:r>
              <a:t># 3. Detach (program continues)</a:t>
            </a:r>
            <a:br/>
            <a:r>
              <a:t>(gdb) detach</a:t>
            </a:r>
            <a:br/>
            <a:r>
              <a:t>(gdb) quit</a:t>
            </a:r>
            <a:br/>
            <a:br/>
            <a:r>
              <a:t># 4. Repeat 10-20 times</a:t>
            </a:r>
            <a:br/>
            <a:r>
              <a:t># If you see the same function in most samples,</a:t>
            </a:r>
            <a:br/>
            <a:r>
              <a:t># that's where the program spends its time</a:t>
            </a:r>
            <a:br/>
            <a:br/>
            <a:r>
              <a:t># Automated version:</a:t>
            </a:r>
            <a:br/>
            <a:r>
              <a:t>$ for i in $(seq 1 20); do</a:t>
            </a:r>
            <a:br/>
            <a:r>
              <a:t>    gdb -batch -ex "bt" -p &lt;pid&gt; 2&gt;/dev/null</a:t>
            </a:r>
            <a:br/>
            <a:r>
              <a:t>    sleep 1</a:t>
            </a:r>
            <a:br/>
            <a:r>
              <a:t>  done | sort | uniq -c | sort -rn</a:t>
            </a:r>
            <a:br/>
            <a:br/>
            <a:r>
              <a:t># Sample output:</a:t>
            </a:r>
            <a:br/>
            <a:r>
              <a:t>   12 main_loop () at app.c:156    ← 60% of samples!</a:t>
            </a:r>
            <a:br/>
            <a:r>
              <a:t>    5 __poll () at poll.c:29</a:t>
            </a:r>
            <a:br/>
            <a:r>
              <a:t>    3 read_sensor () at sensor.c:42</a:t>
            </a:r>
            <a:br/>
            <a:br/>
            <a:r>
              <a:t># This is statistical sampling -- the law of large numbers</a:t>
            </a:r>
            <a:br/>
            <a:r>
              <a:t># does the work. More samples = more accurate.</a:t>
            </a:r>
          </a:p>
        </p:txBody>
      </p:sp>
      <p:sp>
        <p:nvSpPr>
          <p:cNvPr id="6" name="Rectangle 5"/>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Choosing the Right Tool</a:t>
            </a:r>
          </a:p>
        </p:txBody>
      </p:sp>
      <p:sp>
        <p:nvSpPr>
          <p:cNvPr id="4" name="Rounded Rectangle 3"/>
          <p:cNvSpPr/>
          <p:nvPr/>
        </p:nvSpPr>
        <p:spPr>
          <a:xfrm>
            <a:off x="457200" y="822960"/>
            <a:ext cx="2773603" cy="365760"/>
          </a:xfrm>
          <a:prstGeom prst="roundRect">
            <a:avLst/>
          </a:prstGeom>
          <a:solidFill>
            <a:srgbClr val="152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868680"/>
            <a:ext cx="2545003" cy="320040"/>
          </a:xfrm>
          <a:prstGeom prst="rect">
            <a:avLst/>
          </a:prstGeom>
          <a:noFill/>
        </p:spPr>
        <p:txBody>
          <a:bodyPr wrap="none">
            <a:spAutoFit/>
          </a:bodyPr>
          <a:lstStyle/>
          <a:p>
            <a:pPr algn="ctr">
              <a:defRPr sz="1400" b="1">
                <a:solidFill>
                  <a:srgbClr val="FFFFFF"/>
                </a:solidFill>
                <a:latin typeface="Arial"/>
              </a:defRPr>
            </a:pPr>
            <a:r>
              <a:t>Tool</a:t>
            </a:r>
          </a:p>
        </p:txBody>
      </p:sp>
      <p:sp>
        <p:nvSpPr>
          <p:cNvPr id="6" name="Rounded Rectangle 5"/>
          <p:cNvSpPr/>
          <p:nvPr/>
        </p:nvSpPr>
        <p:spPr>
          <a:xfrm>
            <a:off x="3276523" y="822960"/>
            <a:ext cx="2773603" cy="365760"/>
          </a:xfrm>
          <a:prstGeom prst="roundRect">
            <a:avLst/>
          </a:prstGeom>
          <a:solidFill>
            <a:srgbClr val="152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13683" y="868680"/>
            <a:ext cx="2545003" cy="320040"/>
          </a:xfrm>
          <a:prstGeom prst="rect">
            <a:avLst/>
          </a:prstGeom>
          <a:noFill/>
        </p:spPr>
        <p:txBody>
          <a:bodyPr wrap="none">
            <a:spAutoFit/>
          </a:bodyPr>
          <a:lstStyle/>
          <a:p>
            <a:pPr algn="ctr">
              <a:defRPr sz="1400" b="1">
                <a:solidFill>
                  <a:srgbClr val="FFFFFF"/>
                </a:solidFill>
                <a:latin typeface="Arial"/>
              </a:defRPr>
            </a:pPr>
            <a:r>
              <a:t>What it measures</a:t>
            </a:r>
          </a:p>
        </p:txBody>
      </p:sp>
      <p:sp>
        <p:nvSpPr>
          <p:cNvPr id="8" name="Rounded Rectangle 7"/>
          <p:cNvSpPr/>
          <p:nvPr/>
        </p:nvSpPr>
        <p:spPr>
          <a:xfrm>
            <a:off x="6095847" y="822960"/>
            <a:ext cx="2773603" cy="365760"/>
          </a:xfrm>
          <a:prstGeom prst="roundRect">
            <a:avLst/>
          </a:prstGeom>
          <a:solidFill>
            <a:srgbClr val="152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33007" y="868680"/>
            <a:ext cx="2545003" cy="320040"/>
          </a:xfrm>
          <a:prstGeom prst="rect">
            <a:avLst/>
          </a:prstGeom>
          <a:noFill/>
        </p:spPr>
        <p:txBody>
          <a:bodyPr wrap="none">
            <a:spAutoFit/>
          </a:bodyPr>
          <a:lstStyle/>
          <a:p>
            <a:pPr algn="ctr">
              <a:defRPr sz="1400" b="1">
                <a:solidFill>
                  <a:srgbClr val="FFFFFF"/>
                </a:solidFill>
                <a:latin typeface="Arial"/>
              </a:defRPr>
            </a:pPr>
            <a:r>
              <a:t>Overhead</a:t>
            </a:r>
          </a:p>
        </p:txBody>
      </p:sp>
      <p:sp>
        <p:nvSpPr>
          <p:cNvPr id="10" name="Rounded Rectangle 9"/>
          <p:cNvSpPr/>
          <p:nvPr/>
        </p:nvSpPr>
        <p:spPr>
          <a:xfrm>
            <a:off x="8915171" y="822960"/>
            <a:ext cx="2773603" cy="365760"/>
          </a:xfrm>
          <a:prstGeom prst="roundRect">
            <a:avLst/>
          </a:prstGeom>
          <a:solidFill>
            <a:srgbClr val="1523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331" y="868680"/>
            <a:ext cx="2545003" cy="320040"/>
          </a:xfrm>
          <a:prstGeom prst="rect">
            <a:avLst/>
          </a:prstGeom>
          <a:noFill/>
        </p:spPr>
        <p:txBody>
          <a:bodyPr wrap="none">
            <a:spAutoFit/>
          </a:bodyPr>
          <a:lstStyle/>
          <a:p>
            <a:pPr algn="ctr">
              <a:defRPr sz="1400" b="1">
                <a:solidFill>
                  <a:srgbClr val="FFFFFF"/>
                </a:solidFill>
                <a:latin typeface="Arial"/>
              </a:defRPr>
            </a:pPr>
            <a:r>
              <a:t>When to use</a:t>
            </a:r>
          </a:p>
        </p:txBody>
      </p:sp>
      <p:sp>
        <p:nvSpPr>
          <p:cNvPr id="12" name="Rectangle 11"/>
          <p:cNvSpPr/>
          <p:nvPr/>
        </p:nvSpPr>
        <p:spPr>
          <a:xfrm>
            <a:off x="457200" y="128016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325880"/>
            <a:ext cx="2545003" cy="482600"/>
          </a:xfrm>
          <a:prstGeom prst="rect">
            <a:avLst/>
          </a:prstGeom>
          <a:noFill/>
        </p:spPr>
        <p:txBody>
          <a:bodyPr wrap="square">
            <a:spAutoFit/>
          </a:bodyPr>
          <a:lstStyle/>
          <a:p>
            <a:pPr algn="ctr">
              <a:defRPr sz="1200">
                <a:solidFill>
                  <a:srgbClr val="152334"/>
                </a:solidFill>
                <a:latin typeface="Arial"/>
              </a:defRPr>
            </a:pPr>
            <a:r>
              <a:t>GDB</a:t>
            </a:r>
          </a:p>
        </p:txBody>
      </p:sp>
      <p:sp>
        <p:nvSpPr>
          <p:cNvPr id="14" name="Rectangle 13"/>
          <p:cNvSpPr/>
          <p:nvPr/>
        </p:nvSpPr>
        <p:spPr>
          <a:xfrm>
            <a:off x="3276523" y="128016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13683" y="1325880"/>
            <a:ext cx="2545003" cy="482600"/>
          </a:xfrm>
          <a:prstGeom prst="rect">
            <a:avLst/>
          </a:prstGeom>
          <a:noFill/>
        </p:spPr>
        <p:txBody>
          <a:bodyPr wrap="square">
            <a:spAutoFit/>
          </a:bodyPr>
          <a:lstStyle/>
          <a:p>
            <a:pPr algn="ctr">
              <a:defRPr sz="1200">
                <a:solidFill>
                  <a:srgbClr val="152334"/>
                </a:solidFill>
                <a:latin typeface="Arial"/>
              </a:defRPr>
            </a:pPr>
            <a:r>
              <a:t>Program state, execution flow</a:t>
            </a:r>
          </a:p>
        </p:txBody>
      </p:sp>
      <p:sp>
        <p:nvSpPr>
          <p:cNvPr id="16" name="Rectangle 15"/>
          <p:cNvSpPr/>
          <p:nvPr/>
        </p:nvSpPr>
        <p:spPr>
          <a:xfrm>
            <a:off x="6095847" y="128016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3007" y="1325880"/>
            <a:ext cx="2545003" cy="482600"/>
          </a:xfrm>
          <a:prstGeom prst="rect">
            <a:avLst/>
          </a:prstGeom>
          <a:noFill/>
        </p:spPr>
        <p:txBody>
          <a:bodyPr wrap="square">
            <a:spAutoFit/>
          </a:bodyPr>
          <a:lstStyle/>
          <a:p>
            <a:pPr algn="ctr">
              <a:defRPr sz="1200">
                <a:solidFill>
                  <a:srgbClr val="152334"/>
                </a:solidFill>
                <a:latin typeface="Arial"/>
              </a:defRPr>
            </a:pPr>
            <a:r>
              <a:t>High (stops program)</a:t>
            </a:r>
          </a:p>
        </p:txBody>
      </p:sp>
      <p:sp>
        <p:nvSpPr>
          <p:cNvPr id="18" name="Rectangle 17"/>
          <p:cNvSpPr/>
          <p:nvPr/>
        </p:nvSpPr>
        <p:spPr>
          <a:xfrm>
            <a:off x="8915171" y="128016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52331" y="1325880"/>
            <a:ext cx="2545003" cy="482600"/>
          </a:xfrm>
          <a:prstGeom prst="rect">
            <a:avLst/>
          </a:prstGeom>
          <a:noFill/>
        </p:spPr>
        <p:txBody>
          <a:bodyPr wrap="square">
            <a:spAutoFit/>
          </a:bodyPr>
          <a:lstStyle/>
          <a:p>
            <a:pPr algn="ctr">
              <a:defRPr sz="1200">
                <a:solidFill>
                  <a:srgbClr val="152334"/>
                </a:solidFill>
                <a:latin typeface="Arial"/>
              </a:defRPr>
            </a:pPr>
            <a:r>
              <a:t>Logic bugs, crashes, unexpected behavior</a:t>
            </a:r>
          </a:p>
        </p:txBody>
      </p:sp>
      <p:sp>
        <p:nvSpPr>
          <p:cNvPr id="20" name="Rectangle 19"/>
          <p:cNvSpPr/>
          <p:nvPr/>
        </p:nvSpPr>
        <p:spPr>
          <a:xfrm>
            <a:off x="457200" y="185420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1899920"/>
            <a:ext cx="2545003" cy="482600"/>
          </a:xfrm>
          <a:prstGeom prst="rect">
            <a:avLst/>
          </a:prstGeom>
          <a:noFill/>
        </p:spPr>
        <p:txBody>
          <a:bodyPr wrap="square">
            <a:spAutoFit/>
          </a:bodyPr>
          <a:lstStyle/>
          <a:p>
            <a:pPr algn="ctr">
              <a:defRPr sz="1200">
                <a:solidFill>
                  <a:srgbClr val="152334"/>
                </a:solidFill>
                <a:latin typeface="Arial"/>
              </a:defRPr>
            </a:pPr>
            <a:r>
              <a:t>strace</a:t>
            </a:r>
          </a:p>
        </p:txBody>
      </p:sp>
      <p:sp>
        <p:nvSpPr>
          <p:cNvPr id="22" name="Rectangle 21"/>
          <p:cNvSpPr/>
          <p:nvPr/>
        </p:nvSpPr>
        <p:spPr>
          <a:xfrm>
            <a:off x="3276523" y="185420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13683" y="1899920"/>
            <a:ext cx="2545003" cy="482600"/>
          </a:xfrm>
          <a:prstGeom prst="rect">
            <a:avLst/>
          </a:prstGeom>
          <a:noFill/>
        </p:spPr>
        <p:txBody>
          <a:bodyPr wrap="square">
            <a:spAutoFit/>
          </a:bodyPr>
          <a:lstStyle/>
          <a:p>
            <a:pPr algn="ctr">
              <a:defRPr sz="1200">
                <a:solidFill>
                  <a:srgbClr val="152334"/>
                </a:solidFill>
                <a:latin typeface="Arial"/>
              </a:defRPr>
            </a:pPr>
            <a:r>
              <a:t>System calls</a:t>
            </a:r>
          </a:p>
        </p:txBody>
      </p:sp>
      <p:sp>
        <p:nvSpPr>
          <p:cNvPr id="24" name="Rectangle 23"/>
          <p:cNvSpPr/>
          <p:nvPr/>
        </p:nvSpPr>
        <p:spPr>
          <a:xfrm>
            <a:off x="6095847" y="185420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33007" y="1899920"/>
            <a:ext cx="2545003" cy="482600"/>
          </a:xfrm>
          <a:prstGeom prst="rect">
            <a:avLst/>
          </a:prstGeom>
          <a:noFill/>
        </p:spPr>
        <p:txBody>
          <a:bodyPr wrap="square">
            <a:spAutoFit/>
          </a:bodyPr>
          <a:lstStyle/>
          <a:p>
            <a:pPr algn="ctr">
              <a:defRPr sz="1200">
                <a:solidFill>
                  <a:srgbClr val="152334"/>
                </a:solidFill>
                <a:latin typeface="Arial"/>
              </a:defRPr>
            </a:pPr>
            <a:r>
              <a:t>Medium</a:t>
            </a:r>
          </a:p>
        </p:txBody>
      </p:sp>
      <p:sp>
        <p:nvSpPr>
          <p:cNvPr id="26" name="Rectangle 25"/>
          <p:cNvSpPr/>
          <p:nvPr/>
        </p:nvSpPr>
        <p:spPr>
          <a:xfrm>
            <a:off x="8915171" y="185420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52331" y="1899920"/>
            <a:ext cx="2545003" cy="482600"/>
          </a:xfrm>
          <a:prstGeom prst="rect">
            <a:avLst/>
          </a:prstGeom>
          <a:noFill/>
        </p:spPr>
        <p:txBody>
          <a:bodyPr wrap="square">
            <a:spAutoFit/>
          </a:bodyPr>
          <a:lstStyle/>
          <a:p>
            <a:pPr algn="ctr">
              <a:defRPr sz="1200">
                <a:solidFill>
                  <a:srgbClr val="152334"/>
                </a:solidFill>
                <a:latin typeface="Arial"/>
              </a:defRPr>
            </a:pPr>
            <a:r>
              <a:t>Silent failures, permission issues, I/O problems</a:t>
            </a:r>
          </a:p>
        </p:txBody>
      </p:sp>
      <p:sp>
        <p:nvSpPr>
          <p:cNvPr id="28" name="Rectangle 27"/>
          <p:cNvSpPr/>
          <p:nvPr/>
        </p:nvSpPr>
        <p:spPr>
          <a:xfrm>
            <a:off x="457200" y="242824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2473960"/>
            <a:ext cx="2545003" cy="482600"/>
          </a:xfrm>
          <a:prstGeom prst="rect">
            <a:avLst/>
          </a:prstGeom>
          <a:noFill/>
        </p:spPr>
        <p:txBody>
          <a:bodyPr wrap="square">
            <a:spAutoFit/>
          </a:bodyPr>
          <a:lstStyle/>
          <a:p>
            <a:pPr algn="ctr">
              <a:defRPr sz="1200">
                <a:solidFill>
                  <a:srgbClr val="152334"/>
                </a:solidFill>
                <a:latin typeface="Arial"/>
              </a:defRPr>
            </a:pPr>
            <a:r>
              <a:t>perf stat</a:t>
            </a:r>
          </a:p>
        </p:txBody>
      </p:sp>
      <p:sp>
        <p:nvSpPr>
          <p:cNvPr id="30" name="Rectangle 29"/>
          <p:cNvSpPr/>
          <p:nvPr/>
        </p:nvSpPr>
        <p:spPr>
          <a:xfrm>
            <a:off x="3276523" y="242824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13683" y="2473960"/>
            <a:ext cx="2545003" cy="482600"/>
          </a:xfrm>
          <a:prstGeom prst="rect">
            <a:avLst/>
          </a:prstGeom>
          <a:noFill/>
        </p:spPr>
        <p:txBody>
          <a:bodyPr wrap="square">
            <a:spAutoFit/>
          </a:bodyPr>
          <a:lstStyle/>
          <a:p>
            <a:pPr algn="ctr">
              <a:defRPr sz="1200">
                <a:solidFill>
                  <a:srgbClr val="152334"/>
                </a:solidFill>
                <a:latin typeface="Arial"/>
              </a:defRPr>
            </a:pPr>
            <a:r>
              <a:t>Hardware counters</a:t>
            </a:r>
          </a:p>
        </p:txBody>
      </p:sp>
      <p:sp>
        <p:nvSpPr>
          <p:cNvPr id="32" name="Rectangle 31"/>
          <p:cNvSpPr/>
          <p:nvPr/>
        </p:nvSpPr>
        <p:spPr>
          <a:xfrm>
            <a:off x="6095847" y="242824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33007" y="2473960"/>
            <a:ext cx="2545003" cy="482600"/>
          </a:xfrm>
          <a:prstGeom prst="rect">
            <a:avLst/>
          </a:prstGeom>
          <a:noFill/>
        </p:spPr>
        <p:txBody>
          <a:bodyPr wrap="square">
            <a:spAutoFit/>
          </a:bodyPr>
          <a:lstStyle/>
          <a:p>
            <a:pPr algn="ctr">
              <a:defRPr sz="1200">
                <a:solidFill>
                  <a:srgbClr val="152334"/>
                </a:solidFill>
                <a:latin typeface="Arial"/>
              </a:defRPr>
            </a:pPr>
            <a:r>
              <a:t>Very low</a:t>
            </a:r>
          </a:p>
        </p:txBody>
      </p:sp>
      <p:sp>
        <p:nvSpPr>
          <p:cNvPr id="34" name="Rectangle 33"/>
          <p:cNvSpPr/>
          <p:nvPr/>
        </p:nvSpPr>
        <p:spPr>
          <a:xfrm>
            <a:off x="8915171" y="242824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52331" y="2473960"/>
            <a:ext cx="2545003" cy="482600"/>
          </a:xfrm>
          <a:prstGeom prst="rect">
            <a:avLst/>
          </a:prstGeom>
          <a:noFill/>
        </p:spPr>
        <p:txBody>
          <a:bodyPr wrap="square">
            <a:spAutoFit/>
          </a:bodyPr>
          <a:lstStyle/>
          <a:p>
            <a:pPr algn="ctr">
              <a:defRPr sz="1200">
                <a:solidFill>
                  <a:srgbClr val="152334"/>
                </a:solidFill>
                <a:latin typeface="Arial"/>
              </a:defRPr>
            </a:pPr>
            <a:r>
              <a:t>Quick performance overview, IPC, cache behavior</a:t>
            </a:r>
          </a:p>
        </p:txBody>
      </p:sp>
      <p:sp>
        <p:nvSpPr>
          <p:cNvPr id="36" name="Rectangle 35"/>
          <p:cNvSpPr/>
          <p:nvPr/>
        </p:nvSpPr>
        <p:spPr>
          <a:xfrm>
            <a:off x="457200" y="300228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3048000"/>
            <a:ext cx="2545003" cy="482600"/>
          </a:xfrm>
          <a:prstGeom prst="rect">
            <a:avLst/>
          </a:prstGeom>
          <a:noFill/>
        </p:spPr>
        <p:txBody>
          <a:bodyPr wrap="square">
            <a:spAutoFit/>
          </a:bodyPr>
          <a:lstStyle/>
          <a:p>
            <a:pPr algn="ctr">
              <a:defRPr sz="1200">
                <a:solidFill>
                  <a:srgbClr val="152334"/>
                </a:solidFill>
                <a:latin typeface="Arial"/>
              </a:defRPr>
            </a:pPr>
            <a:r>
              <a:t>perf record</a:t>
            </a:r>
          </a:p>
        </p:txBody>
      </p:sp>
      <p:sp>
        <p:nvSpPr>
          <p:cNvPr id="38" name="Rectangle 37"/>
          <p:cNvSpPr/>
          <p:nvPr/>
        </p:nvSpPr>
        <p:spPr>
          <a:xfrm>
            <a:off x="3276523" y="300228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13683" y="3048000"/>
            <a:ext cx="2545003" cy="482600"/>
          </a:xfrm>
          <a:prstGeom prst="rect">
            <a:avLst/>
          </a:prstGeom>
          <a:noFill/>
        </p:spPr>
        <p:txBody>
          <a:bodyPr wrap="square">
            <a:spAutoFit/>
          </a:bodyPr>
          <a:lstStyle/>
          <a:p>
            <a:pPr algn="ctr">
              <a:defRPr sz="1200">
                <a:solidFill>
                  <a:srgbClr val="152334"/>
                </a:solidFill>
                <a:latin typeface="Arial"/>
              </a:defRPr>
            </a:pPr>
            <a:r>
              <a:t>Call graph, hot functions</a:t>
            </a:r>
          </a:p>
        </p:txBody>
      </p:sp>
      <p:sp>
        <p:nvSpPr>
          <p:cNvPr id="40" name="Rectangle 39"/>
          <p:cNvSpPr/>
          <p:nvPr/>
        </p:nvSpPr>
        <p:spPr>
          <a:xfrm>
            <a:off x="6095847" y="300228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33007" y="3048000"/>
            <a:ext cx="2545003" cy="482600"/>
          </a:xfrm>
          <a:prstGeom prst="rect">
            <a:avLst/>
          </a:prstGeom>
          <a:noFill/>
        </p:spPr>
        <p:txBody>
          <a:bodyPr wrap="square">
            <a:spAutoFit/>
          </a:bodyPr>
          <a:lstStyle/>
          <a:p>
            <a:pPr algn="ctr">
              <a:defRPr sz="1200">
                <a:solidFill>
                  <a:srgbClr val="152334"/>
                </a:solidFill>
                <a:latin typeface="Arial"/>
              </a:defRPr>
            </a:pPr>
            <a:r>
              <a:t>Low-Medium</a:t>
            </a:r>
          </a:p>
        </p:txBody>
      </p:sp>
      <p:sp>
        <p:nvSpPr>
          <p:cNvPr id="42" name="Rectangle 41"/>
          <p:cNvSpPr/>
          <p:nvPr/>
        </p:nvSpPr>
        <p:spPr>
          <a:xfrm>
            <a:off x="8915171" y="300228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52331" y="3048000"/>
            <a:ext cx="2545003" cy="482600"/>
          </a:xfrm>
          <a:prstGeom prst="rect">
            <a:avLst/>
          </a:prstGeom>
          <a:noFill/>
        </p:spPr>
        <p:txBody>
          <a:bodyPr wrap="square">
            <a:spAutoFit/>
          </a:bodyPr>
          <a:lstStyle/>
          <a:p>
            <a:pPr algn="ctr">
              <a:defRPr sz="1200">
                <a:solidFill>
                  <a:srgbClr val="152334"/>
                </a:solidFill>
                <a:latin typeface="Arial"/>
              </a:defRPr>
            </a:pPr>
            <a:r>
              <a:t>Finding CPU bottlenecks, optimization targets</a:t>
            </a:r>
          </a:p>
        </p:txBody>
      </p:sp>
      <p:sp>
        <p:nvSpPr>
          <p:cNvPr id="44" name="Rectangle 43"/>
          <p:cNvSpPr/>
          <p:nvPr/>
        </p:nvSpPr>
        <p:spPr>
          <a:xfrm>
            <a:off x="457200" y="357632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3622040"/>
            <a:ext cx="2545003" cy="482600"/>
          </a:xfrm>
          <a:prstGeom prst="rect">
            <a:avLst/>
          </a:prstGeom>
          <a:noFill/>
        </p:spPr>
        <p:txBody>
          <a:bodyPr wrap="square">
            <a:spAutoFit/>
          </a:bodyPr>
          <a:lstStyle/>
          <a:p>
            <a:pPr algn="ctr">
              <a:defRPr sz="1200">
                <a:solidFill>
                  <a:srgbClr val="152334"/>
                </a:solidFill>
                <a:latin typeface="Arial"/>
              </a:defRPr>
            </a:pPr>
            <a:r>
              <a:t>ftrace</a:t>
            </a:r>
          </a:p>
        </p:txBody>
      </p:sp>
      <p:sp>
        <p:nvSpPr>
          <p:cNvPr id="46" name="Rectangle 45"/>
          <p:cNvSpPr/>
          <p:nvPr/>
        </p:nvSpPr>
        <p:spPr>
          <a:xfrm>
            <a:off x="3276523" y="357632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13683" y="3622040"/>
            <a:ext cx="2545003" cy="482600"/>
          </a:xfrm>
          <a:prstGeom prst="rect">
            <a:avLst/>
          </a:prstGeom>
          <a:noFill/>
        </p:spPr>
        <p:txBody>
          <a:bodyPr wrap="square">
            <a:spAutoFit/>
          </a:bodyPr>
          <a:lstStyle/>
          <a:p>
            <a:pPr algn="ctr">
              <a:defRPr sz="1200">
                <a:solidFill>
                  <a:srgbClr val="152334"/>
                </a:solidFill>
                <a:latin typeface="Arial"/>
              </a:defRPr>
            </a:pPr>
            <a:r>
              <a:t>Kernel function calls + timing</a:t>
            </a:r>
          </a:p>
        </p:txBody>
      </p:sp>
      <p:sp>
        <p:nvSpPr>
          <p:cNvPr id="48" name="Rectangle 47"/>
          <p:cNvSpPr/>
          <p:nvPr/>
        </p:nvSpPr>
        <p:spPr>
          <a:xfrm>
            <a:off x="6095847" y="357632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33007" y="3622040"/>
            <a:ext cx="2545003" cy="482600"/>
          </a:xfrm>
          <a:prstGeom prst="rect">
            <a:avLst/>
          </a:prstGeom>
          <a:noFill/>
        </p:spPr>
        <p:txBody>
          <a:bodyPr wrap="square">
            <a:spAutoFit/>
          </a:bodyPr>
          <a:lstStyle/>
          <a:p>
            <a:pPr algn="ctr">
              <a:defRPr sz="1200">
                <a:solidFill>
                  <a:srgbClr val="152334"/>
                </a:solidFill>
                <a:latin typeface="Arial"/>
              </a:defRPr>
            </a:pPr>
            <a:r>
              <a:t>Medium-High</a:t>
            </a:r>
          </a:p>
        </p:txBody>
      </p:sp>
      <p:sp>
        <p:nvSpPr>
          <p:cNvPr id="50" name="Rectangle 49"/>
          <p:cNvSpPr/>
          <p:nvPr/>
        </p:nvSpPr>
        <p:spPr>
          <a:xfrm>
            <a:off x="8915171" y="357632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52331" y="3622040"/>
            <a:ext cx="2545003" cy="482600"/>
          </a:xfrm>
          <a:prstGeom prst="rect">
            <a:avLst/>
          </a:prstGeom>
          <a:noFill/>
        </p:spPr>
        <p:txBody>
          <a:bodyPr wrap="square">
            <a:spAutoFit/>
          </a:bodyPr>
          <a:lstStyle/>
          <a:p>
            <a:pPr algn="ctr">
              <a:defRPr sz="1200">
                <a:solidFill>
                  <a:srgbClr val="152334"/>
                </a:solidFill>
                <a:latin typeface="Arial"/>
              </a:defRPr>
            </a:pPr>
            <a:r>
              <a:t>Kernel latency, driver timing, scheduling</a:t>
            </a:r>
          </a:p>
        </p:txBody>
      </p:sp>
      <p:sp>
        <p:nvSpPr>
          <p:cNvPr id="52" name="Rectangle 51"/>
          <p:cNvSpPr/>
          <p:nvPr/>
        </p:nvSpPr>
        <p:spPr>
          <a:xfrm>
            <a:off x="457200" y="415036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4196080"/>
            <a:ext cx="2545003" cy="482600"/>
          </a:xfrm>
          <a:prstGeom prst="rect">
            <a:avLst/>
          </a:prstGeom>
          <a:noFill/>
        </p:spPr>
        <p:txBody>
          <a:bodyPr wrap="square">
            <a:spAutoFit/>
          </a:bodyPr>
          <a:lstStyle/>
          <a:p>
            <a:pPr algn="ctr">
              <a:defRPr sz="1200">
                <a:solidFill>
                  <a:srgbClr val="152334"/>
                </a:solidFill>
                <a:latin typeface="Arial"/>
              </a:defRPr>
            </a:pPr>
            <a:r>
              <a:t>LTTng</a:t>
            </a:r>
          </a:p>
        </p:txBody>
      </p:sp>
      <p:sp>
        <p:nvSpPr>
          <p:cNvPr id="54" name="Rectangle 53"/>
          <p:cNvSpPr/>
          <p:nvPr/>
        </p:nvSpPr>
        <p:spPr>
          <a:xfrm>
            <a:off x="3276523" y="415036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413683" y="4196080"/>
            <a:ext cx="2545003" cy="482600"/>
          </a:xfrm>
          <a:prstGeom prst="rect">
            <a:avLst/>
          </a:prstGeom>
          <a:noFill/>
        </p:spPr>
        <p:txBody>
          <a:bodyPr wrap="square">
            <a:spAutoFit/>
          </a:bodyPr>
          <a:lstStyle/>
          <a:p>
            <a:pPr algn="ctr">
              <a:defRPr sz="1200">
                <a:solidFill>
                  <a:srgbClr val="152334"/>
                </a:solidFill>
                <a:latin typeface="Arial"/>
              </a:defRPr>
            </a:pPr>
            <a:r>
              <a:t>Kernel + userspace events</a:t>
            </a:r>
          </a:p>
        </p:txBody>
      </p:sp>
      <p:sp>
        <p:nvSpPr>
          <p:cNvPr id="56" name="Rectangle 55"/>
          <p:cNvSpPr/>
          <p:nvPr/>
        </p:nvSpPr>
        <p:spPr>
          <a:xfrm>
            <a:off x="6095847" y="415036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33007" y="4196080"/>
            <a:ext cx="2545003" cy="482600"/>
          </a:xfrm>
          <a:prstGeom prst="rect">
            <a:avLst/>
          </a:prstGeom>
          <a:noFill/>
        </p:spPr>
        <p:txBody>
          <a:bodyPr wrap="square">
            <a:spAutoFit/>
          </a:bodyPr>
          <a:lstStyle/>
          <a:p>
            <a:pPr algn="ctr">
              <a:defRPr sz="1200">
                <a:solidFill>
                  <a:srgbClr val="152334"/>
                </a:solidFill>
                <a:latin typeface="Arial"/>
              </a:defRPr>
            </a:pPr>
            <a:r>
              <a:t>Low (when idle)</a:t>
            </a:r>
          </a:p>
        </p:txBody>
      </p:sp>
      <p:sp>
        <p:nvSpPr>
          <p:cNvPr id="58" name="Rectangle 57"/>
          <p:cNvSpPr/>
          <p:nvPr/>
        </p:nvSpPr>
        <p:spPr>
          <a:xfrm>
            <a:off x="8915171" y="415036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052331" y="4196080"/>
            <a:ext cx="2545003" cy="482600"/>
          </a:xfrm>
          <a:prstGeom prst="rect">
            <a:avLst/>
          </a:prstGeom>
          <a:noFill/>
        </p:spPr>
        <p:txBody>
          <a:bodyPr wrap="square">
            <a:spAutoFit/>
          </a:bodyPr>
          <a:lstStyle/>
          <a:p>
            <a:pPr algn="ctr">
              <a:defRPr sz="1200">
                <a:solidFill>
                  <a:srgbClr val="152334"/>
                </a:solidFill>
                <a:latin typeface="Arial"/>
              </a:defRPr>
            </a:pPr>
            <a:r>
              <a:t>Production tracing, multi-threaded apps</a:t>
            </a:r>
          </a:p>
        </p:txBody>
      </p:sp>
      <p:sp>
        <p:nvSpPr>
          <p:cNvPr id="60" name="Rectangle 59"/>
          <p:cNvSpPr/>
          <p:nvPr/>
        </p:nvSpPr>
        <p:spPr>
          <a:xfrm>
            <a:off x="457200" y="472440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4360" y="4770120"/>
            <a:ext cx="2545003" cy="482600"/>
          </a:xfrm>
          <a:prstGeom prst="rect">
            <a:avLst/>
          </a:prstGeom>
          <a:noFill/>
        </p:spPr>
        <p:txBody>
          <a:bodyPr wrap="square">
            <a:spAutoFit/>
          </a:bodyPr>
          <a:lstStyle/>
          <a:p>
            <a:pPr algn="ctr">
              <a:defRPr sz="1200">
                <a:solidFill>
                  <a:srgbClr val="152334"/>
                </a:solidFill>
                <a:latin typeface="Arial"/>
              </a:defRPr>
            </a:pPr>
            <a:r>
              <a:t>eBPF/bpftrace</a:t>
            </a:r>
          </a:p>
        </p:txBody>
      </p:sp>
      <p:sp>
        <p:nvSpPr>
          <p:cNvPr id="62" name="Rectangle 61"/>
          <p:cNvSpPr/>
          <p:nvPr/>
        </p:nvSpPr>
        <p:spPr>
          <a:xfrm>
            <a:off x="3276523" y="472440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413683" y="4770120"/>
            <a:ext cx="2545003" cy="482600"/>
          </a:xfrm>
          <a:prstGeom prst="rect">
            <a:avLst/>
          </a:prstGeom>
          <a:noFill/>
        </p:spPr>
        <p:txBody>
          <a:bodyPr wrap="square">
            <a:spAutoFit/>
          </a:bodyPr>
          <a:lstStyle/>
          <a:p>
            <a:pPr algn="ctr">
              <a:defRPr sz="1200">
                <a:solidFill>
                  <a:srgbClr val="152334"/>
                </a:solidFill>
                <a:latin typeface="Arial"/>
              </a:defRPr>
            </a:pPr>
            <a:r>
              <a:t>Any kernel/userspace event</a:t>
            </a:r>
          </a:p>
        </p:txBody>
      </p:sp>
      <p:sp>
        <p:nvSpPr>
          <p:cNvPr id="64" name="Rectangle 63"/>
          <p:cNvSpPr/>
          <p:nvPr/>
        </p:nvSpPr>
        <p:spPr>
          <a:xfrm>
            <a:off x="6095847" y="472440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33007" y="4770120"/>
            <a:ext cx="2545003" cy="482600"/>
          </a:xfrm>
          <a:prstGeom prst="rect">
            <a:avLst/>
          </a:prstGeom>
          <a:noFill/>
        </p:spPr>
        <p:txBody>
          <a:bodyPr wrap="square">
            <a:spAutoFit/>
          </a:bodyPr>
          <a:lstStyle/>
          <a:p>
            <a:pPr algn="ctr">
              <a:defRPr sz="1200">
                <a:solidFill>
                  <a:srgbClr val="152334"/>
                </a:solidFill>
                <a:latin typeface="Arial"/>
              </a:defRPr>
            </a:pPr>
            <a:r>
              <a:t>Very low</a:t>
            </a:r>
          </a:p>
        </p:txBody>
      </p:sp>
      <p:sp>
        <p:nvSpPr>
          <p:cNvPr id="66" name="Rectangle 65"/>
          <p:cNvSpPr/>
          <p:nvPr/>
        </p:nvSpPr>
        <p:spPr>
          <a:xfrm>
            <a:off x="8915171" y="472440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052331" y="4770120"/>
            <a:ext cx="2545003" cy="482600"/>
          </a:xfrm>
          <a:prstGeom prst="rect">
            <a:avLst/>
          </a:prstGeom>
          <a:noFill/>
        </p:spPr>
        <p:txBody>
          <a:bodyPr wrap="square">
            <a:spAutoFit/>
          </a:bodyPr>
          <a:lstStyle/>
          <a:p>
            <a:pPr algn="ctr">
              <a:defRPr sz="1200">
                <a:solidFill>
                  <a:srgbClr val="152334"/>
                </a:solidFill>
                <a:latin typeface="Arial"/>
              </a:defRPr>
            </a:pPr>
            <a:r>
              <a:t>Custom tracing, production monitoring</a:t>
            </a:r>
          </a:p>
        </p:txBody>
      </p:sp>
      <p:sp>
        <p:nvSpPr>
          <p:cNvPr id="68" name="Rectangle 67"/>
          <p:cNvSpPr/>
          <p:nvPr/>
        </p:nvSpPr>
        <p:spPr>
          <a:xfrm>
            <a:off x="457200" y="529844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94360" y="5344160"/>
            <a:ext cx="2545003" cy="482600"/>
          </a:xfrm>
          <a:prstGeom prst="rect">
            <a:avLst/>
          </a:prstGeom>
          <a:noFill/>
        </p:spPr>
        <p:txBody>
          <a:bodyPr wrap="square">
            <a:spAutoFit/>
          </a:bodyPr>
          <a:lstStyle/>
          <a:p>
            <a:pPr algn="ctr">
              <a:defRPr sz="1200">
                <a:solidFill>
                  <a:srgbClr val="152334"/>
                </a:solidFill>
                <a:latin typeface="Arial"/>
              </a:defRPr>
            </a:pPr>
            <a:r>
              <a:t>Valgrind</a:t>
            </a:r>
          </a:p>
        </p:txBody>
      </p:sp>
      <p:sp>
        <p:nvSpPr>
          <p:cNvPr id="70" name="Rectangle 69"/>
          <p:cNvSpPr/>
          <p:nvPr/>
        </p:nvSpPr>
        <p:spPr>
          <a:xfrm>
            <a:off x="3276523" y="529844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3683" y="5344160"/>
            <a:ext cx="2545003" cy="482600"/>
          </a:xfrm>
          <a:prstGeom prst="rect">
            <a:avLst/>
          </a:prstGeom>
          <a:noFill/>
        </p:spPr>
        <p:txBody>
          <a:bodyPr wrap="square">
            <a:spAutoFit/>
          </a:bodyPr>
          <a:lstStyle/>
          <a:p>
            <a:pPr algn="ctr">
              <a:defRPr sz="1200">
                <a:solidFill>
                  <a:srgbClr val="152334"/>
                </a:solidFill>
                <a:latin typeface="Arial"/>
              </a:defRPr>
            </a:pPr>
            <a:r>
              <a:t>Memory errors, leaks</a:t>
            </a:r>
          </a:p>
        </p:txBody>
      </p:sp>
      <p:sp>
        <p:nvSpPr>
          <p:cNvPr id="72" name="Rectangle 71"/>
          <p:cNvSpPr/>
          <p:nvPr/>
        </p:nvSpPr>
        <p:spPr>
          <a:xfrm>
            <a:off x="6095847" y="529844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33007" y="5344160"/>
            <a:ext cx="2545003" cy="482600"/>
          </a:xfrm>
          <a:prstGeom prst="rect">
            <a:avLst/>
          </a:prstGeom>
          <a:noFill/>
        </p:spPr>
        <p:txBody>
          <a:bodyPr wrap="square">
            <a:spAutoFit/>
          </a:bodyPr>
          <a:lstStyle/>
          <a:p>
            <a:pPr algn="ctr">
              <a:defRPr sz="1200">
                <a:solidFill>
                  <a:srgbClr val="152334"/>
                </a:solidFill>
                <a:latin typeface="Arial"/>
              </a:defRPr>
            </a:pPr>
            <a:r>
              <a:t>Very high (10-50x)</a:t>
            </a:r>
          </a:p>
        </p:txBody>
      </p:sp>
      <p:sp>
        <p:nvSpPr>
          <p:cNvPr id="74" name="Rectangle 73"/>
          <p:cNvSpPr/>
          <p:nvPr/>
        </p:nvSpPr>
        <p:spPr>
          <a:xfrm>
            <a:off x="8915171" y="5298440"/>
            <a:ext cx="2773603" cy="546608"/>
          </a:xfrm>
          <a:prstGeom prst="rect">
            <a:avLst/>
          </a:prstGeom>
          <a:solidFill>
            <a:srgbClr val="EC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052331" y="5344160"/>
            <a:ext cx="2545003" cy="482600"/>
          </a:xfrm>
          <a:prstGeom prst="rect">
            <a:avLst/>
          </a:prstGeom>
          <a:noFill/>
        </p:spPr>
        <p:txBody>
          <a:bodyPr wrap="square">
            <a:spAutoFit/>
          </a:bodyPr>
          <a:lstStyle/>
          <a:p>
            <a:pPr algn="ctr">
              <a:defRPr sz="1200">
                <a:solidFill>
                  <a:srgbClr val="152334"/>
                </a:solidFill>
                <a:latin typeface="Arial"/>
              </a:defRPr>
            </a:pPr>
            <a:r>
              <a:t>Memory bugs, buffer overflows, testing only</a:t>
            </a:r>
          </a:p>
        </p:txBody>
      </p:sp>
      <p:sp>
        <p:nvSpPr>
          <p:cNvPr id="76" name="Rectangle 75"/>
          <p:cNvSpPr/>
          <p:nvPr/>
        </p:nvSpPr>
        <p:spPr>
          <a:xfrm>
            <a:off x="457200" y="587248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94360" y="5918200"/>
            <a:ext cx="2545003" cy="482600"/>
          </a:xfrm>
          <a:prstGeom prst="rect">
            <a:avLst/>
          </a:prstGeom>
          <a:noFill/>
        </p:spPr>
        <p:txBody>
          <a:bodyPr wrap="square">
            <a:spAutoFit/>
          </a:bodyPr>
          <a:lstStyle/>
          <a:p>
            <a:pPr algn="ctr">
              <a:defRPr sz="1200">
                <a:solidFill>
                  <a:srgbClr val="152334"/>
                </a:solidFill>
                <a:latin typeface="Arial"/>
              </a:defRPr>
            </a:pPr>
            <a:r>
              <a:t>top</a:t>
            </a:r>
          </a:p>
        </p:txBody>
      </p:sp>
      <p:sp>
        <p:nvSpPr>
          <p:cNvPr id="78" name="Rectangle 77"/>
          <p:cNvSpPr/>
          <p:nvPr/>
        </p:nvSpPr>
        <p:spPr>
          <a:xfrm>
            <a:off x="3276523" y="587248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413683" y="5918200"/>
            <a:ext cx="2545003" cy="482600"/>
          </a:xfrm>
          <a:prstGeom prst="rect">
            <a:avLst/>
          </a:prstGeom>
          <a:noFill/>
        </p:spPr>
        <p:txBody>
          <a:bodyPr wrap="square">
            <a:spAutoFit/>
          </a:bodyPr>
          <a:lstStyle/>
          <a:p>
            <a:pPr algn="ctr">
              <a:defRPr sz="1200">
                <a:solidFill>
                  <a:srgbClr val="152334"/>
                </a:solidFill>
                <a:latin typeface="Arial"/>
              </a:defRPr>
            </a:pPr>
            <a:r>
              <a:t>Per-process CPU/memory</a:t>
            </a:r>
          </a:p>
        </p:txBody>
      </p:sp>
      <p:sp>
        <p:nvSpPr>
          <p:cNvPr id="80" name="Rectangle 79"/>
          <p:cNvSpPr/>
          <p:nvPr/>
        </p:nvSpPr>
        <p:spPr>
          <a:xfrm>
            <a:off x="6095847" y="587248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233007" y="5918200"/>
            <a:ext cx="2545003" cy="482600"/>
          </a:xfrm>
          <a:prstGeom prst="rect">
            <a:avLst/>
          </a:prstGeom>
          <a:noFill/>
        </p:spPr>
        <p:txBody>
          <a:bodyPr wrap="square">
            <a:spAutoFit/>
          </a:bodyPr>
          <a:lstStyle/>
          <a:p>
            <a:pPr algn="ctr">
              <a:defRPr sz="1200">
                <a:solidFill>
                  <a:srgbClr val="152334"/>
                </a:solidFill>
                <a:latin typeface="Arial"/>
              </a:defRPr>
            </a:pPr>
            <a:r>
              <a:t>Very low</a:t>
            </a:r>
          </a:p>
        </p:txBody>
      </p:sp>
      <p:sp>
        <p:nvSpPr>
          <p:cNvPr id="82" name="Rectangle 81"/>
          <p:cNvSpPr/>
          <p:nvPr/>
        </p:nvSpPr>
        <p:spPr>
          <a:xfrm>
            <a:off x="8915171" y="5872480"/>
            <a:ext cx="2773603" cy="546608"/>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052331" y="5918200"/>
            <a:ext cx="2545003" cy="482600"/>
          </a:xfrm>
          <a:prstGeom prst="rect">
            <a:avLst/>
          </a:prstGeom>
          <a:noFill/>
        </p:spPr>
        <p:txBody>
          <a:bodyPr wrap="square">
            <a:spAutoFit/>
          </a:bodyPr>
          <a:lstStyle/>
          <a:p>
            <a:pPr algn="ctr">
              <a:defRPr sz="1200">
                <a:solidFill>
                  <a:srgbClr val="152334"/>
                </a:solidFill>
                <a:latin typeface="Arial"/>
              </a:defRPr>
            </a:pPr>
            <a:r>
              <a:t>Quick system overview, finding CPU/memory hogs</a:t>
            </a:r>
          </a:p>
        </p:txBody>
      </p:sp>
      <p:sp>
        <p:nvSpPr>
          <p:cNvPr id="84" name="Rectangle 83"/>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457200"/>
          </a:xfrm>
          <a:prstGeom prst="rect">
            <a:avLst/>
          </a:prstGeom>
          <a:noFill/>
        </p:spPr>
        <p:txBody>
          <a:bodyPr wrap="square">
            <a:spAutoFit/>
          </a:bodyPr>
          <a:lstStyle/>
          <a:p>
            <a:pPr algn="l">
              <a:defRPr sz="2800" b="1">
                <a:solidFill>
                  <a:srgbClr val="2E7D32"/>
                </a:solidFill>
                <a:latin typeface="Arial"/>
              </a:defRPr>
            </a:pPr>
            <a:r>
              <a:t>Lab: Profile a Misbehaving Application</a:t>
            </a:r>
          </a:p>
        </p:txBody>
      </p:sp>
      <p:sp>
        <p:nvSpPr>
          <p:cNvPr id="4" name="Oval 3"/>
          <p:cNvSpPr/>
          <p:nvPr/>
        </p:nvSpPr>
        <p:spPr>
          <a:xfrm>
            <a:off x="457200" y="868680"/>
            <a:ext cx="365760" cy="3657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96112"/>
            <a:ext cx="365760" cy="320040"/>
          </a:xfrm>
          <a:prstGeom prst="rect">
            <a:avLst/>
          </a:prstGeom>
          <a:noFill/>
        </p:spPr>
        <p:txBody>
          <a:bodyPr wrap="none">
            <a:spAutoFit/>
          </a:bodyPr>
          <a:lstStyle/>
          <a:p>
            <a:pPr algn="ctr">
              <a:defRPr sz="2000" b="1">
                <a:solidFill>
                  <a:srgbClr val="FFFFFF"/>
                </a:solidFill>
                <a:latin typeface="Arial"/>
              </a:defRPr>
            </a:pPr>
            <a:r>
              <a:t>1</a:t>
            </a:r>
          </a:p>
        </p:txBody>
      </p:sp>
      <p:sp>
        <p:nvSpPr>
          <p:cNvPr id="6" name="TextBox 5"/>
          <p:cNvSpPr txBox="1"/>
          <p:nvPr/>
        </p:nvSpPr>
        <p:spPr>
          <a:xfrm>
            <a:off x="1005840" y="822960"/>
            <a:ext cx="10728655" cy="1124712"/>
          </a:xfrm>
          <a:prstGeom prst="rect">
            <a:avLst/>
          </a:prstGeom>
          <a:noFill/>
        </p:spPr>
        <p:txBody>
          <a:bodyPr wrap="square">
            <a:spAutoFit/>
          </a:bodyPr>
          <a:lstStyle/>
          <a:p>
            <a:pPr algn="l">
              <a:defRPr sz="1600" b="1">
                <a:solidFill>
                  <a:srgbClr val="152334"/>
                </a:solidFill>
                <a:latin typeface="Arial"/>
              </a:defRPr>
            </a:pPr>
            <a:r>
              <a:t>1. Build the test application</a:t>
            </a:r>
          </a:p>
        </p:txBody>
      </p:sp>
      <p:sp>
        <p:nvSpPr>
          <p:cNvPr id="7" name="TextBox 6"/>
          <p:cNvSpPr txBox="1"/>
          <p:nvPr/>
        </p:nvSpPr>
        <p:spPr>
          <a:xfrm>
            <a:off x="1005840" y="1097280"/>
            <a:ext cx="10728655" cy="850392"/>
          </a:xfrm>
          <a:prstGeom prst="rect">
            <a:avLst/>
          </a:prstGeom>
          <a:noFill/>
        </p:spPr>
        <p:txBody>
          <a:bodyPr wrap="square">
            <a:spAutoFit/>
          </a:bodyPr>
          <a:lstStyle/>
          <a:p>
            <a:pPr algn="l">
              <a:defRPr sz="1300" b="0">
                <a:solidFill>
                  <a:srgbClr val="152334"/>
                </a:solidFill>
                <a:latin typeface="Arial"/>
              </a:defRPr>
            </a:pPr>
            <a:r>
              <a:t>cd /tmp &amp;&amp; wget &lt;course-server&gt;/slowapp.c</a:t>
            </a:r>
            <a:br/>
            <a:r>
              <a:t>aarch64-none-linux-gnu-gcc -ggdb -O2 -o slowapp slowapp.c</a:t>
            </a:r>
            <a:br/>
            <a:r>
              <a:t>scp slowapp target:/tmp/</a:t>
            </a:r>
          </a:p>
        </p:txBody>
      </p:sp>
      <p:sp>
        <p:nvSpPr>
          <p:cNvPr id="8" name="Oval 7"/>
          <p:cNvSpPr/>
          <p:nvPr/>
        </p:nvSpPr>
        <p:spPr>
          <a:xfrm>
            <a:off x="457200" y="1993392"/>
            <a:ext cx="365760" cy="3657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020824"/>
            <a:ext cx="365760" cy="320040"/>
          </a:xfrm>
          <a:prstGeom prst="rect">
            <a:avLst/>
          </a:prstGeom>
          <a:noFill/>
        </p:spPr>
        <p:txBody>
          <a:bodyPr wrap="none">
            <a:spAutoFit/>
          </a:bodyPr>
          <a:lstStyle/>
          <a:p>
            <a:pPr algn="ctr">
              <a:defRPr sz="2000" b="1">
                <a:solidFill>
                  <a:srgbClr val="FFFFFF"/>
                </a:solidFill>
                <a:latin typeface="Arial"/>
              </a:defRPr>
            </a:pPr>
            <a:r>
              <a:t>2</a:t>
            </a:r>
          </a:p>
        </p:txBody>
      </p:sp>
      <p:sp>
        <p:nvSpPr>
          <p:cNvPr id="10" name="TextBox 9"/>
          <p:cNvSpPr txBox="1"/>
          <p:nvPr/>
        </p:nvSpPr>
        <p:spPr>
          <a:xfrm>
            <a:off x="1005840" y="1947672"/>
            <a:ext cx="10728655" cy="1124712"/>
          </a:xfrm>
          <a:prstGeom prst="rect">
            <a:avLst/>
          </a:prstGeom>
          <a:noFill/>
        </p:spPr>
        <p:txBody>
          <a:bodyPr wrap="square">
            <a:spAutoFit/>
          </a:bodyPr>
          <a:lstStyle/>
          <a:p>
            <a:pPr algn="l">
              <a:defRPr sz="1600" b="1">
                <a:solidFill>
                  <a:srgbClr val="152334"/>
                </a:solidFill>
                <a:latin typeface="Arial"/>
              </a:defRPr>
            </a:pPr>
            <a:r>
              <a:t>2. Initial observation</a:t>
            </a:r>
          </a:p>
        </p:txBody>
      </p:sp>
      <p:sp>
        <p:nvSpPr>
          <p:cNvPr id="11" name="TextBox 10"/>
          <p:cNvSpPr txBox="1"/>
          <p:nvPr/>
        </p:nvSpPr>
        <p:spPr>
          <a:xfrm>
            <a:off x="1005840" y="2221992"/>
            <a:ext cx="10728655" cy="850392"/>
          </a:xfrm>
          <a:prstGeom prst="rect">
            <a:avLst/>
          </a:prstGeom>
          <a:noFill/>
        </p:spPr>
        <p:txBody>
          <a:bodyPr wrap="square">
            <a:spAutoFit/>
          </a:bodyPr>
          <a:lstStyle/>
          <a:p>
            <a:pPr algn="l">
              <a:defRPr sz="1300" b="0">
                <a:solidFill>
                  <a:srgbClr val="152334"/>
                </a:solidFill>
                <a:latin typeface="Arial"/>
              </a:defRPr>
            </a:pPr>
            <a:r>
              <a:t>On target: /tmp/slowapp &amp;</a:t>
            </a:r>
            <a:br/>
            <a:r>
              <a:t>On host: ssh target 'top' -- note CPU usage</a:t>
            </a:r>
            <a:br/>
            <a:r>
              <a:t>What process is consuming CPU? How much?</a:t>
            </a:r>
          </a:p>
        </p:txBody>
      </p:sp>
      <p:sp>
        <p:nvSpPr>
          <p:cNvPr id="12" name="Oval 11"/>
          <p:cNvSpPr/>
          <p:nvPr/>
        </p:nvSpPr>
        <p:spPr>
          <a:xfrm>
            <a:off x="457200" y="3118104"/>
            <a:ext cx="365760" cy="3657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145536"/>
            <a:ext cx="365760" cy="320040"/>
          </a:xfrm>
          <a:prstGeom prst="rect">
            <a:avLst/>
          </a:prstGeom>
          <a:noFill/>
        </p:spPr>
        <p:txBody>
          <a:bodyPr wrap="none">
            <a:spAutoFit/>
          </a:bodyPr>
          <a:lstStyle/>
          <a:p>
            <a:pPr algn="ctr">
              <a:defRPr sz="2000" b="1">
                <a:solidFill>
                  <a:srgbClr val="FFFFFF"/>
                </a:solidFill>
                <a:latin typeface="Arial"/>
              </a:defRPr>
            </a:pPr>
            <a:r>
              <a:t>3</a:t>
            </a:r>
          </a:p>
        </p:txBody>
      </p:sp>
      <p:sp>
        <p:nvSpPr>
          <p:cNvPr id="14" name="TextBox 13"/>
          <p:cNvSpPr txBox="1"/>
          <p:nvPr/>
        </p:nvSpPr>
        <p:spPr>
          <a:xfrm>
            <a:off x="1005840" y="3072384"/>
            <a:ext cx="10728655" cy="1124712"/>
          </a:xfrm>
          <a:prstGeom prst="rect">
            <a:avLst/>
          </a:prstGeom>
          <a:noFill/>
        </p:spPr>
        <p:txBody>
          <a:bodyPr wrap="square">
            <a:spAutoFit/>
          </a:bodyPr>
          <a:lstStyle/>
          <a:p>
            <a:pPr algn="l">
              <a:defRPr sz="1600" b="1">
                <a:solidFill>
                  <a:srgbClr val="152334"/>
                </a:solidFill>
                <a:latin typeface="Arial"/>
              </a:defRPr>
            </a:pPr>
            <a:r>
              <a:t>3. System call analysis</a:t>
            </a:r>
          </a:p>
        </p:txBody>
      </p:sp>
      <p:sp>
        <p:nvSpPr>
          <p:cNvPr id="15" name="TextBox 14"/>
          <p:cNvSpPr txBox="1"/>
          <p:nvPr/>
        </p:nvSpPr>
        <p:spPr>
          <a:xfrm>
            <a:off x="1005840" y="3346704"/>
            <a:ext cx="10728655" cy="850392"/>
          </a:xfrm>
          <a:prstGeom prst="rect">
            <a:avLst/>
          </a:prstGeom>
          <a:noFill/>
        </p:spPr>
        <p:txBody>
          <a:bodyPr wrap="square">
            <a:spAutoFit/>
          </a:bodyPr>
          <a:lstStyle/>
          <a:p>
            <a:pPr algn="l">
              <a:defRPr sz="1300" b="0">
                <a:solidFill>
                  <a:srgbClr val="152334"/>
                </a:solidFill>
                <a:latin typeface="Arial"/>
              </a:defRPr>
            </a:pPr>
            <a:r>
              <a:t>strace -cp &lt;pid&gt;</a:t>
            </a:r>
            <a:br/>
            <a:r>
              <a:t>Which syscalls are most frequent? Any unexpected patterns?</a:t>
            </a:r>
          </a:p>
        </p:txBody>
      </p:sp>
      <p:sp>
        <p:nvSpPr>
          <p:cNvPr id="16" name="Oval 15"/>
          <p:cNvSpPr/>
          <p:nvPr/>
        </p:nvSpPr>
        <p:spPr>
          <a:xfrm>
            <a:off x="457200" y="4242816"/>
            <a:ext cx="365760" cy="3657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270248"/>
            <a:ext cx="365760" cy="320040"/>
          </a:xfrm>
          <a:prstGeom prst="rect">
            <a:avLst/>
          </a:prstGeom>
          <a:noFill/>
        </p:spPr>
        <p:txBody>
          <a:bodyPr wrap="none">
            <a:spAutoFit/>
          </a:bodyPr>
          <a:lstStyle/>
          <a:p>
            <a:pPr algn="ctr">
              <a:defRPr sz="2000" b="1">
                <a:solidFill>
                  <a:srgbClr val="FFFFFF"/>
                </a:solidFill>
                <a:latin typeface="Arial"/>
              </a:defRPr>
            </a:pPr>
            <a:r>
              <a:t>4</a:t>
            </a:r>
          </a:p>
        </p:txBody>
      </p:sp>
      <p:sp>
        <p:nvSpPr>
          <p:cNvPr id="18" name="TextBox 17"/>
          <p:cNvSpPr txBox="1"/>
          <p:nvPr/>
        </p:nvSpPr>
        <p:spPr>
          <a:xfrm>
            <a:off x="1005840" y="4197096"/>
            <a:ext cx="10728655" cy="1124712"/>
          </a:xfrm>
          <a:prstGeom prst="rect">
            <a:avLst/>
          </a:prstGeom>
          <a:noFill/>
        </p:spPr>
        <p:txBody>
          <a:bodyPr wrap="square">
            <a:spAutoFit/>
          </a:bodyPr>
          <a:lstStyle/>
          <a:p>
            <a:pPr algn="l">
              <a:defRPr sz="1600" b="1">
                <a:solidFill>
                  <a:srgbClr val="152334"/>
                </a:solidFill>
                <a:latin typeface="Arial"/>
              </a:defRPr>
            </a:pPr>
            <a:r>
              <a:t>4. CPU profiling</a:t>
            </a:r>
          </a:p>
        </p:txBody>
      </p:sp>
      <p:sp>
        <p:nvSpPr>
          <p:cNvPr id="19" name="TextBox 18"/>
          <p:cNvSpPr txBox="1"/>
          <p:nvPr/>
        </p:nvSpPr>
        <p:spPr>
          <a:xfrm>
            <a:off x="1005840" y="4471416"/>
            <a:ext cx="10728655" cy="850392"/>
          </a:xfrm>
          <a:prstGeom prst="rect">
            <a:avLst/>
          </a:prstGeom>
          <a:noFill/>
        </p:spPr>
        <p:txBody>
          <a:bodyPr wrap="square">
            <a:spAutoFit/>
          </a:bodyPr>
          <a:lstStyle/>
          <a:p>
            <a:pPr algn="l">
              <a:defRPr sz="1300" b="0">
                <a:solidFill>
                  <a:srgbClr val="152334"/>
                </a:solidFill>
                <a:latin typeface="Arial"/>
              </a:defRPr>
            </a:pPr>
            <a:r>
              <a:t>perf record -g -p &lt;pid&gt; -- sleep 10</a:t>
            </a:r>
            <a:br/>
            <a:r>
              <a:t>perf report --stdio</a:t>
            </a:r>
            <a:br/>
            <a:r>
              <a:t>Which functions are hottest? What is the call graph?</a:t>
            </a:r>
          </a:p>
        </p:txBody>
      </p:sp>
      <p:sp>
        <p:nvSpPr>
          <p:cNvPr id="20" name="Oval 19"/>
          <p:cNvSpPr/>
          <p:nvPr/>
        </p:nvSpPr>
        <p:spPr>
          <a:xfrm>
            <a:off x="457200" y="5367528"/>
            <a:ext cx="365760" cy="3657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394960"/>
            <a:ext cx="365760" cy="320040"/>
          </a:xfrm>
          <a:prstGeom prst="rect">
            <a:avLst/>
          </a:prstGeom>
          <a:noFill/>
        </p:spPr>
        <p:txBody>
          <a:bodyPr wrap="none">
            <a:spAutoFit/>
          </a:bodyPr>
          <a:lstStyle/>
          <a:p>
            <a:pPr algn="ctr">
              <a:defRPr sz="2000" b="1">
                <a:solidFill>
                  <a:srgbClr val="FFFFFF"/>
                </a:solidFill>
                <a:latin typeface="Arial"/>
              </a:defRPr>
            </a:pPr>
            <a:r>
              <a:t>5</a:t>
            </a:r>
          </a:p>
        </p:txBody>
      </p:sp>
      <p:sp>
        <p:nvSpPr>
          <p:cNvPr id="22" name="TextBox 21"/>
          <p:cNvSpPr txBox="1"/>
          <p:nvPr/>
        </p:nvSpPr>
        <p:spPr>
          <a:xfrm>
            <a:off x="1005840" y="5321808"/>
            <a:ext cx="10728655" cy="1124712"/>
          </a:xfrm>
          <a:prstGeom prst="rect">
            <a:avLst/>
          </a:prstGeom>
          <a:noFill/>
        </p:spPr>
        <p:txBody>
          <a:bodyPr wrap="square">
            <a:spAutoFit/>
          </a:bodyPr>
          <a:lstStyle/>
          <a:p>
            <a:pPr algn="l">
              <a:defRPr sz="1600" b="1">
                <a:solidFill>
                  <a:srgbClr val="152334"/>
                </a:solidFill>
                <a:latin typeface="Arial"/>
              </a:defRPr>
            </a:pPr>
            <a:r>
              <a:t>5. Fix and verify</a:t>
            </a:r>
          </a:p>
        </p:txBody>
      </p:sp>
      <p:sp>
        <p:nvSpPr>
          <p:cNvPr id="23" name="TextBox 22"/>
          <p:cNvSpPr txBox="1"/>
          <p:nvPr/>
        </p:nvSpPr>
        <p:spPr>
          <a:xfrm>
            <a:off x="1005840" y="5596128"/>
            <a:ext cx="10728655" cy="850392"/>
          </a:xfrm>
          <a:prstGeom prst="rect">
            <a:avLst/>
          </a:prstGeom>
          <a:noFill/>
        </p:spPr>
        <p:txBody>
          <a:bodyPr wrap="square">
            <a:spAutoFit/>
          </a:bodyPr>
          <a:lstStyle/>
          <a:p>
            <a:pPr algn="l">
              <a:defRPr sz="1300" b="0">
                <a:solidFill>
                  <a:srgbClr val="152334"/>
                </a:solidFill>
                <a:latin typeface="Arial"/>
              </a:defRPr>
            </a:pPr>
            <a:r>
              <a:t>The bug: unnecessary memory copy in the inner loop</a:t>
            </a:r>
            <a:br/>
            <a:r>
              <a:t>Fix: replace memcpy with pointer arithmetic</a:t>
            </a:r>
            <a:br/>
            <a:r>
              <a:t>Rebuild, redeploy, re-profile -- compare perf stat before/after</a:t>
            </a:r>
          </a:p>
        </p:txBody>
      </p:sp>
      <p:sp>
        <p:nvSpPr>
          <p:cNvPr id="24" name="Rectangle 23"/>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Lab: Profile a Misbehaving Application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Virtual Memory Basics</a:t>
            </a:r>
          </a:p>
        </p:txBody>
      </p:sp>
      <p:sp>
        <p:nvSpPr>
          <p:cNvPr id="4" name="TextBox 3"/>
          <p:cNvSpPr txBox="1"/>
          <p:nvPr/>
        </p:nvSpPr>
        <p:spPr>
          <a:xfrm>
            <a:off x="457200" y="822960"/>
            <a:ext cx="5501487" cy="457200"/>
          </a:xfrm>
          <a:prstGeom prst="rect">
            <a:avLst/>
          </a:prstGeom>
          <a:noFill/>
        </p:spPr>
        <p:txBody>
          <a:bodyPr wrap="square">
            <a:spAutoFit/>
          </a:bodyPr>
          <a:lstStyle/>
          <a:p>
            <a:pPr algn="l">
              <a:defRPr sz="2000" b="1">
                <a:solidFill>
                  <a:srgbClr val="152334"/>
                </a:solidFill>
                <a:latin typeface="Arial"/>
              </a:defRPr>
            </a:pPr>
            <a:r>
              <a:t>How Linux Uses the MMU</a:t>
            </a:r>
          </a:p>
        </p:txBody>
      </p:sp>
      <p:sp>
        <p:nvSpPr>
          <p:cNvPr id="5" name="TextBox 4"/>
          <p:cNvSpPr txBox="1"/>
          <p:nvPr/>
        </p:nvSpPr>
        <p:spPr>
          <a:xfrm>
            <a:off x="457200"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Each process sees a full virtual address space</a:t>
            </a:r>
          </a:p>
          <a:p>
            <a:pPr>
              <a:spcAft>
                <a:spcPts val="600"/>
              </a:spcAft>
              <a:defRPr sz="1400">
                <a:solidFill>
                  <a:srgbClr val="152334"/>
                </a:solidFill>
                <a:latin typeface="Arial"/>
              </a:defRPr>
            </a:pPr>
            <a:r>
              <a:t>On 32-bit: 0x00000000 to 0xFFFFFFFF (4 GB)</a:t>
            </a:r>
          </a:p>
          <a:p>
            <a:pPr>
              <a:spcAft>
                <a:spcPts val="600"/>
              </a:spcAft>
              <a:defRPr sz="1400">
                <a:solidFill>
                  <a:srgbClr val="152334"/>
                </a:solidFill>
                <a:latin typeface="Arial"/>
              </a:defRPr>
            </a:pPr>
            <a:r>
              <a:t>Split: lower 3 GB = user space, upper 1 GB = kernel</a:t>
            </a:r>
          </a:p>
          <a:p>
            <a:pPr>
              <a:spcAft>
                <a:spcPts val="600"/>
              </a:spcAft>
              <a:defRPr sz="1400">
                <a:solidFill>
                  <a:srgbClr val="152334"/>
                </a:solidFill>
                <a:latin typeface="Arial"/>
              </a:defRPr>
            </a:pPr>
            <a:r>
              <a:t>Pages are 4 KB by default (configurable: 16 KB, 64 KB)</a:t>
            </a:r>
          </a:p>
          <a:p>
            <a:pPr>
              <a:spcAft>
                <a:spcPts val="600"/>
              </a:spcAft>
              <a:defRPr sz="1400">
                <a:solidFill>
                  <a:srgbClr val="152334"/>
                </a:solidFill>
                <a:latin typeface="Arial"/>
              </a:defRPr>
            </a:pPr>
            <a:r>
              <a:t>MMU translates virtual → physical via page tables</a:t>
            </a:r>
          </a:p>
          <a:p>
            <a:pPr>
              <a:spcAft>
                <a:spcPts val="600"/>
              </a:spcAft>
              <a:defRPr sz="1400">
                <a:solidFill>
                  <a:srgbClr val="152334"/>
                </a:solidFill>
                <a:latin typeface="Arial"/>
              </a:defRPr>
            </a:pPr>
            <a:r>
              <a:t>Page faults: kernel handles missing pages on demand</a:t>
            </a:r>
          </a:p>
          <a:p>
            <a:pPr>
              <a:spcAft>
                <a:spcPts val="600"/>
              </a:spcAft>
              <a:defRPr sz="1400">
                <a:solidFill>
                  <a:srgbClr val="152334"/>
                </a:solidFill>
                <a:latin typeface="Arial"/>
              </a:defRPr>
            </a:pPr>
            <a:r>
              <a:t>This is why malloc() succeeds even with 'no' physical memory</a:t>
            </a:r>
          </a:p>
        </p:txBody>
      </p:sp>
      <p:sp>
        <p:nvSpPr>
          <p:cNvPr id="6" name="TextBox 5"/>
          <p:cNvSpPr txBox="1"/>
          <p:nvPr/>
        </p:nvSpPr>
        <p:spPr>
          <a:xfrm>
            <a:off x="6233007" y="822960"/>
            <a:ext cx="5501487" cy="457200"/>
          </a:xfrm>
          <a:prstGeom prst="rect">
            <a:avLst/>
          </a:prstGeom>
          <a:noFill/>
        </p:spPr>
        <p:txBody>
          <a:bodyPr wrap="square">
            <a:spAutoFit/>
          </a:bodyPr>
          <a:lstStyle/>
          <a:p>
            <a:pPr algn="l">
              <a:defRPr sz="2000" b="1">
                <a:solidFill>
                  <a:srgbClr val="152334"/>
                </a:solidFill>
                <a:latin typeface="Arial"/>
              </a:defRPr>
            </a:pPr>
            <a:r>
              <a:t>Process Memory Map</a:t>
            </a:r>
          </a:p>
        </p:txBody>
      </p:sp>
      <p:sp>
        <p:nvSpPr>
          <p:cNvPr id="7" name="TextBox 6"/>
          <p:cNvSpPr txBox="1"/>
          <p:nvPr/>
        </p:nvSpPr>
        <p:spPr>
          <a:xfrm>
            <a:off x="6233007"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View with: cat /proc/&lt;pid&gt;/maps</a:t>
            </a:r>
          </a:p>
          <a:p>
            <a:pPr>
              <a:spcAft>
                <a:spcPts val="600"/>
              </a:spcAft>
              <a:defRPr sz="1400">
                <a:solidFill>
                  <a:srgbClr val="152334"/>
                </a:solidFill>
                <a:latin typeface="Arial"/>
              </a:defRPr>
            </a:pPr>
            <a:r>
              <a:t>Regions: text (code), data, bss, heap, shared libs, stack</a:t>
            </a:r>
          </a:p>
          <a:p>
            <a:pPr>
              <a:spcAft>
                <a:spcPts val="600"/>
              </a:spcAft>
              <a:defRPr sz="1400">
                <a:solidFill>
                  <a:srgbClr val="152334"/>
                </a:solidFill>
                <a:latin typeface="Arial"/>
              </a:defRPr>
            </a:pPr>
            <a:r>
              <a:t>Each region has permissions: r/w/x</a:t>
            </a:r>
          </a:p>
          <a:p>
            <a:pPr>
              <a:spcAft>
                <a:spcPts val="600"/>
              </a:spcAft>
              <a:defRPr sz="1400">
                <a:solidFill>
                  <a:srgbClr val="152334"/>
                </a:solidFill>
                <a:latin typeface="Arial"/>
              </a:defRPr>
            </a:pPr>
            <a:r>
              <a:t>Shared libraries mapped into multiple processes</a:t>
            </a:r>
          </a:p>
          <a:p>
            <a:pPr>
              <a:spcAft>
                <a:spcPts val="600"/>
              </a:spcAft>
              <a:defRPr sz="1400">
                <a:solidFill>
                  <a:srgbClr val="152334"/>
                </a:solidFill>
                <a:latin typeface="Arial"/>
              </a:defRPr>
            </a:pPr>
            <a:r>
              <a:t>mmap() regions for file-backed or anonymous mappings</a:t>
            </a:r>
          </a:p>
          <a:p>
            <a:pPr>
              <a:spcAft>
                <a:spcPts val="600"/>
              </a:spcAft>
              <a:defRPr sz="1400">
                <a:solidFill>
                  <a:srgbClr val="152334"/>
                </a:solidFill>
                <a:latin typeface="Arial"/>
              </a:defRPr>
            </a:pPr>
            <a:r>
              <a:t>Stack grows downward, heap grows upward</a:t>
            </a:r>
          </a:p>
          <a:p>
            <a:pPr>
              <a:spcAft>
                <a:spcPts val="600"/>
              </a:spcAft>
              <a:defRPr sz="1400">
                <a:solidFill>
                  <a:srgbClr val="152334"/>
                </a:solidFill>
                <a:latin typeface="Arial"/>
              </a:defRPr>
            </a:pPr>
            <a:r>
              <a:t>Use pmap &lt;pid&gt; for a readable summary</a:t>
            </a:r>
          </a:p>
        </p:txBody>
      </p:sp>
      <p:sp>
        <p:nvSpPr>
          <p:cNvPr id="8" name="Rectangle 7"/>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Kernel vs User Space Memory</a:t>
            </a:r>
          </a:p>
        </p:txBody>
      </p:sp>
      <p:sp>
        <p:nvSpPr>
          <p:cNvPr id="4" name="TextBox 3"/>
          <p:cNvSpPr txBox="1"/>
          <p:nvPr/>
        </p:nvSpPr>
        <p:spPr>
          <a:xfrm>
            <a:off x="457200" y="822960"/>
            <a:ext cx="5501487" cy="457200"/>
          </a:xfrm>
          <a:prstGeom prst="rect">
            <a:avLst/>
          </a:prstGeom>
          <a:noFill/>
        </p:spPr>
        <p:txBody>
          <a:bodyPr wrap="square">
            <a:spAutoFit/>
          </a:bodyPr>
          <a:lstStyle/>
          <a:p>
            <a:pPr algn="l">
              <a:defRPr sz="2000" b="1">
                <a:solidFill>
                  <a:srgbClr val="152334"/>
                </a:solidFill>
                <a:latin typeface="Arial"/>
              </a:defRPr>
            </a:pPr>
            <a:r>
              <a:t>Kernel Space</a:t>
            </a:r>
          </a:p>
        </p:txBody>
      </p:sp>
      <p:sp>
        <p:nvSpPr>
          <p:cNvPr id="5" name="TextBox 4"/>
          <p:cNvSpPr txBox="1"/>
          <p:nvPr/>
        </p:nvSpPr>
        <p:spPr>
          <a:xfrm>
            <a:off x="457200"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Not demand-paged: kmalloc() = real physical memory</a:t>
            </a:r>
          </a:p>
          <a:p>
            <a:pPr>
              <a:spcAft>
                <a:spcPts val="600"/>
              </a:spcAft>
              <a:defRPr sz="1400">
                <a:solidFill>
                  <a:srgbClr val="152334"/>
                </a:solidFill>
                <a:latin typeface="Arial"/>
              </a:defRPr>
            </a:pPr>
            <a:r>
              <a:t>Never swapped out or discarded</a:t>
            </a:r>
          </a:p>
          <a:p>
            <a:pPr>
              <a:spcAft>
                <a:spcPts val="600"/>
              </a:spcAft>
              <a:defRPr sz="1400">
                <a:solidFill>
                  <a:srgbClr val="152334"/>
                </a:solidFill>
                <a:latin typeface="Arial"/>
              </a:defRPr>
            </a:pPr>
            <a:r>
              <a:t>Allocated from a fixed pool (cannot grow dynamically)</a:t>
            </a:r>
          </a:p>
          <a:p>
            <a:pPr>
              <a:spcAft>
                <a:spcPts val="600"/>
              </a:spcAft>
              <a:defRPr sz="1400">
                <a:solidFill>
                  <a:srgbClr val="152334"/>
                </a:solidFill>
                <a:latin typeface="Arial"/>
              </a:defRPr>
            </a:pPr>
            <a:r>
              <a:t>kmalloc(): general purpose, physically contiguous</a:t>
            </a:r>
          </a:p>
          <a:p>
            <a:pPr>
              <a:spcAft>
                <a:spcPts val="600"/>
              </a:spcAft>
              <a:defRPr sz="1400">
                <a:solidFill>
                  <a:srgbClr val="152334"/>
                </a:solidFill>
                <a:latin typeface="Arial"/>
              </a:defRPr>
            </a:pPr>
            <a:r>
              <a:t>vmalloc(): virtually contiguous, not physically</a:t>
            </a:r>
          </a:p>
          <a:p>
            <a:pPr>
              <a:spcAft>
                <a:spcPts val="600"/>
              </a:spcAft>
              <a:defRPr sz="1400">
                <a:solidFill>
                  <a:srgbClr val="152334"/>
                </a:solidFill>
                <a:latin typeface="Arial"/>
              </a:defRPr>
            </a:pPr>
            <a:r>
              <a:t>Limited: typically 1 GB on 32-bit systems</a:t>
            </a:r>
          </a:p>
          <a:p>
            <a:pPr>
              <a:spcAft>
                <a:spcPts val="600"/>
              </a:spcAft>
              <a:defRPr sz="1400">
                <a:solidFill>
                  <a:srgbClr val="152334"/>
                </a:solidFill>
                <a:latin typeface="Arial"/>
              </a:defRPr>
            </a:pPr>
            <a:r>
              <a:t>Fragmentation is a real problem over time</a:t>
            </a:r>
          </a:p>
        </p:txBody>
      </p:sp>
      <p:sp>
        <p:nvSpPr>
          <p:cNvPr id="6" name="TextBox 5"/>
          <p:cNvSpPr txBox="1"/>
          <p:nvPr/>
        </p:nvSpPr>
        <p:spPr>
          <a:xfrm>
            <a:off x="6233007" y="822960"/>
            <a:ext cx="5501487" cy="457200"/>
          </a:xfrm>
          <a:prstGeom prst="rect">
            <a:avLst/>
          </a:prstGeom>
          <a:noFill/>
        </p:spPr>
        <p:txBody>
          <a:bodyPr wrap="square">
            <a:spAutoFit/>
          </a:bodyPr>
          <a:lstStyle/>
          <a:p>
            <a:pPr algn="l">
              <a:defRPr sz="2000" b="1">
                <a:solidFill>
                  <a:srgbClr val="152334"/>
                </a:solidFill>
                <a:latin typeface="Arial"/>
              </a:defRPr>
            </a:pPr>
            <a:r>
              <a:t>User Space</a:t>
            </a:r>
          </a:p>
        </p:txBody>
      </p:sp>
      <p:sp>
        <p:nvSpPr>
          <p:cNvPr id="7" name="TextBox 6"/>
          <p:cNvSpPr txBox="1"/>
          <p:nvPr/>
        </p:nvSpPr>
        <p:spPr>
          <a:xfrm>
            <a:off x="6233007"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Demand-paged: physical pages allocated on access</a:t>
            </a:r>
          </a:p>
          <a:p>
            <a:pPr>
              <a:spcAft>
                <a:spcPts val="600"/>
              </a:spcAft>
              <a:defRPr sz="1400">
                <a:solidFill>
                  <a:srgbClr val="152334"/>
                </a:solidFill>
                <a:latin typeface="Arial"/>
              </a:defRPr>
            </a:pPr>
            <a:r>
              <a:t>Can be swapped to disk (if swap is configured)</a:t>
            </a:r>
          </a:p>
          <a:p>
            <a:pPr>
              <a:spcAft>
                <a:spcPts val="600"/>
              </a:spcAft>
              <a:defRPr sz="1400">
                <a:solidFill>
                  <a:srgbClr val="152334"/>
                </a:solidFill>
                <a:latin typeface="Arial"/>
              </a:defRPr>
            </a:pPr>
            <a:r>
              <a:t>malloc() uses brk()/sbrk() for small allocations</a:t>
            </a:r>
          </a:p>
          <a:p>
            <a:pPr>
              <a:spcAft>
                <a:spcPts val="600"/>
              </a:spcAft>
              <a:defRPr sz="1400">
                <a:solidFill>
                  <a:srgbClr val="152334"/>
                </a:solidFill>
                <a:latin typeface="Arial"/>
              </a:defRPr>
            </a:pPr>
            <a:r>
              <a:t>malloc() uses mmap() for large allocations (&gt;128 KB)</a:t>
            </a:r>
          </a:p>
          <a:p>
            <a:pPr>
              <a:spcAft>
                <a:spcPts val="600"/>
              </a:spcAft>
              <a:defRPr sz="1400">
                <a:solidFill>
                  <a:srgbClr val="152334"/>
                </a:solidFill>
                <a:latin typeface="Arial"/>
              </a:defRPr>
            </a:pPr>
            <a:r>
              <a:t>Copy-on-write: fork() shares pages until written</a:t>
            </a:r>
          </a:p>
          <a:p>
            <a:pPr>
              <a:spcAft>
                <a:spcPts val="600"/>
              </a:spcAft>
              <a:defRPr sz="1400">
                <a:solidFill>
                  <a:srgbClr val="152334"/>
                </a:solidFill>
                <a:latin typeface="Arial"/>
              </a:defRPr>
            </a:pPr>
            <a:r>
              <a:t>mlock() prevents swapping (important for RT)</a:t>
            </a:r>
          </a:p>
        </p:txBody>
      </p:sp>
      <p:sp>
        <p:nvSpPr>
          <p:cNvPr id="8" name="Rectangle 7"/>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Identifying Memory Leaks</a:t>
            </a:r>
          </a:p>
        </p:txBody>
      </p:sp>
      <p:sp>
        <p:nvSpPr>
          <p:cNvPr id="4" name="Rounded Rectangle 3"/>
          <p:cNvSpPr/>
          <p:nvPr/>
        </p:nvSpPr>
        <p:spPr>
          <a:xfrm>
            <a:off x="457200" y="822960"/>
            <a:ext cx="11277295" cy="562356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60120"/>
            <a:ext cx="11002975" cy="5349240"/>
          </a:xfrm>
          <a:prstGeom prst="rect">
            <a:avLst/>
          </a:prstGeom>
          <a:noFill/>
        </p:spPr>
        <p:txBody>
          <a:bodyPr wrap="square">
            <a:spAutoFit/>
          </a:bodyPr>
          <a:lstStyle/>
          <a:p>
            <a:pPr>
              <a:defRPr sz="1100">
                <a:solidFill>
                  <a:srgbClr val="D4D4D4"/>
                </a:solidFill>
                <a:latin typeface="Courier New"/>
              </a:defRPr>
            </a:pPr>
            <a:r>
              <a:t># A memory leak: allocated memory that is never freed</a:t>
            </a:r>
            <a:br/>
            <a:r>
              <a:t># Classic example:</a:t>
            </a:r>
            <a:br/>
            <a:r>
              <a:t>void process_data(void) {</a:t>
            </a:r>
            <a:br/>
            <a:r>
              <a:t>    char *buf = malloc(1024);</a:t>
            </a:r>
            <a:br/>
            <a:r>
              <a:t>    if (error_condition)</a:t>
            </a:r>
            <a:br/>
            <a:r>
              <a:t>        return;     ← LEAK: buf not freed on error path!</a:t>
            </a:r>
            <a:br/>
            <a:r>
              <a:t>    // ... use buf ...</a:t>
            </a:r>
            <a:br/>
            <a:r>
              <a:t>    free(buf);</a:t>
            </a:r>
            <a:br/>
            <a:r>
              <a:t>}</a:t>
            </a:r>
            <a:br/>
            <a:br/>
            <a:r>
              <a:t># ─── Detection with Valgrind ───</a:t>
            </a:r>
            <a:br/>
            <a:r>
              <a:t>$ valgrind --leak-check=full --show-leak-kinds=all ./myapp</a:t>
            </a:r>
            <a:br/>
            <a:r>
              <a:t>==1234== HEAP SUMMARY:</a:t>
            </a:r>
            <a:br/>
            <a:r>
              <a:t>==1234==     in use at exit: 4,096 bytes in 4 blocks</a:t>
            </a:r>
            <a:br/>
            <a:r>
              <a:t>==1234==   total heap usage: 10 allocs, 6 frees</a:t>
            </a:r>
            <a:br/>
            <a:r>
              <a:t>==1234==</a:t>
            </a:r>
            <a:br/>
            <a:r>
              <a:t>==1234== 1,024 bytes in 1 blocks are definitely lost</a:t>
            </a:r>
            <a:br/>
            <a:r>
              <a:t>==1234==    at 0x4842200: malloc (vg_replace_malloc.c:309)</a:t>
            </a:r>
            <a:br/>
            <a:r>
              <a:t>==1234==    by 0x109237: process_data (myapp.c:45)</a:t>
            </a:r>
            <a:br/>
            <a:r>
              <a:t>==1234==    by 0x1093A1: main (myapp.c:89)</a:t>
            </a:r>
            <a:br/>
            <a:br/>
            <a:r>
              <a:t># ─── Detection with mtrace (glibc) ───</a:t>
            </a:r>
            <a:br/>
            <a:r>
              <a:t>#include &lt;mcheck.h&gt;</a:t>
            </a:r>
            <a:br/>
            <a:r>
              <a:t>int main(void) {</a:t>
            </a:r>
            <a:br/>
            <a:r>
              <a:t>    mtrace();  // Start tracing</a:t>
            </a:r>
            <a:br/>
            <a:r>
              <a:t>    // ... your code ...</a:t>
            </a:r>
            <a:br/>
            <a:r>
              <a:t>    muntrace();</a:t>
            </a:r>
            <a:br/>
            <a:r>
              <a:t>}</a:t>
            </a:r>
            <a:br/>
            <a:r>
              <a:t>$ MALLOC_TRACE=/tmp/mtrace.log ./myapp</a:t>
            </a:r>
            <a:br/>
            <a:r>
              <a:t>$ mtrace ./myapp /tmp/mtrace.log</a:t>
            </a:r>
            <a:br/>
            <a:r>
              <a:t>Memory not freed:</a:t>
            </a:r>
            <a:br/>
            <a:r>
              <a:t>-----------------</a:t>
            </a:r>
            <a:br/>
            <a:r>
              <a:t>           Address     Size     Caller</a:t>
            </a:r>
            <a:br/>
            <a:r>
              <a:t>0x0000000000a4b010   0x400  at myapp.c:45</a:t>
            </a:r>
            <a:br/>
            <a:br/>
            <a:r>
              <a:t># ─── Detection with /proc ───</a:t>
            </a:r>
            <a:br/>
            <a:r>
              <a:t>$ cat /proc/&lt;pid&gt;/status | grep VmRSS</a:t>
            </a:r>
            <a:br/>
            <a:r>
              <a:t>VmRSS:     24576 kB    ← Resident set size (physical memory)</a:t>
            </a:r>
            <a:br/>
            <a:r>
              <a:t># Watch this grow over time = likely leak</a:t>
            </a:r>
          </a:p>
        </p:txBody>
      </p:sp>
      <p:sp>
        <p:nvSpPr>
          <p:cNvPr id="6" name="Rectangle 5"/>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Running Out of Memory (OOM)</a:t>
            </a:r>
          </a:p>
        </p:txBody>
      </p:sp>
      <p:sp>
        <p:nvSpPr>
          <p:cNvPr id="4" name="TextBox 3"/>
          <p:cNvSpPr txBox="1"/>
          <p:nvPr/>
        </p:nvSpPr>
        <p:spPr>
          <a:xfrm>
            <a:off x="457200" y="822960"/>
            <a:ext cx="5501487" cy="457200"/>
          </a:xfrm>
          <a:prstGeom prst="rect">
            <a:avLst/>
          </a:prstGeom>
          <a:noFill/>
        </p:spPr>
        <p:txBody>
          <a:bodyPr wrap="square">
            <a:spAutoFit/>
          </a:bodyPr>
          <a:lstStyle/>
          <a:p>
            <a:pPr algn="l">
              <a:defRPr sz="2000" b="1">
                <a:solidFill>
                  <a:srgbClr val="152334"/>
                </a:solidFill>
                <a:latin typeface="Arial"/>
              </a:defRPr>
            </a:pPr>
            <a:r>
              <a:t>Linux Overcommit Policy</a:t>
            </a:r>
          </a:p>
        </p:txBody>
      </p:sp>
      <p:sp>
        <p:nvSpPr>
          <p:cNvPr id="5" name="TextBox 4"/>
          <p:cNvSpPr txBox="1"/>
          <p:nvPr/>
        </p:nvSpPr>
        <p:spPr>
          <a:xfrm>
            <a:off x="457200"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Default: overcommit = heuristic (allow more than physical)</a:t>
            </a:r>
          </a:p>
          <a:p>
            <a:pPr>
              <a:spcAft>
                <a:spcPts val="600"/>
              </a:spcAft>
              <a:defRPr sz="1400">
                <a:solidFill>
                  <a:srgbClr val="152334"/>
                </a:solidFill>
                <a:latin typeface="Arial"/>
              </a:defRPr>
            </a:pPr>
            <a:r>
              <a:t>Most apps allocate more than they use (sparse arrays)</a:t>
            </a:r>
          </a:p>
          <a:p>
            <a:pPr>
              <a:spcAft>
                <a:spcPts val="600"/>
              </a:spcAft>
              <a:defRPr sz="1400">
                <a:solidFill>
                  <a:srgbClr val="152334"/>
                </a:solidFill>
                <a:latin typeface="Arial"/>
              </a:defRPr>
            </a:pPr>
            <a:r>
              <a:t>Works fine until everyone uses what they allocated</a:t>
            </a:r>
          </a:p>
          <a:p>
            <a:pPr>
              <a:spcAft>
                <a:spcPts val="600"/>
              </a:spcAft>
              <a:defRPr sz="1400">
                <a:solidFill>
                  <a:srgbClr val="152334"/>
                </a:solidFill>
                <a:latin typeface="Arial"/>
              </a:defRPr>
            </a:pPr>
            <a:r>
              <a:t>/proc/sys/vm/overcommit_memory: 0=heuristic, 1=always, 2=strict</a:t>
            </a:r>
          </a:p>
          <a:p>
            <a:pPr>
              <a:spcAft>
                <a:spcPts val="600"/>
              </a:spcAft>
              <a:defRPr sz="1400">
                <a:solidFill>
                  <a:srgbClr val="152334"/>
                </a:solidFill>
                <a:latin typeface="Arial"/>
              </a:defRPr>
            </a:pPr>
            <a:r>
              <a:t>Embedded systems: consider overcommit=2 (strict)</a:t>
            </a:r>
          </a:p>
          <a:p>
            <a:pPr>
              <a:spcAft>
                <a:spcPts val="600"/>
              </a:spcAft>
              <a:defRPr sz="1400">
                <a:solidFill>
                  <a:srgbClr val="152334"/>
                </a:solidFill>
                <a:latin typeface="Arial"/>
              </a:defRPr>
            </a:pPr>
            <a:r>
              <a:t>OOM Killer: last resort, kills largest/highest-score process</a:t>
            </a:r>
          </a:p>
          <a:p>
            <a:pPr>
              <a:spcAft>
                <a:spcPts val="600"/>
              </a:spcAft>
              <a:defRPr sz="1400">
                <a:solidFill>
                  <a:srgbClr val="152334"/>
                </a:solidFill>
                <a:latin typeface="Arial"/>
              </a:defRPr>
            </a:pPr>
            <a:r>
              <a:t>Score: based on memory usage, runtime, nice value</a:t>
            </a:r>
          </a:p>
        </p:txBody>
      </p:sp>
      <p:sp>
        <p:nvSpPr>
          <p:cNvPr id="6" name="TextBox 5"/>
          <p:cNvSpPr txBox="1"/>
          <p:nvPr/>
        </p:nvSpPr>
        <p:spPr>
          <a:xfrm>
            <a:off x="6233007" y="822960"/>
            <a:ext cx="5501487" cy="457200"/>
          </a:xfrm>
          <a:prstGeom prst="rect">
            <a:avLst/>
          </a:prstGeom>
          <a:noFill/>
        </p:spPr>
        <p:txBody>
          <a:bodyPr wrap="square">
            <a:spAutoFit/>
          </a:bodyPr>
          <a:lstStyle/>
          <a:p>
            <a:pPr algn="l">
              <a:defRPr sz="2000" b="1">
                <a:solidFill>
                  <a:srgbClr val="152334"/>
                </a:solidFill>
                <a:latin typeface="Arial"/>
              </a:defRPr>
            </a:pPr>
            <a:r>
              <a:t>Preventing OOM Issues</a:t>
            </a:r>
          </a:p>
        </p:txBody>
      </p:sp>
      <p:sp>
        <p:nvSpPr>
          <p:cNvPr id="7" name="TextBox 6"/>
          <p:cNvSpPr txBox="1"/>
          <p:nvPr/>
        </p:nvSpPr>
        <p:spPr>
          <a:xfrm>
            <a:off x="6233007" y="1280160"/>
            <a:ext cx="5501487" cy="5166360"/>
          </a:xfrm>
          <a:prstGeom prst="rect">
            <a:avLst/>
          </a:prstGeom>
          <a:noFill/>
        </p:spPr>
        <p:txBody>
          <a:bodyPr wrap="square">
            <a:spAutoFit/>
          </a:bodyPr>
          <a:lstStyle/>
          <a:p>
            <a:pPr>
              <a:spcAft>
                <a:spcPts val="600"/>
              </a:spcAft>
              <a:defRPr sz="1400">
                <a:solidFill>
                  <a:srgbClr val="152334"/>
                </a:solidFill>
                <a:latin typeface="Arial"/>
              </a:defRPr>
            </a:pPr>
            <a:r>
              <a:t>Set memory limits: ulimit -v &lt;KB&gt; or setrlimit(RLIMIT_AS)</a:t>
            </a:r>
          </a:p>
          <a:p>
            <a:pPr>
              <a:spcAft>
                <a:spcPts val="600"/>
              </a:spcAft>
              <a:defRPr sz="1400">
                <a:solidFill>
                  <a:srgbClr val="152334"/>
                </a:solidFill>
                <a:latin typeface="Arial"/>
              </a:defRPr>
            </a:pPr>
            <a:r>
              <a:t>Monitor /proc/meminfo: MemFree, MemAvailable, SwapFree</a:t>
            </a:r>
          </a:p>
          <a:p>
            <a:pPr>
              <a:spcAft>
                <a:spcPts val="600"/>
              </a:spcAft>
              <a:defRPr sz="1400">
                <a:solidFill>
                  <a:srgbClr val="152334"/>
                </a:solidFill>
                <a:latin typeface="Arial"/>
              </a:defRPr>
            </a:pPr>
            <a:r>
              <a:t>Use mallopt(M_MMAP_THRESHOLD, ...) to control allocation strategy</a:t>
            </a:r>
          </a:p>
          <a:p>
            <a:pPr>
              <a:spcAft>
                <a:spcPts val="600"/>
              </a:spcAft>
              <a:defRPr sz="1400">
                <a:solidFill>
                  <a:srgbClr val="152334"/>
                </a:solidFill>
                <a:latin typeface="Arial"/>
              </a:defRPr>
            </a:pPr>
            <a:r>
              <a:t>Pre-allocate and pool memory at startup</a:t>
            </a:r>
          </a:p>
          <a:p>
            <a:pPr>
              <a:spcAft>
                <a:spcPts val="600"/>
              </a:spcAft>
              <a:defRPr sz="1400">
                <a:solidFill>
                  <a:srgbClr val="152334"/>
                </a:solidFill>
                <a:latin typeface="Arial"/>
              </a:defRPr>
            </a:pPr>
            <a:r>
              <a:t>Handle malloc() failures gracefully (always check return!)</a:t>
            </a:r>
          </a:p>
          <a:p>
            <a:pPr>
              <a:spcAft>
                <a:spcPts val="600"/>
              </a:spcAft>
              <a:defRPr sz="1400">
                <a:solidFill>
                  <a:srgbClr val="152334"/>
                </a:solidFill>
                <a:latin typeface="Arial"/>
              </a:defRPr>
            </a:pPr>
            <a:r>
              <a:t>For RT: mlock() critical pages to prevent page faults</a:t>
            </a:r>
          </a:p>
          <a:p>
            <a:pPr>
              <a:spcAft>
                <a:spcPts val="600"/>
              </a:spcAft>
              <a:defRPr sz="1400">
                <a:solidFill>
                  <a:srgbClr val="152334"/>
                </a:solidFill>
                <a:latin typeface="Arial"/>
              </a:defRPr>
            </a:pPr>
            <a:r>
              <a:t>Consider: cgroups memory controller for process isolation</a:t>
            </a:r>
          </a:p>
        </p:txBody>
      </p:sp>
      <p:sp>
        <p:nvSpPr>
          <p:cNvPr id="8" name="Rectangle 7"/>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mmap: Direct Hardware Register Access</a:t>
            </a:r>
          </a:p>
        </p:txBody>
      </p:sp>
      <p:sp>
        <p:nvSpPr>
          <p:cNvPr id="4" name="Rounded Rectangle 3"/>
          <p:cNvSpPr/>
          <p:nvPr/>
        </p:nvSpPr>
        <p:spPr>
          <a:xfrm>
            <a:off x="457200" y="822960"/>
            <a:ext cx="11277295" cy="562356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960120"/>
            <a:ext cx="11002975" cy="5349240"/>
          </a:xfrm>
          <a:prstGeom prst="rect">
            <a:avLst/>
          </a:prstGeom>
          <a:noFill/>
        </p:spPr>
        <p:txBody>
          <a:bodyPr wrap="square">
            <a:spAutoFit/>
          </a:bodyPr>
          <a:lstStyle/>
          <a:p>
            <a:pPr>
              <a:defRPr sz="1100">
                <a:solidFill>
                  <a:srgbClr val="D4D4D4"/>
                </a:solidFill>
                <a:latin typeface="Courier New"/>
              </a:defRPr>
            </a:pPr>
            <a:r>
              <a:t># In embedded Linux, mmap is how you access hardware registers</a:t>
            </a:r>
            <a:br/>
            <a:r>
              <a:t># from userspace (faster than ioctl for bulk access)</a:t>
            </a:r>
            <a:br/>
            <a:br/>
            <a:r>
              <a:t># ─── Map physical memory into userspace ───</a:t>
            </a:r>
            <a:br/>
            <a:r>
              <a:t>#include &lt;sys/mman.h&gt;</a:t>
            </a:r>
            <a:br/>
            <a:r>
              <a:t>#include &lt;fcntl.h&gt;</a:t>
            </a:r>
            <a:br/>
            <a:br/>
            <a:r>
              <a:t>int fd = open("/dev/mem", O_RDWR | O_SYNC);</a:t>
            </a:r>
            <a:br/>
            <a:r>
              <a:t>if (fd &lt; 0) { perror("open /dev/mem"); return 1; }</a:t>
            </a:r>
            <a:br/>
            <a:br/>
            <a:r>
              <a:t>// Map a page of physical memory starting at 0x48000000</a:t>
            </a:r>
            <a:br/>
            <a:r>
              <a:t>void *addr = mmap(NULL, getpagesize(),</a:t>
            </a:r>
            <a:br/>
            <a:r>
              <a:t>                  PROT_READ | PROT_WRITE,</a:t>
            </a:r>
            <a:br/>
            <a:r>
              <a:t>                  MAP_SHARED,</a:t>
            </a:r>
            <a:br/>
            <a:r>
              <a:t>                  fd,</a:t>
            </a:r>
            <a:br/>
            <a:r>
              <a:t>                  0x48000000);    // Physical address</a:t>
            </a:r>
            <a:br/>
            <a:r>
              <a:t>if (addr == MAP_FAILED) { perror("mmap"); return 1; }</a:t>
            </a:r>
            <a:br/>
            <a:br/>
            <a:r>
              <a:t>// Now access hardware registers directly!</a:t>
            </a:r>
            <a:br/>
            <a:r>
              <a:t>volatile uint32_t *reg = (uint32_t *)addr;</a:t>
            </a:r>
            <a:br/>
            <a:r>
              <a:t>uint32_t id = reg[0];          // Read register at offset 0</a:t>
            </a:r>
            <a:br/>
            <a:r>
              <a:t>reg[1] = 0xDEADBEEF;           // Write to register at offset 4</a:t>
            </a:r>
            <a:br/>
            <a:br/>
            <a:r>
              <a:t>// Clean up</a:t>
            </a:r>
            <a:br/>
            <a:r>
              <a:t>munmap(addr, getpagesize());</a:t>
            </a:r>
            <a:br/>
            <a:r>
              <a:t>close(fd);</a:t>
            </a:r>
            <a:br/>
            <a:br/>
            <a:r>
              <a:t># ─── Key flags ───</a:t>
            </a:r>
            <a:br/>
            <a:r>
              <a:t># PROT_READ | PROT_WRITE    - read/write access</a:t>
            </a:r>
            <a:br/>
            <a:r>
              <a:t># MAP_SHARED                - visible to other processes</a:t>
            </a:r>
            <a:br/>
            <a:r>
              <a:t># MAP_PRIVATE               - copy-on-write (changes not visible)</a:t>
            </a:r>
            <a:br/>
            <a:r>
              <a:t># MAP_ANONYMOUS             - no backing file (just memory)</a:t>
            </a:r>
            <a:br/>
            <a:r>
              <a:t># O_SYNC                    - bypass cache (for device memory)</a:t>
            </a:r>
            <a:br/>
            <a:br/>
            <a:r>
              <a:t># ─── Common uses ───</a:t>
            </a:r>
            <a:br/>
            <a:r>
              <a:t># - GPIO control via /dev/mem</a:t>
            </a:r>
            <a:br/>
            <a:r>
              <a:t># - Shared memory between processes (MAP_SHARED | MAP_ANONYMOUS)</a:t>
            </a:r>
            <a:br/>
            <a:r>
              <a:t># - Loading firmware into memory-mapped regions</a:t>
            </a:r>
            <a:br/>
            <a:r>
              <a:t># - Zero-copy I/O with DMA buffers</a:t>
            </a:r>
          </a:p>
        </p:txBody>
      </p:sp>
      <p:sp>
        <p:nvSpPr>
          <p:cNvPr id="6" name="Rectangle 5"/>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457200"/>
          </a:xfrm>
          <a:prstGeom prst="rect">
            <a:avLst/>
          </a:prstGeom>
          <a:noFill/>
        </p:spPr>
        <p:txBody>
          <a:bodyPr wrap="square">
            <a:spAutoFit/>
          </a:bodyPr>
          <a:lstStyle/>
          <a:p>
            <a:pPr algn="l">
              <a:defRPr sz="2800" b="1">
                <a:solidFill>
                  <a:srgbClr val="2E7D32"/>
                </a:solidFill>
                <a:latin typeface="Arial"/>
              </a:defRPr>
            </a:pPr>
            <a:r>
              <a:t>Lab: Memory Leak Detection</a:t>
            </a:r>
          </a:p>
        </p:txBody>
      </p:sp>
      <p:sp>
        <p:nvSpPr>
          <p:cNvPr id="4" name="Oval 3"/>
          <p:cNvSpPr/>
          <p:nvPr/>
        </p:nvSpPr>
        <p:spPr>
          <a:xfrm>
            <a:off x="457200" y="868680"/>
            <a:ext cx="365760" cy="3657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896112"/>
            <a:ext cx="365760" cy="320040"/>
          </a:xfrm>
          <a:prstGeom prst="rect">
            <a:avLst/>
          </a:prstGeom>
          <a:noFill/>
        </p:spPr>
        <p:txBody>
          <a:bodyPr wrap="none">
            <a:spAutoFit/>
          </a:bodyPr>
          <a:lstStyle/>
          <a:p>
            <a:pPr algn="ctr">
              <a:defRPr sz="2000" b="1">
                <a:solidFill>
                  <a:srgbClr val="FFFFFF"/>
                </a:solidFill>
                <a:latin typeface="Arial"/>
              </a:defRPr>
            </a:pPr>
            <a:r>
              <a:t>1</a:t>
            </a:r>
          </a:p>
        </p:txBody>
      </p:sp>
      <p:sp>
        <p:nvSpPr>
          <p:cNvPr id="6" name="TextBox 5"/>
          <p:cNvSpPr txBox="1"/>
          <p:nvPr/>
        </p:nvSpPr>
        <p:spPr>
          <a:xfrm>
            <a:off x="1005840" y="822960"/>
            <a:ext cx="10728655" cy="1124712"/>
          </a:xfrm>
          <a:prstGeom prst="rect">
            <a:avLst/>
          </a:prstGeom>
          <a:noFill/>
        </p:spPr>
        <p:txBody>
          <a:bodyPr wrap="square">
            <a:spAutoFit/>
          </a:bodyPr>
          <a:lstStyle/>
          <a:p>
            <a:pPr algn="l">
              <a:defRPr sz="1600" b="1">
                <a:solidFill>
                  <a:srgbClr val="152334"/>
                </a:solidFill>
                <a:latin typeface="Arial"/>
              </a:defRPr>
            </a:pPr>
            <a:r>
              <a:t>1. Build the leaky application</a:t>
            </a:r>
          </a:p>
        </p:txBody>
      </p:sp>
      <p:sp>
        <p:nvSpPr>
          <p:cNvPr id="7" name="TextBox 6"/>
          <p:cNvSpPr txBox="1"/>
          <p:nvPr/>
        </p:nvSpPr>
        <p:spPr>
          <a:xfrm>
            <a:off x="1005840" y="1097280"/>
            <a:ext cx="10728655" cy="850392"/>
          </a:xfrm>
          <a:prstGeom prst="rect">
            <a:avLst/>
          </a:prstGeom>
          <a:noFill/>
        </p:spPr>
        <p:txBody>
          <a:bodyPr wrap="square">
            <a:spAutoFit/>
          </a:bodyPr>
          <a:lstStyle/>
          <a:p>
            <a:pPr algn="l">
              <a:defRPr sz="1300" b="0">
                <a:solidFill>
                  <a:srgbClr val="152334"/>
                </a:solidFill>
                <a:latin typeface="Arial"/>
              </a:defRPr>
            </a:pPr>
            <a:r>
              <a:t>cd /tmp &amp;&amp; wget &lt;course-server&gt;/leaky.c</a:t>
            </a:r>
            <a:br/>
            <a:r>
              <a:t>gcc -ggdb -o leaky leaky.c</a:t>
            </a:r>
            <a:br/>
            <a:r>
              <a:t>./leaky &amp;  # Run in background, note PID</a:t>
            </a:r>
          </a:p>
        </p:txBody>
      </p:sp>
      <p:sp>
        <p:nvSpPr>
          <p:cNvPr id="8" name="Oval 7"/>
          <p:cNvSpPr/>
          <p:nvPr/>
        </p:nvSpPr>
        <p:spPr>
          <a:xfrm>
            <a:off x="457200" y="1993392"/>
            <a:ext cx="365760" cy="3657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020824"/>
            <a:ext cx="365760" cy="320040"/>
          </a:xfrm>
          <a:prstGeom prst="rect">
            <a:avLst/>
          </a:prstGeom>
          <a:noFill/>
        </p:spPr>
        <p:txBody>
          <a:bodyPr wrap="none">
            <a:spAutoFit/>
          </a:bodyPr>
          <a:lstStyle/>
          <a:p>
            <a:pPr algn="ctr">
              <a:defRPr sz="2000" b="1">
                <a:solidFill>
                  <a:srgbClr val="FFFFFF"/>
                </a:solidFill>
                <a:latin typeface="Arial"/>
              </a:defRPr>
            </a:pPr>
            <a:r>
              <a:t>2</a:t>
            </a:r>
          </a:p>
        </p:txBody>
      </p:sp>
      <p:sp>
        <p:nvSpPr>
          <p:cNvPr id="10" name="TextBox 9"/>
          <p:cNvSpPr txBox="1"/>
          <p:nvPr/>
        </p:nvSpPr>
        <p:spPr>
          <a:xfrm>
            <a:off x="1005840" y="1947672"/>
            <a:ext cx="10728655" cy="1124712"/>
          </a:xfrm>
          <a:prstGeom prst="rect">
            <a:avLst/>
          </a:prstGeom>
          <a:noFill/>
        </p:spPr>
        <p:txBody>
          <a:bodyPr wrap="square">
            <a:spAutoFit/>
          </a:bodyPr>
          <a:lstStyle/>
          <a:p>
            <a:pPr algn="l">
              <a:defRPr sz="1600" b="1">
                <a:solidFill>
                  <a:srgbClr val="152334"/>
                </a:solidFill>
                <a:latin typeface="Arial"/>
              </a:defRPr>
            </a:pPr>
            <a:r>
              <a:t>2. Monitor memory growth</a:t>
            </a:r>
          </a:p>
        </p:txBody>
      </p:sp>
      <p:sp>
        <p:nvSpPr>
          <p:cNvPr id="11" name="TextBox 10"/>
          <p:cNvSpPr txBox="1"/>
          <p:nvPr/>
        </p:nvSpPr>
        <p:spPr>
          <a:xfrm>
            <a:off x="1005840" y="2221992"/>
            <a:ext cx="10728655" cy="850392"/>
          </a:xfrm>
          <a:prstGeom prst="rect">
            <a:avLst/>
          </a:prstGeom>
          <a:noFill/>
        </p:spPr>
        <p:txBody>
          <a:bodyPr wrap="square">
            <a:spAutoFit/>
          </a:bodyPr>
          <a:lstStyle/>
          <a:p>
            <a:pPr algn="l">
              <a:defRPr sz="1300" b="0">
                <a:solidFill>
                  <a:srgbClr val="152334"/>
                </a:solidFill>
                <a:latin typeface="Arial"/>
              </a:defRPr>
            </a:pPr>
            <a:r>
              <a:t>watch -n 1 'cat /proc/&lt;pid&gt;/status | grep VmRSS'</a:t>
            </a:r>
            <a:br/>
            <a:r>
              <a:t>Watch VmRSS grow over 30 seconds -- confirm the leak</a:t>
            </a:r>
          </a:p>
        </p:txBody>
      </p:sp>
      <p:sp>
        <p:nvSpPr>
          <p:cNvPr id="12" name="Oval 11"/>
          <p:cNvSpPr/>
          <p:nvPr/>
        </p:nvSpPr>
        <p:spPr>
          <a:xfrm>
            <a:off x="457200" y="3118104"/>
            <a:ext cx="365760" cy="3657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145536"/>
            <a:ext cx="365760" cy="320040"/>
          </a:xfrm>
          <a:prstGeom prst="rect">
            <a:avLst/>
          </a:prstGeom>
          <a:noFill/>
        </p:spPr>
        <p:txBody>
          <a:bodyPr wrap="none">
            <a:spAutoFit/>
          </a:bodyPr>
          <a:lstStyle/>
          <a:p>
            <a:pPr algn="ctr">
              <a:defRPr sz="2000" b="1">
                <a:solidFill>
                  <a:srgbClr val="FFFFFF"/>
                </a:solidFill>
                <a:latin typeface="Arial"/>
              </a:defRPr>
            </a:pPr>
            <a:r>
              <a:t>3</a:t>
            </a:r>
          </a:p>
        </p:txBody>
      </p:sp>
      <p:sp>
        <p:nvSpPr>
          <p:cNvPr id="14" name="TextBox 13"/>
          <p:cNvSpPr txBox="1"/>
          <p:nvPr/>
        </p:nvSpPr>
        <p:spPr>
          <a:xfrm>
            <a:off x="1005840" y="3072384"/>
            <a:ext cx="10728655" cy="1124712"/>
          </a:xfrm>
          <a:prstGeom prst="rect">
            <a:avLst/>
          </a:prstGeom>
          <a:noFill/>
        </p:spPr>
        <p:txBody>
          <a:bodyPr wrap="square">
            <a:spAutoFit/>
          </a:bodyPr>
          <a:lstStyle/>
          <a:p>
            <a:pPr algn="l">
              <a:defRPr sz="1600" b="1">
                <a:solidFill>
                  <a:srgbClr val="152334"/>
                </a:solidFill>
                <a:latin typeface="Arial"/>
              </a:defRPr>
            </a:pPr>
            <a:r>
              <a:t>3. Analyze with Valgrind</a:t>
            </a:r>
          </a:p>
        </p:txBody>
      </p:sp>
      <p:sp>
        <p:nvSpPr>
          <p:cNvPr id="15" name="TextBox 14"/>
          <p:cNvSpPr txBox="1"/>
          <p:nvPr/>
        </p:nvSpPr>
        <p:spPr>
          <a:xfrm>
            <a:off x="1005840" y="3346704"/>
            <a:ext cx="10728655" cy="850392"/>
          </a:xfrm>
          <a:prstGeom prst="rect">
            <a:avLst/>
          </a:prstGeom>
          <a:noFill/>
        </p:spPr>
        <p:txBody>
          <a:bodyPr wrap="square">
            <a:spAutoFit/>
          </a:bodyPr>
          <a:lstStyle/>
          <a:p>
            <a:pPr algn="l">
              <a:defRPr sz="1300" b="0">
                <a:solidFill>
                  <a:srgbClr val="152334"/>
                </a:solidFill>
                <a:latin typeface="Arial"/>
              </a:defRPr>
            </a:pPr>
            <a:r>
              <a:t>valgrind --leak-check=full ./leaky</a:t>
            </a:r>
            <a:br/>
            <a:r>
              <a:t>Note: which functions have unfreed allocations?</a:t>
            </a:r>
          </a:p>
        </p:txBody>
      </p:sp>
      <p:sp>
        <p:nvSpPr>
          <p:cNvPr id="16" name="Oval 15"/>
          <p:cNvSpPr/>
          <p:nvPr/>
        </p:nvSpPr>
        <p:spPr>
          <a:xfrm>
            <a:off x="457200" y="4242816"/>
            <a:ext cx="365760" cy="3657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270248"/>
            <a:ext cx="365760" cy="320040"/>
          </a:xfrm>
          <a:prstGeom prst="rect">
            <a:avLst/>
          </a:prstGeom>
          <a:noFill/>
        </p:spPr>
        <p:txBody>
          <a:bodyPr wrap="none">
            <a:spAutoFit/>
          </a:bodyPr>
          <a:lstStyle/>
          <a:p>
            <a:pPr algn="ctr">
              <a:defRPr sz="2000" b="1">
                <a:solidFill>
                  <a:srgbClr val="FFFFFF"/>
                </a:solidFill>
                <a:latin typeface="Arial"/>
              </a:defRPr>
            </a:pPr>
            <a:r>
              <a:t>4</a:t>
            </a:r>
          </a:p>
        </p:txBody>
      </p:sp>
      <p:sp>
        <p:nvSpPr>
          <p:cNvPr id="18" name="TextBox 17"/>
          <p:cNvSpPr txBox="1"/>
          <p:nvPr/>
        </p:nvSpPr>
        <p:spPr>
          <a:xfrm>
            <a:off x="1005840" y="4197096"/>
            <a:ext cx="10728655" cy="1124712"/>
          </a:xfrm>
          <a:prstGeom prst="rect">
            <a:avLst/>
          </a:prstGeom>
          <a:noFill/>
        </p:spPr>
        <p:txBody>
          <a:bodyPr wrap="square">
            <a:spAutoFit/>
          </a:bodyPr>
          <a:lstStyle/>
          <a:p>
            <a:pPr algn="l">
              <a:defRPr sz="1600" b="1">
                <a:solidFill>
                  <a:srgbClr val="152334"/>
                </a:solidFill>
                <a:latin typeface="Arial"/>
              </a:defRPr>
            </a:pPr>
            <a:r>
              <a:t>4. Fix the leak</a:t>
            </a:r>
          </a:p>
        </p:txBody>
      </p:sp>
      <p:sp>
        <p:nvSpPr>
          <p:cNvPr id="19" name="TextBox 18"/>
          <p:cNvSpPr txBox="1"/>
          <p:nvPr/>
        </p:nvSpPr>
        <p:spPr>
          <a:xfrm>
            <a:off x="1005840" y="4471416"/>
            <a:ext cx="10728655" cy="850392"/>
          </a:xfrm>
          <a:prstGeom prst="rect">
            <a:avLst/>
          </a:prstGeom>
          <a:noFill/>
        </p:spPr>
        <p:txBody>
          <a:bodyPr wrap="square">
            <a:spAutoFit/>
          </a:bodyPr>
          <a:lstStyle/>
          <a:p>
            <a:pPr algn="l">
              <a:defRPr sz="1300" b="0">
                <a:solidFill>
                  <a:srgbClr val="152334"/>
                </a:solidFill>
                <a:latin typeface="Arial"/>
              </a:defRPr>
            </a:pPr>
            <a:r>
              <a:t>Edit leaky.c: add free() before each early return</a:t>
            </a:r>
            <a:br/>
            <a:r>
              <a:t>Rebuild and re-run under Valgrind -- confirm 0 bytes leaked</a:t>
            </a:r>
          </a:p>
        </p:txBody>
      </p:sp>
      <p:sp>
        <p:nvSpPr>
          <p:cNvPr id="20" name="Oval 19"/>
          <p:cNvSpPr/>
          <p:nvPr/>
        </p:nvSpPr>
        <p:spPr>
          <a:xfrm>
            <a:off x="457200" y="5367528"/>
            <a:ext cx="365760" cy="3657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394960"/>
            <a:ext cx="365760" cy="320040"/>
          </a:xfrm>
          <a:prstGeom prst="rect">
            <a:avLst/>
          </a:prstGeom>
          <a:noFill/>
        </p:spPr>
        <p:txBody>
          <a:bodyPr wrap="none">
            <a:spAutoFit/>
          </a:bodyPr>
          <a:lstStyle/>
          <a:p>
            <a:pPr algn="ctr">
              <a:defRPr sz="2000" b="1">
                <a:solidFill>
                  <a:srgbClr val="FFFFFF"/>
                </a:solidFill>
                <a:latin typeface="Arial"/>
              </a:defRPr>
            </a:pPr>
            <a:r>
              <a:t>5</a:t>
            </a:r>
          </a:p>
        </p:txBody>
      </p:sp>
      <p:sp>
        <p:nvSpPr>
          <p:cNvPr id="22" name="TextBox 21"/>
          <p:cNvSpPr txBox="1"/>
          <p:nvPr/>
        </p:nvSpPr>
        <p:spPr>
          <a:xfrm>
            <a:off x="1005840" y="5321808"/>
            <a:ext cx="10728655" cy="1124712"/>
          </a:xfrm>
          <a:prstGeom prst="rect">
            <a:avLst/>
          </a:prstGeom>
          <a:noFill/>
        </p:spPr>
        <p:txBody>
          <a:bodyPr wrap="square">
            <a:spAutoFit/>
          </a:bodyPr>
          <a:lstStyle/>
          <a:p>
            <a:pPr algn="l">
              <a:defRPr sz="1600" b="1">
                <a:solidFill>
                  <a:srgbClr val="152334"/>
                </a:solidFill>
                <a:latin typeface="Arial"/>
              </a:defRPr>
            </a:pPr>
            <a:r>
              <a:t>5. Advanced: mtrace</a:t>
            </a:r>
          </a:p>
        </p:txBody>
      </p:sp>
      <p:sp>
        <p:nvSpPr>
          <p:cNvPr id="23" name="TextBox 22"/>
          <p:cNvSpPr txBox="1"/>
          <p:nvPr/>
        </p:nvSpPr>
        <p:spPr>
          <a:xfrm>
            <a:off x="1005840" y="5596128"/>
            <a:ext cx="10728655" cy="850392"/>
          </a:xfrm>
          <a:prstGeom prst="rect">
            <a:avLst/>
          </a:prstGeom>
          <a:noFill/>
        </p:spPr>
        <p:txBody>
          <a:bodyPr wrap="square">
            <a:spAutoFit/>
          </a:bodyPr>
          <a:lstStyle/>
          <a:p>
            <a:pPr algn="l">
              <a:defRPr sz="1300" b="0">
                <a:solidFill>
                  <a:srgbClr val="152334"/>
                </a:solidFill>
                <a:latin typeface="Arial"/>
              </a:defRPr>
            </a:pPr>
            <a:r>
              <a:t>Add mtrace()/muntrace() calls, rebuild</a:t>
            </a:r>
            <a:br/>
            <a:r>
              <a:t>Run with MALLOC_TRACE=/tmp/trace.log ./leaky</a:t>
            </a:r>
            <a:br/>
            <a:r>
              <a:t>Analyze with mtrace ./leaky /tmp/trace.log</a:t>
            </a:r>
          </a:p>
        </p:txBody>
      </p:sp>
      <p:sp>
        <p:nvSpPr>
          <p:cNvPr id="24" name="Rectangle 23"/>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Lab: Memory Leak Detection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Debugging Workflow: A Systematic Approach</a:t>
            </a:r>
          </a:p>
        </p:txBody>
      </p:sp>
      <p:sp>
        <p:nvSpPr>
          <p:cNvPr id="4" name="Rounded Rectangle 3"/>
          <p:cNvSpPr/>
          <p:nvPr/>
        </p:nvSpPr>
        <p:spPr>
          <a:xfrm>
            <a:off x="1828754" y="822960"/>
            <a:ext cx="8534186" cy="848868"/>
          </a:xfrm>
          <a:prstGeom prst="round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65914" y="868680"/>
            <a:ext cx="8259866" cy="424434"/>
          </a:xfrm>
          <a:prstGeom prst="rect">
            <a:avLst/>
          </a:prstGeom>
          <a:noFill/>
        </p:spPr>
        <p:txBody>
          <a:bodyPr wrap="square">
            <a:spAutoFit/>
          </a:bodyPr>
          <a:lstStyle/>
          <a:p>
            <a:pPr algn="l">
              <a:defRPr sz="1800" b="1">
                <a:solidFill>
                  <a:srgbClr val="FFFFFF"/>
                </a:solidFill>
                <a:latin typeface="Arial"/>
              </a:defRPr>
            </a:pPr>
            <a:r>
              <a:t>Reproduce</a:t>
            </a:r>
          </a:p>
        </p:txBody>
      </p:sp>
      <p:sp>
        <p:nvSpPr>
          <p:cNvPr id="6" name="TextBox 5"/>
          <p:cNvSpPr txBox="1"/>
          <p:nvPr/>
        </p:nvSpPr>
        <p:spPr>
          <a:xfrm>
            <a:off x="1965914" y="1204950"/>
            <a:ext cx="8259866" cy="424434"/>
          </a:xfrm>
          <a:prstGeom prst="rect">
            <a:avLst/>
          </a:prstGeom>
          <a:noFill/>
        </p:spPr>
        <p:txBody>
          <a:bodyPr wrap="square">
            <a:spAutoFit/>
          </a:bodyPr>
          <a:lstStyle/>
          <a:p>
            <a:pPr algn="l">
              <a:defRPr sz="1200" b="0">
                <a:solidFill>
                  <a:srgbClr val="FFFFFF"/>
                </a:solidFill>
                <a:latin typeface="Arial"/>
              </a:defRPr>
            </a:pPr>
            <a:r>
              <a:t>Can you trigger the bug reliably?</a:t>
            </a:r>
            <a:br/>
            <a:r>
              <a:t>If not, add logging and wait for it to recur</a:t>
            </a:r>
          </a:p>
        </p:txBody>
      </p:sp>
      <p:sp>
        <p:nvSpPr>
          <p:cNvPr id="7" name="Isosceles Triangle 6"/>
          <p:cNvSpPr/>
          <p:nvPr/>
        </p:nvSpPr>
        <p:spPr>
          <a:xfrm>
            <a:off x="5958687" y="1671828"/>
            <a:ext cx="274320" cy="73152"/>
          </a:xfrm>
          <a:prstGeom prst="triangl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28754" y="1744980"/>
            <a:ext cx="8534186" cy="848868"/>
          </a:xfrm>
          <a:prstGeom prst="round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65914" y="1790700"/>
            <a:ext cx="8259866" cy="424434"/>
          </a:xfrm>
          <a:prstGeom prst="rect">
            <a:avLst/>
          </a:prstGeom>
          <a:noFill/>
        </p:spPr>
        <p:txBody>
          <a:bodyPr wrap="square">
            <a:spAutoFit/>
          </a:bodyPr>
          <a:lstStyle/>
          <a:p>
            <a:pPr algn="l">
              <a:defRPr sz="1800" b="1">
                <a:solidFill>
                  <a:srgbClr val="FFFFFF"/>
                </a:solidFill>
                <a:latin typeface="Arial"/>
              </a:defRPr>
            </a:pPr>
            <a:r>
              <a:t>Observe</a:t>
            </a:r>
          </a:p>
        </p:txBody>
      </p:sp>
      <p:sp>
        <p:nvSpPr>
          <p:cNvPr id="10" name="TextBox 9"/>
          <p:cNvSpPr txBox="1"/>
          <p:nvPr/>
        </p:nvSpPr>
        <p:spPr>
          <a:xfrm>
            <a:off x="1965914" y="2126970"/>
            <a:ext cx="8259866" cy="424434"/>
          </a:xfrm>
          <a:prstGeom prst="rect">
            <a:avLst/>
          </a:prstGeom>
          <a:noFill/>
        </p:spPr>
        <p:txBody>
          <a:bodyPr wrap="square">
            <a:spAutoFit/>
          </a:bodyPr>
          <a:lstStyle/>
          <a:p>
            <a:pPr algn="l">
              <a:defRPr sz="1200" b="0">
                <a:solidFill>
                  <a:srgbClr val="FFFFFF"/>
                </a:solidFill>
                <a:latin typeface="Arial"/>
              </a:defRPr>
            </a:pPr>
            <a:r>
              <a:t>What are the symptoms? Crash, hang, wrong output?</a:t>
            </a:r>
            <a:br/>
            <a:r>
              <a:t>Check logs: dmesg, /var/log, serial console</a:t>
            </a:r>
          </a:p>
        </p:txBody>
      </p:sp>
      <p:sp>
        <p:nvSpPr>
          <p:cNvPr id="11" name="Isosceles Triangle 10"/>
          <p:cNvSpPr/>
          <p:nvPr/>
        </p:nvSpPr>
        <p:spPr>
          <a:xfrm>
            <a:off x="5958687" y="2593848"/>
            <a:ext cx="274320" cy="73152"/>
          </a:xfrm>
          <a:prstGeom prst="triangl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828754" y="2667000"/>
            <a:ext cx="8534186" cy="848868"/>
          </a:xfrm>
          <a:prstGeom prst="round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65914" y="2712720"/>
            <a:ext cx="8259866" cy="424434"/>
          </a:xfrm>
          <a:prstGeom prst="rect">
            <a:avLst/>
          </a:prstGeom>
          <a:noFill/>
        </p:spPr>
        <p:txBody>
          <a:bodyPr wrap="square">
            <a:spAutoFit/>
          </a:bodyPr>
          <a:lstStyle/>
          <a:p>
            <a:pPr algn="l">
              <a:defRPr sz="1800" b="1">
                <a:solidFill>
                  <a:srgbClr val="FFFFFF"/>
                </a:solidFill>
                <a:latin typeface="Arial"/>
              </a:defRPr>
            </a:pPr>
            <a:r>
              <a:t>Isolate</a:t>
            </a:r>
          </a:p>
        </p:txBody>
      </p:sp>
      <p:sp>
        <p:nvSpPr>
          <p:cNvPr id="14" name="TextBox 13"/>
          <p:cNvSpPr txBox="1"/>
          <p:nvPr/>
        </p:nvSpPr>
        <p:spPr>
          <a:xfrm>
            <a:off x="1965914" y="3048990"/>
            <a:ext cx="8259866" cy="424434"/>
          </a:xfrm>
          <a:prstGeom prst="rect">
            <a:avLst/>
          </a:prstGeom>
          <a:noFill/>
        </p:spPr>
        <p:txBody>
          <a:bodyPr wrap="square">
            <a:spAutoFit/>
          </a:bodyPr>
          <a:lstStyle/>
          <a:p>
            <a:pPr algn="l">
              <a:defRPr sz="1200" b="0">
                <a:solidFill>
                  <a:srgbClr val="FFFFFF"/>
                </a:solidFill>
                <a:latin typeface="Arial"/>
              </a:defRPr>
            </a:pPr>
            <a:r>
              <a:t>Narrow down: which process, which function?</a:t>
            </a:r>
            <a:br/>
            <a:r>
              <a:t>Use: top, strace, /proc/&lt;pid&gt;/maps</a:t>
            </a:r>
          </a:p>
        </p:txBody>
      </p:sp>
      <p:sp>
        <p:nvSpPr>
          <p:cNvPr id="15" name="Isosceles Triangle 14"/>
          <p:cNvSpPr/>
          <p:nvPr/>
        </p:nvSpPr>
        <p:spPr>
          <a:xfrm>
            <a:off x="5958687" y="3515868"/>
            <a:ext cx="274320" cy="73152"/>
          </a:xfrm>
          <a:prstGeom prst="triangl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828754" y="3589020"/>
            <a:ext cx="8534186" cy="848868"/>
          </a:xfrm>
          <a:prstGeom prst="round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65914" y="3634740"/>
            <a:ext cx="8259866" cy="424434"/>
          </a:xfrm>
          <a:prstGeom prst="rect">
            <a:avLst/>
          </a:prstGeom>
          <a:noFill/>
        </p:spPr>
        <p:txBody>
          <a:bodyPr wrap="square">
            <a:spAutoFit/>
          </a:bodyPr>
          <a:lstStyle/>
          <a:p>
            <a:pPr algn="l">
              <a:defRPr sz="1800" b="1">
                <a:solidFill>
                  <a:srgbClr val="FFFFFF"/>
                </a:solidFill>
                <a:latin typeface="Arial"/>
              </a:defRPr>
            </a:pPr>
            <a:r>
              <a:t>Instrument</a:t>
            </a:r>
          </a:p>
        </p:txBody>
      </p:sp>
      <p:sp>
        <p:nvSpPr>
          <p:cNvPr id="18" name="TextBox 17"/>
          <p:cNvSpPr txBox="1"/>
          <p:nvPr/>
        </p:nvSpPr>
        <p:spPr>
          <a:xfrm>
            <a:off x="1965914" y="3971010"/>
            <a:ext cx="8259866" cy="424434"/>
          </a:xfrm>
          <a:prstGeom prst="rect">
            <a:avLst/>
          </a:prstGeom>
          <a:noFill/>
        </p:spPr>
        <p:txBody>
          <a:bodyPr wrap="square">
            <a:spAutoFit/>
          </a:bodyPr>
          <a:lstStyle/>
          <a:p>
            <a:pPr algn="l">
              <a:defRPr sz="1200" b="0">
                <a:solidFill>
                  <a:srgbClr val="FFFFFF"/>
                </a:solidFill>
                <a:latin typeface="Arial"/>
              </a:defRPr>
            </a:pPr>
            <a:r>
              <a:t>Add targeted observation:</a:t>
            </a:r>
            <a:br/>
            <a:r>
              <a:t>GDB for logic, perf for performance, Valgrind for memory</a:t>
            </a:r>
          </a:p>
        </p:txBody>
      </p:sp>
      <p:sp>
        <p:nvSpPr>
          <p:cNvPr id="19" name="Isosceles Triangle 18"/>
          <p:cNvSpPr/>
          <p:nvPr/>
        </p:nvSpPr>
        <p:spPr>
          <a:xfrm>
            <a:off x="5958687" y="4437888"/>
            <a:ext cx="274320" cy="73152"/>
          </a:xfrm>
          <a:prstGeom prst="triangl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828754" y="4511040"/>
            <a:ext cx="8534186" cy="848868"/>
          </a:xfrm>
          <a:prstGeom prst="round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65914" y="4556760"/>
            <a:ext cx="8259866" cy="424434"/>
          </a:xfrm>
          <a:prstGeom prst="rect">
            <a:avLst/>
          </a:prstGeom>
          <a:noFill/>
        </p:spPr>
        <p:txBody>
          <a:bodyPr wrap="square">
            <a:spAutoFit/>
          </a:bodyPr>
          <a:lstStyle/>
          <a:p>
            <a:pPr algn="l">
              <a:defRPr sz="1800" b="1">
                <a:solidFill>
                  <a:srgbClr val="FFFFFF"/>
                </a:solidFill>
                <a:latin typeface="Arial"/>
              </a:defRPr>
            </a:pPr>
            <a:r>
              <a:t>Analyze</a:t>
            </a:r>
          </a:p>
        </p:txBody>
      </p:sp>
      <p:sp>
        <p:nvSpPr>
          <p:cNvPr id="22" name="TextBox 21"/>
          <p:cNvSpPr txBox="1"/>
          <p:nvPr/>
        </p:nvSpPr>
        <p:spPr>
          <a:xfrm>
            <a:off x="1965914" y="4893030"/>
            <a:ext cx="8259866" cy="424434"/>
          </a:xfrm>
          <a:prstGeom prst="rect">
            <a:avLst/>
          </a:prstGeom>
          <a:noFill/>
        </p:spPr>
        <p:txBody>
          <a:bodyPr wrap="square">
            <a:spAutoFit/>
          </a:bodyPr>
          <a:lstStyle/>
          <a:p>
            <a:pPr algn="l">
              <a:defRPr sz="1200" b="0">
                <a:solidFill>
                  <a:srgbClr val="FFFFFF"/>
                </a:solidFill>
                <a:latin typeface="Arial"/>
              </a:defRPr>
            </a:pPr>
            <a:r>
              <a:t>Examine the data: backtrace, profile report,</a:t>
            </a:r>
            <a:br/>
            <a:r>
              <a:t>memory leak report, Oops decode</a:t>
            </a:r>
          </a:p>
        </p:txBody>
      </p:sp>
      <p:sp>
        <p:nvSpPr>
          <p:cNvPr id="23" name="Isosceles Triangle 22"/>
          <p:cNvSpPr/>
          <p:nvPr/>
        </p:nvSpPr>
        <p:spPr>
          <a:xfrm>
            <a:off x="5958687" y="5359908"/>
            <a:ext cx="274320" cy="73152"/>
          </a:xfrm>
          <a:prstGeom prst="triangle">
            <a:avLst/>
          </a:prstGeom>
          <a:solidFill>
            <a:srgbClr val="9999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828754" y="5433060"/>
            <a:ext cx="8534186" cy="848868"/>
          </a:xfrm>
          <a:prstGeom prst="round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65914" y="5478780"/>
            <a:ext cx="8259866" cy="424434"/>
          </a:xfrm>
          <a:prstGeom prst="rect">
            <a:avLst/>
          </a:prstGeom>
          <a:noFill/>
        </p:spPr>
        <p:txBody>
          <a:bodyPr wrap="square">
            <a:spAutoFit/>
          </a:bodyPr>
          <a:lstStyle/>
          <a:p>
            <a:pPr algn="l">
              <a:defRPr sz="1800" b="1">
                <a:solidFill>
                  <a:srgbClr val="FFFFFF"/>
                </a:solidFill>
                <a:latin typeface="Arial"/>
              </a:defRPr>
            </a:pPr>
            <a:r>
              <a:t>Fix &amp; Verify</a:t>
            </a:r>
          </a:p>
        </p:txBody>
      </p:sp>
      <p:sp>
        <p:nvSpPr>
          <p:cNvPr id="26" name="TextBox 25"/>
          <p:cNvSpPr txBox="1"/>
          <p:nvPr/>
        </p:nvSpPr>
        <p:spPr>
          <a:xfrm>
            <a:off x="1965914" y="5815050"/>
            <a:ext cx="8259866" cy="424434"/>
          </a:xfrm>
          <a:prstGeom prst="rect">
            <a:avLst/>
          </a:prstGeom>
          <a:noFill/>
        </p:spPr>
        <p:txBody>
          <a:bodyPr wrap="square">
            <a:spAutoFit/>
          </a:bodyPr>
          <a:lstStyle/>
          <a:p>
            <a:pPr algn="l">
              <a:defRPr sz="1200" b="0">
                <a:solidFill>
                  <a:srgbClr val="FFFFFF"/>
                </a:solidFill>
                <a:latin typeface="Arial"/>
              </a:defRPr>
            </a:pPr>
            <a:r>
              <a:t>Apply the fix, re-test, re-profile</a:t>
            </a:r>
            <a:br/>
            <a:r>
              <a:t>Confirm the bug is gone AND no regressions</a:t>
            </a:r>
          </a:p>
        </p:txBody>
      </p:sp>
      <p:sp>
        <p:nvSpPr>
          <p:cNvPr id="27" name="Rectangle 26"/>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Quick Reference: What to Use When</a:t>
            </a:r>
          </a:p>
        </p:txBody>
      </p:sp>
      <p:sp>
        <p:nvSpPr>
          <p:cNvPr id="4" name="Rounded Rectangle 3"/>
          <p:cNvSpPr/>
          <p:nvPr/>
        </p:nvSpPr>
        <p:spPr>
          <a:xfrm>
            <a:off x="457200" y="822960"/>
            <a:ext cx="5547207" cy="845820"/>
          </a:xfrm>
          <a:prstGeom prst="roundRect">
            <a:avLst/>
          </a:prstGeom>
          <a:solidFill>
            <a:srgbClr val="FDF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822960"/>
            <a:ext cx="5547207" cy="365760"/>
          </a:xfrm>
          <a:prstGeom prst="round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5272887" cy="365760"/>
          </a:xfrm>
          <a:prstGeom prst="rect">
            <a:avLst/>
          </a:prstGeom>
          <a:noFill/>
        </p:spPr>
        <p:txBody>
          <a:bodyPr wrap="square">
            <a:spAutoFit/>
          </a:bodyPr>
          <a:lstStyle/>
          <a:p>
            <a:pPr>
              <a:defRPr sz="2000" b="1">
                <a:solidFill>
                  <a:srgbClr val="FFFFFF"/>
                </a:solidFill>
                <a:latin typeface="Arial"/>
              </a:defRPr>
            </a:pPr>
            <a:r>
              <a:t>Program crashes or segfaults</a:t>
            </a:r>
          </a:p>
        </p:txBody>
      </p:sp>
      <p:sp>
        <p:nvSpPr>
          <p:cNvPr id="7" name="TextBox 6"/>
          <p:cNvSpPr txBox="1"/>
          <p:nvPr/>
        </p:nvSpPr>
        <p:spPr>
          <a:xfrm>
            <a:off x="594360" y="1280160"/>
            <a:ext cx="5272887" cy="342900"/>
          </a:xfrm>
          <a:prstGeom prst="rect">
            <a:avLst/>
          </a:prstGeom>
          <a:noFill/>
        </p:spPr>
        <p:txBody>
          <a:bodyPr wrap="square">
            <a:spAutoFit/>
          </a:bodyPr>
          <a:lstStyle/>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y</a:t>
            </a:r>
          </a:p>
          <a:p>
            <a:pPr>
              <a:spcAft>
                <a:spcPts val="600"/>
              </a:spcAft>
              <a:defRPr sz="1200">
                <a:solidFill>
                  <a:srgbClr val="152334"/>
                </a:solidFill>
                <a:latin typeface="Arial"/>
              </a:defRPr>
            </a:pPr>
            <a:r>
              <a:t>z</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b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e</a:t>
            </a:r>
          </a:p>
        </p:txBody>
      </p:sp>
      <p:sp>
        <p:nvSpPr>
          <p:cNvPr id="8" name="Rounded Rectangle 7"/>
          <p:cNvSpPr/>
          <p:nvPr/>
        </p:nvSpPr>
        <p:spPr>
          <a:xfrm>
            <a:off x="6187287" y="822960"/>
            <a:ext cx="5547207" cy="845820"/>
          </a:xfrm>
          <a:prstGeom prst="roundRect">
            <a:avLst/>
          </a:prstGeom>
          <a:solidFill>
            <a:srgbClr val="E6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7287" y="822960"/>
            <a:ext cx="5547207" cy="365760"/>
          </a:xfrm>
          <a:prstGeom prst="round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868680"/>
            <a:ext cx="5272887" cy="365760"/>
          </a:xfrm>
          <a:prstGeom prst="rect">
            <a:avLst/>
          </a:prstGeom>
          <a:noFill/>
        </p:spPr>
        <p:txBody>
          <a:bodyPr wrap="square">
            <a:spAutoFit/>
          </a:bodyPr>
          <a:lstStyle/>
          <a:p>
            <a:pPr>
              <a:defRPr sz="2000" b="1">
                <a:solidFill>
                  <a:srgbClr val="FFFFFF"/>
                </a:solidFill>
                <a:latin typeface="Arial"/>
              </a:defRPr>
            </a:pPr>
            <a:r>
              <a:t>Program runs but produces wrong results</a:t>
            </a:r>
          </a:p>
        </p:txBody>
      </p:sp>
      <p:sp>
        <p:nvSpPr>
          <p:cNvPr id="11" name="TextBox 10"/>
          <p:cNvSpPr txBox="1"/>
          <p:nvPr/>
        </p:nvSpPr>
        <p:spPr>
          <a:xfrm>
            <a:off x="6324447" y="1280160"/>
            <a:ext cx="5272887" cy="342900"/>
          </a:xfrm>
          <a:prstGeom prst="rect">
            <a:avLst/>
          </a:prstGeom>
          <a:noFill/>
        </p:spPr>
        <p:txBody>
          <a:bodyPr wrap="square">
            <a:spAutoFit/>
          </a:bodyPr>
          <a:lstStyle/>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b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p:txBody>
      </p:sp>
      <p:sp>
        <p:nvSpPr>
          <p:cNvPr id="12" name="Rounded Rectangle 11"/>
          <p:cNvSpPr/>
          <p:nvPr/>
        </p:nvSpPr>
        <p:spPr>
          <a:xfrm>
            <a:off x="457200" y="1760220"/>
            <a:ext cx="5547207" cy="845820"/>
          </a:xfrm>
          <a:prstGeom prst="roundRect">
            <a:avLst/>
          </a:prstGeom>
          <a:solidFill>
            <a:srgbClr val="EB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7200" y="1760220"/>
            <a:ext cx="5547207" cy="365760"/>
          </a:xfrm>
          <a:prstGeom prst="round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1805940"/>
            <a:ext cx="5272887" cy="365760"/>
          </a:xfrm>
          <a:prstGeom prst="rect">
            <a:avLst/>
          </a:prstGeom>
          <a:noFill/>
        </p:spPr>
        <p:txBody>
          <a:bodyPr wrap="square">
            <a:spAutoFit/>
          </a:bodyPr>
          <a:lstStyle/>
          <a:p>
            <a:pPr>
              <a:defRPr sz="2000" b="1">
                <a:solidFill>
                  <a:srgbClr val="FFFFFF"/>
                </a:solidFill>
                <a:latin typeface="Arial"/>
              </a:defRPr>
            </a:pPr>
            <a:r>
              <a:t>Program is slow or uses too much CPU</a:t>
            </a:r>
          </a:p>
        </p:txBody>
      </p:sp>
      <p:sp>
        <p:nvSpPr>
          <p:cNvPr id="15" name="TextBox 14"/>
          <p:cNvSpPr txBox="1"/>
          <p:nvPr/>
        </p:nvSpPr>
        <p:spPr>
          <a:xfrm>
            <a:off x="594360" y="2217420"/>
            <a:ext cx="5272887" cy="342900"/>
          </a:xfrm>
          <a:prstGeom prst="rect">
            <a:avLst/>
          </a:prstGeom>
          <a:noFill/>
        </p:spPr>
        <p:txBody>
          <a:bodyPr wrap="square">
            <a:spAutoFit/>
          </a:bodyPr>
          <a:lstStyle/>
          <a:p>
            <a:pPr>
              <a:spcAft>
                <a:spcPts val="600"/>
              </a:spcAft>
              <a:defRPr sz="1200">
                <a:solidFill>
                  <a:srgbClr val="152334"/>
                </a:solidFill>
                <a:latin typeface="Arial"/>
              </a:defRPr>
            </a:pPr>
            <a:r>
              <a:t>p</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q</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b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y</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y</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s</a:t>
            </a:r>
          </a:p>
        </p:txBody>
      </p:sp>
      <p:sp>
        <p:nvSpPr>
          <p:cNvPr id="16" name="Rounded Rectangle 15"/>
          <p:cNvSpPr/>
          <p:nvPr/>
        </p:nvSpPr>
        <p:spPr>
          <a:xfrm>
            <a:off x="6187287" y="1760220"/>
            <a:ext cx="5547207" cy="845820"/>
          </a:xfrm>
          <a:prstGeom prst="roundRect">
            <a:avLst/>
          </a:prstGeom>
          <a:solidFill>
            <a:srgbClr val="FFF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87287" y="1760220"/>
            <a:ext cx="5547207" cy="365760"/>
          </a:xfrm>
          <a:prstGeom prst="round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447" y="1805940"/>
            <a:ext cx="5272887" cy="365760"/>
          </a:xfrm>
          <a:prstGeom prst="rect">
            <a:avLst/>
          </a:prstGeom>
          <a:noFill/>
        </p:spPr>
        <p:txBody>
          <a:bodyPr wrap="square">
            <a:spAutoFit/>
          </a:bodyPr>
          <a:lstStyle/>
          <a:p>
            <a:pPr>
              <a:defRPr sz="2000" b="1">
                <a:solidFill>
                  <a:srgbClr val="FFFFFF"/>
                </a:solidFill>
                <a:latin typeface="Arial"/>
              </a:defRPr>
            </a:pPr>
            <a:r>
              <a:t>Program fails silently (no output, no crash)</a:t>
            </a:r>
          </a:p>
        </p:txBody>
      </p:sp>
      <p:sp>
        <p:nvSpPr>
          <p:cNvPr id="19" name="TextBox 18"/>
          <p:cNvSpPr txBox="1"/>
          <p:nvPr/>
        </p:nvSpPr>
        <p:spPr>
          <a:xfrm>
            <a:off x="6324447" y="2217420"/>
            <a:ext cx="5272887" cy="342900"/>
          </a:xfrm>
          <a:prstGeom prst="rect">
            <a:avLst/>
          </a:prstGeom>
          <a:noFill/>
        </p:spPr>
        <p:txBody>
          <a:bodyPr wrap="square">
            <a:spAutoFit/>
          </a:bodyPr>
          <a:lstStyle/>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y</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b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s</a:t>
            </a:r>
          </a:p>
        </p:txBody>
      </p:sp>
      <p:sp>
        <p:nvSpPr>
          <p:cNvPr id="20" name="Rounded Rectangle 19"/>
          <p:cNvSpPr/>
          <p:nvPr/>
        </p:nvSpPr>
        <p:spPr>
          <a:xfrm>
            <a:off x="457200" y="2697480"/>
            <a:ext cx="5547207" cy="845820"/>
          </a:xfrm>
          <a:prstGeom prst="roundRect">
            <a:avLst/>
          </a:prstGeom>
          <a:solidFill>
            <a:srgbClr val="FDF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57200" y="2697480"/>
            <a:ext cx="5547207" cy="365760"/>
          </a:xfrm>
          <a:prstGeom prst="round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2743200"/>
            <a:ext cx="5272887" cy="365760"/>
          </a:xfrm>
          <a:prstGeom prst="rect">
            <a:avLst/>
          </a:prstGeom>
          <a:noFill/>
        </p:spPr>
        <p:txBody>
          <a:bodyPr wrap="square">
            <a:spAutoFit/>
          </a:bodyPr>
          <a:lstStyle/>
          <a:p>
            <a:pPr>
              <a:defRPr sz="2000" b="1">
                <a:solidFill>
                  <a:srgbClr val="FFFFFF"/>
                </a:solidFill>
                <a:latin typeface="Arial"/>
              </a:defRPr>
            </a:pPr>
            <a:r>
              <a:t>Program uses too much memory over time</a:t>
            </a:r>
          </a:p>
        </p:txBody>
      </p:sp>
      <p:sp>
        <p:nvSpPr>
          <p:cNvPr id="23" name="TextBox 22"/>
          <p:cNvSpPr txBox="1"/>
          <p:nvPr/>
        </p:nvSpPr>
        <p:spPr>
          <a:xfrm>
            <a:off x="594360" y="3154680"/>
            <a:ext cx="5272887" cy="342900"/>
          </a:xfrm>
          <a:prstGeom prst="rect">
            <a:avLst/>
          </a:prstGeom>
          <a:noFill/>
        </p:spPr>
        <p:txBody>
          <a:bodyPr wrap="square">
            <a:spAutoFit/>
          </a:bodyPr>
          <a:lstStyle/>
          <a:p>
            <a:pPr>
              <a:spcAft>
                <a:spcPts val="600"/>
              </a:spcAft>
              <a:defRPr sz="1200">
                <a:solidFill>
                  <a:srgbClr val="152334"/>
                </a:solidFill>
                <a:latin typeface="Arial"/>
              </a:defRPr>
            </a:pPr>
            <a:r>
              <a:t>V</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b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p:txBody>
      </p:sp>
      <p:sp>
        <p:nvSpPr>
          <p:cNvPr id="24" name="Rounded Rectangle 23"/>
          <p:cNvSpPr/>
          <p:nvPr/>
        </p:nvSpPr>
        <p:spPr>
          <a:xfrm>
            <a:off x="6187287" y="2697480"/>
            <a:ext cx="5547207" cy="845820"/>
          </a:xfrm>
          <a:prstGeom prst="roundRect">
            <a:avLst/>
          </a:prstGeom>
          <a:solidFill>
            <a:srgbClr val="E6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87287" y="2697480"/>
            <a:ext cx="5547207" cy="365760"/>
          </a:xfrm>
          <a:prstGeom prst="round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24447" y="2743200"/>
            <a:ext cx="5272887" cy="365760"/>
          </a:xfrm>
          <a:prstGeom prst="rect">
            <a:avLst/>
          </a:prstGeom>
          <a:noFill/>
        </p:spPr>
        <p:txBody>
          <a:bodyPr wrap="square">
            <a:spAutoFit/>
          </a:bodyPr>
          <a:lstStyle/>
          <a:p>
            <a:pPr>
              <a:defRPr sz="2000" b="1">
                <a:solidFill>
                  <a:srgbClr val="FFFFFF"/>
                </a:solidFill>
                <a:latin typeface="Arial"/>
              </a:defRPr>
            </a:pPr>
            <a:r>
              <a:t>Kernel crashes or misbehaves</a:t>
            </a:r>
          </a:p>
        </p:txBody>
      </p:sp>
      <p:sp>
        <p:nvSpPr>
          <p:cNvPr id="27" name="TextBox 26"/>
          <p:cNvSpPr txBox="1"/>
          <p:nvPr/>
        </p:nvSpPr>
        <p:spPr>
          <a:xfrm>
            <a:off x="6324447" y="3154680"/>
            <a:ext cx="5272887" cy="342900"/>
          </a:xfrm>
          <a:prstGeom prst="rect">
            <a:avLst/>
          </a:prstGeom>
          <a:noFill/>
        </p:spPr>
        <p:txBody>
          <a:bodyPr wrap="square">
            <a:spAutoFit/>
          </a:bodyPr>
          <a:lstStyle/>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2</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b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g</a:t>
            </a:r>
          </a:p>
        </p:txBody>
      </p:sp>
      <p:sp>
        <p:nvSpPr>
          <p:cNvPr id="28" name="Rectangle 27"/>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Session Summary</a:t>
            </a:r>
          </a:p>
        </p:txBody>
      </p:sp>
      <p:sp>
        <p:nvSpPr>
          <p:cNvPr id="4" name="Rectangle 3"/>
          <p:cNvSpPr/>
          <p:nvPr/>
        </p:nvSpPr>
        <p:spPr>
          <a:xfrm>
            <a:off x="457200" y="822960"/>
            <a:ext cx="73152" cy="757645"/>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22960"/>
            <a:ext cx="11048695" cy="803365"/>
          </a:xfrm>
          <a:prstGeom prst="rect">
            <a:avLst/>
          </a:prstGeom>
          <a:noFill/>
        </p:spPr>
        <p:txBody>
          <a:bodyPr wrap="square">
            <a:spAutoFit/>
          </a:bodyPr>
          <a:lstStyle/>
          <a:p>
            <a:pPr algn="l">
              <a:defRPr sz="1600" b="0">
                <a:solidFill>
                  <a:srgbClr val="152334"/>
                </a:solidFill>
                <a:latin typeface="Arial"/>
              </a:defRPr>
            </a:pPr>
            <a:r>
              <a:t>GDB: native and remote debugging, core files, kernel debugging with kgdb/kdb</a:t>
            </a:r>
          </a:p>
        </p:txBody>
      </p:sp>
      <p:sp>
        <p:nvSpPr>
          <p:cNvPr id="6" name="Rectangle 5"/>
          <p:cNvSpPr/>
          <p:nvPr/>
        </p:nvSpPr>
        <p:spPr>
          <a:xfrm>
            <a:off x="457200" y="1626325"/>
            <a:ext cx="73152" cy="757645"/>
          </a:xfrm>
          <a:prstGeom prst="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26325"/>
            <a:ext cx="11048695" cy="803365"/>
          </a:xfrm>
          <a:prstGeom prst="rect">
            <a:avLst/>
          </a:prstGeom>
          <a:noFill/>
        </p:spPr>
        <p:txBody>
          <a:bodyPr wrap="square">
            <a:spAutoFit/>
          </a:bodyPr>
          <a:lstStyle/>
          <a:p>
            <a:pPr algn="l">
              <a:defRPr sz="1600" b="0">
                <a:solidFill>
                  <a:srgbClr val="152334"/>
                </a:solidFill>
                <a:latin typeface="Arial"/>
              </a:defRPr>
            </a:pPr>
            <a:r>
              <a:t>perf: hardware counter profiling, call graph analysis, live system monitoring</a:t>
            </a:r>
          </a:p>
        </p:txBody>
      </p:sp>
      <p:sp>
        <p:nvSpPr>
          <p:cNvPr id="8" name="Rectangle 7"/>
          <p:cNvSpPr/>
          <p:nvPr/>
        </p:nvSpPr>
        <p:spPr>
          <a:xfrm>
            <a:off x="457200" y="2429691"/>
            <a:ext cx="73152" cy="757645"/>
          </a:xfrm>
          <a:prstGeom prst="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429691"/>
            <a:ext cx="11048695" cy="803365"/>
          </a:xfrm>
          <a:prstGeom prst="rect">
            <a:avLst/>
          </a:prstGeom>
          <a:noFill/>
        </p:spPr>
        <p:txBody>
          <a:bodyPr wrap="square">
            <a:spAutoFit/>
          </a:bodyPr>
          <a:lstStyle/>
          <a:p>
            <a:pPr algn="l">
              <a:defRPr sz="1600" b="0">
                <a:solidFill>
                  <a:srgbClr val="152334"/>
                </a:solidFill>
                <a:latin typeface="Arial"/>
              </a:defRPr>
            </a:pPr>
            <a:r>
              <a:t>ftrace: kernel function tracing, latency measurement, event tracing</a:t>
            </a:r>
          </a:p>
        </p:txBody>
      </p:sp>
      <p:sp>
        <p:nvSpPr>
          <p:cNvPr id="10" name="Rectangle 9"/>
          <p:cNvSpPr/>
          <p:nvPr/>
        </p:nvSpPr>
        <p:spPr>
          <a:xfrm>
            <a:off x="457200" y="3233057"/>
            <a:ext cx="73152" cy="757645"/>
          </a:xfrm>
          <a:prstGeom prst="rect">
            <a:avLst/>
          </a:prstGeom>
          <a:solidFill>
            <a:srgbClr val="3D6F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233057"/>
            <a:ext cx="11048695" cy="803365"/>
          </a:xfrm>
          <a:prstGeom prst="rect">
            <a:avLst/>
          </a:prstGeom>
          <a:noFill/>
        </p:spPr>
        <p:txBody>
          <a:bodyPr wrap="square">
            <a:spAutoFit/>
          </a:bodyPr>
          <a:lstStyle/>
          <a:p>
            <a:pPr algn="l">
              <a:defRPr sz="1600" b="0">
                <a:solidFill>
                  <a:srgbClr val="152334"/>
                </a:solidFill>
                <a:latin typeface="Arial"/>
              </a:defRPr>
            </a:pPr>
            <a:r>
              <a:t>strace: syscall tracing for quick diagnosis of silent failures</a:t>
            </a:r>
          </a:p>
        </p:txBody>
      </p:sp>
      <p:sp>
        <p:nvSpPr>
          <p:cNvPr id="12" name="Rectangle 11"/>
          <p:cNvSpPr/>
          <p:nvPr/>
        </p:nvSpPr>
        <p:spPr>
          <a:xfrm>
            <a:off x="457200" y="4036422"/>
            <a:ext cx="73152" cy="757645"/>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036422"/>
            <a:ext cx="11048695" cy="803365"/>
          </a:xfrm>
          <a:prstGeom prst="rect">
            <a:avLst/>
          </a:prstGeom>
          <a:noFill/>
        </p:spPr>
        <p:txBody>
          <a:bodyPr wrap="square">
            <a:spAutoFit/>
          </a:bodyPr>
          <a:lstStyle/>
          <a:p>
            <a:pPr algn="l">
              <a:defRPr sz="1600" b="0">
                <a:solidFill>
                  <a:srgbClr val="152334"/>
                </a:solidFill>
                <a:latin typeface="Arial"/>
              </a:defRPr>
            </a:pPr>
            <a:r>
              <a:t>Valgrind: memory error detection, leak detection, cache profiling</a:t>
            </a:r>
          </a:p>
        </p:txBody>
      </p:sp>
      <p:sp>
        <p:nvSpPr>
          <p:cNvPr id="14" name="Rectangle 13"/>
          <p:cNvSpPr/>
          <p:nvPr/>
        </p:nvSpPr>
        <p:spPr>
          <a:xfrm>
            <a:off x="457200" y="4839788"/>
            <a:ext cx="73152" cy="757645"/>
          </a:xfrm>
          <a:prstGeom prst="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839788"/>
            <a:ext cx="11048695" cy="803365"/>
          </a:xfrm>
          <a:prstGeom prst="rect">
            <a:avLst/>
          </a:prstGeom>
          <a:noFill/>
        </p:spPr>
        <p:txBody>
          <a:bodyPr wrap="square">
            <a:spAutoFit/>
          </a:bodyPr>
          <a:lstStyle/>
          <a:p>
            <a:pPr algn="l">
              <a:defRPr sz="1600" b="0">
                <a:solidFill>
                  <a:srgbClr val="152334"/>
                </a:solidFill>
                <a:latin typeface="Arial"/>
              </a:defRPr>
            </a:pPr>
            <a:r>
              <a:t>Memory management: virtual memory, OOM handling, mmap for hardware access</a:t>
            </a:r>
          </a:p>
        </p:txBody>
      </p:sp>
      <p:sp>
        <p:nvSpPr>
          <p:cNvPr id="16" name="Rectangle 15"/>
          <p:cNvSpPr/>
          <p:nvPr/>
        </p:nvSpPr>
        <p:spPr>
          <a:xfrm>
            <a:off x="457200" y="5643154"/>
            <a:ext cx="73152" cy="757645"/>
          </a:xfrm>
          <a:prstGeom prst="rect">
            <a:avLst/>
          </a:prstGeom>
          <a:solidFill>
            <a:srgbClr val="197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643154"/>
            <a:ext cx="11048695" cy="803365"/>
          </a:xfrm>
          <a:prstGeom prst="rect">
            <a:avLst/>
          </a:prstGeom>
          <a:noFill/>
        </p:spPr>
        <p:txBody>
          <a:bodyPr wrap="square">
            <a:spAutoFit/>
          </a:bodyPr>
          <a:lstStyle/>
          <a:p>
            <a:pPr algn="l">
              <a:defRPr sz="1600" b="0">
                <a:solidFill>
                  <a:srgbClr val="152334"/>
                </a:solidFill>
                <a:latin typeface="Arial"/>
              </a:defRPr>
            </a:pPr>
            <a:r>
              <a:t>Tool selection: start broad (top, strace), then targeted (GDB, perf, Valgrind)</a:t>
            </a:r>
          </a:p>
        </p:txBody>
      </p:sp>
      <p:sp>
        <p:nvSpPr>
          <p:cNvPr id="18" name="Rectangle 17"/>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sp>
        <p:nvSpPr>
          <p:cNvPr id="2" name="Rectangle 1"/>
          <p:cNvSpPr/>
          <p:nvPr/>
        </p:nvSpPr>
        <p:spPr>
          <a:xfrm>
            <a:off x="0" y="0"/>
            <a:ext cx="12191695" cy="137160"/>
          </a:xfrm>
          <a:prstGeom prst="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p:sp>
        <p:nvSpPr>
          <p:cNvPr id="3" name="TextBox 2"/>
          <p:cNvSpPr txBox="1"/>
          <p:nvPr/>
        </p:nvSpPr>
        <p:spPr>
          <a:xfrm>
            <a:off x="457200" y="274320"/>
            <a:ext cx="11277295" cy="640080"/>
          </a:xfrm>
          <a:prstGeom prst="rect">
            <a:avLst/>
          </a:prstGeom>
          <a:noFill/>
        </p:spPr>
        <p:txBody>
          <a:bodyPr wrap="square">
            <a:spAutoFit/>
          </a:bodyPr>
          <a:lstStyle/>
          <a:p>
            <a:pPr algn="l">
              <a:defRPr sz="2800" b="1">
                <a:solidFill>
                  <a:srgbClr val="152334"/>
                </a:solidFill>
                <a:latin typeface="Arial"/>
              </a:defRPr>
            </a:pPr>
            <a:r>
              <a:t>Quiz &amp; Assignment</a:t>
            </a:r>
          </a:p>
        </p:txBody>
      </p:sp>
      <p:sp>
        <p:nvSpPr>
          <p:cNvPr id="4" name="Rounded Rectangle 3"/>
          <p:cNvSpPr/>
          <p:nvPr/>
        </p:nvSpPr>
        <p:spPr>
          <a:xfrm>
            <a:off x="457200" y="822960"/>
            <a:ext cx="5547207" cy="2720340"/>
          </a:xfrm>
          <a:prstGeom prst="roundRect">
            <a:avLst/>
          </a:prstGeom>
          <a:solidFill>
            <a:srgbClr val="FDF4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822960"/>
            <a:ext cx="5547207" cy="365760"/>
          </a:xfrm>
          <a:prstGeom prst="roundRect">
            <a:avLst/>
          </a:prstGeom>
          <a:solidFill>
            <a:srgbClr val="F0B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5272887" cy="365760"/>
          </a:xfrm>
          <a:prstGeom prst="rect">
            <a:avLst/>
          </a:prstGeom>
          <a:noFill/>
        </p:spPr>
        <p:txBody>
          <a:bodyPr wrap="square">
            <a:spAutoFit/>
          </a:bodyPr>
          <a:lstStyle/>
          <a:p>
            <a:pPr>
              <a:defRPr sz="2000" b="1">
                <a:solidFill>
                  <a:srgbClr val="FFFFFF"/>
                </a:solidFill>
                <a:latin typeface="Arial"/>
              </a:defRPr>
            </a:pPr>
            <a:r>
              <a:t>Quiz (Canvas)</a:t>
            </a:r>
          </a:p>
        </p:txBody>
      </p:sp>
      <p:sp>
        <p:nvSpPr>
          <p:cNvPr id="7" name="TextBox 6"/>
          <p:cNvSpPr txBox="1"/>
          <p:nvPr/>
        </p:nvSpPr>
        <p:spPr>
          <a:xfrm>
            <a:off x="594360" y="1280160"/>
            <a:ext cx="5272887" cy="2217420"/>
          </a:xfrm>
          <a:prstGeom prst="rect">
            <a:avLst/>
          </a:prstGeom>
          <a:noFill/>
        </p:spPr>
        <p:txBody>
          <a:bodyPr wrap="square">
            <a:spAutoFit/>
          </a:bodyPr>
          <a:lstStyle/>
          <a:p>
            <a:pPr>
              <a:spcAft>
                <a:spcPts val="600"/>
              </a:spcAft>
              <a:defRPr sz="1200">
                <a:solidFill>
                  <a:srgbClr val="152334"/>
                </a:solidFill>
                <a:latin typeface="Arial"/>
              </a:defRPr>
            </a:pPr>
            <a:r>
              <a:t>1</a:t>
            </a:r>
          </a:p>
          <a:p>
            <a:pPr>
              <a:spcAft>
                <a:spcPts val="600"/>
              </a:spcAft>
              <a:defRPr sz="1200">
                <a:solidFill>
                  <a:srgbClr val="152334"/>
                </a:solidFill>
                <a:latin typeface="Arial"/>
              </a:defRPr>
            </a:pPr>
            <a:r>
              <a:t>0</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q</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4</a:t>
            </a:r>
          </a:p>
          <a:p>
            <a:pPr>
              <a:spcAft>
                <a:spcPts val="600"/>
              </a:spcAft>
              <a:defRPr sz="1200">
                <a:solidFill>
                  <a:srgbClr val="152334"/>
                </a:solidFill>
                <a:latin typeface="Arial"/>
              </a:defRPr>
            </a:pPr>
            <a:r>
              <a:t>5</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6</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b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b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y</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p:txBody>
      </p:sp>
      <p:sp>
        <p:nvSpPr>
          <p:cNvPr id="8" name="Rounded Rectangle 7"/>
          <p:cNvSpPr/>
          <p:nvPr/>
        </p:nvSpPr>
        <p:spPr>
          <a:xfrm>
            <a:off x="6187287" y="822960"/>
            <a:ext cx="5547207" cy="2720340"/>
          </a:xfrm>
          <a:prstGeom prst="roundRect">
            <a:avLst/>
          </a:prstGeom>
          <a:solidFill>
            <a:srgbClr val="E6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7287" y="822960"/>
            <a:ext cx="5547207" cy="365760"/>
          </a:xfrm>
          <a:prstGeom prst="roundRect">
            <a:avLst/>
          </a:prstGeom>
          <a:solidFill>
            <a:srgbClr val="E68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4447" y="868680"/>
            <a:ext cx="5272887" cy="365760"/>
          </a:xfrm>
          <a:prstGeom prst="rect">
            <a:avLst/>
          </a:prstGeom>
          <a:noFill/>
        </p:spPr>
        <p:txBody>
          <a:bodyPr wrap="square">
            <a:spAutoFit/>
          </a:bodyPr>
          <a:lstStyle/>
          <a:p>
            <a:pPr>
              <a:defRPr sz="2000" b="1">
                <a:solidFill>
                  <a:srgbClr val="FFFFFF"/>
                </a:solidFill>
                <a:latin typeface="Arial"/>
              </a:defRPr>
            </a:pPr>
            <a:r>
              <a:t>Assignment</a:t>
            </a:r>
          </a:p>
        </p:txBody>
      </p:sp>
      <p:sp>
        <p:nvSpPr>
          <p:cNvPr id="11" name="TextBox 10"/>
          <p:cNvSpPr txBox="1"/>
          <p:nvPr/>
        </p:nvSpPr>
        <p:spPr>
          <a:xfrm>
            <a:off x="6324447" y="1280160"/>
            <a:ext cx="5272887" cy="2217420"/>
          </a:xfrm>
          <a:prstGeom prst="rect">
            <a:avLst/>
          </a:prstGeom>
          <a:noFill/>
        </p:spPr>
        <p:txBody>
          <a:bodyPr wrap="square">
            <a:spAutoFit/>
          </a:bodyPr>
          <a:lstStyle/>
          <a:p>
            <a:pPr>
              <a:spcAft>
                <a:spcPts val="600"/>
              </a:spcAft>
              <a:defRPr sz="1200">
                <a:solidFill>
                  <a:srgbClr val="152334"/>
                </a:solidFill>
                <a:latin typeface="Arial"/>
              </a:defRPr>
            </a:pPr>
            <a:r>
              <a:t>1</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b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k</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v</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br/>
          </a:p>
          <a:p>
            <a:pPr>
              <a:spcAft>
                <a:spcPts val="600"/>
              </a:spcAft>
              <a:defRPr sz="1200">
                <a:solidFill>
                  <a:srgbClr val="152334"/>
                </a:solidFill>
                <a:latin typeface="Arial"/>
              </a:defRPr>
            </a:pPr>
            <a:r>
              <a:t>2</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l</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w</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br/>
          </a:p>
          <a:p>
            <a:pPr>
              <a:spcAft>
                <a:spcPts val="600"/>
              </a:spcAft>
              <a:defRPr sz="1200">
                <a:solidFill>
                  <a:srgbClr val="152334"/>
                </a:solidFill>
                <a:latin typeface="Arial"/>
              </a:defRPr>
            </a:pPr>
            <a:r>
              <a:t>3</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m</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c</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h</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G</a:t>
            </a:r>
          </a:p>
          <a:p>
            <a:pPr>
              <a:spcAft>
                <a:spcPts val="600"/>
              </a:spcAft>
              <a:defRPr sz="1200">
                <a:solidFill>
                  <a:srgbClr val="152334"/>
                </a:solidFill>
                <a:latin typeface="Arial"/>
              </a:defRPr>
            </a:pPr>
            <a:r>
              <a:t>D</a:t>
            </a:r>
          </a:p>
          <a:p>
            <a:pPr>
              <a:spcAft>
                <a:spcPts val="600"/>
              </a:spcAft>
              <a:defRPr sz="1200">
                <a:solidFill>
                  <a:srgbClr val="152334"/>
                </a:solidFill>
                <a:latin typeface="Arial"/>
              </a:defRPr>
            </a:pPr>
            <a:r>
              <a:t>B</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s</a:t>
            </a:r>
          </a:p>
          <a:p>
            <a:pPr>
              <a:spcAft>
                <a:spcPts val="600"/>
              </a:spcAft>
              <a:defRPr sz="1200">
                <a:solidFill>
                  <a:srgbClr val="152334"/>
                </a:solidFill>
                <a:latin typeface="Arial"/>
              </a:defRPr>
            </a:pPr>
            <a:r>
              <a:t>i</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n</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f</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e</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r</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 </a:t>
            </a:r>
          </a:p>
          <a:p>
            <a:pPr>
              <a:spcAft>
                <a:spcPts val="600"/>
              </a:spcAft>
              <a:defRPr sz="1200">
                <a:solidFill>
                  <a:srgbClr val="152334"/>
                </a:solidFill>
                <a:latin typeface="Arial"/>
              </a:defRPr>
            </a:pPr>
            <a:r>
              <a:t>o</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t</a:t>
            </a:r>
          </a:p>
          <a:p>
            <a:pPr>
              <a:spcAft>
                <a:spcPts val="600"/>
              </a:spcAft>
              <a:defRPr sz="1200">
                <a:solidFill>
                  <a:srgbClr val="152334"/>
                </a:solidFill>
                <a:latin typeface="Arial"/>
              </a:defRPr>
            </a:pPr>
            <a:r>
              <a:t>p</a:t>
            </a:r>
          </a:p>
          <a:p>
            <a:pPr>
              <a:spcAft>
                <a:spcPts val="600"/>
              </a:spcAft>
              <a:defRPr sz="1200">
                <a:solidFill>
                  <a:srgbClr val="152334"/>
                </a:solidFill>
                <a:latin typeface="Arial"/>
              </a:defRPr>
            </a:pPr>
            <a:r>
              <a:t>u</a:t>
            </a:r>
          </a:p>
          <a:p>
            <a:pPr>
              <a:spcAft>
                <a:spcPts val="600"/>
              </a:spcAft>
              <a:defRPr sz="1200">
                <a:solidFill>
                  <a:srgbClr val="152334"/>
                </a:solidFill>
                <a:latin typeface="Arial"/>
              </a:defRPr>
            </a:pPr>
            <a:r>
              <a:t>t</a:t>
            </a:r>
          </a:p>
        </p:txBody>
      </p:sp>
      <p:sp>
        <p:nvSpPr>
          <p:cNvPr id="12" name="Rectangle 11"/>
          <p:cNvSpPr/>
          <p:nvPr/>
        </p:nvSpPr>
        <p:spPr>
          <a:xfrm>
            <a:off x="0" y="6629400"/>
            <a:ext cx="12191695" cy="228600"/>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595959"/>
                </a:solidFill>
                <a:latin typeface="Arial"/>
              </a:defRPr>
            </a:pPr>
            <a:r>
              <a:t>Embedded Linux Design  •  Session 9  •  Debugging, Tracing &amp; Profiling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