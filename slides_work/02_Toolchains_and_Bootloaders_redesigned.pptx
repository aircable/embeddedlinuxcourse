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371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Embedded Linux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B342"/>
                </a:solidFill>
                <a:latin typeface="Arial"/>
              </a:defRPr>
            </a:pPr>
            <a:r>
              <a:t>Session 2: Toolchains &amp; Bootloaders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99999"/>
                </a:solidFill>
                <a:latin typeface="Arial"/>
              </a:defRPr>
            </a:pPr>
            <a:r>
              <a:t>UCSC Extension  |  Instructor: Juergen Kienhoefer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Today's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547207" cy="1033272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47207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Toolchains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7288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Cross-development model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Toolchain components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Building vs. pre-built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822960"/>
            <a:ext cx="5547207" cy="1033272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7287" y="822960"/>
            <a:ext cx="5547207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Bootloaders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280160"/>
            <a:ext cx="527288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Boot flow overview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SPL + U-Boot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U-Boot hands-on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47672"/>
            <a:ext cx="5547207" cy="1033272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1947672"/>
            <a:ext cx="5547207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93392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Kernel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04872"/>
            <a:ext cx="527288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Config → Build → Verify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Device Tree basics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Kernel + DTB handoff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7287" y="1947672"/>
            <a:ext cx="5547207" cy="1033272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87287" y="1947672"/>
            <a:ext cx="5547207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447" y="1993392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Root Filesystem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2404872"/>
            <a:ext cx="527288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Directory structure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Init process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Buildroot quick start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72384"/>
            <a:ext cx="5547207" cy="1033272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072384"/>
            <a:ext cx="5547207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118104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529584"/>
            <a:ext cx="5272887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Build a bootable system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Flash and boot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Common pitfalls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The Cross-Development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Development 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x86_64 Linux workstation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Cross-compiler (e.g., arm-linux-gnueabihf-gcc)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Debugger, serial terminal, build tools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Produces binaries for target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Target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ARM / RISC-V / MIPS board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Bootloader (U-Boot)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Linux kernel + device tree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Root filesystem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Your 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You develop on the host, deploy to the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Part 1: Toolchains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97A8C"/>
                </a:solidFill>
                <a:latin typeface="Arial"/>
              </a:defRPr>
            </a:pPr>
            <a:r>
              <a:t>Cross-compilation fundamentals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What Is a Toolchain?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562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2334"/>
                </a:solidFill>
                <a:latin typeface="Arial"/>
              </a:defRPr>
            </a:pPr>
            <a:r>
              <a:t>A toolchain is a set of compilation tools that runs on one architecture (the host) and produces executable code for another (the target).</a:t>
            </a:r>
            <a:br/>
            <a:br/>
            <a:r>
              <a:t>Core components:</a:t>
            </a:r>
            <a:br/>
            <a:r>
              <a:t>  • GCC (cross-compiler) — compiles C/C++ for the target</a:t>
            </a:r>
            <a:br/>
            <a:r>
              <a:t>  • Binutils — linker, assembler, object tools</a:t>
            </a:r>
            <a:br/>
            <a:r>
              <a:t>  • C library (glibc, musl, uClibc) — standard library for target</a:t>
            </a:r>
            <a:br/>
            <a:r>
              <a:t>  • GDB (cross-debugger) — debug target binaries from the host</a:t>
            </a:r>
            <a:br/>
            <a:br/>
            <a:r>
              <a:t>The toolchain is defined by a target tuple:</a:t>
            </a:r>
            <a:br/>
            <a:r>
              <a:t>  arm-linux-gnueabihf  →  ARM, Linux, hard-float ABI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Toolchain Anatomy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754" y="822960"/>
            <a:ext cx="8534186" cy="1033272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14" y="868680"/>
            <a:ext cx="8259866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Source Code (.c/.cpp)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14" y="1287932"/>
            <a:ext cx="8259866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Your application and kernel source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5958687" y="1856232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754" y="1929384"/>
            <a:ext cx="8534186" cy="1033272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14" y="1975104"/>
            <a:ext cx="8259866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Cross-Compiler (gcc)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14" y="2394356"/>
            <a:ext cx="8259866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Translates to target ISA — produces .o files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5958687" y="2962656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754" y="3035808"/>
            <a:ext cx="8534186" cy="1033272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14" y="3081528"/>
            <a:ext cx="8259866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Linker (ld)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14" y="3500780"/>
            <a:ext cx="8259866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Links .o + libraries → target binary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5958687" y="4069080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754" y="4142232"/>
            <a:ext cx="8534186" cy="1033272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14" y="4187952"/>
            <a:ext cx="8259866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C Library (libc)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14" y="4607204"/>
            <a:ext cx="8259866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Provides stdio, stdlib, POSIX APIs for target</a:t>
            </a:r>
          </a:p>
        </p:txBody>
      </p:sp>
      <p:sp>
        <p:nvSpPr>
          <p:cNvPr id="19" name="Isosceles Triangle 18"/>
          <p:cNvSpPr/>
          <p:nvPr/>
        </p:nvSpPr>
        <p:spPr>
          <a:xfrm>
            <a:off x="5958687" y="5175504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28754" y="5248656"/>
            <a:ext cx="8534186" cy="1033272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14" y="5294376"/>
            <a:ext cx="8259866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Binary Utilities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14" y="5713628"/>
            <a:ext cx="8259866" cy="516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readelf, objdump, strip, ar — inspect/manipulate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Choosing Your Toolchain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2773603" cy="365760"/>
          </a:xfrm>
          <a:prstGeom prst="round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25450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Approach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76523" y="822960"/>
            <a:ext cx="2773603" cy="365760"/>
          </a:xfrm>
          <a:prstGeom prst="round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13683" y="868680"/>
            <a:ext cx="25450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Pros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5847" y="822960"/>
            <a:ext cx="2773603" cy="365760"/>
          </a:xfrm>
          <a:prstGeom prst="round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3007" y="868680"/>
            <a:ext cx="25450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Cons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171" y="822960"/>
            <a:ext cx="2773603" cy="365760"/>
          </a:xfrm>
          <a:prstGeom prst="round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331" y="868680"/>
            <a:ext cx="254500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When to 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28016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325880"/>
            <a:ext cx="2545003" cy="163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crosstool-NG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6523" y="128016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3683" y="1325880"/>
            <a:ext cx="2545003" cy="163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Fully customizable,</a:t>
            </a:r>
            <a:br/>
            <a:r>
              <a:t>any arch/libc combo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5847" y="128016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1325880"/>
            <a:ext cx="2545003" cy="163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Takes hours to build</a:t>
            </a:r>
            <a:br/>
            <a:r>
              <a:t>for first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171" y="128016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331" y="1325880"/>
            <a:ext cx="2545003" cy="163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You need a specific</a:t>
            </a:r>
            <a:br/>
            <a:r>
              <a:t>target tuple not</a:t>
            </a:r>
            <a:br/>
            <a:r>
              <a:t>available pre-built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002280"/>
            <a:ext cx="2773603" cy="16946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048000"/>
            <a:ext cx="2545003" cy="163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Pre-built (Linaro/</a:t>
            </a:r>
            <a:br/>
            <a:r>
              <a:t>Bootlin/vendor)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76523" y="3002280"/>
            <a:ext cx="2773603" cy="16946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13683" y="3048000"/>
            <a:ext cx="2545003" cy="163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Ready in minutes,</a:t>
            </a:r>
            <a:br/>
            <a:r>
              <a:t>well-tested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5847" y="3002280"/>
            <a:ext cx="2773603" cy="16946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3007" y="3048000"/>
            <a:ext cx="2545003" cy="163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Limited arch/libc</a:t>
            </a:r>
            <a:br/>
            <a:r>
              <a:t>combinations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15171" y="3002280"/>
            <a:ext cx="2773603" cy="169468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331" y="3048000"/>
            <a:ext cx="2545003" cy="163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Standard ARM boards</a:t>
            </a:r>
            <a:br/>
            <a:r>
              <a:t>— fastest path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2440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770120"/>
            <a:ext cx="2545003" cy="163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Yocto SDK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6523" y="472440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3683" y="4770120"/>
            <a:ext cx="2545003" cy="163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Matches your Yocto</a:t>
            </a:r>
            <a:br/>
            <a:r>
              <a:t>image exactly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5847" y="472440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3007" y="4770120"/>
            <a:ext cx="2545003" cy="163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Requires Yocto build</a:t>
            </a:r>
            <a:br/>
            <a:r>
              <a:t>first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5171" y="4724400"/>
            <a:ext cx="2773603" cy="1694688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331" y="4770120"/>
            <a:ext cx="2545003" cy="163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You are using Yocto</a:t>
            </a:r>
            <a:br/>
            <a:r>
              <a:t>for your distro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Verify Your Toolchain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Check the cross-compiler is in PATH</a:t>
            </a:r>
            <a:br/>
            <a:r>
              <a:t>$ which arm-linux-gnueabihf-gcc</a:t>
            </a:r>
            <a:br/>
            <a:r>
              <a:t>/usr/bin/arm-linux-gnueabihf-gcc</a:t>
            </a:r>
            <a:br/>
            <a:br/>
            <a:r>
              <a:t># Check version and target</a:t>
            </a:r>
            <a:br/>
            <a:r>
              <a:t>$ arm-linux-gnueabihf-gcc --version</a:t>
            </a:r>
            <a:br/>
            <a:r>
              <a:t>gcc 12.2.0 (crosstool-NG 1.25.0)</a:t>
            </a:r>
            <a:br/>
            <a:r>
              <a:t>Target: arm-linux-gnueabihf</a:t>
            </a:r>
            <a:br/>
            <a:br/>
            <a:r>
              <a:t># Check what ABI/hardware it targets</a:t>
            </a:r>
            <a:br/>
            <a:r>
              <a:t>$ arm-linux-gnueabihf-readelf -h /usr/lib/libc.so.6 | grep Machine</a:t>
            </a:r>
            <a:br/>
            <a:r>
              <a:t>  Machine:                           ARM</a:t>
            </a:r>
            <a:br/>
            <a:br/>
            <a:r>
              <a:t># Compile a test program</a:t>
            </a:r>
            <a:br/>
            <a:r>
              <a:t>$ echo 'int main(){return 0;}' &gt; test.c</a:t>
            </a:r>
            <a:br/>
            <a:r>
              <a:t>$ arm-linux-gnueabihf-gcc -o test test.c</a:t>
            </a:r>
            <a:br/>
            <a:r>
              <a:t>$ file test</a:t>
            </a:r>
            <a:br/>
            <a:r>
              <a:t>test: ELF 32-bit LSB executable, ARM, EABI5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Part 2: Bootloaders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D6FF6"/>
                </a:solidFill>
                <a:latin typeface="Arial"/>
              </a:defRPr>
            </a:pPr>
            <a:r>
              <a:t>From power-on to kernel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What Is a Bootloader?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547207" cy="272034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47207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72887" cy="2217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First software that runs after chip ROM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Initializes essential hardware: DRAM, clocks, storage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Loads the kernel image into RAM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Passes boot arguments and jumps to kernel entry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822960"/>
            <a:ext cx="5547207" cy="272034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7287" y="822960"/>
            <a:ext cx="5547207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Embedded Linux boot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280160"/>
            <a:ext cx="5272887" cy="2217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ROM → SPL → Bootloader → Kernel → Userspace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The bootloader is the critical handoff point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Most common: U-Boot (Universal Boot Loader)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Two-Stage Boot: SPL + U-Boot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754" y="822960"/>
            <a:ext cx="8534186" cy="1309878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14" y="868680"/>
            <a:ext cx="8259866" cy="65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ROM (SoC)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14" y="1412405"/>
            <a:ext cx="8259866" cy="65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Hard-coded first code. Loads SPL from flash/SD.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5958687" y="213283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754" y="2205990"/>
            <a:ext cx="8534186" cy="1309878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14" y="2251710"/>
            <a:ext cx="8259866" cy="65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SPL (Secondary</a:t>
            </a:r>
            <a:br/>
            <a:r>
              <a:t>Program Loader)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14" y="2795435"/>
            <a:ext cx="8259866" cy="65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Minimal init: DRAM, clocks. Loads main U-Boot.</a:t>
            </a:r>
            <a:br/>
            <a:r>
              <a:t>Tiny (~64KB), runs from SRAM.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5958687" y="351586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754" y="3589020"/>
            <a:ext cx="8534186" cy="1309878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14" y="3634740"/>
            <a:ext cx="8259866" cy="65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U-Boot (Main</a:t>
            </a:r>
            <a:br/>
            <a:r>
              <a:t>Bootloader)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14" y="4178465"/>
            <a:ext cx="8259866" cy="65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Full environment: USB, network, filesystem.</a:t>
            </a:r>
            <a:br/>
            <a:r>
              <a:t>Loads kernel, DTB, initramfs into RAM.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5958687" y="489889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754" y="4972050"/>
            <a:ext cx="8534186" cy="1309878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14" y="5017770"/>
            <a:ext cx="8259866" cy="65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Linux Kernel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14" y="5561495"/>
            <a:ext cx="8259866" cy="65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Takes over. Mounts root filesystem. Starts init.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U-Boot: The Standard Bootloader for Embedded Linux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Hardware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ARM, x86, RISC-V, MIPS, PowerPC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SD/eMMC, NAND, NOR, SPI flash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USB, Ethernet, UART, I2C, SPI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Filesystem: ext4, FAT, squashfs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Developer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Interactive command-line console (serial)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Environment variables (bootcmd, bootargs)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Network boot: TFTP, NFS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Scripted boot sequences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FIT image support (kernel+DTB+ramdisk)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U-Boot Console: What You'll See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U-Boot SPL 2024.01 (Jan 15 2024 - 10:23:45)</a:t>
            </a:r>
            <a:br/>
            <a:r>
              <a:t>DRAM: 512 MiB</a:t>
            </a:r>
            <a:br/>
            <a:r>
              <a:t>MMC:   SD@ee140000: 0</a:t>
            </a:r>
            <a:br/>
            <a:r>
              <a:t>Loading Environment from MMC... OK</a:t>
            </a:r>
            <a:br/>
            <a:br/>
            <a:r>
              <a:t>U-Boot 2024.01 (Jan 15 2024 - 10:23:45 +0000)</a:t>
            </a:r>
            <a:br/>
            <a:br/>
            <a:r>
              <a:t>Model: MyBoard Rev 1.0</a:t>
            </a:r>
            <a:br/>
            <a:r>
              <a:t>DRAM:  512 MiB</a:t>
            </a:r>
            <a:br/>
            <a:r>
              <a:t>MMC:   SD@ee140000: 0</a:t>
            </a:r>
            <a:br/>
            <a:r>
              <a:t>Loading Environment from MMC... OK</a:t>
            </a:r>
            <a:br/>
            <a:r>
              <a:t>Net:   eth0: ethernet@ff0b0000</a:t>
            </a:r>
            <a:br/>
            <a:r>
              <a:t>Hit any key to stop autoboot:  0     &lt;- you must press a key!</a:t>
            </a:r>
            <a:br/>
            <a:r>
              <a:t>=&gt;                                  &lt;- U-Boot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U-Boot: Essential Commands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=&gt; help              # List all available commands</a:t>
            </a:r>
            <a:br/>
            <a:r>
              <a:t>=&gt; printenv          # Show all environment variables</a:t>
            </a:r>
            <a:br/>
            <a:r>
              <a:t>=&gt; setenv bootargs 'console=ttyS0,115200 root=/dev/mmcblk0p2'</a:t>
            </a:r>
            <a:br/>
            <a:r>
              <a:t>=&gt; saveenv           # Persist environment to flash</a:t>
            </a:r>
            <a:br/>
            <a:r>
              <a:t>=&gt; mmc list          # List MMC devices</a:t>
            </a:r>
            <a:br/>
            <a:r>
              <a:t>=&gt; mmc dev 0         # Select MMC device 0</a:t>
            </a:r>
            <a:br/>
            <a:r>
              <a:t>=&gt; fatls mmc 0:1     # List files on partition 1</a:t>
            </a:r>
            <a:br/>
            <a:r>
              <a:t>=&gt; fatload mmc 0:1 ${loadaddr} zImage</a:t>
            </a:r>
            <a:br/>
            <a:r>
              <a:t>=&gt; bootz ${loadaddr} # Boot the kernel</a:t>
            </a:r>
            <a:br/>
            <a:br/>
            <a:r>
              <a:t>=&gt; tftpboot ${loadaddr} zImage   # Load via network</a:t>
            </a:r>
            <a:br/>
            <a:r>
              <a:t>=&gt; bdinfo                        # Board information</a:t>
            </a:r>
            <a:br/>
            <a:r>
              <a:t>=&gt; reset                         # Reset the 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U-Boot Boot 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754" y="822960"/>
            <a:ext cx="8534186" cy="848868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14" y="86868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Power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14" y="120495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SoC ROM loads SPL from boot media (SD/eMMC/SPI)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5958687" y="167182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754" y="1744980"/>
            <a:ext cx="8534186" cy="848868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14" y="179070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SPL Runs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14" y="212697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Initializes DRAM, clocks. Loads U-Boot proper.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5958687" y="259384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754" y="2667000"/>
            <a:ext cx="8534186" cy="848868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14" y="271272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U-Boot Init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14" y="304899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Full hardware init: UART, USB, network, storage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5958687" y="351586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754" y="3589020"/>
            <a:ext cx="8534186" cy="848868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14" y="363474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bootcmd Executes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14" y="397101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Default script: loads kernel, DTB, rootfs from media</a:t>
            </a:r>
          </a:p>
        </p:txBody>
      </p:sp>
      <p:sp>
        <p:nvSpPr>
          <p:cNvPr id="19" name="Isosceles Triangle 18"/>
          <p:cNvSpPr/>
          <p:nvPr/>
        </p:nvSpPr>
        <p:spPr>
          <a:xfrm>
            <a:off x="5958687" y="443788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28754" y="4511040"/>
            <a:ext cx="8534186" cy="848868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14" y="455676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Kernel Handoff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14" y="489303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Decompresses kernel, sets up ATAGS/DTB, jumps to entry</a:t>
            </a:r>
          </a:p>
        </p:txBody>
      </p:sp>
      <p:sp>
        <p:nvSpPr>
          <p:cNvPr id="23" name="Isosceles Triangle 22"/>
          <p:cNvSpPr/>
          <p:nvPr/>
        </p:nvSpPr>
        <p:spPr>
          <a:xfrm>
            <a:off x="5958687" y="535990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28754" y="5433060"/>
            <a:ext cx="8534186" cy="848868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14" y="547878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Linux Takes 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14" y="581505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Kernel mounts rootfs, starts init/systemd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Part 3: Kernel Build &amp; Device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197A8C"/>
                </a:solidFill>
                <a:latin typeface="Arial"/>
              </a:defRPr>
            </a:pPr>
            <a:r>
              <a:t>Configuring and compiling the Linux kernel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Kernel Image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3713378" cy="365760"/>
          </a:xfrm>
          <a:prstGeom prst="round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68680"/>
            <a:ext cx="348477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Format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16298" y="822960"/>
            <a:ext cx="3713378" cy="365760"/>
          </a:xfrm>
          <a:prstGeom prst="round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3458" y="868680"/>
            <a:ext cx="348477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5396" y="822960"/>
            <a:ext cx="3713378" cy="365760"/>
          </a:xfrm>
          <a:prstGeom prst="round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2556" y="868680"/>
            <a:ext cx="348477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Use Case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713378" cy="1264158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25880"/>
            <a:ext cx="3484778" cy="120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zImage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6298" y="1280160"/>
            <a:ext cx="3713378" cy="1264158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3458" y="1325880"/>
            <a:ext cx="3484778" cy="120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Compressed kernel (gzip), self-decompressing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75396" y="1280160"/>
            <a:ext cx="3713378" cy="1264158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2556" y="1325880"/>
            <a:ext cx="3484778" cy="120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Most common for ARM,</a:t>
            </a:r>
            <a:br/>
            <a:r>
              <a:t>standard bootloader format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571750"/>
            <a:ext cx="3713378" cy="126415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17470"/>
            <a:ext cx="3484778" cy="120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uImage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6298" y="2571750"/>
            <a:ext cx="3713378" cy="126415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3458" y="2617470"/>
            <a:ext cx="3484778" cy="120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U-Boot wrapped zImage (has U-Boot header)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75396" y="2571750"/>
            <a:ext cx="3713378" cy="126415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2556" y="2617470"/>
            <a:ext cx="3484778" cy="120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Older U-Boot versions</a:t>
            </a:r>
            <a:br/>
            <a:r>
              <a:t>(legacy)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63340"/>
            <a:ext cx="3713378" cy="1264158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909060"/>
            <a:ext cx="3484778" cy="120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Image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6298" y="3863340"/>
            <a:ext cx="3713378" cy="1264158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3458" y="3909060"/>
            <a:ext cx="3484778" cy="120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Uncompressed raw kernel image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5396" y="3863340"/>
            <a:ext cx="3713378" cy="1264158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12556" y="3909060"/>
            <a:ext cx="3484778" cy="120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x86, or when bootloader</a:t>
            </a:r>
            <a:br/>
            <a:r>
              <a:t>does decompression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54930"/>
            <a:ext cx="3713378" cy="126415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200650"/>
            <a:ext cx="3484778" cy="120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FIT (Flattened</a:t>
            </a:r>
            <a:br/>
            <a:r>
              <a:t>Image Tree)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16298" y="5154930"/>
            <a:ext cx="3713378" cy="126415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53458" y="5200650"/>
            <a:ext cx="3484778" cy="120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Bundle: kernel + DTB + initramfs + config in one image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75396" y="5154930"/>
            <a:ext cx="3713378" cy="1264158"/>
          </a:xfrm>
          <a:prstGeom prst="rect">
            <a:avLst/>
          </a:prstGeom>
          <a:solidFill>
            <a:srgbClr val="EC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2556" y="5200650"/>
            <a:ext cx="3484778" cy="1200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52334"/>
                </a:solidFill>
                <a:latin typeface="Arial"/>
              </a:defRPr>
            </a:pPr>
            <a:r>
              <a:t>Secure boot,</a:t>
            </a:r>
            <a:br/>
            <a:r>
              <a:t>multi-config boot,</a:t>
            </a:r>
            <a:br/>
            <a:r>
              <a:t>modern U-Boot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Kernel Build: Configuration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Download and extract kernel source</a:t>
            </a:r>
            <a:br/>
            <a:r>
              <a:t>$ tar xf linux-6.6.tar.xz &amp;&amp; cd linux-6.6</a:t>
            </a:r>
            <a:br/>
            <a:br/>
            <a:r>
              <a:t># Option A: Use a default config for your board</a:t>
            </a:r>
            <a:br/>
            <a:r>
              <a:t>$ make ARCH=arm myboard_defconfig</a:t>
            </a:r>
            <a:br/>
            <a:br/>
            <a:r>
              <a:t># Option B: Start from your running config</a:t>
            </a:r>
            <a:br/>
            <a:r>
              <a:t>$ zcat /proc/config.gz &gt; .config</a:t>
            </a:r>
            <a:br/>
            <a:r>
              <a:t>$ make ARCH=arm oldconfig</a:t>
            </a:r>
            <a:br/>
            <a:br/>
            <a:r>
              <a:t># Interactive config (menu-driven)</a:t>
            </a:r>
            <a:br/>
            <a:r>
              <a:t>$ make ARCH=arm menuconfig</a:t>
            </a:r>
            <a:br/>
            <a:br/>
            <a:r>
              <a:t># Save a minimal defconfig for sharing</a:t>
            </a:r>
            <a:br/>
            <a:r>
              <a:t>$ make ARCH=arm savedefconfig</a:t>
            </a:r>
            <a:br/>
            <a:r>
              <a:t># Produces: defconfig (human-readable, shareable)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Kernel Build: Compilation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Build kernel image, modules, and device tree blobs</a:t>
            </a:r>
            <a:br/>
            <a:r>
              <a:t>$ make ARCH=arm CROSS_COMPILE=arm-linux-gnueabihf- \</a:t>
            </a:r>
            <a:br/>
            <a:r>
              <a:t>      -j$(nproc) Image modules dtbs</a:t>
            </a:r>
            <a:br/>
            <a:br/>
            <a:r>
              <a:t># Output:</a:t>
            </a:r>
            <a:br/>
            <a:r>
              <a:t>#   arch/arm/boot/zImage        &lt;- kernel</a:t>
            </a:r>
            <a:br/>
            <a:r>
              <a:t>#   arch/arm/boot/dts/*.dtb      &lt;- device tree blobs</a:t>
            </a:r>
            <a:br/>
            <a:r>
              <a:t>#   drivers/**/*.ko              &lt;- kernel modules</a:t>
            </a:r>
            <a:br/>
            <a:br/>
            <a:r>
              <a:t># Install modules to a staging directory</a:t>
            </a:r>
            <a:br/>
            <a:r>
              <a:t>$ make ARCH=arm INSTALL_MOD_PATH=./modules_install \</a:t>
            </a:r>
            <a:br/>
            <a:r>
              <a:t>      modules_install</a:t>
            </a:r>
            <a:br/>
            <a:br/>
            <a:r>
              <a:t># Verify the kernel was built for the right arch</a:t>
            </a:r>
            <a:br/>
            <a:r>
              <a:t>$ file arch/arm/boot/zImage</a:t>
            </a:r>
            <a:br/>
            <a:r>
              <a:t>zImage: Linux kernel ARM boot executable zImage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Kernel Build: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Check kernel version and build info</a:t>
            </a:r>
            <a:br/>
            <a:r>
              <a:t>$ strings arch/arm/boot/zImage | grep 'Linux version'</a:t>
            </a:r>
            <a:br/>
            <a:r>
              <a:t>Linux version 6.6.0 (user@host) (arm-linux-gnueabihf-gcc 12.2.0) #1 SMP</a:t>
            </a:r>
            <a:br/>
            <a:br/>
            <a:r>
              <a:t># Check what machine it's built for</a:t>
            </a:r>
            <a:br/>
            <a:r>
              <a:t>$ arm-linux-gnueabihf-readelf -h arch/arm/boot/zImage | grep Machine</a:t>
            </a:r>
            <a:br/>
            <a:r>
              <a:t>  Machine:                           ARM</a:t>
            </a:r>
            <a:br/>
            <a:br/>
            <a:r>
              <a:t># Check DTB matches your board</a:t>
            </a:r>
            <a:br/>
            <a:r>
              <a:t>$ fdtdump arch/arm/boot/dts/myboard.dtb | head</a:t>
            </a:r>
            <a:br/>
            <a:r>
              <a:t>/dts-v1/;</a:t>
            </a:r>
            <a:br/>
            <a:r>
              <a:t>/ {</a:t>
            </a:r>
            <a:br/>
            <a:r>
              <a:t>    model = "MyBoard Rev 1.0";</a:t>
            </a:r>
            <a:br/>
            <a:r>
              <a:t>    compatible = "myvendor,myboard";</a:t>
            </a:r>
            <a:br/>
            <a:r>
              <a:t>    ...</a:t>
            </a:r>
            <a:br/>
            <a:br/>
            <a:r>
              <a:t># Size check — know what fits in flash</a:t>
            </a:r>
            <a:br/>
            <a:r>
              <a:t>$ ls -lh arch/arm/boot/zImage arch/arm/boot/dts/*.dtb</a:t>
            </a:r>
            <a:br/>
            <a:r>
              <a:t>5.2M zImage</a:t>
            </a:r>
            <a:br/>
            <a:r>
              <a:t> 48K myboard.dtb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Part 3b: Device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3D6FF6"/>
                </a:solidFill>
                <a:latin typeface="Arial"/>
              </a:defRPr>
            </a:pPr>
            <a:r>
              <a:t>Hardware description without C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Device Tree: What &amp;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Every board needed a C 'board file' in kernel source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Hundreds of board files, most code duplicated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Changing a GPIO pin meant recompiling the kernel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Vendor BSPs were a maintenance nightmare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Device Tree (DTS): data structure describing hardware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Compiled to DTB (binary) — passed to kernel at boot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One kernel image supports many boards via different DTBs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Standard on ARM, RISC-V; x86 uses ACPI instead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Device Tree: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7295" cy="562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52334"/>
                </a:solidFill>
                <a:latin typeface="Arial"/>
              </a:defRPr>
            </a:pPr>
            <a:r>
              <a:t>A device tree is a tree of nodes, each representing a device or bus:</a:t>
            </a:r>
            <a:br/>
            <a:br/>
            <a:r>
              <a:t>/ {</a:t>
            </a:r>
            <a:br/>
            <a:r>
              <a:t>    model = "MyBoard";</a:t>
            </a:r>
            <a:br/>
            <a:r>
              <a:t>    compatible = "myvendor,myboard";</a:t>
            </a:r>
            <a:br/>
            <a:r>
              <a:t>    #address-cells = &lt;1&gt;;</a:t>
            </a:r>
            <a:br/>
            <a:r>
              <a:t>    #size-cells = &lt;1&gt;;</a:t>
            </a:r>
            <a:br/>
            <a:br/>
            <a:r>
              <a:t>    cpus { ... };</a:t>
            </a:r>
            <a:br/>
            <a:r>
              <a:t>    memory@80000000 { ... };</a:t>
            </a:r>
            <a:br/>
            <a:r>
              <a:t>    soc {</a:t>
            </a:r>
            <a:br/>
            <a:r>
              <a:t>        uart0: serial@ff000000 { ... };</a:t>
            </a:r>
            <a:br/>
            <a:r>
              <a:t>        i2c0: i2c@ff010000 { ... };</a:t>
            </a:r>
            <a:br/>
            <a:r>
              <a:t>        mmc0: mmc@ff020000 { ... };</a:t>
            </a:r>
            <a:br/>
            <a:r>
              <a:t>    };</a:t>
            </a:r>
            <a:br/>
            <a:r>
              <a:t>};</a:t>
            </a:r>
            <a:br/>
            <a:br/>
            <a:r>
              <a:t>Key concepts:</a:t>
            </a:r>
            <a:br/>
            <a:r>
              <a:t>  • Nodes — devices, buses, peripherals</a:t>
            </a:r>
            <a:br/>
            <a:r>
              <a:t>  • Properties — name=value pairs (strings, integers, arrays)</a:t>
            </a:r>
            <a:br/>
            <a:r>
              <a:t>  • Labels — references (&amp;uart0) for cross-referencing</a:t>
            </a:r>
            <a:br/>
            <a:r>
              <a:t>  • Compatible strings — match devices to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Device Tree: Annotated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// myboard.dts — device tree source for MyBoard</a:t>
            </a:r>
            <a:br/>
            <a:r>
              <a:t>/dts-v1/;</a:t>
            </a:r>
            <a:br/>
            <a:r>
              <a:t>#include "armv7.dtsi"          // Include SoC-level definitions</a:t>
            </a:r>
            <a:br/>
            <a:br/>
            <a:r>
              <a:t>/ {</a:t>
            </a:r>
            <a:br/>
            <a:r>
              <a:t>    model = "MyBoard Rev 1.0";     // Human-readable name</a:t>
            </a:r>
            <a:br/>
            <a:r>
              <a:t>    compatible = "myvendor,myboard"; // Matches kernel driver</a:t>
            </a:r>
            <a:br/>
            <a:br/>
            <a:r>
              <a:t>    chosen {                         // Kernel cmdline, stdout</a:t>
            </a:r>
            <a:br/>
            <a:r>
              <a:t>        stdout-path = "serial0:115200n8";</a:t>
            </a:r>
            <a:br/>
            <a:r>
              <a:t>        bootargs = "console=ttyS0,115200 root=/dev/mmcblk0p2";</a:t>
            </a:r>
            <a:br/>
            <a:r>
              <a:t>    };</a:t>
            </a:r>
            <a:br/>
            <a:br/>
            <a:r>
              <a:t>    memory@80000000 {                // RAM: start 0x80000000, 512MB</a:t>
            </a:r>
            <a:br/>
            <a:r>
              <a:t>        device_type = "memory";</a:t>
            </a:r>
            <a:br/>
            <a:r>
              <a:t>        reg = &lt;0x80000000 0x20000000&gt;;</a:t>
            </a:r>
            <a:br/>
            <a:r>
              <a:t>    };</a:t>
            </a:r>
            <a:br/>
            <a:br/>
            <a:r>
              <a:t>    leds {                           // On-board LEDs</a:t>
            </a:r>
            <a:br/>
            <a:r>
              <a:t>        compatible = "gpio-leds";</a:t>
            </a:r>
            <a:br/>
            <a:r>
              <a:t>        status_led: led0 {</a:t>
            </a:r>
            <a:br/>
            <a:r>
              <a:t>            label = "status";</a:t>
            </a:r>
            <a:br/>
            <a:r>
              <a:t>            gpios = &lt;&amp;gpio0 12 GPIO_ACTIVE_HIGH&gt;;</a:t>
            </a:r>
            <a:br/>
            <a:r>
              <a:t>        };</a:t>
            </a:r>
            <a:br/>
            <a:r>
              <a:t>    };</a:t>
            </a:r>
            <a:br/>
            <a:r>
              <a:t>};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Kernel + DTB: How They Work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754" y="822960"/>
            <a:ext cx="8534186" cy="848868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14" y="86868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U-Boot Loads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14" y="120495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Reads zImage and .dtb from flash into RAM at different addresses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5958687" y="167182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754" y="1744980"/>
            <a:ext cx="8534186" cy="848868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14" y="179070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Passes DTB Address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14" y="212697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U-Boot passes the DTB physical address in a CPU register (r2 on ARM)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5958687" y="259384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754" y="2667000"/>
            <a:ext cx="8534186" cy="848868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14" y="271272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Kernel Decompresses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14" y="304899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Kernel self-decompresses, early init reads the DTB from register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5958687" y="351586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754" y="3589020"/>
            <a:ext cx="8534186" cy="848868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14" y="363474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DTB Parsing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14" y="397101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Kernel walks the DTB tree, discovers devices, loads matching drivers</a:t>
            </a:r>
          </a:p>
        </p:txBody>
      </p:sp>
      <p:sp>
        <p:nvSpPr>
          <p:cNvPr id="19" name="Isosceles Triangle 18"/>
          <p:cNvSpPr/>
          <p:nvPr/>
        </p:nvSpPr>
        <p:spPr>
          <a:xfrm>
            <a:off x="5958687" y="443788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28754" y="4511040"/>
            <a:ext cx="8534186" cy="848868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14" y="455676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Driver Probe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14" y="489303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Drivers with matching 'compatible' strings are bound to devices</a:t>
            </a:r>
          </a:p>
        </p:txBody>
      </p:sp>
      <p:sp>
        <p:nvSpPr>
          <p:cNvPr id="23" name="Isosceles Triangle 22"/>
          <p:cNvSpPr/>
          <p:nvPr/>
        </p:nvSpPr>
        <p:spPr>
          <a:xfrm>
            <a:off x="5958687" y="535990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28754" y="5433060"/>
            <a:ext cx="8534186" cy="848868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14" y="547878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Userspace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14" y="5815050"/>
            <a:ext cx="8259866" cy="424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Kernel finishes boot, mounts rootfs, starts init — all initialized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Part 4: Root Filesystem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0B342"/>
                </a:solidFill>
                <a:latin typeface="Arial"/>
              </a:defRPr>
            </a:pPr>
            <a:r>
              <a:t>What lives on the target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Root Filesystem: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547207" cy="272034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47207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Essential Directories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72887" cy="2217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/bin    — Core user commands (ls, cp, cat, echo)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/sbin   — System commands (init, mount, fdisk)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/etc    — Configuration files (fstab, inittab, hostname)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/lib    — Shared libraries, kernel modules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/dev    — Device nodes (created by kernel/udev)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/proc   — Kernel/process information (virtual)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/sys    — Kernel/device information (virtual)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/tmp    — Temporary files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/usr    — Secondary hierarchy (usr/bin, usr/lib)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/var    — Variable data (logs, spool)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822960"/>
            <a:ext cx="5547207" cy="272034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7287" y="822960"/>
            <a:ext cx="5547207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Embedded Considerations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280160"/>
            <a:ext cx="5272887" cy="2217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Can fit in as little as 4–16 MB with BusyBox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No package manager on most embedded systems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Buildroot or Yocto create the rootfs at build time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Often read-only (squashfs) or read-write (ext4/ubifs)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Init Process: First Userspace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BusyBox init (typical embedded)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Minimal — single BusyBox binary provides all tools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Reads /etc/inittab for runlevel configuration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Starts /etc/init.d/rcS on boot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Spawns a shell on console (no login required)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Very fast boot (milliseconds to shell)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Size: ~1–2 MB total rootfs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007" y="822960"/>
            <a:ext cx="550148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systemd (larger embedded / complex)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3007" y="1280160"/>
            <a:ext cx="5501487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Full-featured init system (parallel startup)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Service management, dependencies, socket activation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Logging (journald), device management (udev)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Mounts filesystems, configures network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More overhead but better for complex systems</a:t>
            </a:r>
          </a:p>
          <a:p>
            <a:pPr>
              <a:spcAft>
                <a:spcPts val="600"/>
              </a:spcAft>
              <a:defRPr sz="1400">
                <a:solidFill>
                  <a:srgbClr val="152334"/>
                </a:solidFill>
                <a:latin typeface="Arial"/>
              </a:defRPr>
            </a:pPr>
            <a:r>
              <a:t>Size: ~20–50 MB with systemd + dependencies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Buildroot: Your First Root Filesystem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11277295" cy="562356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11002975" cy="5349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Download and extract Buildroot</a:t>
            </a:r>
            <a:br/>
            <a:r>
              <a:t>$ tar xf buildroot-2024.02.tar.gz &amp;&amp; cd buildroot-2024.02</a:t>
            </a:r>
            <a:br/>
            <a:br/>
            <a:r>
              <a:t># Select a default configuration</a:t>
            </a:r>
            <a:br/>
            <a:r>
              <a:t>$ make myboard_defconfig</a:t>
            </a:r>
            <a:br/>
            <a:br/>
            <a:r>
              <a:t># Customize (optional)</a:t>
            </a:r>
            <a:br/>
            <a:r>
              <a:t>$ make menuconfig</a:t>
            </a:r>
            <a:br/>
            <a:br/>
            <a:r>
              <a:t># Build everything: toolchain, kernel, rootfs</a:t>
            </a:r>
            <a:br/>
            <a:r>
              <a:t>$ make -j$(nproc)</a:t>
            </a:r>
            <a:br/>
            <a:r>
              <a:t># Takes 30–60 minutes first time, 2–3 minutes incremental</a:t>
            </a:r>
            <a:br/>
            <a:br/>
            <a:r>
              <a:t># Output location:</a:t>
            </a:r>
            <a:br/>
            <a:r>
              <a:t>#   output/images/rootfs.tar          &lt;- compressed rootfs archive</a:t>
            </a:r>
            <a:br/>
            <a:r>
              <a:t>#   output/images/rootfs.ext4         &lt;- ready-to-flash ext4 image</a:t>
            </a:r>
            <a:br/>
            <a:r>
              <a:t>#   output/images/zImage              &lt;- kernel</a:t>
            </a:r>
            <a:br/>
            <a:r>
              <a:t>#   output/images/myboard.dtb         &lt;- device tree</a:t>
            </a:r>
            <a:br/>
            <a:br/>
            <a:r>
              <a:t># Deploy to SD card partition 2</a:t>
            </a:r>
            <a:br/>
            <a:r>
              <a:t>$ sudo tar xf output/images/rootfs.tar -C /mnt/p2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Part 5: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0B342"/>
                </a:solidFill>
                <a:latin typeface="Arial"/>
              </a:defRPr>
            </a:pPr>
            <a:r>
              <a:t>Build a bootable system from scratch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Complete Boot 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754" y="822960"/>
            <a:ext cx="8534186" cy="541528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65914" y="868680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Power 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14" y="1066647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SoC internal ROM runs first</a:t>
            </a:r>
          </a:p>
        </p:txBody>
      </p:sp>
      <p:sp>
        <p:nvSpPr>
          <p:cNvPr id="7" name="Isosceles Triangle 6"/>
          <p:cNvSpPr/>
          <p:nvPr/>
        </p:nvSpPr>
        <p:spPr>
          <a:xfrm>
            <a:off x="5958687" y="136448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754" y="1437640"/>
            <a:ext cx="8534186" cy="541528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14" y="1483360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ROM → SPL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14" y="1681327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ROM loads Secondary Program Loader from SD card sector 0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5958687" y="197916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28754" y="2052320"/>
            <a:ext cx="8534186" cy="541528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65914" y="2098040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14" y="2296007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Initializes DRAM, clocks, minimal peripherals</a:t>
            </a:r>
          </a:p>
        </p:txBody>
      </p:sp>
      <p:sp>
        <p:nvSpPr>
          <p:cNvPr id="15" name="Isosceles Triangle 14"/>
          <p:cNvSpPr/>
          <p:nvPr/>
        </p:nvSpPr>
        <p:spPr>
          <a:xfrm>
            <a:off x="5958687" y="259384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28754" y="2667000"/>
            <a:ext cx="8534186" cy="541528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5914" y="2712720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SPL → U-Boot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14" y="2910687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SPL loads U-Boot proper from SD partition</a:t>
            </a:r>
          </a:p>
        </p:txBody>
      </p:sp>
      <p:sp>
        <p:nvSpPr>
          <p:cNvPr id="19" name="Isosceles Triangle 18"/>
          <p:cNvSpPr/>
          <p:nvPr/>
        </p:nvSpPr>
        <p:spPr>
          <a:xfrm>
            <a:off x="5958687" y="320852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28754" y="3281680"/>
            <a:ext cx="8534186" cy="541528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65914" y="3327400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U-Boot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14" y="3525367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Full hardware init: UART, MMC, USB, network</a:t>
            </a:r>
          </a:p>
        </p:txBody>
      </p:sp>
      <p:sp>
        <p:nvSpPr>
          <p:cNvPr id="23" name="Isosceles Triangle 22"/>
          <p:cNvSpPr/>
          <p:nvPr/>
        </p:nvSpPr>
        <p:spPr>
          <a:xfrm>
            <a:off x="5958687" y="382320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28754" y="3896360"/>
            <a:ext cx="8534186" cy="541528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965914" y="3942080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U-Boot → Kernel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14" y="4140047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Loads zImage and .dtb into RAM, passes DTB address</a:t>
            </a:r>
          </a:p>
        </p:txBody>
      </p:sp>
      <p:sp>
        <p:nvSpPr>
          <p:cNvPr id="27" name="Isosceles Triangle 26"/>
          <p:cNvSpPr/>
          <p:nvPr/>
        </p:nvSpPr>
        <p:spPr>
          <a:xfrm>
            <a:off x="5958687" y="443788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828754" y="4511040"/>
            <a:ext cx="8534186" cy="541528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14" y="4556760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Kernel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14" y="4754727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Decompresses, parses DTB, probes devices, mounts rootfs</a:t>
            </a:r>
          </a:p>
        </p:txBody>
      </p:sp>
      <p:sp>
        <p:nvSpPr>
          <p:cNvPr id="31" name="Isosceles Triangle 30"/>
          <p:cNvSpPr/>
          <p:nvPr/>
        </p:nvSpPr>
        <p:spPr>
          <a:xfrm>
            <a:off x="5958687" y="505256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828754" y="5125720"/>
            <a:ext cx="8534186" cy="541528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5914" y="5171440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Init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14" y="5369407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systemd or BusyBox init starts userspace services</a:t>
            </a:r>
          </a:p>
        </p:txBody>
      </p:sp>
      <p:sp>
        <p:nvSpPr>
          <p:cNvPr id="35" name="Isosceles Triangle 34"/>
          <p:cNvSpPr/>
          <p:nvPr/>
        </p:nvSpPr>
        <p:spPr>
          <a:xfrm>
            <a:off x="5958687" y="5667248"/>
            <a:ext cx="274320" cy="73152"/>
          </a:xfrm>
          <a:prstGeom prst="triangle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828754" y="5740400"/>
            <a:ext cx="8534186" cy="541528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65914" y="5786120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Shell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14" y="5984087"/>
            <a:ext cx="8259866" cy="270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rial"/>
              </a:defRPr>
            </a:pPr>
            <a:r>
              <a:t>Login prompt on serial console — you're in!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Arial"/>
              </a:defRPr>
            </a:pPr>
            <a:r>
              <a:t>Lab: Build a Bootable System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8686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22960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Set up toolchain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Install or download pre-built arm-linux-gnueabihf toolchain. Verify: arm-linux-gnueabihf-gcc --version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99339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20824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Build kernel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21992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make ARCH=arm myboard_defconfig &amp;&amp; make ARCH=arm CROSS_COMPILE=arm-linux-gnueabihf- -j$(nproc) Image dtbs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118104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45536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72384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Build rootfs with Buildroot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46704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make myboard_defconfig &amp;&amp; make -j$(nproc). Output: output/images/rootfs.ext4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242816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7024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97096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Prepare SD 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71416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Partition: 1 FAT32 (boot), 2 ext4 (rootfs). Copy zImage + .dtb to partition 1, extract rootfs to partition 2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536752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21808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Boot!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96128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Insert SD card, connect serial cable, power on. Hit a key at U-Boot prompt to stop autoboot if needed.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E7D32"/>
                </a:solidFill>
                <a:latin typeface="Arial"/>
              </a:defRPr>
            </a:pPr>
            <a:r>
              <a:t>Lab: Flash and Boot — What to Look For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8686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896112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822960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Serial console connection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097280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Connect USB-to-serial adapter. screen /dev/ttyUSB0 115200. You should see U-Boot output immediately on power-on.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993392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20824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947672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U-Boot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21992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Look for: DRAM init OK, MMC detected, kernel loaded. If you see 'Error' or 'CRC failed', your images are corrupted.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3118104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145536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72384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Kernel boot messages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46704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After 'Starting kernel...', you will see Linux boot log. Look for: MMC probed, ext4 mounted, init started.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4242816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70248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97096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Login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71416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The final test: you get a login prompt. Login as root (no password in lab). Run 'uname -a' to verify.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5367528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9496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21808"/>
            <a:ext cx="10728655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52334"/>
                </a:solidFill>
                <a:latin typeface="Arial"/>
              </a:defRPr>
            </a:pPr>
            <a:r>
              <a:t>Checkpoint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96128"/>
            <a:ext cx="10728655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52334"/>
                </a:solidFill>
                <a:latin typeface="Arial"/>
              </a:defRPr>
            </a:pPr>
            <a:r>
              <a:t>If you see 'Welcome to Buildroot' or a shell prompt, your bootable system is working!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Common Pitfalls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5547207" cy="178308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47207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Toolchain Issues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7288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Wrong ABI: hard-float toolchain on soft-float kernel (or vice versa)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 library mismatch: compiled against glibc, running on musl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Always match toolchain to rootfs C library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7287" y="822960"/>
            <a:ext cx="5547207" cy="178308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7287" y="822960"/>
            <a:ext cx="5547207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86868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Boot Issues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1280160"/>
            <a:ext cx="527288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Wrong DTB: kernel can't find hardware, crashes early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Kernel entry point mismatch: U-Boot loads at wrong address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bootargs missing console= — no serial output after kernel starts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97480"/>
            <a:ext cx="5547207" cy="178308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5547207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52728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Root FS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154680"/>
            <a:ext cx="5272887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Missing /dev nodes: kernel can't find console or storage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Init not found: 'Kernel panic - not syncing: No init found'</a:t>
            </a:r>
          </a:p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Wrong filesystem type: kernel lacks ext4/ubifs support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52334"/>
                </a:solidFill>
                <a:latin typeface="Arial"/>
              </a:defRPr>
            </a:pPr>
            <a:r>
              <a:t>Session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22960"/>
            <a:ext cx="73152" cy="89154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1048695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A toolchain compiles code for a target architecture — verify yours before building anything.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60220"/>
            <a:ext cx="73152" cy="89154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60220"/>
            <a:ext cx="11048695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U-Boot is the standard embedded bootloader — learn the console commands early.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73152" cy="89154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11048695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Kernel build is a 3-step cycle: configure, compile, verify — always check arch and ABI.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34740"/>
            <a:ext cx="73152" cy="89154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34740"/>
            <a:ext cx="11048695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Device Tree replaces board files — one kernel, many boards via different DTBs.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572000"/>
            <a:ext cx="73152" cy="89154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11048695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Root filesystem contains everything userspace needs — Buildroot makes it easy to build.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509260"/>
            <a:ext cx="73152" cy="89154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509260"/>
            <a:ext cx="11048695" cy="93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52334"/>
                </a:solidFill>
                <a:latin typeface="Arial"/>
              </a:defRPr>
            </a:pPr>
            <a:r>
              <a:t>The full boot chain is: ROM → SPL → U-Boot → Kernel → Init — know each stage.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