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the final session. Today we tackle real-time Linux -- one of the most nuanced topics in embedded systems. The key question: can Linux meet deadlines?</a:t>
            </a:r>
          </a:p>
          <a:p/>
          <a:p>
            <a:r>
              <a:t>The answer is: yes, with the right configuration, but you need to understand what affects determinism and how to measure it. We will cover the PREEMPT_RT preemption model (now mainline since kernel 6.12!), sources of non-determinism, and how to measure scheduling latency with cyclictest and ftrace.</a:t>
            </a:r>
          </a:p>
          <a:p/>
          <a:p>
            <a:r>
              <a:t>This session builds on everything from kernel architecture (session 6) through debugging and profiling (session 9). The lab at the end: measure latency on a real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Real-time is about guarantees, not speed. A slow system that always meets its deadline is real-time. A fast system that occasionally misses is not.</a:t>
            </a:r>
          </a:p>
          <a:p/>
          <a:p>
            <a:r>
              <a:t>PREEMPT_RT was fully merged into mainline Linux in version 6.12 (late 2024). This is a historic change -- for 20+ years, real-time support required a separate patch. Now it is a standard kernel configuration option.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most important distinction: hard vs soft real-time. Linux is generally NOT suitable for hard real-time because it cannot provide formal worst-case guarantees. For that, you need a dedicated RTOS (FreeRTOS, VxWorks, QNX).</a:t>
            </a:r>
          </a:p>
          <a:p/>
          <a:p>
            <a:r>
              <a:t>But Linux IS capable of soft real-time, which covers many embedded applications. With PREEMPT_RT and proper tuning, Linux can achieve sub-millisecond latencies.</a:t>
            </a:r>
          </a:p>
          <a:p/>
          <a:p>
            <a:r>
              <a:t>Key insight: real-time is not about being fast. It is about being PREDICTABLE.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SCHED_FIFO is the most commonly used real-time policy for embedded. A SCHED_FIFO task at priority 50 always runs before any SCHED_OTHER (normal) task.</a:t>
            </a:r>
          </a:p>
          <a:p/>
          <a:p>
            <a:r>
              <a:t>Warning: a SCHED_FIFO task at priority 99 that never sleeps will lock out everything else on that CPU. Always design RT tasks to sleep or yield.</a:t>
            </a:r>
          </a:p>
          <a:p/>
          <a:p>
            <a:r>
              <a:t>SCHED_DEADLINE uses EDF scheduling which theoretically provides 100% CPU utilization while meeting all deadlines, but is more complex to configure.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over 20 years, PREEMPT_RT required a separate patch. In 2024, the core changes were merged into mainline kernel 6.12. This is a historic milestone.</a:t>
            </a:r>
          </a:p>
          <a:p/>
          <a:p>
            <a:r>
              <a:t>What PREEMPT_RT does: converts spinlocks to rt-mutexes (sleeping mutexes with priority inheritance), runs interrupt handlers as kernel threads, and enables high-resolution timers. Result: the kernel can be interrupted almost anywhere.</a:t>
            </a:r>
          </a:p>
          <a:p/>
          <a:p>
            <a:r>
              <a:t>For Yocto: select the preempt-rt kernel variant. For Buildroot: change the preemption model in kernel configuration.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Scheduling latency is the core metric for real-time systems. It is NOT the same as context switch time -- context switch is just one component.</a:t>
            </a:r>
          </a:p>
          <a:p/>
          <a:p>
            <a:r>
              <a:t>These numbers are typical for an ARM Cortex-A72 (RPi4) class processor. The way to know YOUR system is to measure it with cyclictest.</a:t>
            </a:r>
          </a:p>
          <a:p/>
          <a:p>
            <a:r>
              <a:t>The dramatic difference: without PREEMPT_RT, worst-case can exceed 10 ms (the old CONFIG_HZ tick period). With PREEMPT_RT: typically under 100 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Priority inheritance is critical for real-time. The Mars Pathfinder mission (1997) famously experienced this: a high-priority bus task was blocked by medium-priority communication tasks while a low-priority meteorology task held a shared mutex.</a:t>
            </a:r>
          </a:p>
          <a:p/>
          <a:p>
            <a:r>
              <a:t>PREEMPT_RT converts ALL spinlocks to rt-mutexes, meaning ALL kernel locks support priority inheritance. This is a huge change from mainline where spinlocks busy-wait.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Threaded interrupts are the single most impactful PREEMPT_RT change. In traditional Linux, interrupt handlers run with interrupts disabled -- NO task can run, not even your highest-priority RT task.</a:t>
            </a:r>
          </a:p>
          <a:p/>
          <a:p>
            <a:r>
              <a:t>With threaded interrupts, the hard IRQ does minimal work. The actual processing happens in a kernel thread at a configurable priority. Your SCHED_FIFO priority 80 task will preempt the interrupt handler thread.</a:t>
            </a:r>
          </a:p>
          <a:p/>
          <a:p>
            <a:r>
              <a:t>See interrupt threads in ps: '[irq/&lt;number&gt;-&lt;name&gt;]' as kernel threads.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Timer resolution is a hidden source of jitter. With HZ=100, nanosleep(1ms) actually sleeps 0-10 ms (average 5 ms). hrtimers use the hardware timer directly, bypassing the tick system. Resolution: nanoseconds.</a:t>
            </a:r>
          </a:p>
          <a:p/>
          <a:p>
            <a:r>
              <a:t>PREEMPT_RT enables tickless idle: the periodic tick is paused when no timers are pending. This eliminates a periodic source of jitter.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Page faults are one of the easiest latency sources to eliminate entirely. mlockall(MCL_CURRENT | MCL_FUTURE) locks all current and future pages in RAM.</a:t>
            </a:r>
          </a:p>
          <a:p/>
          <a:p>
            <a:r>
              <a:t>Pre-faulting the stack prevents page faults during deep function calls in the critical path. The volatile keyword prevents the compiler from optimizing away the access.</a:t>
            </a:r>
          </a:p>
          <a:p/>
          <a:p>
            <a:r>
              <a:t>Your total working set must fit in RAM for mlockall to be viable.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CPU isolation is the most aggressive (and most effective) RT optimization. You dedicate one or more CPUs entirely to your real-time task.</a:t>
            </a:r>
          </a:p>
          <a:p/>
          <a:p>
            <a:r>
              <a:t>isolcpus removes the CPU from the scheduler's available list. nohz_full disables the periodic tick. rcu_nocbs offloads RCU callback processing.</a:t>
            </a:r>
          </a:p>
          <a:p/>
          <a:p>
            <a:r>
              <a:t>Downside: you lose a CPU for general-purpose work. Trade-off: one CPU contributes nothing to throughput but gives lowest possible latency.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'secondary' sources of jitter -- may not matter on lightly loaded systems but become significant under load.</a:t>
            </a:r>
          </a:p>
          <a:p/>
          <a:p>
            <a:r>
              <a:t>CPU frequency scaling is often the easiest win. 'performance' governor locks CPU at max frequency -- more power, more predictable timing.</a:t>
            </a:r>
          </a:p>
          <a:p/>
          <a:p>
            <a:r>
              <a:t>Huge pages (2 MB / 1 GB on ARM64) dramatically reduce TLB misses for data-intensive applications.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practical checklist for making an embedded Linux system real-time. Each item addresses a specific source of non-determinism.</a:t>
            </a:r>
          </a:p>
          <a:p/>
          <a:p>
            <a:r>
              <a:t>The watchdog entry is critical and often forgotten. A hung RT task is worse than one that misses a deadline.</a:t>
            </a:r>
          </a:p>
          <a:p/>
          <a:p>
            <a:r>
              <a:t>In the lab, students will apply a subset of these tuning steps and measure the latency improvement at each stage.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cyclictest is the standard tool for measuring RT latency. The concept is simple: create a high-precision timer, wake up, check how late you are, sleep again. The difference between expected and actual wakeup IS the scheduling latency.</a:t>
            </a:r>
          </a:p>
          <a:p/>
          <a:p>
            <a:r>
              <a:t>The Max value is what matters for real-time. A system with Max=89us can meet a 100us deadline. A system with Max=150us cannot, even if average is 15us.</a:t>
            </a:r>
          </a:p>
          <a:p/>
          <a:p>
            <a:r>
              <a:t>Run cyclictest for hours, not seconds. Worst-case latencies often appear only under specific conditions (heavy I/O, thermal throttling, rare kernel paths).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Interpreting results is as important as collecting them. The Max value tells you whether you can meet your deadline. The spread tells you how predictable the system is.</a:t>
            </a:r>
          </a:p>
          <a:p/>
          <a:p>
            <a:r>
              <a:t>For the lab, students will run cyclictest under different conditions: idle, with background I/O (stress-ng), and with CPU isolation. They will see how each tuning step reduces the Max latency.</a:t>
            </a:r>
          </a:p>
          <a:p/>
          <a:p>
            <a:r>
              <a:t>A common mistake: running cyclictest for 30 seconds and declaring victory. Worst-case latencies may only appear after minutes or hours of operation.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cyclictest tells you THAT you have latency. ftrace tells you WHY. This is the debugging workflow: measure first (cyclictest), then instrument (ftrace).</a:t>
            </a:r>
          </a:p>
          <a:p/>
          <a:p>
            <a:r>
              <a:t>The latency-format option adds timing information to each trace entry. You can see exactly which function or interrupt handler caused the delay.</a:t>
            </a:r>
          </a:p>
          <a:p/>
          <a:p>
            <a:r>
              <a:t>hist triggers (available since kernel 4.15) let you create histograms of latency events, which is perfect for understanding the distribution of delays over a long test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lab is the capstone of the real-time section. Students measure latency, add load, apply tuning, and measure again. The before/after comparison makes the value of each tuning step concrete.</a:t>
            </a:r>
          </a:p>
          <a:p/>
          <a:p>
            <a:r>
              <a:t>Key teaching moment: show that CPU isolation has the biggest single impact. The isolated CPU has no competition -- cyclictest runs with minimal interference.</a:t>
            </a:r>
          </a:p>
          <a:p/>
          <a:p>
            <a:r>
              <a:t>The ftrace step is optional for students who finish early. It shows them how to diagnose latency sources in production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flow diagram summarizes the five key changes PREEMPT_RT makes to the kernel. Each change addresses a specific source of non-determinism.</a:t>
            </a:r>
          </a:p>
          <a:p/>
          <a:p>
            <a:r>
              <a:t>The result: worst-case latency drops from 10+ milliseconds to 20-200 microseconds on typical ARM hardware. That is a 50-500x improvement.</a:t>
            </a:r>
          </a:p>
          <a:p/>
          <a:p>
            <a:r>
              <a:t>And now that PREEMPT_RT is mainline, these benefits are available without any out-of-tree patches. Just select the right kernel configuration.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pragmatic slide. Real-time Linux is not the answer for everything. For hard real-time and safety-critical systems, a certified RTOS is the right choice.</a:t>
            </a:r>
          </a:p>
          <a:p/>
          <a:p>
            <a:r>
              <a:t>But for the growing class of embedded systems that need both real-time behavior AND rich OS features (networking, storage, web interfaces), RT Linux is increasingly the best option.</a:t>
            </a:r>
          </a:p>
          <a:p/>
          <a:p>
            <a:r>
              <a:t>The trend in the industry is toward Linux for more applications, with RT capabilities closing the gap with traditional RTOSes.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final session summary for the course. The key takeaway: Linux CAN be real-time, but it requires understanding and deliberate configuration.</a:t>
            </a:r>
          </a:p>
          <a:p/>
          <a:p>
            <a:r>
              <a:t>The PREEMPT_RT merge into mainline 6.12 is a game-changer. What required out-of-tree patches for 20 years is now a standard kernel option.</a:t>
            </a:r>
          </a:p>
          <a:p/>
          <a:p>
            <a:r>
              <a:t>For the course project, students should apply the tuning checklist and measure the results. The combination of PREEMPT_RT + CPU isolation + mlockall() + performance governor gives the best results on embedded hardware.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closing slide. We have covered the full embedded Linux development lifecycle: from cross-compilation and boot through kernel configuration, application development, debugging, profiling, and real-time optimization.</a:t>
            </a:r>
          </a:p>
          <a:p/>
          <a:p>
            <a:r>
              <a:t>The course project ties it all together: students build a bootable RPi4 system from scratch, cross-compile applications, debug with GDB, profile with perf, and optionally tune for real-time.</a:t>
            </a:r>
          </a:p>
          <a:p/>
          <a:p>
            <a:r>
              <a:t>Thank you for a great quarter. The skills from this course are directly applicable to embedded Linux roles in industry.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final assignment ties together the entire course. Students build a PREEMPT_RT kernel, measure latency, apply tuning, and document the results.</a:t>
            </a:r>
          </a:p>
          <a:p/>
          <a:p>
            <a:r>
              <a:t>The bonus ftrace step is for students who want to go deeper. Identifying latency sources with ftrace is a production debugging skill.</a:t>
            </a:r>
          </a:p>
          <a:p/>
          <a:p>
            <a:r>
              <a:t>This is the last assignment of the course. Good luck!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2334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13716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Session 10: Real-Time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B342"/>
                </a:solidFill>
                <a:latin typeface="Arial"/>
              </a:defRPr>
            </a:pPr>
            <a:r>
              <a:t>Determinism, Latency, and the PREEMPT_RT Kernel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Arial"/>
              </a:defRPr>
            </a:pPr>
            <a:r>
              <a:t>Embedded Linux Design  •  Session 10  •  Real-Time Systems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52334"/>
                </a:solidFill>
                <a:latin typeface="Arial"/>
              </a:defRPr>
            </a:pPr>
            <a: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77295" cy="5623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Define real-time computing: hard vs soft real-time, deadline, jitter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Identify sources of non-determinism in the Linux kernel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Understand the three preemption models and the PREEMPT_RT configuration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Explain threaded interrupts, priority inheritance, and rt-mutexes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Measure scheduling latency with cyclictest and interpret the results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Apply real-time tuning: CPU isolation, scheduling policy, memory locking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595959"/>
                </a:solidFill>
                <a:latin typeface="Arial"/>
              </a:defRPr>
            </a:pPr>
            <a:r>
              <a:t>Embedded Linux Design  •  Session 10  •  Real-Time Systems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68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52334"/>
                </a:solidFill>
                <a:latin typeface="Arial"/>
              </a:defRPr>
            </a:pPr>
            <a:r>
              <a:t>What Is Real-Time?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55014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52334"/>
                </a:solidFill>
                <a:latin typeface="Arial"/>
              </a:defRPr>
            </a:pPr>
            <a:r>
              <a:t>Hard vs Soft Real-Time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501487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Hard real-time: MISSING a deadline is a system failure</a:t>
            </a:r>
            <a:br/>
            <a:r>
              <a:t>  Examples: airbag controller, ABS brakes, pacemaker</a:t>
            </a:r>
            <a:br/>
            <a:r>
              <a:t>  Requirement: worst-case latency must be bounded and acceptable</a:t>
            </a:r>
            <a:br/>
            <a:r>
              <a:t>  Linux CANNOT guarantee hard real-time (no formal certification)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Soft real-time: missing a deadline degrades quality but is tolerable</a:t>
            </a:r>
            <a:br/>
            <a:r>
              <a:t>  Examples: audio playback, video streaming, robot control</a:t>
            </a:r>
            <a:br/>
            <a:r>
              <a:t>  Requirement: average latency low, jitter bounded</a:t>
            </a:r>
            <a:br/>
            <a:r>
              <a:t>  Linux CAN provide soft real-time with proper tuning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33007" y="822960"/>
            <a:ext cx="55014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52334"/>
                </a:solidFill>
                <a:latin typeface="Arial"/>
              </a:defRPr>
            </a:pPr>
            <a:r>
              <a:t>Key Definitions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33007" y="1280160"/>
            <a:ext cx="5501487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Deadline: the time by which a task MUST complete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Jitter: variation in response time (latency spread)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Latency: time from wake-up event to task execution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Determinism: system behaves predictably every time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Worst-case execution time (WCET): longest possible time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A real-time system is about GUARANTEES, not speed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A slow deterministic system &gt; fast non-deterministic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595959"/>
                </a:solidFill>
                <a:latin typeface="Arial"/>
              </a:defRPr>
            </a:pPr>
            <a:r>
              <a:t>Embedded Linux Design  •  Session 10  •  Real-Time Systems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9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52334"/>
                </a:solidFill>
                <a:latin typeface="Arial"/>
              </a:defRPr>
            </a:pPr>
            <a:r>
              <a:t>Real-Time Scheduling Policies in Linux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822960"/>
            <a:ext cx="5547207" cy="1314450"/>
          </a:xfrm>
          <a:prstGeom prst="roundRect">
            <a:avLst/>
          </a:prstGeom>
          <a:solidFill>
            <a:srgbClr val="FD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822960"/>
            <a:ext cx="5547207" cy="365760"/>
          </a:xfrm>
          <a:prstGeom prst="round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868680"/>
            <a:ext cx="52728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SCHED_FIFO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5272887" cy="811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F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,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F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u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-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m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p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y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br/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k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u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u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p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,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p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m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p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d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b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y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h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g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h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-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p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y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k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,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x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br/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m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g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m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g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m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-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p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y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k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br/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P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y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g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: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1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(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w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)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9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9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(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h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g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h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7287" y="822960"/>
            <a:ext cx="5547207" cy="1314450"/>
          </a:xfrm>
          <a:prstGeom prst="roundRect">
            <a:avLst/>
          </a:prstGeom>
          <a:solidFill>
            <a:srgbClr val="E6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87287" y="822960"/>
            <a:ext cx="5547207" cy="365760"/>
          </a:xfrm>
          <a:prstGeom prst="roundRect">
            <a:avLst/>
          </a:prstGeom>
          <a:solidFill>
            <a:srgbClr val="E68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4447" y="868680"/>
            <a:ext cx="52728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SCHED_RR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4447" y="1280160"/>
            <a:ext cx="5272887" cy="811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u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d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-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b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-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m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p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y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br/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k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H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D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_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F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F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b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u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w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h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m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q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u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u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m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(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d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f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u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: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1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0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0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m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)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br/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m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-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p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y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k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k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u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br/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P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y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g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: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1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(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w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)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9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9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(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h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g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h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228850"/>
            <a:ext cx="5547207" cy="1314450"/>
          </a:xfrm>
          <a:prstGeom prst="roundRect">
            <a:avLst/>
          </a:prstGeom>
          <a:solidFill>
            <a:srgbClr val="EB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2228850"/>
            <a:ext cx="5547207" cy="365760"/>
          </a:xfrm>
          <a:prstGeom prst="roundRect">
            <a:avLst/>
          </a:prstGeom>
          <a:solidFill>
            <a:srgbClr val="19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274570"/>
            <a:ext cx="52728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SCHED_DEADLINE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686050"/>
            <a:ext cx="5272887" cy="811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D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d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F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(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D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F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)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h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d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u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g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br/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h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k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d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: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u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m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,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p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d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,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d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d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br/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h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d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u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p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k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h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k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w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h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d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d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br/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B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f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m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u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m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d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,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p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d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p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br/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v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b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u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x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3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.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1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7287" y="2228850"/>
            <a:ext cx="5547207" cy="1314450"/>
          </a:xfrm>
          <a:prstGeom prst="roundRect">
            <a:avLst/>
          </a:prstGeom>
          <a:solidFill>
            <a:srgbClr val="FFF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87287" y="2228850"/>
            <a:ext cx="5547207" cy="365760"/>
          </a:xfrm>
          <a:prstGeom prst="roundRect">
            <a:avLst/>
          </a:prstGeom>
          <a:solidFill>
            <a:srgbClr val="3D6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24447" y="2274570"/>
            <a:ext cx="52728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Setting the policy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4447" y="2686050"/>
            <a:ext cx="5272887" cy="811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p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h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d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_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h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d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p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m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(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p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h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d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,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H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D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_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F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F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,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&amp;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p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m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)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br/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h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d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_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h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d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u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(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p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d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,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H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D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_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F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F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,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&amp;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p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m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)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br/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h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-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f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-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p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5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0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&lt;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p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d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&gt;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(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h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,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F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F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,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p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y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5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0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)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br/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q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u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P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_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Y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_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p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b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595959"/>
                </a:solidFill>
                <a:latin typeface="Arial"/>
              </a:defRPr>
            </a:pPr>
            <a:r>
              <a:t>Embedded Linux Design  •  Session 10  •  Real-Time Systems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D6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52334"/>
                </a:solidFill>
                <a:latin typeface="Arial"/>
              </a:defRPr>
            </a:pPr>
            <a:r>
              <a:t>Kernel Preemption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55014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52334"/>
                </a:solidFill>
                <a:latin typeface="Arial"/>
              </a:defRPr>
            </a:pPr>
            <a:r>
              <a:t>Standard Preemption Options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501487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CONFIG_PREEMPT_NONE (No Forced Preemption)</a:t>
            </a:r>
            <a:br/>
            <a:r>
              <a:t>  Kernel code runs to completion (no kernel preemption)</a:t>
            </a:r>
            <a:br/>
            <a:r>
              <a:t>  Lowest overhead, highest latency</a:t>
            </a:r>
            <a:br/>
            <a:r>
              <a:t>  Best for: throughput-bound servers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CONFIG_PREEMPT_VOLUNTARY (Voluntary Preemption)</a:t>
            </a:r>
            <a:br/>
            <a:r>
              <a:t>  Explicit preemption points added to kernel code</a:t>
            </a:r>
            <a:br/>
            <a:r>
              <a:t>  Reduces latency without major throughput impact</a:t>
            </a:r>
            <a:br/>
            <a:r>
              <a:t>  Default for desktop/server kernels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CONFIG_PREEMPT (Fully Preemptible Kernel)</a:t>
            </a:r>
            <a:br/>
            <a:r>
              <a:t>  Kernel code can be preempted at almost any point</a:t>
            </a:r>
            <a:br/>
            <a:r>
              <a:t>  Lower latency, slightly higher overhead</a:t>
            </a:r>
            <a:br/>
            <a:r>
              <a:t>  Best for: desktop, interactive 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33007" y="822960"/>
            <a:ext cx="55014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52334"/>
                </a:solidFill>
                <a:latin typeface="Arial"/>
              </a:defRPr>
            </a:pPr>
            <a:r>
              <a:t>PREEMPT_RT (Real-Time Preemption)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33007" y="1280160"/>
            <a:ext cx="5501487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CONFIG_PREEMPT_RT = y</a:t>
            </a:r>
            <a:br/>
            <a:r>
              <a:t>  Most aggressive preemption: maximum kernel preemptibility</a:t>
            </a:r>
            <a:br/>
            <a:r>
              <a:t>  Spinlocks converted to rt-mutexes (sleeping mutexes)</a:t>
            </a:r>
            <a:br/>
            <a:r>
              <a:t>  Interrupt handlers run as kernel threads</a:t>
            </a:r>
            <a:br/>
            <a:r>
              <a:t>  High-resolution timers (nanosecond precision)</a:t>
            </a:r>
            <a:br/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HISTORIC: Merged into mainline Linux 6.12 (2024)</a:t>
            </a:r>
            <a:br/>
            <a:r>
              <a:t>  No longer requires a separate patch!</a:t>
            </a:r>
            <a:br/>
            <a:r>
              <a:t>  Available as a standard kernel config option</a:t>
            </a:r>
            <a:br/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Yocto: add 'preempt-rt' to PREFERRED_PROVIDER_virtual/kernel</a:t>
            </a:r>
            <a:br/>
            <a:r>
              <a:t>Buildroot: Kernel → Preemption Model → Full RT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595959"/>
                </a:solidFill>
                <a:latin typeface="Arial"/>
              </a:defRPr>
            </a:pPr>
            <a:r>
              <a:t>Embedded Linux Design  •  Session 10  •  Real-Time Systems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52334"/>
                </a:solidFill>
                <a:latin typeface="Arial"/>
              </a:defRPr>
            </a:pPr>
            <a:r>
              <a:t>Understanding Scheduling Latency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822960"/>
            <a:ext cx="5547207" cy="1783080"/>
          </a:xfrm>
          <a:prstGeom prst="roundRect">
            <a:avLst/>
          </a:prstGeom>
          <a:solidFill>
            <a:srgbClr val="FD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822960"/>
            <a:ext cx="5547207" cy="365760"/>
          </a:xfrm>
          <a:prstGeom prst="round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868680"/>
            <a:ext cx="52728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What Is Scheduling Latency?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5272887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m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f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m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w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k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-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u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p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v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(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u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p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,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g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)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w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h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h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k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u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y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u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g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h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P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U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.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h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h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P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M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Y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m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f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-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m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p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f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m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7287" y="822960"/>
            <a:ext cx="5547207" cy="1783080"/>
          </a:xfrm>
          <a:prstGeom prst="roundRect">
            <a:avLst/>
          </a:prstGeom>
          <a:solidFill>
            <a:srgbClr val="E6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87287" y="822960"/>
            <a:ext cx="5547207" cy="365760"/>
          </a:xfrm>
          <a:prstGeom prst="roundRect">
            <a:avLst/>
          </a:prstGeom>
          <a:solidFill>
            <a:srgbClr val="E68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4447" y="868680"/>
            <a:ext cx="52728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Sources of Latency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4447" y="1280160"/>
            <a:ext cx="5272887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1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.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H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d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w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: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u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p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d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y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(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m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d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)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br/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2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.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u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p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h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d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g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: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m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u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/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h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d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d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Q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br/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3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.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h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d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u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: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m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d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d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w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h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h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k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u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br/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4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.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x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w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h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: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m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v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/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P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U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br/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5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.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K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: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m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w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h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u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p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d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b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d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br/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6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.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h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k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: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h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g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h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-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p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y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k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m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u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m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p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f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697480"/>
            <a:ext cx="5547207" cy="1783080"/>
          </a:xfrm>
          <a:prstGeom prst="roundRect">
            <a:avLst/>
          </a:prstGeom>
          <a:solidFill>
            <a:srgbClr val="EB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2697480"/>
            <a:ext cx="5547207" cy="365760"/>
          </a:xfrm>
          <a:prstGeom prst="roundRect">
            <a:avLst/>
          </a:prstGeom>
          <a:solidFill>
            <a:srgbClr val="19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743200"/>
            <a:ext cx="52728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Typical Numbers (ARM Cortex-A, PREEMPT_RT, tuned)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154680"/>
            <a:ext cx="5272887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B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(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d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y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m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)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: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5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-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2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0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m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d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br/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y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p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(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g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h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d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)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: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2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0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-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1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0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0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m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d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br/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W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(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h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v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y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/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+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b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k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g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u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d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)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: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1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0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0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-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1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0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0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0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+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m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d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br/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W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h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u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P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M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P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_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: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w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b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1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0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+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m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d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595959"/>
                </a:solidFill>
                <a:latin typeface="Arial"/>
              </a:defRPr>
            </a:pPr>
            <a:r>
              <a:t>Embedded Linux Design  •  Session 10  •  Real-Time Systems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68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52334"/>
                </a:solidFill>
                <a:latin typeface="Arial"/>
              </a:defRPr>
            </a:pPr>
            <a:r>
              <a:t>Priority Inheritance &amp; rt-mutex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822960"/>
            <a:ext cx="11277295" cy="562356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1002975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D4D4D4"/>
                </a:solidFill>
                <a:latin typeface="Courier New"/>
              </a:defRPr>
            </a:pPr>
            <a:r>
              <a:t># Classic priority inversion problem:</a:t>
            </a:r>
            <a:br/>
            <a:r>
              <a:t># T=0: Low-priority task (L) locks mutex</a:t>
            </a:r>
            <a:br/>
            <a:r>
              <a:t># T=1: High-priority task (H) tries to lock mutex -&gt; blocks</a:t>
            </a:r>
            <a:br/>
            <a:r>
              <a:t># T=2: Medium-priority task (M) preempts L</a:t>
            </a:r>
            <a:br/>
            <a:r>
              <a:t># T=3: M runs for a long time...</a:t>
            </a:r>
            <a:br/>
            <a:r>
              <a:t># T=100: M finishes, L resumes, unlocks mutex</a:t>
            </a:r>
            <a:br/>
            <a:r>
              <a:t># T=101: H finally runs</a:t>
            </a:r>
            <a:br/>
            <a:r>
              <a:t># Result: H (highest priority) was delayed by M (lower priority)!</a:t>
            </a:r>
            <a:br/>
            <a:br/>
            <a:r>
              <a:t># Linux solution: Priority Inheritance (PI)</a:t>
            </a:r>
            <a:br/>
            <a:r>
              <a:t># When H blocks on mutex held by L, L temporarily inherits H's priority.</a:t>
            </a:r>
            <a:br/>
            <a:r>
              <a:t># M cannot preempt L (L is now "high priority").</a:t>
            </a:r>
            <a:br/>
            <a:r>
              <a:t># L finishes quickly, unlocks, H runs immediately.</a:t>
            </a:r>
            <a:br/>
            <a:br/>
            <a:r>
              <a:t># PREEMPT_RT: ALL spinlocks become rt-mutexes</a:t>
            </a:r>
            <a:br/>
            <a:r>
              <a:t># rt-mutexes = sleeping mutexes with priority inheritance</a:t>
            </a:r>
            <a:br/>
            <a:r>
              <a:t># No busy-waiting, bounded wait times</a:t>
            </a:r>
            <a:br/>
            <a:r>
              <a:t># Tradeoff: slightly more overhead per lock/unlock</a:t>
            </a:r>
            <a:br/>
            <a:br/>
            <a:r>
              <a:t># In code:</a:t>
            </a:r>
            <a:br/>
            <a:r>
              <a:t>pthread_mutexattr_setprotocol(&amp;attr, PTHREAD_PRIO_INHERIT);</a:t>
            </a:r>
            <a:br/>
            <a:r>
              <a:t>pthread_mutexattr_settype(&amp;attr, PTHREAD_MUTEX_RECURSIVE);</a:t>
            </a:r>
            <a:br/>
            <a:r>
              <a:t>pthread_mutex_init(&amp;mtx, &amp;attr);</a:t>
            </a:r>
            <a:br/>
            <a:br/>
            <a:r>
              <a:t># Famous real-world case: Mars Pathfinder (1997)</a:t>
            </a:r>
            <a:br/>
            <a:r>
              <a:t># Priority inversion caused system resets on Mars.</a:t>
            </a:r>
            <a:br/>
            <a:r>
              <a:t># Fix: enable priority inheritance on the mutex.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595959"/>
                </a:solidFill>
                <a:latin typeface="Arial"/>
              </a:defRPr>
            </a:pPr>
            <a:r>
              <a:t>Embedded Linux Design  •  Session 10  •  Real-Time Systems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9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52334"/>
                </a:solidFill>
                <a:latin typeface="Arial"/>
              </a:defRPr>
            </a:pPr>
            <a:r>
              <a:t>Threaded Interrupt Handlers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55014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52334"/>
                </a:solidFill>
                <a:latin typeface="Arial"/>
              </a:defRPr>
            </a:pPr>
            <a:r>
              <a:t>Traditional Interrupt Handling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501487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Interrupt arrives -&gt; CPU jumps to ISR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ISR runs with interrupts DISABLED on this CPU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ISR must be very short (microseconds)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Deferred work goes to tasklet or workqueue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Problem: ISR disables ALL interrupts -&gt; increases latency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Long ISR = longer interrupt-off periods = higher latency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No priority: ISR always wins over any task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33007" y="822960"/>
            <a:ext cx="55014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52334"/>
                </a:solidFill>
                <a:latin typeface="Arial"/>
              </a:defRPr>
            </a:pPr>
            <a:r>
              <a:t>Threaded Interrupts (PREEMPT_RT)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33007" y="1280160"/>
            <a:ext cx="5501487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Interrupt handler runs as a SCHED_FIFO thread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Two parts: hard IRQ (quick check) + thread handler (full work)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Interrupt thread has configurable priority (e.g., SCHED_FIFO, priority 50)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RT tasks at priority 51+ will preempt the interrupt handler!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request_threaded_irq(irq, quick_check, thread_fn, flags, name, dev)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Result: interrupt handling no longer blocks real-time tasks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This is the single biggest latency reduction from PREEMPT_RT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595959"/>
                </a:solidFill>
                <a:latin typeface="Arial"/>
              </a:defRPr>
            </a:pPr>
            <a:r>
              <a:t>Embedded Linux Design  •  Session 10  •  Real-Time Systems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D6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52334"/>
                </a:solidFill>
                <a:latin typeface="Arial"/>
              </a:defRPr>
            </a:pPr>
            <a:r>
              <a:t>High-Resolution Timers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55014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52334"/>
                </a:solidFill>
                <a:latin typeface="Arial"/>
              </a:defRPr>
            </a:pPr>
            <a:r>
              <a:t>The Problem: Tick-Based Timers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501487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Traditional Linux timer resolution = tick period (CONFIG_HZ)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CONFIG_HZ=100 (embedded default): 10 ms resolution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CONFIG_HZ=250 (desktop): 4 ms resolution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Task sleeping for 1 ms actually sleeps 4-10 ms!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nanosleep(1ms) -&gt; wakes up at next tick boundary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High tick rate -&gt; more timer interrupts -&gt; more overhead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Resolution vs overhead trade-off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33007" y="822960"/>
            <a:ext cx="55014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52334"/>
                </a:solidFill>
                <a:latin typeface="Arial"/>
              </a:defRPr>
            </a:pPr>
            <a:r>
              <a:t>High-Resolution Timers (hrtimers)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33007" y="1280160"/>
            <a:ext cx="5501487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hrtimers use hardware timers (not the periodic tick)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Resolution: nanoseconds (hardware dependent)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nanosleep(1ms) actually sleeps 1 ms (+/- a few microseconds)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nanosleep(100us) -&gt; 100 us with PREEMPT_RT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Enabled by: CONFIG_HIGH_RES_TIMERS=y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Critical for: periodic control loops, precise timing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PREEMPT_RT enables tickless mode: kernel tick paused when no timers are pending (reduces jitter)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595959"/>
                </a:solidFill>
                <a:latin typeface="Arial"/>
              </a:defRPr>
            </a:pPr>
            <a:r>
              <a:t>Embedded Linux Design  •  Session 10  •  Real-Time Systems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52334"/>
                </a:solidFill>
                <a:latin typeface="Arial"/>
              </a:defRPr>
            </a:pPr>
            <a:r>
              <a:t>Avoiding Page Faults in Real-Time Code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822960"/>
            <a:ext cx="11277295" cy="562356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1002975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D4D4D4"/>
                </a:solidFill>
                <a:latin typeface="Courier New"/>
              </a:defRPr>
            </a:pPr>
            <a:r>
              <a:t># Page faults: major source of non-determinism</a:t>
            </a:r>
            <a:br/>
            <a:r>
              <a:t># First access to unmapped page -&gt; fault -&gt; kernel maps physical page</a:t>
            </a:r>
            <a:br/>
            <a:r>
              <a:t># Time: microseconds to milliseconds (if swap involved)</a:t>
            </a:r>
            <a:br/>
            <a:br/>
            <a:r>
              <a:t>#include &lt;sys/mman.h&gt;</a:t>
            </a:r>
            <a:br/>
            <a:br/>
            <a:r>
              <a:t>int main(void) {</a:t>
            </a:r>
            <a:br/>
            <a:r>
              <a:t>    // Lock current and future memory into RAM</a:t>
            </a:r>
            <a:br/>
            <a:r>
              <a:t>    if (mlockall(MCL_CURRENT | MCL_FUTURE) == -1) {</a:t>
            </a:r>
            <a:br/>
            <a:r>
              <a:t>        perror("mlockall"); return 1;</a:t>
            </a:r>
            <a:br/>
            <a:r>
              <a:t>    }</a:t>
            </a:r>
            <a:br/>
            <a:r>
              <a:t>    // All memory is now pinned. No page faults from here.</a:t>
            </a:r>
            <a:br/>
            <a:r>
              <a:t>}</a:t>
            </a:r>
            <a:br/>
            <a:br/>
            <a:r>
              <a:t>// Pre-fault the stack at startup:</a:t>
            </a:r>
            <a:br/>
            <a:r>
              <a:t>volatile char stack_touch[8192];</a:t>
            </a:r>
            <a:br/>
            <a:r>
              <a:t>for (int i = 0; i &lt; sizeof(stack_touch); i += 4096)</a:t>
            </a:r>
            <a:br/>
            <a:r>
              <a:t>    stack_touch[i] = 0;</a:t>
            </a:r>
            <a:br/>
            <a:br/>
            <a:r>
              <a:t>// Pre-allocate and touch heap memory:</a:t>
            </a:r>
            <a:br/>
            <a:r>
              <a:t>void *buf = malloc(WORKING_SET_SIZE);</a:t>
            </a:r>
            <a:br/>
            <a:r>
              <a:t>if (buf) memset(buf, 0, WORKING_SET_SIZE);  // Touch every page</a:t>
            </a:r>
            <a:br/>
            <a:br/>
            <a:r>
              <a:t>// Disable swapping on target:</a:t>
            </a:r>
            <a:br/>
            <a:r>
              <a:t>// swapoff -a</a:t>
            </a:r>
            <a:br/>
            <a:r>
              <a:t>// echo 0 &gt; /proc/sys/vm/swappiness</a:t>
            </a:r>
            <a:br/>
            <a:br/>
            <a:r>
              <a:t>// Disable mmap in glibc (use sbrk instead):</a:t>
            </a:r>
            <a:br/>
            <a:r>
              <a:t>#include &lt;malloc.h&gt;</a:t>
            </a:r>
            <a:br/>
            <a:r>
              <a:t>mallopt(M_MMAP_THRESHOLD, 0);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595959"/>
                </a:solidFill>
                <a:latin typeface="Arial"/>
              </a:defRPr>
            </a:pPr>
            <a:r>
              <a:t>Embedded Linux Design  •  Session 10  •  Real-Time Systems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68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52334"/>
                </a:solidFill>
                <a:latin typeface="Arial"/>
              </a:defRPr>
            </a:pPr>
            <a:r>
              <a:t>Interrupt Shielding &amp; CPU Isolation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55014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52334"/>
                </a:solidFill>
                <a:latin typeface="Arial"/>
              </a:defRPr>
            </a:pPr>
            <a:r>
              <a:t>Interrupt Shielding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501487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Redirect non-RT interrupts to specific CPUs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Keep RT CPUs free from non-critical interrupt handling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# Move all interrupts away from CPU 3 (RT CPU):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for irq in /proc/irq/*/smp_affinity; do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  echo "0x7" &gt; $irq  # Allow CPUs 0,1,2 only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done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# Now CPU 3 handles no device interrupts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# Move specific IRQ to CPU 0: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echo 0 &gt; /proc/irq/&lt;num&gt;/smp_affinity_list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33007" y="822960"/>
            <a:ext cx="55014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52334"/>
                </a:solidFill>
                <a:latin typeface="Arial"/>
              </a:defRPr>
            </a:pPr>
            <a:r>
              <a:t>CPU Isolation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33007" y="1280160"/>
            <a:ext cx="5501487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Isolate a CPU from the Linux scheduler entirely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No kernel threads, no IRQs, no tasks on that CPU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# At boot (kernel command line):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isolcpus=3            # Isolate CPU 3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nohz_full=3           # No periodic tick on CPU 3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rcu_nocbs=3           # No RCU callbacks on CPU 3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# Pin RT task to isolated CPU: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taskset -c 3 ./rt-task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Result: your task runs on a dedicated CPU with minimal interruptions. Lowest possible latency.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595959"/>
                </a:solidFill>
                <a:latin typeface="Arial"/>
              </a:defRPr>
            </a:pPr>
            <a:r>
              <a:t>Embedded Linux Design  •  Session 10  •  Real-Time Systems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9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52334"/>
                </a:solidFill>
                <a:latin typeface="Arial"/>
              </a:defRPr>
            </a:pPr>
            <a:r>
              <a:t>Other Sources of Non-Determinism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822960"/>
            <a:ext cx="5547207" cy="1314450"/>
          </a:xfrm>
          <a:prstGeom prst="roundRect">
            <a:avLst/>
          </a:prstGeom>
          <a:solidFill>
            <a:srgbClr val="FD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822960"/>
            <a:ext cx="5547207" cy="365760"/>
          </a:xfrm>
          <a:prstGeom prst="round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868680"/>
            <a:ext cx="52728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TLB Misses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5272887" cy="811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k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d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B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u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f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f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: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h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f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v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u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-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&gt;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p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h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y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m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p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p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g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br/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M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: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w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k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p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g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b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(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m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m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y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,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m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d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)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br/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M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g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: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u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h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u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g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p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g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(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2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M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B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/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1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G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B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)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d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u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B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p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u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br/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h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2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0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&gt;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/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p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/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y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/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v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m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/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_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h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u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g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p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g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7287" y="822960"/>
            <a:ext cx="5547207" cy="1314450"/>
          </a:xfrm>
          <a:prstGeom prst="roundRect">
            <a:avLst/>
          </a:prstGeom>
          <a:solidFill>
            <a:srgbClr val="E6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87287" y="822960"/>
            <a:ext cx="5547207" cy="365760"/>
          </a:xfrm>
          <a:prstGeom prst="roundRect">
            <a:avLst/>
          </a:prstGeom>
          <a:solidFill>
            <a:srgbClr val="E68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4447" y="868680"/>
            <a:ext cx="52728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CPU Frequency Scaling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4447" y="1280160"/>
            <a:ext cx="5272887" cy="811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D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V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F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h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g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P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U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k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p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d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d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y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m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y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br/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F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q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u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y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h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g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-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&gt;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m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g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b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y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d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u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g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br/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M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g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: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g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v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'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p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f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m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'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br/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h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p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f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m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&gt;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/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y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/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d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v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/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y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m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/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p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u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/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p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u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0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/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p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u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f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q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/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g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_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g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v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228850"/>
            <a:ext cx="5547207" cy="1314450"/>
          </a:xfrm>
          <a:prstGeom prst="roundRect">
            <a:avLst/>
          </a:prstGeom>
          <a:solidFill>
            <a:srgbClr val="EB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2228850"/>
            <a:ext cx="5547207" cy="365760"/>
          </a:xfrm>
          <a:prstGeom prst="roundRect">
            <a:avLst/>
          </a:prstGeom>
          <a:solidFill>
            <a:srgbClr val="19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274570"/>
            <a:ext cx="52728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Cache Contention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686050"/>
            <a:ext cx="5272887" cy="811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h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k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v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d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y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u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h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(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h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h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g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)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br/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P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U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m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g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h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d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d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br/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M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g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: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p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k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p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f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P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U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,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u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h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-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g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d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u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u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7287" y="2228850"/>
            <a:ext cx="5547207" cy="1314450"/>
          </a:xfrm>
          <a:prstGeom prst="roundRect">
            <a:avLst/>
          </a:prstGeom>
          <a:solidFill>
            <a:srgbClr val="FFF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87287" y="2228850"/>
            <a:ext cx="5547207" cy="365760"/>
          </a:xfrm>
          <a:prstGeom prst="roundRect">
            <a:avLst/>
          </a:prstGeom>
          <a:solidFill>
            <a:srgbClr val="3D6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24447" y="2274570"/>
            <a:ext cx="52728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DMA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4447" y="2686050"/>
            <a:ext cx="5272887" cy="811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D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M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m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y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: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d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v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d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/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w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m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m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y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d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p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d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y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br/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D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M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b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u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m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p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w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h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P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U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f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m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m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y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b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d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w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d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h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br/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M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g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: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m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m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z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D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M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d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u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g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595959"/>
                </a:solidFill>
                <a:latin typeface="Arial"/>
              </a:defRPr>
            </a:pPr>
            <a:r>
              <a:t>Embedded Linux Design  •  Session 10  •  Real-Time Systems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D6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52334"/>
                </a:solidFill>
                <a:latin typeface="Arial"/>
              </a:defRPr>
            </a:pPr>
            <a:r>
              <a:t>Real-Time Tuning Checklist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822960"/>
            <a:ext cx="5547207" cy="1314450"/>
          </a:xfrm>
          <a:prstGeom prst="roundRect">
            <a:avLst/>
          </a:prstGeom>
          <a:solidFill>
            <a:srgbClr val="FD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822960"/>
            <a:ext cx="5547207" cy="365760"/>
          </a:xfrm>
          <a:prstGeom prst="round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868680"/>
            <a:ext cx="52728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Kernel Configuration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5272887" cy="811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F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G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_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P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M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P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_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=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y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(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m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6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.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1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2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+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: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'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F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u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y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P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m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p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b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K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'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)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br/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F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G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_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H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G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H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_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_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M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=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y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br/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F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G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_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_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H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Z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_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F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U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=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y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(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k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d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P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U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)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br/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F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G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_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H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Z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_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1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0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0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0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=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y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h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g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h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7287" y="822960"/>
            <a:ext cx="5547207" cy="1314450"/>
          </a:xfrm>
          <a:prstGeom prst="roundRect">
            <a:avLst/>
          </a:prstGeom>
          <a:solidFill>
            <a:srgbClr val="E6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87287" y="822960"/>
            <a:ext cx="5547207" cy="365760"/>
          </a:xfrm>
          <a:prstGeom prst="roundRect">
            <a:avLst/>
          </a:prstGeom>
          <a:solidFill>
            <a:srgbClr val="E68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4447" y="868680"/>
            <a:ext cx="52728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Boot Parameters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4447" y="1280160"/>
            <a:ext cx="5272887" cy="811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p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u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=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&lt;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p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u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-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&gt;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(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d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d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P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U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)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br/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h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z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_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f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u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=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&lt;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p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u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-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&gt;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(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d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b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k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d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P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U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)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br/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u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_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b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=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&lt;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p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u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-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&gt;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(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f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f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d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U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f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m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d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P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U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228850"/>
            <a:ext cx="5547207" cy="1314450"/>
          </a:xfrm>
          <a:prstGeom prst="roundRect">
            <a:avLst/>
          </a:prstGeom>
          <a:solidFill>
            <a:srgbClr val="EB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2228850"/>
            <a:ext cx="5547207" cy="365760"/>
          </a:xfrm>
          <a:prstGeom prst="roundRect">
            <a:avLst/>
          </a:prstGeom>
          <a:solidFill>
            <a:srgbClr val="19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274570"/>
            <a:ext cx="52728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Runtime Configuration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686050"/>
            <a:ext cx="5272887" cy="811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P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U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g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v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: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p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f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m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(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d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b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D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V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F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)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br/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M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m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y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: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m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k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(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)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d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,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w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p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f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f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-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br/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u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p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: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m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v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-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P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U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v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m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p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_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f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f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y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br/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h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d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u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: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H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D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_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F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F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,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p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p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p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p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7287" y="2228850"/>
            <a:ext cx="5547207" cy="1314450"/>
          </a:xfrm>
          <a:prstGeom prst="roundRect">
            <a:avLst/>
          </a:prstGeom>
          <a:solidFill>
            <a:srgbClr val="FFF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87287" y="2228850"/>
            <a:ext cx="5547207" cy="365760"/>
          </a:xfrm>
          <a:prstGeom prst="roundRect">
            <a:avLst/>
          </a:prstGeom>
          <a:solidFill>
            <a:srgbClr val="3D6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24447" y="2274570"/>
            <a:ext cx="52728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Application 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4447" y="2686050"/>
            <a:ext cx="5272887" cy="811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P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-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f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u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k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d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h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p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u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p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br/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v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d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y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m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h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h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p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h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br/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U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k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-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f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d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u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u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w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h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p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b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br/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P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U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f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f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y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: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k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p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h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d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_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f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f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y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_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p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br/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H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d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d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(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m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f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)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br/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W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h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d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g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: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d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f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k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p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u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595959"/>
                </a:solidFill>
                <a:latin typeface="Arial"/>
              </a:defRPr>
            </a:pPr>
            <a:r>
              <a:t>Embedded Linux Design  •  Session 10  •  Real-Time Systems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52334"/>
                </a:solidFill>
                <a:latin typeface="Arial"/>
              </a:defRPr>
            </a:pPr>
            <a:r>
              <a:t>Measuring Latency with cyclictest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822960"/>
            <a:ext cx="11277295" cy="562356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1002975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D4D4D4"/>
                </a:solidFill>
                <a:latin typeface="Courier New"/>
              </a:defRPr>
            </a:pPr>
            <a:r>
              <a:t># cyclictest -- the standard RT latency measurement tool</a:t>
            </a:r>
            <a:br/>
            <a:r>
              <a:t># Part of rt-tests: https://git.kernel.org/pub/scm/utils/rt-tests</a:t>
            </a:r>
            <a:br/>
            <a:br/>
            <a:r>
              <a:t># Basic: measure sleep latency for 30 seconds</a:t>
            </a:r>
            <a:br/>
            <a:r>
              <a:t>$ cyclictest -t1 -p 80 -n -i 1000 -l 30000</a:t>
            </a:r>
            <a:br/>
            <a:r>
              <a:t># -t1: one thread</a:t>
            </a:r>
            <a:br/>
            <a:r>
              <a:t># -p 80: SCHED_FIFO priority 80</a:t>
            </a:r>
            <a:br/>
            <a:r>
              <a:t># -n: use clock_nanosleep (high-resolution)</a:t>
            </a:r>
            <a:br/>
            <a:r>
              <a:t># -i 1000: interval 1000 us (1 ms period)</a:t>
            </a:r>
            <a:br/>
            <a:r>
              <a:t># -l 30000: 30000 loops (30 seconds)</a:t>
            </a:r>
            <a:br/>
            <a:br/>
            <a:r>
              <a:t># Sample output:</a:t>
            </a:r>
            <a:br/>
            <a:r>
              <a:t># T: 0 (12345) P:80 I:1000 C:30000 Min:8 Act:12 Avg:15 Max:89</a:t>
            </a:r>
            <a:br/>
            <a:r>
              <a:t>#   Min: best case    Act: most recent</a:t>
            </a:r>
            <a:br/>
            <a:r>
              <a:t>#   Avg: average      Max: WORST CASE &lt;- THIS MATTERS</a:t>
            </a:r>
            <a:br/>
            <a:br/>
            <a:r>
              <a:t># Longer test (1 hour, 4 threads, all CPUs):</a:t>
            </a:r>
            <a:br/>
            <a:r>
              <a:t>$ cyclictest -t4 -p 90 -n -i 500 -l 7200000 -a</a:t>
            </a:r>
            <a:br/>
            <a:r>
              <a:t># -a: pin each thread to different CPU</a:t>
            </a:r>
            <a:br/>
            <a:br/>
            <a:r>
              <a:t># Verbose with histogram:</a:t>
            </a:r>
            <a:br/>
            <a:r>
              <a:t>$ cyclictest -t1 -p 80 -n -i 1000 -l 100 -v</a:t>
            </a:r>
            <a:br/>
            <a:br/>
            <a:r>
              <a:t># Available in:</a:t>
            </a:r>
            <a:br/>
            <a:r>
              <a:t># Buildroot: BR2_PACKAGE_RT_TESTS</a:t>
            </a:r>
            <a:br/>
            <a:r>
              <a:t># Yocto: meta-oe recipe rt-tests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595959"/>
                </a:solidFill>
                <a:latin typeface="Arial"/>
              </a:defRPr>
            </a:pPr>
            <a:r>
              <a:t>Embedded Linux Design  •  Session 10  •  Real-Time Systems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68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52334"/>
                </a:solidFill>
                <a:latin typeface="Arial"/>
              </a:defRPr>
            </a:pPr>
            <a:r>
              <a:t>Interpreting cyclictest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55014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52334"/>
                </a:solidFill>
                <a:latin typeface="Arial"/>
              </a:defRPr>
            </a:pPr>
            <a:r>
              <a:t>What Do the Numbers Mean?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501487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Min: best-case latency (usually 1-10 us)</a:t>
            </a:r>
            <a:br/>
            <a:r>
              <a:t>  System was idle, nothing to preempt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Avg: typical latency (usually 5-50 us)</a:t>
            </a:r>
            <a:br/>
            <a:r>
              <a:t>  Normal load, cache warm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Max: worst-case latency (the critical number)</a:t>
            </a:r>
            <a:br/>
            <a:r>
              <a:t>  Determined by longest non-preemptible section</a:t>
            </a:r>
            <a:br/>
            <a:r>
              <a:t>  With PREEMPT_RT: typically 20-200 us</a:t>
            </a:r>
            <a:br/>
            <a:r>
              <a:t>  Without PREEMPT_RT: can be 10+ ms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Spread (Max - Min) = jitter</a:t>
            </a:r>
            <a:br/>
            <a:r>
              <a:t>  Low jitter = predictable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33007" y="822960"/>
            <a:ext cx="55014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52334"/>
                </a:solidFill>
                <a:latin typeface="Arial"/>
              </a:defRPr>
            </a:pPr>
            <a:r>
              <a:t>Diagnosing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33007" y="1280160"/>
            <a:ext cx="5501487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Low Min, large Max:</a:t>
            </a:r>
            <a:br/>
            <a:r>
              <a:t>  Background activity causes occasional delays</a:t>
            </a:r>
            <a:br/>
            <a:r>
              <a:t>  Check: heavy I/O, network traffic, cron jobs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High Min (above 50 us):</a:t>
            </a:r>
            <a:br/>
            <a:r>
              <a:t>  Systemic issue even at idle</a:t>
            </a:r>
            <a:br/>
            <a:r>
              <a:t>  Check: CPU frequency scaling, BIOS, SMI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Periodic spikes:</a:t>
            </a:r>
            <a:br/>
            <a:r>
              <a:t>  Something runs at regular intervals</a:t>
            </a:r>
            <a:br/>
            <a:r>
              <a:t>  Check: kernel timers, RCU callbacks, workqueues</a:t>
            </a:r>
            <a:br/>
            <a:r>
              <a:t>  Use ftrace to identify the culprit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Compare: PREEMPT_RT vs standard kernel</a:t>
            </a:r>
            <a:br/>
            <a:r>
              <a:t>  Same workload, same hardware</a:t>
            </a:r>
            <a:br/>
            <a:r>
              <a:t>  PREEMPT_RT should show 10-100x lower Max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595959"/>
                </a:solidFill>
                <a:latin typeface="Arial"/>
              </a:defRPr>
            </a:pPr>
            <a:r>
              <a:t>Embedded Linux Design  •  Session 10  •  Real-Time Systems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9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52334"/>
                </a:solidFill>
                <a:latin typeface="Arial"/>
              </a:defRPr>
            </a:pPr>
            <a:r>
              <a:t>Using ftrace to Find Latency Sources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822960"/>
            <a:ext cx="11277295" cy="562356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1002975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D4D4D4"/>
                </a:solidFill>
                <a:latin typeface="Courier New"/>
              </a:defRPr>
            </a:pPr>
            <a:r>
              <a:t># When cyclictest shows high latency, ftrace tells you WHY</a:t>
            </a:r>
            <a:br/>
            <a:br/>
            <a:r>
              <a:t># ─── Enable latency tracing ───</a:t>
            </a:r>
            <a:br/>
            <a:r>
              <a:t>$ echo latency-format &gt; /sys/kernel/debug/tracing/trace_options</a:t>
            </a:r>
            <a:br/>
            <a:r>
              <a:t>$ echo 1 &gt; /sys/kernel/debug/tracing/tracing_on</a:t>
            </a:r>
            <a:br/>
            <a:r>
              <a:t># ... run your workload ...</a:t>
            </a:r>
            <a:br/>
            <a:r>
              <a:t>$ cat /sys/kernel/debug/tracing/trace</a:t>
            </a:r>
            <a:br/>
            <a:br/>
            <a:r>
              <a:t># Sample output showing a latency spike:</a:t>
            </a:r>
            <a:br/>
            <a:r>
              <a:t># latency: 87 us</a:t>
            </a:r>
            <a:br/>
            <a:r>
              <a:t>#   caller: __switch_to</a:t>
            </a:r>
            <a:br/>
            <a:r>
              <a:t>#   preempt_count: 0x0</a:t>
            </a:r>
            <a:br/>
            <a:r>
              <a:t>#   need_resched: 0x1</a:t>
            </a:r>
            <a:br/>
            <a:r>
              <a:t>#   blocked_by: [irq/45-e1000]  &lt;-- interrupt handler blocked us!</a:t>
            </a:r>
            <a:br/>
            <a:br/>
            <a:r>
              <a:t># ─── Trace specific latency events ───</a:t>
            </a:r>
            <a:br/>
            <a:r>
              <a:t>$ echo 1 &gt; /sys/kernel/debug/tracing/events/sched/sched_wakeup/enable</a:t>
            </a:r>
            <a:br/>
            <a:r>
              <a:t>$ echo 1 &gt; /sys/kernel/debug/tracing/events/irq/irq_handler_entry/enable</a:t>
            </a:r>
            <a:br/>
            <a:r>
              <a:t>$ echo 1 &gt; /sys/kernel/debug/tracing/events/irq/irq_handler_exit/enable</a:t>
            </a:r>
            <a:br/>
            <a:r>
              <a:t>$ cat /sys/kernel/debug/tracing/trace_pipe  # Live stream</a:t>
            </a:r>
            <a:br/>
            <a:br/>
            <a:r>
              <a:t># ─── Function graph tracer for detailed timing ───</a:t>
            </a:r>
            <a:br/>
            <a:r>
              <a:t>$ echo function_graph &gt; /sys/kernel/debug/tracing/current_tracer</a:t>
            </a:r>
            <a:br/>
            <a:r>
              <a:t>$ echo __schedule &gt; /sys/kernel/debug/tracing/set_ftrace_filter</a:t>
            </a:r>
            <a:br/>
            <a:r>
              <a:t>$ cat /sys/kernel/debug/tracing/trace</a:t>
            </a:r>
            <a:br/>
            <a:br/>
            <a:r>
              <a:t># ─── hist triggers (kernel 4.15+) ───</a:t>
            </a:r>
            <a:br/>
            <a:r>
              <a:t># Create a histogram of wakeup latencies</a:t>
            </a:r>
            <a:br/>
            <a:r>
              <a:t>$ echo 'hist:keys=lat.buckets=1000:vals=hitcount' &gt; \</a:t>
            </a:r>
            <a:br/>
            <a:r>
              <a:t>    /sys/kernel/debug/tracing/events/sched/sched_wakeup_lat/trigger</a:t>
            </a:r>
            <a:br/>
            <a:r>
              <a:t># ... run workload ...</a:t>
            </a:r>
            <a:br/>
            <a:r>
              <a:t>$ cat /sys/kernel/debug/tracing/events/sched/sched_wakeup_lat/hist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595959"/>
                </a:solidFill>
                <a:latin typeface="Arial"/>
              </a:defRPr>
            </a:pPr>
            <a:r>
              <a:t>Embedded Linux Design  •  Session 10  •  Real-Time Systems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27432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E7D32"/>
                </a:solidFill>
                <a:latin typeface="Arial"/>
              </a:defRPr>
            </a:pPr>
            <a:r>
              <a:t>Lab: Measure and Tune Real-Time Latency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868680"/>
            <a:ext cx="365760" cy="36576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96112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822960"/>
            <a:ext cx="10728655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52334"/>
                </a:solidFill>
                <a:latin typeface="Arial"/>
              </a:defRPr>
            </a:pPr>
            <a:r>
              <a:t>1. Baseline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097280"/>
            <a:ext cx="10728655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52334"/>
                </a:solidFill>
                <a:latin typeface="Arial"/>
              </a:defRPr>
            </a:pPr>
            <a:r>
              <a:t>Install rt-tests on target (Buildroot: BR2_PACKAGE_RT_TESTS)</a:t>
            </a:r>
            <a:br/>
            <a:r>
              <a:t>Run: cyclictest -t1 -p 80 -n -i 1000 -l 60000</a:t>
            </a:r>
            <a:br/>
            <a:r>
              <a:t>Record: Min, Avg, Max latency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1993392"/>
            <a:ext cx="365760" cy="36576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020824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947672"/>
            <a:ext cx="10728655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52334"/>
                </a:solidFill>
                <a:latin typeface="Arial"/>
              </a:defRPr>
            </a:pPr>
            <a:r>
              <a:t>2. Add background load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221992"/>
            <a:ext cx="10728655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52334"/>
                </a:solidFill>
                <a:latin typeface="Arial"/>
              </a:defRPr>
            </a:pPr>
            <a:r>
              <a:t>In another terminal: stress-ng --cpu 4 --io 2 --timeout 60s</a:t>
            </a:r>
            <a:br/>
            <a:r>
              <a:t>Re-run cyclictest under load</a:t>
            </a:r>
            <a:br/>
            <a:r>
              <a:t>Compare: how much did Max latency increase?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3118104"/>
            <a:ext cx="365760" cy="36576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145536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072384"/>
            <a:ext cx="10728655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52334"/>
                </a:solidFill>
                <a:latin typeface="Arial"/>
              </a:defRPr>
            </a:pPr>
            <a:r>
              <a:t>3. Apply tuning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346704"/>
            <a:ext cx="10728655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52334"/>
                </a:solidFill>
                <a:latin typeface="Arial"/>
              </a:defRPr>
            </a:pPr>
            <a:r>
              <a:t>Set CPU governor to performance</a:t>
            </a:r>
            <a:br/>
            <a:r>
              <a:t>Isolate a CPU: isolcpus=3 (add to kernel cmdline, reboot)</a:t>
            </a:r>
            <a:br/>
            <a:r>
              <a:t>Pin cyclictest to isolated CPU: taskset -c 3 cyclictest ...</a:t>
            </a:r>
            <a:br/>
            <a:r>
              <a:t>Re-run under load</a:t>
            </a:r>
          </a:p>
        </p:txBody>
      </p:sp>
      <p:sp>
        <p:nvSpPr>
          <p:cNvPr id="16" name="Oval 15"/>
          <p:cNvSpPr/>
          <p:nvPr/>
        </p:nvSpPr>
        <p:spPr>
          <a:xfrm>
            <a:off x="457200" y="4242816"/>
            <a:ext cx="365760" cy="36576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270248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197096"/>
            <a:ext cx="10728655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52334"/>
                </a:solidFill>
                <a:latin typeface="Arial"/>
              </a:defRPr>
            </a:pPr>
            <a:r>
              <a:t>4. Measure improvement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471416"/>
            <a:ext cx="10728655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52334"/>
                </a:solidFill>
                <a:latin typeface="Arial"/>
              </a:defRPr>
            </a:pPr>
            <a:r>
              <a:t>Compare all three runs: baseline, loaded, tuned</a:t>
            </a:r>
            <a:br/>
            <a:r>
              <a:t>What was the Max latency in each case?</a:t>
            </a:r>
            <a:br/>
            <a:r>
              <a:t>What was the jitter (Max - Min)?</a:t>
            </a:r>
          </a:p>
        </p:txBody>
      </p:sp>
      <p:sp>
        <p:nvSpPr>
          <p:cNvPr id="20" name="Oval 19"/>
          <p:cNvSpPr/>
          <p:nvPr/>
        </p:nvSpPr>
        <p:spPr>
          <a:xfrm>
            <a:off x="457200" y="5367528"/>
            <a:ext cx="365760" cy="36576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539496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321808"/>
            <a:ext cx="10728655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52334"/>
                </a:solidFill>
                <a:latin typeface="Arial"/>
              </a:defRPr>
            </a:pPr>
            <a:r>
              <a:t>5. Analyze with ftrace (optional)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596128"/>
            <a:ext cx="10728655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52334"/>
                </a:solidFill>
                <a:latin typeface="Arial"/>
              </a:defRPr>
            </a:pPr>
            <a:r>
              <a:t>Enable sched_wakeup_lat tracing</a:t>
            </a:r>
            <a:br/>
            <a:r>
              <a:t>Identify the top 3 sources of latency on your system</a:t>
            </a:r>
            <a:br/>
            <a:r>
              <a:t>Document: what was the longest latency event and its cause?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595959"/>
                </a:solidFill>
                <a:latin typeface="Arial"/>
              </a:defRPr>
            </a:pPr>
            <a:r>
              <a:t>Lab: Measure and Tune Real-Time Latency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D6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52334"/>
                </a:solidFill>
                <a:latin typeface="Arial"/>
              </a:defRPr>
            </a:pPr>
            <a:r>
              <a:t>PREEMPT_RT: What Changes in the Kernel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754" y="822960"/>
            <a:ext cx="8534186" cy="848868"/>
          </a:xfrm>
          <a:prstGeom prst="round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65914" y="868680"/>
            <a:ext cx="8259866" cy="424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Spinlocks -&gt; rt-mutexes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14" y="1204950"/>
            <a:ext cx="8259866" cy="424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rial"/>
              </a:defRPr>
            </a:pPr>
            <a:r>
              <a:t>All kernel spinlocks become sleeping mutexes</a:t>
            </a:r>
            <a:br/>
            <a:r>
              <a:t>Supports priority inheritance</a:t>
            </a:r>
            <a:br/>
            <a:r>
              <a:t>No busy-waiting, bounded lock times</a:t>
            </a:r>
          </a:p>
        </p:txBody>
      </p:sp>
      <p:sp>
        <p:nvSpPr>
          <p:cNvPr id="7" name="Isosceles Triangle 6"/>
          <p:cNvSpPr/>
          <p:nvPr/>
        </p:nvSpPr>
        <p:spPr>
          <a:xfrm>
            <a:off x="5958687" y="1671828"/>
            <a:ext cx="274320" cy="73152"/>
          </a:xfrm>
          <a:prstGeom prst="triangle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828754" y="1744980"/>
            <a:ext cx="8534186" cy="848868"/>
          </a:xfrm>
          <a:prstGeom prst="roundRect">
            <a:avLst/>
          </a:prstGeom>
          <a:solidFill>
            <a:srgbClr val="E68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65914" y="1790700"/>
            <a:ext cx="8259866" cy="424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Threaded interrupts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14" y="2126970"/>
            <a:ext cx="8259866" cy="424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rial"/>
              </a:defRPr>
            </a:pPr>
            <a:r>
              <a:t>Interrupt handlers run as SCHED_FIFO threads</a:t>
            </a:r>
            <a:br/>
            <a:r>
              <a:t>Configurable priority (default: 50)</a:t>
            </a:r>
            <a:br/>
            <a:r>
              <a:t>RT tasks at higher priority preempt IRQ threads</a:t>
            </a:r>
          </a:p>
        </p:txBody>
      </p:sp>
      <p:sp>
        <p:nvSpPr>
          <p:cNvPr id="11" name="Isosceles Triangle 10"/>
          <p:cNvSpPr/>
          <p:nvPr/>
        </p:nvSpPr>
        <p:spPr>
          <a:xfrm>
            <a:off x="5958687" y="2593848"/>
            <a:ext cx="274320" cy="73152"/>
          </a:xfrm>
          <a:prstGeom prst="triangle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828754" y="2667000"/>
            <a:ext cx="8534186" cy="848868"/>
          </a:xfrm>
          <a:prstGeom prst="roundRect">
            <a:avLst/>
          </a:prstGeom>
          <a:solidFill>
            <a:srgbClr val="19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65914" y="2712720"/>
            <a:ext cx="8259866" cy="424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Preemptible kernel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14" y="3048990"/>
            <a:ext cx="8259866" cy="424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rial"/>
              </a:defRPr>
            </a:pPr>
            <a:r>
              <a:t>Kernel code can be preempted almost anywhere</a:t>
            </a:r>
            <a:br/>
            <a:r>
              <a:t>Only minimal critical sections remain non-preemptible</a:t>
            </a:r>
            <a:br/>
            <a:r>
              <a:t>Dramatically reduces worst-case latency</a:t>
            </a:r>
          </a:p>
        </p:txBody>
      </p:sp>
      <p:sp>
        <p:nvSpPr>
          <p:cNvPr id="15" name="Isosceles Triangle 14"/>
          <p:cNvSpPr/>
          <p:nvPr/>
        </p:nvSpPr>
        <p:spPr>
          <a:xfrm>
            <a:off x="5958687" y="3515868"/>
            <a:ext cx="274320" cy="73152"/>
          </a:xfrm>
          <a:prstGeom prst="triangle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828754" y="3589020"/>
            <a:ext cx="8534186" cy="848868"/>
          </a:xfrm>
          <a:prstGeom prst="roundRect">
            <a:avLst/>
          </a:prstGeom>
          <a:solidFill>
            <a:srgbClr val="3D6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14" y="3634740"/>
            <a:ext cx="8259866" cy="424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High-resolution timers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65914" y="3971010"/>
            <a:ext cx="8259866" cy="424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rial"/>
              </a:defRPr>
            </a:pPr>
            <a:r>
              <a:t>Nanosecond-precision timers via hardware</a:t>
            </a:r>
            <a:br/>
            <a:r>
              <a:t>Tickless mode: no periodic tick when idle</a:t>
            </a:r>
            <a:br/>
            <a:r>
              <a:t>Precise sleep and wakeup for RT tasks</a:t>
            </a:r>
          </a:p>
        </p:txBody>
      </p:sp>
      <p:sp>
        <p:nvSpPr>
          <p:cNvPr id="19" name="Isosceles Triangle 18"/>
          <p:cNvSpPr/>
          <p:nvPr/>
        </p:nvSpPr>
        <p:spPr>
          <a:xfrm>
            <a:off x="5958687" y="4437888"/>
            <a:ext cx="274320" cy="73152"/>
          </a:xfrm>
          <a:prstGeom prst="triangle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828754" y="4511040"/>
            <a:ext cx="8534186" cy="848868"/>
          </a:xfrm>
          <a:prstGeom prst="round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65914" y="4556760"/>
            <a:ext cx="8259866" cy="424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Priority inheritance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65914" y="4893030"/>
            <a:ext cx="8259866" cy="424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rial"/>
              </a:defRPr>
            </a:pPr>
            <a:r>
              <a:t>All mutexes support PI automatically</a:t>
            </a:r>
            <a:br/>
            <a:r>
              <a:t>Prevents priority inversion across the kernel</a:t>
            </a:r>
            <a:br/>
            <a:r>
              <a:t>Critical for multi-threaded RT applications</a:t>
            </a:r>
          </a:p>
        </p:txBody>
      </p:sp>
      <p:sp>
        <p:nvSpPr>
          <p:cNvPr id="23" name="Isosceles Triangle 22"/>
          <p:cNvSpPr/>
          <p:nvPr/>
        </p:nvSpPr>
        <p:spPr>
          <a:xfrm>
            <a:off x="5958687" y="5359908"/>
            <a:ext cx="274320" cy="73152"/>
          </a:xfrm>
          <a:prstGeom prst="triangle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828754" y="5433060"/>
            <a:ext cx="8534186" cy="848868"/>
          </a:xfrm>
          <a:prstGeom prst="roundRect">
            <a:avLst/>
          </a:prstGeom>
          <a:solidFill>
            <a:srgbClr val="E68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965914" y="5478780"/>
            <a:ext cx="8259866" cy="424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Result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65914" y="5815050"/>
            <a:ext cx="8259866" cy="424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rial"/>
              </a:defRPr>
            </a:pPr>
            <a:r>
              <a:t>Worst-case latency: 20-200 us (vs 10+ ms)</a:t>
            </a:r>
            <a:br/>
            <a:r>
              <a:t>Soft real-time capable for many applications</a:t>
            </a:r>
            <a:br/>
            <a:r>
              <a:t>Mainline since Linux 6.12 (2024)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595959"/>
                </a:solidFill>
                <a:latin typeface="Arial"/>
              </a:defRPr>
            </a:pPr>
            <a:r>
              <a:t>Embedded Linux Design  •  Session 10  •  Real-Time Systems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52334"/>
                </a:solidFill>
                <a:latin typeface="Arial"/>
              </a:defRPr>
            </a:pPr>
            <a:r>
              <a:t>When to Use (and Not Use) Real-Time Linux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55014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52334"/>
                </a:solidFill>
                <a:latin typeface="Arial"/>
              </a:defRPr>
            </a:pPr>
            <a:r>
              <a:t>Good Fit for RT Linux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501487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Soft real-time requirements (deadlines &gt; 100 us)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Audio/video processing, robotics, industrial control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Applications that need both RT and rich OS features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Network processing, IoT gateways, edge computing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Systems where occasional deadline misses are tolerable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Prototyping before committing to dedicated RTOS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When you need: networking, filesystems, drivers AND 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33007" y="822960"/>
            <a:ext cx="55014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52334"/>
                </a:solidFill>
                <a:latin typeface="Arial"/>
              </a:defRPr>
            </a:pPr>
            <a:r>
              <a:t>Not a Good Fit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33007" y="1280160"/>
            <a:ext cx="5501487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Hard real-time requirements (deadlines &lt; 10 us)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Safety-critical systems (automotive, aerospace, medical)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Systems requiring formal WCET certification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Simple control loops (use bare-metal or small RTOS instead)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When a dedicated RTOS is already proven and certified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Systems where any single deadline miss is catastrophic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Consider: FreeRTOS, Zephyr, VxWorks, QNX for these cases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595959"/>
                </a:solidFill>
                <a:latin typeface="Arial"/>
              </a:defRPr>
            </a:pPr>
            <a:r>
              <a:t>Embedded Linux Design  •  Session 10  •  Real-Time Systems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68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52334"/>
                </a:solidFill>
                <a:latin typeface="Arial"/>
              </a:defRPr>
            </a:pPr>
            <a:r>
              <a:t>Session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22960"/>
            <a:ext cx="73152" cy="757645"/>
          </a:xfrm>
          <a:prstGeom prst="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1048695" cy="803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52334"/>
                </a:solidFill>
                <a:latin typeface="Arial"/>
              </a:defRPr>
            </a:pPr>
            <a:r>
              <a:t>Real-time is about guarantees, not speed: deadline, jitter, determinism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26325"/>
            <a:ext cx="73152" cy="757645"/>
          </a:xfrm>
          <a:prstGeom prst="rect">
            <a:avLst/>
          </a:prstGeom>
          <a:solidFill>
            <a:srgbClr val="E68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26325"/>
            <a:ext cx="11048695" cy="803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52334"/>
                </a:solidFill>
                <a:latin typeface="Arial"/>
              </a:defRPr>
            </a:pPr>
            <a:r>
              <a:t>PREEMPT_RT (mainline since 6.12): spinlocks-&gt;rt-mutexes, threaded IRQs, fully preemptible kernel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429691"/>
            <a:ext cx="73152" cy="757645"/>
          </a:xfrm>
          <a:prstGeom prst="rect">
            <a:avLst/>
          </a:prstGeom>
          <a:solidFill>
            <a:srgbClr val="19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429691"/>
            <a:ext cx="11048695" cy="803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52334"/>
                </a:solidFill>
                <a:latin typeface="Arial"/>
              </a:defRPr>
            </a:pPr>
            <a:r>
              <a:t>Scheduling policies: SCHED_FIFO, SCHED_RR, SCHED_DEADLINE for RT tasks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233057"/>
            <a:ext cx="73152" cy="757645"/>
          </a:xfrm>
          <a:prstGeom prst="rect">
            <a:avLst/>
          </a:prstGeom>
          <a:solidFill>
            <a:srgbClr val="3D6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233057"/>
            <a:ext cx="11048695" cy="803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52334"/>
                </a:solidFill>
                <a:latin typeface="Arial"/>
              </a:defRPr>
            </a:pPr>
            <a:r>
              <a:t>Sources of non-determinism: page faults, TLB misses, DVFS, cache contention, DMA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036422"/>
            <a:ext cx="73152" cy="757645"/>
          </a:xfrm>
          <a:prstGeom prst="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036422"/>
            <a:ext cx="11048695" cy="803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52334"/>
                </a:solidFill>
                <a:latin typeface="Arial"/>
              </a:defRPr>
            </a:pPr>
            <a:r>
              <a:t>Tuning: mlockall(), CPU isolation, interrupt shielding, performance governor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839788"/>
            <a:ext cx="73152" cy="757645"/>
          </a:xfrm>
          <a:prstGeom prst="rect">
            <a:avLst/>
          </a:prstGeom>
          <a:solidFill>
            <a:srgbClr val="E68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839788"/>
            <a:ext cx="11048695" cy="803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52334"/>
                </a:solidFill>
                <a:latin typeface="Arial"/>
              </a:defRPr>
            </a:pPr>
            <a:r>
              <a:t>Measurement: cyclictest for latency, ftrace for root cause analysis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643154"/>
            <a:ext cx="73152" cy="757645"/>
          </a:xfrm>
          <a:prstGeom prst="rect">
            <a:avLst/>
          </a:prstGeom>
          <a:solidFill>
            <a:srgbClr val="19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643154"/>
            <a:ext cx="11048695" cy="803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52334"/>
                </a:solidFill>
                <a:latin typeface="Arial"/>
              </a:defRPr>
            </a:pPr>
            <a:r>
              <a:t>Soft real-time capable: 20-200 us worst-case latency on ARM with proper tuning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595959"/>
                </a:solidFill>
                <a:latin typeface="Arial"/>
              </a:defRPr>
            </a:pPr>
            <a:r>
              <a:t>Embedded Linux Design  •  Session 10  •  Real-Time Systems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9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52334"/>
                </a:solidFill>
                <a:latin typeface="Arial"/>
              </a:defRPr>
            </a:pPr>
            <a:r>
              <a:t>Course Wrap-Up: What We Built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822960"/>
            <a:ext cx="5547207" cy="845820"/>
          </a:xfrm>
          <a:prstGeom prst="roundRect">
            <a:avLst/>
          </a:prstGeom>
          <a:solidFill>
            <a:srgbClr val="FD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822960"/>
            <a:ext cx="5547207" cy="365760"/>
          </a:xfrm>
          <a:prstGeom prst="round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868680"/>
            <a:ext cx="52728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Session 1-2: Foundation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5272887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m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b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d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d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d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u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x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p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,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h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,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b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d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,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-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d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v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p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m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u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7287" y="822960"/>
            <a:ext cx="5547207" cy="845820"/>
          </a:xfrm>
          <a:prstGeom prst="roundRect">
            <a:avLst/>
          </a:prstGeom>
          <a:solidFill>
            <a:srgbClr val="E6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87287" y="822960"/>
            <a:ext cx="5547207" cy="365760"/>
          </a:xfrm>
          <a:prstGeom prst="roundRect">
            <a:avLst/>
          </a:prstGeom>
          <a:solidFill>
            <a:srgbClr val="E68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4447" y="868680"/>
            <a:ext cx="52728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Session 3-4: Building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4447" y="1280160"/>
            <a:ext cx="5272887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B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u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d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d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Y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,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y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m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h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u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,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f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h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f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y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m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760220"/>
            <a:ext cx="5547207" cy="845820"/>
          </a:xfrm>
          <a:prstGeom prst="roundRect">
            <a:avLst/>
          </a:prstGeom>
          <a:solidFill>
            <a:srgbClr val="EB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1760220"/>
            <a:ext cx="5547207" cy="365760"/>
          </a:xfrm>
          <a:prstGeom prst="roundRect">
            <a:avLst/>
          </a:prstGeom>
          <a:solidFill>
            <a:srgbClr val="19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1805940"/>
            <a:ext cx="52728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Session 5-6: Kernel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217420"/>
            <a:ext cx="5272887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K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b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u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d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,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/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p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,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y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f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,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d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v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,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u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p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h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d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7287" y="1760220"/>
            <a:ext cx="5547207" cy="845820"/>
          </a:xfrm>
          <a:prstGeom prst="roundRect">
            <a:avLst/>
          </a:prstGeom>
          <a:solidFill>
            <a:srgbClr val="FFF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87287" y="1760220"/>
            <a:ext cx="5547207" cy="365760"/>
          </a:xfrm>
          <a:prstGeom prst="roundRect">
            <a:avLst/>
          </a:prstGeom>
          <a:solidFill>
            <a:srgbClr val="3D6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24447" y="1805940"/>
            <a:ext cx="52728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Session 7-8: Applications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4447" y="2217420"/>
            <a:ext cx="5272887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P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,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h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d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,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P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,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m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b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d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d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d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P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y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h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,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D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k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d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p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y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m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2697480"/>
            <a:ext cx="5547207" cy="845820"/>
          </a:xfrm>
          <a:prstGeom prst="roundRect">
            <a:avLst/>
          </a:prstGeom>
          <a:solidFill>
            <a:srgbClr val="FD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57200" y="2697480"/>
            <a:ext cx="5547207" cy="365760"/>
          </a:xfrm>
          <a:prstGeom prst="round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2743200"/>
            <a:ext cx="52728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Session 9-10: Observing &amp; Tuning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3154680"/>
            <a:ext cx="5272887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G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D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B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,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p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f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g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,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g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,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m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m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y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m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g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m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,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-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m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y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m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87287" y="2697480"/>
            <a:ext cx="5547207" cy="845820"/>
          </a:xfrm>
          <a:prstGeom prst="roundRect">
            <a:avLst/>
          </a:prstGeom>
          <a:solidFill>
            <a:srgbClr val="E6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187287" y="2697480"/>
            <a:ext cx="5547207" cy="365760"/>
          </a:xfrm>
          <a:prstGeom prst="roundRect">
            <a:avLst/>
          </a:prstGeom>
          <a:solidFill>
            <a:srgbClr val="E68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24447" y="2743200"/>
            <a:ext cx="52728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The Big Picture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4447" y="3154680"/>
            <a:ext cx="5272887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Y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u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w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h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v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h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k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b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u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d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u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m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m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b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d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d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d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u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x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y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m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f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m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h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: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h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→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b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d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→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k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→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f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→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p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p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→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d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b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u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g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→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p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f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→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p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m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z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f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-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m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595959"/>
                </a:solidFill>
                <a:latin typeface="Arial"/>
              </a:defRPr>
            </a:pPr>
            <a:r>
              <a:t>Embedded Linux Design  u'•'  UCSC Extension  u'•'  Course Complete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D6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52334"/>
                </a:solidFill>
                <a:latin typeface="Arial"/>
              </a:defRPr>
            </a:pPr>
            <a:r>
              <a:t>Quiz &amp; Assignment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822960"/>
            <a:ext cx="5547207" cy="2720340"/>
          </a:xfrm>
          <a:prstGeom prst="roundRect">
            <a:avLst/>
          </a:prstGeom>
          <a:solidFill>
            <a:srgbClr val="FD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822960"/>
            <a:ext cx="5547207" cy="365760"/>
          </a:xfrm>
          <a:prstGeom prst="round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868680"/>
            <a:ext cx="52728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Quiz (Canvas)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5272887" cy="2217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1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0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q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u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,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4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5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m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u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,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6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m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p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,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h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g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h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d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br/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v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: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p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m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p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m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d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,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h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d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u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g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p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,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y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u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,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br/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y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p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,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u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g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h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q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u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7287" y="822960"/>
            <a:ext cx="5547207" cy="2720340"/>
          </a:xfrm>
          <a:prstGeom prst="roundRect">
            <a:avLst/>
          </a:prstGeom>
          <a:solidFill>
            <a:srgbClr val="E6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87287" y="822960"/>
            <a:ext cx="5547207" cy="365760"/>
          </a:xfrm>
          <a:prstGeom prst="roundRect">
            <a:avLst/>
          </a:prstGeom>
          <a:solidFill>
            <a:srgbClr val="E68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4447" y="868680"/>
            <a:ext cx="52728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Final Assignment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4447" y="1280160"/>
            <a:ext cx="5272887" cy="2217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1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.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B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u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d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P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M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P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_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k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f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y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u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g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(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Y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B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u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d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)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br/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2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.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u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y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: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b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,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u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d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d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,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d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w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h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u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g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p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p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d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br/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3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.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D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u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m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: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k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f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g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,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y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u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,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u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g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p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br/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4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.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B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u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: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u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f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d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f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y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h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p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y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u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br/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u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b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m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: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k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.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f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g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+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y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u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p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u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+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y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d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u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m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595959"/>
                </a:solidFill>
                <a:latin typeface="Arial"/>
              </a:defRPr>
            </a:pPr>
            <a:r>
              <a:t>Embedded Linux Design  u'•'  UCSC Extension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