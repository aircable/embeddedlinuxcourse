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iqw0Q74F++z9LcwMC5Ry/W9Vav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Session 3: Buildroot &amp; Yocto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256032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Embedded Linux Design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UCSC Extension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Embedded Linux Design  •  Session 3  •  Buildroot &amp; Yocto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Today's Roadmap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457200" y="822960"/>
            <a:ext cx="320040" cy="36576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14400" y="82296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Why Build Systems?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457200" y="1325880"/>
            <a:ext cx="320040" cy="36576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914400" y="132588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Buildroot Deep Dive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457200" y="1828800"/>
            <a:ext cx="320040" cy="36576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14400" y="182880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Yocto Deep Dive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457200" y="2331720"/>
            <a:ext cx="320040" cy="36576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14400" y="233172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Comparison &amp; Strategy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57200" y="2834640"/>
            <a:ext cx="320040" cy="36576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914400" y="2834640"/>
            <a:ext cx="1118585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Debugging &amp; 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Why Build Systems?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457200" y="822960"/>
            <a:ext cx="5486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The Problem with Manual Builds: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Manual builds are error-prone and unreproducible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Dependency tracking across 100+ packages is unmanageable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Cross-compilation adds complexity at every step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640080" y="2514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Board-specific patches and configs scatter across scripts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Onboarding a new engineer takes weeks of tribal knowledge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6400800" y="822960"/>
            <a:ext cx="5303520" cy="320040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583680" y="10058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7A8C"/>
                </a:solidFill>
                <a:latin typeface="Arial"/>
                <a:ea typeface="Arial"/>
                <a:cs typeface="Arial"/>
                <a:sym typeface="Arial"/>
              </a:rPr>
              <a:t>What a Build System Gives You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583680" y="15544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Reproducible builds from a single config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6583680" y="20116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Automatic dependency resolution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6583680" y="24688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Cross-compilation toolchain management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6583680" y="29260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Package version pinning and updates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6583680" y="33832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One command: make / bitbake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 System Landscape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57200" y="822960"/>
            <a:ext cx="11277295" cy="100584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57200" y="822960"/>
            <a:ext cx="11277295" cy="36576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594360" y="868680"/>
            <a:ext cx="11002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Buildroot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594360" y="1280160"/>
            <a:ext cx="110029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Simple, fast, single config. Best for small, static systems.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57200" y="2011680"/>
            <a:ext cx="11277295" cy="100584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57200" y="2011680"/>
            <a:ext cx="11277295" cy="36576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594360" y="2057400"/>
            <a:ext cx="11002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Yocto Project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594360" y="2468880"/>
            <a:ext cx="110029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Flexible, layer-based, enterprise-grade. Best for complex products.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57200" y="3200400"/>
            <a:ext cx="11277295" cy="1005840"/>
          </a:xfrm>
          <a:prstGeom prst="roundRect">
            <a:avLst>
              <a:gd fmla="val 16667" name="adj"/>
            </a:avLst>
          </a:prstGeom>
          <a:solidFill>
            <a:srgbClr val="FFF9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57200" y="3200400"/>
            <a:ext cx="11277295" cy="36576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594360" y="3246120"/>
            <a:ext cx="11002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OpenWrt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594360" y="3657600"/>
            <a:ext cx="110029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Router-focused fork of Buildroot. Great for network devices.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57200" y="4389120"/>
            <a:ext cx="11277295" cy="1005840"/>
          </a:xfrm>
          <a:prstGeom prst="roundRect">
            <a:avLst>
              <a:gd fmla="val 16667" name="adj"/>
            </a:avLst>
          </a:prstGeom>
          <a:solidFill>
            <a:srgbClr val="FDF4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57200" y="4389120"/>
            <a:ext cx="11277295" cy="36576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594360" y="4434840"/>
            <a:ext cx="11002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PTXdist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594360" y="4846320"/>
            <a:ext cx="1100297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Practical, menu-driven. Popular in industrial European projects.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Buildroot: Overview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457200" y="82296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Buildroot is a set of Makefiles and patches that generates a complete Linux cross-compilation toolchain and root filesystem for embedded systems.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configuration file. One make command. One output directory.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57200" y="2651760"/>
            <a:ext cx="11277295" cy="228600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731520" y="283464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▸  Created: 2001 (as uclibc-make)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731520" y="320040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▸  Language: GNU Make + Kconfig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731520" y="356616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▸  Output: toolchain + kernel + rootfs + bootloader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731520" y="393192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▸  Package count: 2000+ packages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731520" y="429768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▸  Build time: ~30 min (minimal system)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Buildroot: Build Pipeline</a:t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57200" y="82296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530352" y="868680"/>
            <a:ext cx="1591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Configure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530352" y="118872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menuconfig</a:t>
            </a:r>
            <a:b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 packages, toolchain, kernel, filesystem type</a:t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2423160" y="82296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2496312" y="868680"/>
            <a:ext cx="1591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Download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2496312" y="118872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Fetch source tarballs</a:t>
            </a:r>
            <a:b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packages from upstream URLs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389120" y="82296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4462272" y="868680"/>
            <a:ext cx="1591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Extract + Patch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4462272" y="118872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Unpack sources</a:t>
            </a:r>
            <a:b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Apply Buildroot patches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57200" y="182880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530352" y="1874520"/>
            <a:ext cx="1591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Build Toolchain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530352" y="219456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Cross-compiler + C library</a:t>
            </a:r>
            <a:b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gcc, binutils, glibc/musl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2423160" y="182880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2496312" y="1874520"/>
            <a:ext cx="1591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Build Packages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2496312" y="219456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Cross-compile all selected</a:t>
            </a:r>
            <a:b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dependencies resolved automatically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389120" y="182880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4462272" y="1874520"/>
            <a:ext cx="15910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 Create Rootfs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4462272" y="219456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Assemble filesystem image</a:t>
            </a:r>
            <a:b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cpio, ext4, squashfs, ubifs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2194560" y="1184148"/>
            <a:ext cx="22860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160520" y="1184148"/>
            <a:ext cx="22860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2194560" y="2189988"/>
            <a:ext cx="22860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160520" y="2189988"/>
            <a:ext cx="228600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Buildroot: Menuconfig Walkthrough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457200" y="8229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97A8C"/>
                </a:solidFill>
                <a:latin typeface="Courier New"/>
                <a:ea typeface="Courier New"/>
                <a:cs typeface="Courier New"/>
                <a:sym typeface="Courier New"/>
              </a:rPr>
              <a:t>$ make menuconfig</a:t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>
            <a:off x="457200" y="12801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Target Options → Architecture (ARM)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457200" y="162763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Toolchain → C library (musl/glibc)</a:t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457200" y="1975104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Kernel → Linux version, defconfig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457200" y="2322576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Target Packages → 2000+ packages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457200" y="267004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Filesystem → ext4, squashfs, initramfs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457200" y="30175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Bootloaders → U-Barebox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457200" y="336499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Host utilities → build tools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669280" y="822960"/>
            <a:ext cx="5943600" cy="32004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5852160" y="960120"/>
            <a:ext cx="55778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Key .config entries: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BR2_ARCH="arm"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BR2_TOOLCHAIN_BUILDROOT_MUSL=y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BR2_LINUX_KERNEL=y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BR2_LINUX_KERNEL_CUSTOM_VERSION=y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BR2_LINUX_KERNEL_VERSION="6.1.50"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BR2_PACKAGE_BUSYBOX=y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BR2_PACKAGE_OPENSSH=y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BR2_TARGET_ROOTFS_EXT2=y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BR2_TARGET_ROOTFS_EXT2_4=y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Buildroot: Configuration Files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57200" y="822960"/>
            <a:ext cx="11277295" cy="91440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57200" y="822960"/>
            <a:ext cx="11277295" cy="36576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594360" y="868680"/>
            <a:ext cx="11002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.config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594360" y="1280160"/>
            <a:ext cx="1100297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Main configuration (auto-generated)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make menuconfig edits this file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57200" y="1920240"/>
            <a:ext cx="11277295" cy="91440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57200" y="1920240"/>
            <a:ext cx="11277295" cy="36576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594360" y="1965960"/>
            <a:ext cx="11002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defconfigs/&lt;board&gt;.defconfig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594360" y="2377440"/>
            <a:ext cx="1100297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Board-specific defaults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make &lt;board&gt;_defconfig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57200" y="3017520"/>
            <a:ext cx="11277295" cy="914400"/>
          </a:xfrm>
          <a:prstGeom prst="roundRect">
            <a:avLst>
              <a:gd fmla="val 16667" name="adj"/>
            </a:avLst>
          </a:prstGeom>
          <a:solidFill>
            <a:srgbClr val="FDF4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57200" y="3017520"/>
            <a:ext cx="11277295" cy="36576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594360" y="3063240"/>
            <a:ext cx="11002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br2-external/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594360" y="3474720"/>
            <a:ext cx="1100297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External tree for custom packages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keeps customizations separate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57200" y="4114800"/>
            <a:ext cx="11277295" cy="914400"/>
          </a:xfrm>
          <a:prstGeom prst="roundRect">
            <a:avLst>
              <a:gd fmla="val 16667" name="adj"/>
            </a:avLst>
          </a:prstGeom>
          <a:solidFill>
            <a:srgbClr val="FFF9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57200" y="4114800"/>
            <a:ext cx="11277295" cy="36576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594360" y="4160520"/>
            <a:ext cx="11002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Config.in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594360" y="4572000"/>
            <a:ext cx="1100297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Kconfig source (read-only)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Defines menu structure and options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Buildroot: Building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457200" y="822960"/>
            <a:ext cx="11277295" cy="36576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640080" y="960120"/>
            <a:ext cx="10911535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make -j$(nproc)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Buildroot 2023.02  Installing toolchain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linux-headers 6.1.50  Building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busybox 1.36.0  Building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openssh 9.3p1  Building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Generating root filesystem image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Image generated: output/images/rootfs.ext4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Output directory: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output/images/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zImage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am335x-boneblack.dtb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rootfs.ext4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MLO (SPL)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Typical build time: 15-45 minutes depending on packages and hardware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Buildroot: Customizing</a:t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457200" y="822960"/>
            <a:ext cx="5501487" cy="320040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594360" y="960120"/>
            <a:ext cx="52271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7A8C"/>
                </a:solidFill>
                <a:latin typeface="Arial"/>
                <a:ea typeface="Arial"/>
                <a:cs typeface="Arial"/>
                <a:sym typeface="Arial"/>
              </a:rPr>
              <a:t>Rootfs Overlay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594360" y="1371600"/>
            <a:ext cx="5227167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Place files in: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board/&lt;company&gt;/&lt;board&gt;/rootfs_overlay/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Copied verbatim into final rootfs: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etc/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sshd_config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└──init.d/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    └── S99myapp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usr/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    └── bin/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└── myapp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233007" y="822960"/>
            <a:ext cx="5501487" cy="320040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6370167" y="960120"/>
            <a:ext cx="52271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D6FF6"/>
                </a:solidFill>
                <a:latin typeface="Arial"/>
                <a:ea typeface="Arial"/>
                <a:cs typeface="Arial"/>
                <a:sym typeface="Arial"/>
              </a:rPr>
              <a:t>Post-Build Scripts</a:t>
            </a:r>
            <a:endParaRPr/>
          </a:p>
        </p:txBody>
      </p:sp>
      <p:sp>
        <p:nvSpPr>
          <p:cNvPr id="254" name="Google Shape;254;p10"/>
          <p:cNvSpPr txBox="1"/>
          <p:nvPr/>
        </p:nvSpPr>
        <p:spPr>
          <a:xfrm>
            <a:off x="6370167" y="1371600"/>
            <a:ext cx="5227167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BR2_ROOTFS_POST_BUILD_SCRIPT=""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Example: board/post-build.sh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#!/bin/sh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# Strip debug symbols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find $TARGET_DIR -name '*.so' | xargs strip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# Set root password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echo "root:password" | chpasswd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Run AFTER rootfs is assembled, BEFORE image is created.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5E9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Lab: Buildroot</a:t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Lab: Build a Buildroot System</a:t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57200" y="822960"/>
            <a:ext cx="457200" cy="64008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548640" y="91440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1097280" y="822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1. Clone &amp; Configure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1097280" y="1143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git clone https://git.buildroot.net/buildroot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cd buildroot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make qemu_arm_versatile_defconfig</a:t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457200" y="1645920"/>
            <a:ext cx="457200" cy="64008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548640" y="173736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1097280" y="16459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2. Customize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1097280" y="19659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make menuconfig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→ Enable openssh, vim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→ Set root password</a:t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457200" y="2468880"/>
            <a:ext cx="457200" cy="64008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>
            <a:off x="548640" y="256032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1097280" y="2468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3. Build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1097280" y="27889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make -j$(nproc)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Wait ~20 min (first build)</a:t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57200" y="3291840"/>
            <a:ext cx="457200" cy="64008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548640" y="338328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76" name="Google Shape;276;p11"/>
          <p:cNvSpPr txBox="1"/>
          <p:nvPr/>
        </p:nvSpPr>
        <p:spPr>
          <a:xfrm>
            <a:off x="1097280" y="3291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4. Test in QEMU</a:t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1097280" y="36118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qemu-system-arm -M versatilepb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-kernel output/images/zImage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-hda output/images/rootfs.ext4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-append 'root=/dev/sda console=ttyAMA0'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Yocto Project: Overview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457200" y="822960"/>
            <a:ext cx="112772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Yocto Project is a collaboration project that provides templates, tools and methods to help create custom Linux-based systems for embedded products.</a:t>
            </a:r>
            <a:b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uses the BitBake build engine and a layered metadata architecture.</a:t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57200" y="2651760"/>
            <a:ext cx="11277295" cy="228600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731520" y="283464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▸  Founded: 2010 (Linux Foundation)</a:t>
            </a:r>
            <a:endParaRPr/>
          </a:p>
        </p:txBody>
      </p:sp>
      <p:sp>
        <p:nvSpPr>
          <p:cNvPr id="288" name="Google Shape;288;p12"/>
          <p:cNvSpPr txBox="1"/>
          <p:nvPr/>
        </p:nvSpPr>
        <p:spPr>
          <a:xfrm>
            <a:off x="731520" y="320040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▸  Build Engine: BitBake (Python-based)</a:t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731520" y="356616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▸  Metadata Format: .bb recipes + .bbclass + .conf</a:t>
            </a:r>
            <a:endParaRPr/>
          </a:p>
        </p:txBody>
      </p:sp>
      <p:sp>
        <p:nvSpPr>
          <p:cNvPr id="290" name="Google Shape;290;p12"/>
          <p:cNvSpPr txBox="1"/>
          <p:nvPr/>
        </p:nvSpPr>
        <p:spPr>
          <a:xfrm>
            <a:off x="731520" y="393192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▸  Layer Model: meta-yocto, BSP, software, distro</a:t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731520" y="4297680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▸  Package formats: .deb, .rpm, .ipk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Yocto: Architecture</a:t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5090007" y="822960"/>
            <a:ext cx="2011680" cy="64008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5181447" y="868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Layer</a:t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5181447" y="11430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meta-myproduct → Your custom recipes</a:t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5090007" y="1554480"/>
            <a:ext cx="2011680" cy="64008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5181447" y="1600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BSP Layer</a:t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5181447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meta-&lt;board&gt; → Board support package</a:t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5090007" y="2286000"/>
            <a:ext cx="2011680" cy="64008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 txBox="1"/>
          <p:nvPr/>
        </p:nvSpPr>
        <p:spPr>
          <a:xfrm>
            <a:off x="5181447" y="2331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Distro Layer</a:t>
            </a:r>
            <a:endParaRPr/>
          </a:p>
        </p:txBody>
      </p:sp>
      <p:sp>
        <p:nvSpPr>
          <p:cNvPr id="307" name="Google Shape;307;p13"/>
          <p:cNvSpPr txBox="1"/>
          <p:nvPr/>
        </p:nvSpPr>
        <p:spPr>
          <a:xfrm>
            <a:off x="5181447" y="2606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meta-mycompany → Distribution policy</a:t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5090007" y="3017520"/>
            <a:ext cx="2011680" cy="64008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 txBox="1"/>
          <p:nvPr/>
        </p:nvSpPr>
        <p:spPr>
          <a:xfrm>
            <a:off x="5181447" y="3063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Software Layer</a:t>
            </a:r>
            <a:endParaRPr/>
          </a:p>
        </p:txBody>
      </p:sp>
      <p:sp>
        <p:nvSpPr>
          <p:cNvPr id="310" name="Google Shape;310;p13"/>
          <p:cNvSpPr txBox="1"/>
          <p:nvPr/>
        </p:nvSpPr>
        <p:spPr>
          <a:xfrm>
            <a:off x="5181447" y="33375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meta-openembedded → Community packages</a:t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5090007" y="3749040"/>
            <a:ext cx="2011680" cy="64008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 txBox="1"/>
          <p:nvPr/>
        </p:nvSpPr>
        <p:spPr>
          <a:xfrm>
            <a:off x="5181447" y="3794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</a:t>
            </a:r>
            <a:endParaRPr/>
          </a:p>
        </p:txBody>
      </p:sp>
      <p:sp>
        <p:nvSpPr>
          <p:cNvPr id="313" name="Google Shape;313;p13"/>
          <p:cNvSpPr txBox="1"/>
          <p:nvPr/>
        </p:nvSpPr>
        <p:spPr>
          <a:xfrm>
            <a:off x="5181447" y="4069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meta-yocto → Core Poky reference</a:t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6004407" y="1463040"/>
            <a:ext cx="182880" cy="914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6004407" y="2194560"/>
            <a:ext cx="182880" cy="914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6004407" y="2926080"/>
            <a:ext cx="182880" cy="914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6004407" y="3657600"/>
            <a:ext cx="182880" cy="914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Layers are stacked. Higher layers override lower layers.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Yocto: BitBake Recipe Syntax</a:t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457200" y="822946"/>
            <a:ext cx="11277300" cy="49974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640080" y="960120"/>
            <a:ext cx="10911535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myapp_1.0.bb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SUMMARY = "My application"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LICENSE = "MIT"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LIC_FILES_CHKSUM = "file://LICENSE;md5=..."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SRC_URI = "git://github.com/mycompany/myapp.git;branch=main"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SRCREV = "abc123..."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DEPENDS = "openssl zlib"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 = "${WORKDIR}/git"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inherit autotasks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do_configure() {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./configure --prefix=${prefix}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do_compile() {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make ${PARALLEL_MAKE}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do_install() {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make install DESTDIR=${D}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Yocto: Layer Model</a:t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457200" y="822946"/>
            <a:ext cx="11277300" cy="102870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57200" y="822960"/>
            <a:ext cx="11277295" cy="36576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594360" y="868680"/>
            <a:ext cx="110029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meta-yocto / meta-poky</a:t>
            </a:r>
            <a:endParaRPr/>
          </a:p>
        </p:txBody>
      </p:sp>
      <p:sp>
        <p:nvSpPr>
          <p:cNvPr id="338" name="Google Shape;338;p15"/>
          <p:cNvSpPr txBox="1"/>
          <p:nvPr/>
        </p:nvSpPr>
        <p:spPr>
          <a:xfrm>
            <a:off x="594360" y="1280160"/>
            <a:ext cx="11002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Core Poky reference distro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BitBake, core classes</a:t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457250" y="2123721"/>
            <a:ext cx="11277300" cy="102870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57250" y="2123735"/>
            <a:ext cx="11277300" cy="36570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 txBox="1"/>
          <p:nvPr/>
        </p:nvSpPr>
        <p:spPr>
          <a:xfrm>
            <a:off x="594410" y="2169455"/>
            <a:ext cx="1100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meta-&lt;vendor&gt;</a:t>
            </a:r>
            <a:endParaRPr/>
          </a:p>
        </p:txBody>
      </p:sp>
      <p:sp>
        <p:nvSpPr>
          <p:cNvPr id="342" name="Google Shape;342;p15"/>
          <p:cNvSpPr txBox="1"/>
          <p:nvPr/>
        </p:nvSpPr>
        <p:spPr>
          <a:xfrm>
            <a:off x="594410" y="2580935"/>
            <a:ext cx="110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BSP from SoM vendor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MACHINE definitions, kernel, U-Boot</a:t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457200" y="3566144"/>
            <a:ext cx="11277300" cy="1182300"/>
          </a:xfrm>
          <a:prstGeom prst="roundRect">
            <a:avLst>
              <a:gd fmla="val 16667" name="adj"/>
            </a:avLst>
          </a:prstGeom>
          <a:solidFill>
            <a:srgbClr val="FFF9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57200" y="3566160"/>
            <a:ext cx="11277300" cy="36570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 txBox="1"/>
          <p:nvPr/>
        </p:nvSpPr>
        <p:spPr>
          <a:xfrm>
            <a:off x="594360" y="3611880"/>
            <a:ext cx="1100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meta-openembedded</a:t>
            </a:r>
            <a:endParaRPr/>
          </a:p>
        </p:txBody>
      </p:sp>
      <p:sp>
        <p:nvSpPr>
          <p:cNvPr id="346" name="Google Shape;346;p15"/>
          <p:cNvSpPr txBox="1"/>
          <p:nvPr/>
        </p:nvSpPr>
        <p:spPr>
          <a:xfrm>
            <a:off x="594360" y="4023360"/>
            <a:ext cx="110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Community software layers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Networking, Python, graphics</a:t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457200" y="4937744"/>
            <a:ext cx="11277300" cy="1139100"/>
          </a:xfrm>
          <a:prstGeom prst="roundRect">
            <a:avLst>
              <a:gd fmla="val 16667" name="adj"/>
            </a:avLst>
          </a:prstGeom>
          <a:solidFill>
            <a:srgbClr val="FDF4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457200" y="4937760"/>
            <a:ext cx="11277300" cy="36570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 txBox="1"/>
          <p:nvPr/>
        </p:nvSpPr>
        <p:spPr>
          <a:xfrm>
            <a:off x="594360" y="4983480"/>
            <a:ext cx="1100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meta-&lt;yourcompany&gt;</a:t>
            </a:r>
            <a:endParaRPr/>
          </a:p>
        </p:txBody>
      </p:sp>
      <p:sp>
        <p:nvSpPr>
          <p:cNvPr id="350" name="Google Shape;350;p15"/>
          <p:cNvSpPr txBox="1"/>
          <p:nvPr/>
        </p:nvSpPr>
        <p:spPr>
          <a:xfrm>
            <a:off x="594360" y="5394960"/>
            <a:ext cx="110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Your custom layer</a:t>
            </a:r>
            <a:b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Products, customizations, distro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Yocto: Configuration</a:t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457200" y="822960"/>
            <a:ext cx="5501487" cy="320040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D6FF6"/>
                </a:solidFill>
                <a:latin typeface="Arial"/>
                <a:ea typeface="Arial"/>
                <a:cs typeface="Arial"/>
                <a:sym typeface="Arial"/>
              </a:rPr>
              <a:t>conf/local.conf</a:t>
            </a:r>
            <a:endParaRPr/>
          </a:p>
        </p:txBody>
      </p:sp>
      <p:sp>
        <p:nvSpPr>
          <p:cNvPr id="360" name="Google Shape;360;p1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MACHINE ?= "beaglebone-yocto"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DISTRO ?= "poky"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PACKAGE_CLASSES = "package_rpm"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EXTRA_IMAGE_FEATURES = "debug-tweaks"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IMAGE_INSTALL:append = " openssh vim"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Parallelism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BB_NUMBER_THREADS ?= "8"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PARALLEL_MAKE ?= "-j8</a:t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6233007" y="822960"/>
            <a:ext cx="5501487" cy="320040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7A8C"/>
                </a:solidFill>
                <a:latin typeface="Arial"/>
                <a:ea typeface="Arial"/>
                <a:cs typeface="Arial"/>
                <a:sym typeface="Arial"/>
              </a:rPr>
              <a:t>conf/bblayers.conf</a:t>
            </a:r>
            <a:endParaRPr/>
          </a:p>
        </p:txBody>
      </p:sp>
      <p:sp>
        <p:nvSpPr>
          <p:cNvPr id="363" name="Google Shape;363;p16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BBLAYERS ?= "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/path/to/meta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/path/to/meta-poky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/path/to/meta-yocto-bsp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/path/to/meta-beaglebone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/path/to/meta-openembedded/meta-oe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/path/to/meta-myproduct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Yocto: Building</a:t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457200" y="822960"/>
            <a:ext cx="11277295" cy="36576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 txBox="1"/>
          <p:nvPr/>
        </p:nvSpPr>
        <p:spPr>
          <a:xfrm>
            <a:off x="640080" y="960120"/>
            <a:ext cx="10911535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source oe-init-build-env build/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$ bitbake core-image-minimal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Loading cache: 100% |############################| 1.2/1.2 MB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Parsing recipes: 100% |##########################| 4031/4031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NOTE: Executing Tasks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NOTE: Running task 4321 of 5678 (do_compile for openssl)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NOTE: Tasks Summary: Attempted 5678 tasks of which 123 didn't need rerun.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# Output: tmp/deploy/images/&lt;machine&gt;/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core-image-minimal-&lt;machine&gt;.rootfs.ext4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zImage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zImage-am335x-boneblack.dtb</a:t>
            </a:r>
            <a:b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└── u-boot.img</a:t>
            </a:r>
            <a:endParaRPr/>
          </a:p>
        </p:txBody>
      </p:sp>
      <p:sp>
        <p:nvSpPr>
          <p:cNvPr id="373" name="Google Shape;373;p17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First build: 2-6 hours. Subsequent builds: minutes (shared state cache).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Yocto: Customizing</a:t>
            </a:r>
            <a:endParaRPr/>
          </a:p>
        </p:txBody>
      </p:sp>
      <p:sp>
        <p:nvSpPr>
          <p:cNvPr id="381" name="Google Shape;381;p18"/>
          <p:cNvSpPr/>
          <p:nvPr/>
        </p:nvSpPr>
        <p:spPr>
          <a:xfrm>
            <a:off x="457200" y="822960"/>
            <a:ext cx="5501487" cy="320040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D6FF6"/>
                </a:solidFill>
                <a:latin typeface="Arial"/>
                <a:ea typeface="Arial"/>
                <a:cs typeface="Arial"/>
                <a:sym typeface="Arial"/>
              </a:rPr>
              <a:t>Custom Image Recipe</a:t>
            </a:r>
            <a:endParaRPr/>
          </a:p>
        </p:txBody>
      </p:sp>
      <p:sp>
        <p:nvSpPr>
          <p:cNvPr id="383" name="Google Shape;383;p18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my-image.bb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require core-image-base.bb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IMAGE_INSTALL += "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  packagegroup-core-ssh-openssh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  vim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  python3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  myapp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IMAGE_FEATURES += "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  ssh-server-openssh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  debug-tweaks \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  <p:sp>
        <p:nvSpPr>
          <p:cNvPr id="384" name="Google Shape;384;p18"/>
          <p:cNvSpPr/>
          <p:nvPr/>
        </p:nvSpPr>
        <p:spPr>
          <a:xfrm>
            <a:off x="6233007" y="822960"/>
            <a:ext cx="5501487" cy="320040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7A8C"/>
                </a:solidFill>
                <a:latin typeface="Arial"/>
                <a:ea typeface="Arial"/>
                <a:cs typeface="Arial"/>
                <a:sym typeface="Arial"/>
              </a:rPr>
              <a:t>Image Features</a:t>
            </a:r>
            <a:endParaRPr/>
          </a:p>
        </p:txBody>
      </p:sp>
      <p:sp>
        <p:nvSpPr>
          <p:cNvPr id="386" name="Google Shape;386;p18"/>
          <p:cNvSpPr txBox="1"/>
          <p:nvPr/>
        </p:nvSpPr>
        <p:spPr>
          <a:xfrm>
            <a:off x="6370167" y="1325880"/>
            <a:ext cx="522716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debug-tweaks → Permit root login</a:t>
            </a:r>
            <a:endParaRPr/>
          </a:p>
        </p:txBody>
      </p:sp>
      <p:sp>
        <p:nvSpPr>
          <p:cNvPr id="387" name="Google Shape;387;p18"/>
          <p:cNvSpPr txBox="1"/>
          <p:nvPr/>
        </p:nvSpPr>
        <p:spPr>
          <a:xfrm>
            <a:off x="6370167" y="1783080"/>
            <a:ext cx="522716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ssh-server-openssh → SSH server</a:t>
            </a:r>
            <a:endParaRPr/>
          </a:p>
        </p:txBody>
      </p:sp>
      <p:sp>
        <p:nvSpPr>
          <p:cNvPr id="388" name="Google Shape;388;p18"/>
          <p:cNvSpPr txBox="1"/>
          <p:nvPr/>
        </p:nvSpPr>
        <p:spPr>
          <a:xfrm>
            <a:off x="6370167" y="2240280"/>
            <a:ext cx="522716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tools-debug → gdb, strace</a:t>
            </a:r>
            <a:endParaRPr/>
          </a:p>
        </p:txBody>
      </p:sp>
      <p:sp>
        <p:nvSpPr>
          <p:cNvPr id="389" name="Google Shape;389;p18"/>
          <p:cNvSpPr txBox="1"/>
          <p:nvPr/>
        </p:nvSpPr>
        <p:spPr>
          <a:xfrm>
            <a:off x="6370167" y="2697480"/>
            <a:ext cx="522716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package-management → apt/dnf/rpm</a:t>
            </a:r>
            <a:endParaRPr/>
          </a:p>
        </p:txBody>
      </p:sp>
      <p:sp>
        <p:nvSpPr>
          <p:cNvPr id="390" name="Google Shape;390;p18"/>
          <p:cNvSpPr txBox="1"/>
          <p:nvPr/>
        </p:nvSpPr>
        <p:spPr>
          <a:xfrm>
            <a:off x="6370167" y="3154680"/>
            <a:ext cx="522716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dev-pkgs → Headers for cross-dev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Yocto: SDK Generation</a:t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457200" y="822960"/>
            <a:ext cx="3200400" cy="50292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 txBox="1"/>
          <p:nvPr/>
        </p:nvSpPr>
        <p:spPr>
          <a:xfrm>
            <a:off x="594360" y="86868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SDK</a:t>
            </a:r>
            <a:endParaRPr/>
          </a:p>
        </p:txBody>
      </p:sp>
      <p:sp>
        <p:nvSpPr>
          <p:cNvPr id="400" name="Google Shape;400;p19"/>
          <p:cNvSpPr txBox="1"/>
          <p:nvPr/>
        </p:nvSpPr>
        <p:spPr>
          <a:xfrm>
            <a:off x="2011680" y="86868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bitbake core-image-minimal -c populate_sdk</a:t>
            </a:r>
            <a:endParaRPr/>
          </a:p>
        </p:txBody>
      </p:sp>
      <p:sp>
        <p:nvSpPr>
          <p:cNvPr id="401" name="Google Shape;401;p19"/>
          <p:cNvSpPr/>
          <p:nvPr/>
        </p:nvSpPr>
        <p:spPr>
          <a:xfrm>
            <a:off x="1965960" y="1325880"/>
            <a:ext cx="182880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457200" y="1463040"/>
            <a:ext cx="3200400" cy="50292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 txBox="1"/>
          <p:nvPr/>
        </p:nvSpPr>
        <p:spPr>
          <a:xfrm>
            <a:off x="594360" y="15087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Install SDK</a:t>
            </a:r>
            <a:endParaRPr/>
          </a:p>
        </p:txBody>
      </p:sp>
      <p:sp>
        <p:nvSpPr>
          <p:cNvPr id="404" name="Google Shape;404;p19"/>
          <p:cNvSpPr txBox="1"/>
          <p:nvPr/>
        </p:nvSpPr>
        <p:spPr>
          <a:xfrm>
            <a:off x="2011680" y="150876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~/poky_sdk.sh</a:t>
            </a:r>
            <a:br>
              <a:rPr b="0" i="0" lang="en-U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Installs to /opt/poky/&lt;version&gt;/</a:t>
            </a:r>
            <a:endParaRPr/>
          </a:p>
        </p:txBody>
      </p:sp>
      <p:sp>
        <p:nvSpPr>
          <p:cNvPr id="405" name="Google Shape;405;p19"/>
          <p:cNvSpPr/>
          <p:nvPr/>
        </p:nvSpPr>
        <p:spPr>
          <a:xfrm>
            <a:off x="1965960" y="1965960"/>
            <a:ext cx="182880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457200" y="2103120"/>
            <a:ext cx="3200400" cy="50292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594360" y="21488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 Env</a:t>
            </a:r>
            <a:endParaRPr/>
          </a:p>
        </p:txBody>
      </p:sp>
      <p:sp>
        <p:nvSpPr>
          <p:cNvPr id="408" name="Google Shape;408;p19"/>
          <p:cNvSpPr txBox="1"/>
          <p:nvPr/>
        </p:nvSpPr>
        <p:spPr>
          <a:xfrm>
            <a:off x="2011680" y="214884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source /opt/poky/&lt;version&gt;/environment-setup-armv7at2hf-neon</a:t>
            </a:r>
            <a:endParaRPr/>
          </a:p>
        </p:txBody>
      </p:sp>
      <p:sp>
        <p:nvSpPr>
          <p:cNvPr id="409" name="Google Shape;409;p19"/>
          <p:cNvSpPr/>
          <p:nvPr/>
        </p:nvSpPr>
        <p:spPr>
          <a:xfrm>
            <a:off x="1965960" y="2606040"/>
            <a:ext cx="182880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457200" y="2743200"/>
            <a:ext cx="3200400" cy="50292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9"/>
          <p:cNvSpPr txBox="1"/>
          <p:nvPr/>
        </p:nvSpPr>
        <p:spPr>
          <a:xfrm>
            <a:off x="594360" y="278892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Cross-Compile</a:t>
            </a:r>
            <a:endParaRPr/>
          </a:p>
        </p:txBody>
      </p:sp>
      <p:sp>
        <p:nvSpPr>
          <p:cNvPr id="412" name="Google Shape;412;p19"/>
          <p:cNvSpPr txBox="1"/>
          <p:nvPr/>
        </p:nvSpPr>
        <p:spPr>
          <a:xfrm>
            <a:off x="2011680" y="278892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CC=arm-poky-linux-gnueabi-gcc make</a:t>
            </a:r>
            <a:endParaRPr/>
          </a:p>
        </p:txBody>
      </p:sp>
      <p:sp>
        <p:nvSpPr>
          <p:cNvPr id="413" name="Google Shape;413;p19"/>
          <p:cNvSpPr/>
          <p:nvPr/>
        </p:nvSpPr>
        <p:spPr>
          <a:xfrm>
            <a:off x="1965960" y="3246120"/>
            <a:ext cx="182880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457200" y="3383280"/>
            <a:ext cx="3200400" cy="50292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 txBox="1"/>
          <p:nvPr/>
        </p:nvSpPr>
        <p:spPr>
          <a:xfrm>
            <a:off x="594360" y="34290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/>
          </a:p>
        </p:txBody>
      </p:sp>
      <p:sp>
        <p:nvSpPr>
          <p:cNvPr id="416" name="Google Shape;416;p19"/>
          <p:cNvSpPr txBox="1"/>
          <p:nvPr/>
        </p:nvSpPr>
        <p:spPr>
          <a:xfrm>
            <a:off x="2011680" y="34290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scp myapp /usr/bin/</a:t>
            </a:r>
            <a:endParaRPr/>
          </a:p>
        </p:txBody>
      </p:sp>
      <p:sp>
        <p:nvSpPr>
          <p:cNvPr id="417" name="Google Shape;417;p19"/>
          <p:cNvSpPr/>
          <p:nvPr/>
        </p:nvSpPr>
        <p:spPr>
          <a:xfrm>
            <a:off x="4114800" y="822960"/>
            <a:ext cx="7589520" cy="320040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 txBox="1"/>
          <p:nvPr/>
        </p:nvSpPr>
        <p:spPr>
          <a:xfrm>
            <a:off x="4297680" y="960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D6FF6"/>
                </a:solidFill>
                <a:latin typeface="Arial"/>
                <a:ea typeface="Arial"/>
                <a:cs typeface="Arial"/>
                <a:sym typeface="Arial"/>
              </a:rPr>
              <a:t>devtool: Edit → Build → Deploy Cycle</a:t>
            </a:r>
            <a:endParaRPr/>
          </a:p>
        </p:txBody>
      </p:sp>
      <p:sp>
        <p:nvSpPr>
          <p:cNvPr id="419" name="Google Shape;419;p19"/>
          <p:cNvSpPr txBox="1"/>
          <p:nvPr/>
        </p:nvSpPr>
        <p:spPr>
          <a:xfrm>
            <a:off x="4297680" y="1280160"/>
            <a:ext cx="7315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Add a recipe from source: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$ devtool add myapp ~/myapp-source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Edit the recipe: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$ devtool edit myapp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Build: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$ devtool build myapp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Deploy to target (over SSH):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$ devtool deploy-target myapp root@192.168.1.100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Reset (clean rebuild):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$ devtool reset myapp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5E9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Lab: Yocto</a:t>
            </a:r>
            <a:endParaRPr/>
          </a:p>
        </p:txBody>
      </p:sp>
      <p:sp>
        <p:nvSpPr>
          <p:cNvPr id="426" name="Google Shape;426;p20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Lab: Build with Yocto</a:t>
            </a:r>
            <a:endParaRPr/>
          </a:p>
        </p:txBody>
      </p:sp>
      <p:sp>
        <p:nvSpPr>
          <p:cNvPr id="427" name="Google Shape;427;p20"/>
          <p:cNvSpPr/>
          <p:nvPr/>
        </p:nvSpPr>
        <p:spPr>
          <a:xfrm>
            <a:off x="457200" y="822960"/>
            <a:ext cx="457200" cy="54864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 txBox="1"/>
          <p:nvPr/>
        </p:nvSpPr>
        <p:spPr>
          <a:xfrm>
            <a:off x="548640" y="896112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29" name="Google Shape;429;p20"/>
          <p:cNvSpPr txBox="1"/>
          <p:nvPr/>
        </p:nvSpPr>
        <p:spPr>
          <a:xfrm>
            <a:off x="1097280" y="8229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1. Setup</a:t>
            </a:r>
            <a:endParaRPr/>
          </a:p>
        </p:txBody>
      </p:sp>
      <p:sp>
        <p:nvSpPr>
          <p:cNvPr id="430" name="Google Shape;430;p20"/>
          <p:cNvSpPr txBox="1"/>
          <p:nvPr/>
        </p:nvSpPr>
        <p:spPr>
          <a:xfrm>
            <a:off x="1097280" y="1143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git clone git://git.yoctoproject.org/poky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cd poky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source oe-init-build-env</a:t>
            </a:r>
            <a:endParaRPr/>
          </a:p>
        </p:txBody>
      </p:sp>
      <p:sp>
        <p:nvSpPr>
          <p:cNvPr id="431" name="Google Shape;431;p20"/>
          <p:cNvSpPr/>
          <p:nvPr/>
        </p:nvSpPr>
        <p:spPr>
          <a:xfrm>
            <a:off x="457200" y="1508760"/>
            <a:ext cx="457200" cy="54864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 txBox="1"/>
          <p:nvPr/>
        </p:nvSpPr>
        <p:spPr>
          <a:xfrm>
            <a:off x="548640" y="1581912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33" name="Google Shape;433;p20"/>
          <p:cNvSpPr txBox="1"/>
          <p:nvPr/>
        </p:nvSpPr>
        <p:spPr>
          <a:xfrm>
            <a:off x="1097280" y="15087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2. Configure</a:t>
            </a:r>
            <a:endParaRPr/>
          </a:p>
        </p:txBody>
      </p:sp>
      <p:sp>
        <p:nvSpPr>
          <p:cNvPr id="434" name="Google Shape;434;p20"/>
          <p:cNvSpPr txBox="1"/>
          <p:nvPr/>
        </p:nvSpPr>
        <p:spPr>
          <a:xfrm>
            <a:off x="1097280" y="18288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Edit conf/local.conf: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MACHINE = "beaglebone-yocto"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IMAGE_INSTALL:append = " ssh vim"</a:t>
            </a:r>
            <a:endParaRPr/>
          </a:p>
        </p:txBody>
      </p:sp>
      <p:sp>
        <p:nvSpPr>
          <p:cNvPr id="435" name="Google Shape;435;p20"/>
          <p:cNvSpPr/>
          <p:nvPr/>
        </p:nvSpPr>
        <p:spPr>
          <a:xfrm>
            <a:off x="457200" y="2194560"/>
            <a:ext cx="457200" cy="54864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 txBox="1"/>
          <p:nvPr/>
        </p:nvSpPr>
        <p:spPr>
          <a:xfrm>
            <a:off x="548640" y="2267712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37" name="Google Shape;437;p20"/>
          <p:cNvSpPr txBox="1"/>
          <p:nvPr/>
        </p:nvSpPr>
        <p:spPr>
          <a:xfrm>
            <a:off x="1097280" y="21945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3. Build</a:t>
            </a:r>
            <a:endParaRPr/>
          </a:p>
        </p:txBody>
      </p:sp>
      <p:sp>
        <p:nvSpPr>
          <p:cNvPr id="438" name="Google Shape;438;p20"/>
          <p:cNvSpPr txBox="1"/>
          <p:nvPr/>
        </p:nvSpPr>
        <p:spPr>
          <a:xfrm>
            <a:off x="1097280" y="2514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bitbake core-image-sato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First build: 3-6 hours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Use -k to continue on errors</a:t>
            </a:r>
            <a:endParaRPr/>
          </a:p>
        </p:txBody>
      </p:sp>
      <p:sp>
        <p:nvSpPr>
          <p:cNvPr id="439" name="Google Shape;439;p20"/>
          <p:cNvSpPr/>
          <p:nvPr/>
        </p:nvSpPr>
        <p:spPr>
          <a:xfrm>
            <a:off x="457200" y="2880360"/>
            <a:ext cx="457200" cy="54864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0"/>
          <p:cNvSpPr txBox="1"/>
          <p:nvPr/>
        </p:nvSpPr>
        <p:spPr>
          <a:xfrm>
            <a:off x="548640" y="2953512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41" name="Google Shape;441;p20"/>
          <p:cNvSpPr txBox="1"/>
          <p:nvPr/>
        </p:nvSpPr>
        <p:spPr>
          <a:xfrm>
            <a:off x="1097280" y="28803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4. Flash</a:t>
            </a:r>
            <a:endParaRPr/>
          </a:p>
        </p:txBody>
      </p:sp>
      <p:sp>
        <p:nvSpPr>
          <p:cNvPr id="442" name="Google Shape;442;p20"/>
          <p:cNvSpPr txBox="1"/>
          <p:nvPr/>
        </p:nvSpPr>
        <p:spPr>
          <a:xfrm>
            <a:off x="1097280" y="32004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Copy to SD card: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  dd if=tmp/deploy/images/*/core-image-*.rootfs.ext4 of=/dev/sdX</a:t>
            </a:r>
            <a:endParaRPr/>
          </a:p>
        </p:txBody>
      </p:sp>
      <p:sp>
        <p:nvSpPr>
          <p:cNvPr id="443" name="Google Shape;443;p20"/>
          <p:cNvSpPr/>
          <p:nvPr/>
        </p:nvSpPr>
        <p:spPr>
          <a:xfrm>
            <a:off x="457200" y="3566160"/>
            <a:ext cx="457200" cy="54864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 txBox="1"/>
          <p:nvPr/>
        </p:nvSpPr>
        <p:spPr>
          <a:xfrm>
            <a:off x="548640" y="3639312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45" name="Google Shape;445;p20"/>
          <p:cNvSpPr txBox="1"/>
          <p:nvPr/>
        </p:nvSpPr>
        <p:spPr>
          <a:xfrm>
            <a:off x="1097280" y="35661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5. Boot</a:t>
            </a:r>
            <a:endParaRPr/>
          </a:p>
        </p:txBody>
      </p:sp>
      <p:sp>
        <p:nvSpPr>
          <p:cNvPr id="446" name="Google Shape;446;p20"/>
          <p:cNvSpPr txBox="1"/>
          <p:nvPr/>
        </p:nvSpPr>
        <p:spPr>
          <a:xfrm>
            <a:off x="1097280" y="3886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Serial console (115200 8N1)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Login: root (no password if debug-tweaks)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Buildroot vs Yocto: Side by Side</a:t>
            </a:r>
            <a:endParaRPr/>
          </a:p>
        </p:txBody>
      </p:sp>
      <p:sp>
        <p:nvSpPr>
          <p:cNvPr id="454" name="Google Shape;454;p21"/>
          <p:cNvSpPr/>
          <p:nvPr/>
        </p:nvSpPr>
        <p:spPr>
          <a:xfrm>
            <a:off x="457200" y="1005840"/>
            <a:ext cx="2286000" cy="347472"/>
          </a:xfrm>
          <a:prstGeom prst="rect">
            <a:avLst/>
          </a:prstGeom>
          <a:solidFill>
            <a:srgbClr val="1523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1"/>
          <p:cNvSpPr txBox="1"/>
          <p:nvPr/>
        </p:nvSpPr>
        <p:spPr>
          <a:xfrm>
            <a:off x="548640" y="10515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/>
          </a:p>
        </p:txBody>
      </p:sp>
      <p:sp>
        <p:nvSpPr>
          <p:cNvPr id="456" name="Google Shape;456;p21"/>
          <p:cNvSpPr/>
          <p:nvPr/>
        </p:nvSpPr>
        <p:spPr>
          <a:xfrm>
            <a:off x="2743200" y="1005840"/>
            <a:ext cx="4114800" cy="347472"/>
          </a:xfrm>
          <a:prstGeom prst="rect">
            <a:avLst/>
          </a:prstGeom>
          <a:solidFill>
            <a:srgbClr val="1523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 txBox="1"/>
          <p:nvPr/>
        </p:nvSpPr>
        <p:spPr>
          <a:xfrm>
            <a:off x="2834640" y="10515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Buildroot</a:t>
            </a:r>
            <a:endParaRPr/>
          </a:p>
        </p:txBody>
      </p:sp>
      <p:sp>
        <p:nvSpPr>
          <p:cNvPr id="458" name="Google Shape;458;p21"/>
          <p:cNvSpPr/>
          <p:nvPr/>
        </p:nvSpPr>
        <p:spPr>
          <a:xfrm>
            <a:off x="6858000" y="1005840"/>
            <a:ext cx="4114800" cy="347472"/>
          </a:xfrm>
          <a:prstGeom prst="rect">
            <a:avLst/>
          </a:prstGeom>
          <a:solidFill>
            <a:srgbClr val="1523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 txBox="1"/>
          <p:nvPr/>
        </p:nvSpPr>
        <p:spPr>
          <a:xfrm>
            <a:off x="6949440" y="105156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Yocto</a:t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457200" y="1353312"/>
            <a:ext cx="22860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 txBox="1"/>
          <p:nvPr/>
        </p:nvSpPr>
        <p:spPr>
          <a:xfrm>
            <a:off x="548640" y="13990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 System</a:t>
            </a: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2743200" y="1353312"/>
            <a:ext cx="41148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2834640" y="139903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Make + Kconfig</a:t>
            </a:r>
            <a:endParaRPr/>
          </a:p>
        </p:txBody>
      </p:sp>
      <p:sp>
        <p:nvSpPr>
          <p:cNvPr id="464" name="Google Shape;464;p21"/>
          <p:cNvSpPr/>
          <p:nvPr/>
        </p:nvSpPr>
        <p:spPr>
          <a:xfrm>
            <a:off x="6858000" y="1353312"/>
            <a:ext cx="41148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6949440" y="139903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BitBake (Python)</a:t>
            </a:r>
            <a:endParaRPr/>
          </a:p>
        </p:txBody>
      </p:sp>
      <p:sp>
        <p:nvSpPr>
          <p:cNvPr id="466" name="Google Shape;466;p21"/>
          <p:cNvSpPr/>
          <p:nvPr/>
        </p:nvSpPr>
        <p:spPr>
          <a:xfrm>
            <a:off x="457200" y="1700784"/>
            <a:ext cx="22860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 txBox="1"/>
          <p:nvPr/>
        </p:nvSpPr>
        <p:spPr>
          <a:xfrm>
            <a:off x="548640" y="174650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Config Style</a:t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2743200" y="1700784"/>
            <a:ext cx="41148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2834640" y="17465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Single .config</a:t>
            </a: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6858000" y="1700784"/>
            <a:ext cx="41148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6949440" y="17465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Layered .bb + .conf</a:t>
            </a:r>
            <a:endParaRPr/>
          </a:p>
        </p:txBody>
      </p:sp>
      <p:sp>
        <p:nvSpPr>
          <p:cNvPr id="472" name="Google Shape;472;p21"/>
          <p:cNvSpPr/>
          <p:nvPr/>
        </p:nvSpPr>
        <p:spPr>
          <a:xfrm>
            <a:off x="457200" y="2048256"/>
            <a:ext cx="22860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548640" y="209397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Package Count</a:t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2743200" y="2048256"/>
            <a:ext cx="41148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1"/>
          <p:cNvSpPr txBox="1"/>
          <p:nvPr/>
        </p:nvSpPr>
        <p:spPr>
          <a:xfrm>
            <a:off x="2834640" y="209397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~2000</a:t>
            </a:r>
            <a:endParaRPr/>
          </a:p>
        </p:txBody>
      </p:sp>
      <p:sp>
        <p:nvSpPr>
          <p:cNvPr id="476" name="Google Shape;476;p21"/>
          <p:cNvSpPr/>
          <p:nvPr/>
        </p:nvSpPr>
        <p:spPr>
          <a:xfrm>
            <a:off x="6858000" y="2048256"/>
            <a:ext cx="41148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 txBox="1"/>
          <p:nvPr/>
        </p:nvSpPr>
        <p:spPr>
          <a:xfrm>
            <a:off x="6949440" y="209397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~5000+</a:t>
            </a:r>
            <a:endParaRPr/>
          </a:p>
        </p:txBody>
      </p:sp>
      <p:sp>
        <p:nvSpPr>
          <p:cNvPr id="478" name="Google Shape;478;p21"/>
          <p:cNvSpPr/>
          <p:nvPr/>
        </p:nvSpPr>
        <p:spPr>
          <a:xfrm>
            <a:off x="457200" y="2395728"/>
            <a:ext cx="22860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 txBox="1"/>
          <p:nvPr/>
        </p:nvSpPr>
        <p:spPr>
          <a:xfrm>
            <a:off x="548640" y="244144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 Time (first)</a:t>
            </a:r>
            <a:endParaRPr/>
          </a:p>
        </p:txBody>
      </p:sp>
      <p:sp>
        <p:nvSpPr>
          <p:cNvPr id="480" name="Google Shape;480;p21"/>
          <p:cNvSpPr/>
          <p:nvPr/>
        </p:nvSpPr>
        <p:spPr>
          <a:xfrm>
            <a:off x="2743200" y="2395728"/>
            <a:ext cx="41148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 txBox="1"/>
          <p:nvPr/>
        </p:nvSpPr>
        <p:spPr>
          <a:xfrm>
            <a:off x="2834640" y="244144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15-45 min</a:t>
            </a:r>
            <a:endParaRPr/>
          </a:p>
        </p:txBody>
      </p:sp>
      <p:sp>
        <p:nvSpPr>
          <p:cNvPr id="482" name="Google Shape;482;p21"/>
          <p:cNvSpPr/>
          <p:nvPr/>
        </p:nvSpPr>
        <p:spPr>
          <a:xfrm>
            <a:off x="6858000" y="2395728"/>
            <a:ext cx="41148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 txBox="1"/>
          <p:nvPr/>
        </p:nvSpPr>
        <p:spPr>
          <a:xfrm>
            <a:off x="6949440" y="244144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2-6 hours</a:t>
            </a:r>
            <a:endParaRPr/>
          </a:p>
        </p:txBody>
      </p:sp>
      <p:sp>
        <p:nvSpPr>
          <p:cNvPr id="484" name="Google Shape;484;p21"/>
          <p:cNvSpPr/>
          <p:nvPr/>
        </p:nvSpPr>
        <p:spPr>
          <a:xfrm>
            <a:off x="457200" y="2743200"/>
            <a:ext cx="22860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 txBox="1"/>
          <p:nvPr/>
        </p:nvSpPr>
        <p:spPr>
          <a:xfrm>
            <a:off x="548640" y="27889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Build Time (incr.)</a:t>
            </a:r>
            <a:endParaRPr/>
          </a:p>
        </p:txBody>
      </p:sp>
      <p:sp>
        <p:nvSpPr>
          <p:cNvPr id="486" name="Google Shape;486;p21"/>
          <p:cNvSpPr/>
          <p:nvPr/>
        </p:nvSpPr>
        <p:spPr>
          <a:xfrm>
            <a:off x="2743200" y="2743200"/>
            <a:ext cx="41148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 txBox="1"/>
          <p:nvPr/>
        </p:nvSpPr>
        <p:spPr>
          <a:xfrm>
            <a:off x="2834640" y="27889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Full rebuild possible</a:t>
            </a:r>
            <a:endParaRPr/>
          </a:p>
        </p:txBody>
      </p:sp>
      <p:sp>
        <p:nvSpPr>
          <p:cNvPr id="488" name="Google Shape;488;p21"/>
          <p:cNvSpPr/>
          <p:nvPr/>
        </p:nvSpPr>
        <p:spPr>
          <a:xfrm>
            <a:off x="6858000" y="2743200"/>
            <a:ext cx="41148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 txBox="1"/>
          <p:nvPr/>
        </p:nvSpPr>
        <p:spPr>
          <a:xfrm>
            <a:off x="6949440" y="27889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Shared state cache</a:t>
            </a:r>
            <a:endParaRPr/>
          </a:p>
        </p:txBody>
      </p:sp>
      <p:sp>
        <p:nvSpPr>
          <p:cNvPr id="490" name="Google Shape;490;p21"/>
          <p:cNvSpPr/>
          <p:nvPr/>
        </p:nvSpPr>
        <p:spPr>
          <a:xfrm>
            <a:off x="457200" y="3090672"/>
            <a:ext cx="22860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 txBox="1"/>
          <p:nvPr/>
        </p:nvSpPr>
        <p:spPr>
          <a:xfrm>
            <a:off x="548640" y="313639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Package Format</a:t>
            </a:r>
            <a:endParaRPr/>
          </a:p>
        </p:txBody>
      </p:sp>
      <p:sp>
        <p:nvSpPr>
          <p:cNvPr id="492" name="Google Shape;492;p21"/>
          <p:cNvSpPr/>
          <p:nvPr/>
        </p:nvSpPr>
        <p:spPr>
          <a:xfrm>
            <a:off x="2743200" y="3090672"/>
            <a:ext cx="41148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 txBox="1"/>
          <p:nvPr/>
        </p:nvSpPr>
        <p:spPr>
          <a:xfrm>
            <a:off x="2834640" y="31363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None (rootfs only)</a:t>
            </a:r>
            <a:endParaRPr/>
          </a:p>
        </p:txBody>
      </p:sp>
      <p:sp>
        <p:nvSpPr>
          <p:cNvPr id="494" name="Google Shape;494;p21"/>
          <p:cNvSpPr/>
          <p:nvPr/>
        </p:nvSpPr>
        <p:spPr>
          <a:xfrm>
            <a:off x="6858000" y="3090672"/>
            <a:ext cx="41148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 txBox="1"/>
          <p:nvPr/>
        </p:nvSpPr>
        <p:spPr>
          <a:xfrm>
            <a:off x="6949440" y="31363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.deb / .rpm / .ipk</a:t>
            </a:r>
            <a:endParaRPr/>
          </a:p>
        </p:txBody>
      </p:sp>
      <p:sp>
        <p:nvSpPr>
          <p:cNvPr id="496" name="Google Shape;496;p21"/>
          <p:cNvSpPr/>
          <p:nvPr/>
        </p:nvSpPr>
        <p:spPr>
          <a:xfrm>
            <a:off x="457200" y="3438144"/>
            <a:ext cx="22860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 txBox="1"/>
          <p:nvPr/>
        </p:nvSpPr>
        <p:spPr>
          <a:xfrm>
            <a:off x="548640" y="348386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Customization</a:t>
            </a:r>
            <a:endParaRPr/>
          </a:p>
        </p:txBody>
      </p:sp>
      <p:sp>
        <p:nvSpPr>
          <p:cNvPr id="498" name="Google Shape;498;p21"/>
          <p:cNvSpPr/>
          <p:nvPr/>
        </p:nvSpPr>
        <p:spPr>
          <a:xfrm>
            <a:off x="2743200" y="3438144"/>
            <a:ext cx="41148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2834640" y="348386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Rootfs overlay, patches</a:t>
            </a:r>
            <a:endParaRPr/>
          </a:p>
        </p:txBody>
      </p:sp>
      <p:sp>
        <p:nvSpPr>
          <p:cNvPr id="500" name="Google Shape;500;p21"/>
          <p:cNvSpPr/>
          <p:nvPr/>
        </p:nvSpPr>
        <p:spPr>
          <a:xfrm>
            <a:off x="6858000" y="3438144"/>
            <a:ext cx="41148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 txBox="1"/>
          <p:nvPr/>
        </p:nvSpPr>
        <p:spPr>
          <a:xfrm>
            <a:off x="6949440" y="348386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Recipes, layers, classes</a:t>
            </a:r>
            <a:endParaRPr/>
          </a:p>
        </p:txBody>
      </p:sp>
      <p:sp>
        <p:nvSpPr>
          <p:cNvPr id="502" name="Google Shape;502;p21"/>
          <p:cNvSpPr/>
          <p:nvPr/>
        </p:nvSpPr>
        <p:spPr>
          <a:xfrm>
            <a:off x="457200" y="3785616"/>
            <a:ext cx="22860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 txBox="1"/>
          <p:nvPr/>
        </p:nvSpPr>
        <p:spPr>
          <a:xfrm>
            <a:off x="548640" y="383133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Learning Curve</a:t>
            </a:r>
            <a:endParaRPr/>
          </a:p>
        </p:txBody>
      </p:sp>
      <p:sp>
        <p:nvSpPr>
          <p:cNvPr id="504" name="Google Shape;504;p21"/>
          <p:cNvSpPr/>
          <p:nvPr/>
        </p:nvSpPr>
        <p:spPr>
          <a:xfrm>
            <a:off x="2743200" y="3785616"/>
            <a:ext cx="41148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 txBox="1"/>
          <p:nvPr/>
        </p:nvSpPr>
        <p:spPr>
          <a:xfrm>
            <a:off x="2834640" y="383133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6858000" y="3785616"/>
            <a:ext cx="411480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 txBox="1"/>
          <p:nvPr/>
        </p:nvSpPr>
        <p:spPr>
          <a:xfrm>
            <a:off x="6949440" y="3831336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/>
          </a:p>
        </p:txBody>
      </p:sp>
      <p:sp>
        <p:nvSpPr>
          <p:cNvPr id="508" name="Google Shape;508;p21"/>
          <p:cNvSpPr/>
          <p:nvPr/>
        </p:nvSpPr>
        <p:spPr>
          <a:xfrm>
            <a:off x="457200" y="4133088"/>
            <a:ext cx="22860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 txBox="1"/>
          <p:nvPr/>
        </p:nvSpPr>
        <p:spPr>
          <a:xfrm>
            <a:off x="548640" y="417880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Best For</a:t>
            </a:r>
            <a:endParaRPr/>
          </a:p>
        </p:txBody>
      </p:sp>
      <p:sp>
        <p:nvSpPr>
          <p:cNvPr id="510" name="Google Shape;510;p21"/>
          <p:cNvSpPr/>
          <p:nvPr/>
        </p:nvSpPr>
        <p:spPr>
          <a:xfrm>
            <a:off x="2743200" y="4133088"/>
            <a:ext cx="41148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 txBox="1"/>
          <p:nvPr/>
        </p:nvSpPr>
        <p:spPr>
          <a:xfrm>
            <a:off x="2834640" y="41788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Small, static systems</a:t>
            </a:r>
            <a:endParaRPr/>
          </a:p>
        </p:txBody>
      </p:sp>
      <p:sp>
        <p:nvSpPr>
          <p:cNvPr id="512" name="Google Shape;512;p21"/>
          <p:cNvSpPr/>
          <p:nvPr/>
        </p:nvSpPr>
        <p:spPr>
          <a:xfrm>
            <a:off x="6858000" y="4133088"/>
            <a:ext cx="4114800" cy="347472"/>
          </a:xfrm>
          <a:prstGeom prst="rect">
            <a:avLst/>
          </a:prstGeom>
          <a:solidFill>
            <a:srgbClr val="EBF1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 txBox="1"/>
          <p:nvPr/>
        </p:nvSpPr>
        <p:spPr>
          <a:xfrm>
            <a:off x="6949440" y="41788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Complex products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Decision Framework: When to Use Which</a:t>
            </a:r>
            <a:endParaRPr/>
          </a:p>
        </p:txBody>
      </p:sp>
      <p:sp>
        <p:nvSpPr>
          <p:cNvPr id="521" name="Google Shape;521;p22"/>
          <p:cNvSpPr/>
          <p:nvPr/>
        </p:nvSpPr>
        <p:spPr>
          <a:xfrm>
            <a:off x="457200" y="822960"/>
            <a:ext cx="5760720" cy="347472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 txBox="1"/>
          <p:nvPr/>
        </p:nvSpPr>
        <p:spPr>
          <a:xfrm>
            <a:off x="594360" y="960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7A8C"/>
                </a:solidFill>
                <a:latin typeface="Arial"/>
                <a:ea typeface="Arial"/>
                <a:cs typeface="Arial"/>
                <a:sym typeface="Arial"/>
              </a:rPr>
              <a:t>Choose Buildroot when:</a:t>
            </a:r>
            <a:endParaRPr/>
          </a:p>
        </p:txBody>
      </p:sp>
      <p:sp>
        <p:nvSpPr>
          <p:cNvPr id="523" name="Google Shape;523;p22"/>
          <p:cNvSpPr txBox="1"/>
          <p:nvPr/>
        </p:nvSpPr>
        <p:spPr>
          <a:xfrm>
            <a:off x="640080" y="137160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Static system (packages don't change at runtime)</a:t>
            </a:r>
            <a:endParaRPr/>
          </a:p>
        </p:txBody>
      </p:sp>
      <p:sp>
        <p:nvSpPr>
          <p:cNvPr id="524" name="Google Shape;524;p22"/>
          <p:cNvSpPr txBox="1"/>
          <p:nvPr/>
        </p:nvSpPr>
        <p:spPr>
          <a:xfrm>
            <a:off x="640080" y="187452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Small rootfs (&lt; 256 MB)</a:t>
            </a:r>
            <a:endParaRPr/>
          </a:p>
        </p:txBody>
      </p:sp>
      <p:sp>
        <p:nvSpPr>
          <p:cNvPr id="525" name="Google Shape;525;p22"/>
          <p:cNvSpPr txBox="1"/>
          <p:nvPr/>
        </p:nvSpPr>
        <p:spPr>
          <a:xfrm>
            <a:off x="640080" y="23774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Fast build time matters</a:t>
            </a:r>
            <a:endParaRPr/>
          </a:p>
        </p:txBody>
      </p:sp>
      <p:sp>
        <p:nvSpPr>
          <p:cNvPr id="526" name="Google Shape;526;p22"/>
          <p:cNvSpPr txBox="1"/>
          <p:nvPr/>
        </p:nvSpPr>
        <p:spPr>
          <a:xfrm>
            <a:off x="640080" y="28803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Simple product with few packages</a:t>
            </a:r>
            <a:endParaRPr/>
          </a:p>
        </p:txBody>
      </p:sp>
      <p:sp>
        <p:nvSpPr>
          <p:cNvPr id="527" name="Google Shape;527;p22"/>
          <p:cNvSpPr txBox="1"/>
          <p:nvPr/>
        </p:nvSpPr>
        <p:spPr>
          <a:xfrm>
            <a:off x="640080" y="338328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Team is new to embedded Linux</a:t>
            </a:r>
            <a:endParaRPr/>
          </a:p>
        </p:txBody>
      </p:sp>
      <p:sp>
        <p:nvSpPr>
          <p:cNvPr id="528" name="Google Shape;528;p22"/>
          <p:cNvSpPr/>
          <p:nvPr/>
        </p:nvSpPr>
        <p:spPr>
          <a:xfrm>
            <a:off x="6583680" y="822960"/>
            <a:ext cx="5760720" cy="347472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 txBox="1"/>
          <p:nvPr/>
        </p:nvSpPr>
        <p:spPr>
          <a:xfrm>
            <a:off x="6720840" y="960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D6FF6"/>
                </a:solidFill>
                <a:latin typeface="Arial"/>
                <a:ea typeface="Arial"/>
                <a:cs typeface="Arial"/>
                <a:sym typeface="Arial"/>
              </a:rPr>
              <a:t>Choose Yocto when:</a:t>
            </a:r>
            <a:endParaRPr/>
          </a:p>
        </p:txBody>
      </p:sp>
      <p:sp>
        <p:nvSpPr>
          <p:cNvPr id="530" name="Google Shape;530;p22"/>
          <p:cNvSpPr txBox="1"/>
          <p:nvPr/>
        </p:nvSpPr>
        <p:spPr>
          <a:xfrm>
            <a:off x="6766560" y="137160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Complex product with many packages</a:t>
            </a:r>
            <a:endParaRPr/>
          </a:p>
        </p:txBody>
      </p:sp>
      <p:sp>
        <p:nvSpPr>
          <p:cNvPr id="531" name="Google Shape;531;p22"/>
          <p:cNvSpPr txBox="1"/>
          <p:nvPr/>
        </p:nvSpPr>
        <p:spPr>
          <a:xfrm>
            <a:off x="6766560" y="187452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Package management at runtime (apt/dnf)</a:t>
            </a:r>
            <a:endParaRPr/>
          </a:p>
        </p:txBody>
      </p:sp>
      <p:sp>
        <p:nvSpPr>
          <p:cNvPr id="532" name="Google Shape;532;p22"/>
          <p:cNvSpPr txBox="1"/>
          <p:nvPr/>
        </p:nvSpPr>
        <p:spPr>
          <a:xfrm>
            <a:off x="6766560" y="23774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Multiple product variants from shared base</a:t>
            </a:r>
            <a:endParaRPr/>
          </a:p>
        </p:txBody>
      </p:sp>
      <p:sp>
        <p:nvSpPr>
          <p:cNvPr id="533" name="Google Shape;533;p22"/>
          <p:cNvSpPr txBox="1"/>
          <p:nvPr/>
        </p:nvSpPr>
        <p:spPr>
          <a:xfrm>
            <a:off x="6766560" y="288036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Long-term maintenance (LTS releases)</a:t>
            </a:r>
            <a:endParaRPr/>
          </a:p>
        </p:txBody>
      </p:sp>
      <p:sp>
        <p:nvSpPr>
          <p:cNvPr id="534" name="Google Shape;534;p22"/>
          <p:cNvSpPr txBox="1"/>
          <p:nvPr/>
        </p:nvSpPr>
        <p:spPr>
          <a:xfrm>
            <a:off x="6766560" y="338328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✓  Experienced team with bitbake knowledge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Hybrid Approaches</a:t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Yocto for SDK + Buildroot for Target</a:t>
            </a:r>
            <a:endParaRPr/>
          </a:p>
        </p:txBody>
      </p:sp>
      <p:sp>
        <p:nvSpPr>
          <p:cNvPr id="543" name="Google Shape;543;p23"/>
          <p:cNvSpPr/>
          <p:nvPr/>
        </p:nvSpPr>
        <p:spPr>
          <a:xfrm>
            <a:off x="914400" y="1737360"/>
            <a:ext cx="4114800" cy="59436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1005840" y="1783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Yocto Build</a:t>
            </a:r>
            <a:endParaRPr/>
          </a:p>
        </p:txBody>
      </p:sp>
      <p:sp>
        <p:nvSpPr>
          <p:cNvPr id="545" name="Google Shape;545;p23"/>
          <p:cNvSpPr txBox="1"/>
          <p:nvPr/>
        </p:nvSpPr>
        <p:spPr>
          <a:xfrm>
            <a:off x="2468880" y="17830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full system with Yocto</a:t>
            </a:r>
            <a:b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Extract SDK: bitbake -c populate_sdk</a:t>
            </a:r>
            <a:endParaRPr/>
          </a:p>
        </p:txBody>
      </p:sp>
      <p:sp>
        <p:nvSpPr>
          <p:cNvPr id="546" name="Google Shape;546;p23"/>
          <p:cNvSpPr/>
          <p:nvPr/>
        </p:nvSpPr>
        <p:spPr>
          <a:xfrm>
            <a:off x="2834640" y="2331720"/>
            <a:ext cx="182880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914400" y="2468880"/>
            <a:ext cx="4114800" cy="59436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 txBox="1"/>
          <p:nvPr/>
        </p:nvSpPr>
        <p:spPr>
          <a:xfrm>
            <a:off x="1005840" y="2514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Install SDK</a:t>
            </a:r>
            <a:endParaRPr/>
          </a:p>
        </p:txBody>
      </p:sp>
      <p:sp>
        <p:nvSpPr>
          <p:cNvPr id="549" name="Google Shape;549;p23"/>
          <p:cNvSpPr txBox="1"/>
          <p:nvPr/>
        </p:nvSpPr>
        <p:spPr>
          <a:xfrm>
            <a:off x="2468880" y="251460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 SDK to dev machines</a:t>
            </a:r>
            <a:b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developers use identical toolchain</a:t>
            </a:r>
            <a:endParaRPr/>
          </a:p>
        </p:txBody>
      </p:sp>
      <p:sp>
        <p:nvSpPr>
          <p:cNvPr id="550" name="Google Shape;550;p23"/>
          <p:cNvSpPr/>
          <p:nvPr/>
        </p:nvSpPr>
        <p:spPr>
          <a:xfrm>
            <a:off x="2834640" y="3063240"/>
            <a:ext cx="182880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914400" y="3200400"/>
            <a:ext cx="4114800" cy="59436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3"/>
          <p:cNvSpPr txBox="1"/>
          <p:nvPr/>
        </p:nvSpPr>
        <p:spPr>
          <a:xfrm>
            <a:off x="1005840" y="32461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Buildroot Target</a:t>
            </a:r>
            <a:endParaRPr/>
          </a:p>
        </p:txBody>
      </p:sp>
      <p:sp>
        <p:nvSpPr>
          <p:cNvPr id="553" name="Google Shape;553;p23"/>
          <p:cNvSpPr txBox="1"/>
          <p:nvPr/>
        </p:nvSpPr>
        <p:spPr>
          <a:xfrm>
            <a:off x="2468880" y="324612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minimal target image</a:t>
            </a:r>
            <a:b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Buildroot using matching toolchain</a:t>
            </a:r>
            <a:endParaRPr/>
          </a:p>
        </p:txBody>
      </p:sp>
      <p:sp>
        <p:nvSpPr>
          <p:cNvPr id="554" name="Google Shape;554;p23"/>
          <p:cNvSpPr/>
          <p:nvPr/>
        </p:nvSpPr>
        <p:spPr>
          <a:xfrm>
            <a:off x="2834640" y="3794760"/>
            <a:ext cx="182880" cy="10972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914400" y="3931920"/>
            <a:ext cx="4114800" cy="59436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3"/>
          <p:cNvSpPr txBox="1"/>
          <p:nvPr/>
        </p:nvSpPr>
        <p:spPr>
          <a:xfrm>
            <a:off x="1005840" y="39776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 &amp; Deploy</a:t>
            </a:r>
            <a:endParaRPr/>
          </a:p>
        </p:txBody>
      </p:sp>
      <p:sp>
        <p:nvSpPr>
          <p:cNvPr id="557" name="Google Shape;557;p23"/>
          <p:cNvSpPr txBox="1"/>
          <p:nvPr/>
        </p:nvSpPr>
        <p:spPr>
          <a:xfrm>
            <a:off x="2468880" y="39776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Cross-compile apps with SDK</a:t>
            </a:r>
            <a:b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 to Buildroot target via SSH</a:t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>
            <a:off x="5943600" y="1737360"/>
            <a:ext cx="5669280" cy="2926080"/>
          </a:xfrm>
          <a:prstGeom prst="roundRect">
            <a:avLst>
              <a:gd fmla="val 16667" name="adj"/>
            </a:avLst>
          </a:prstGeom>
          <a:solidFill>
            <a:srgbClr val="FDF4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6126480" y="19202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6862E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/>
          </a:p>
        </p:txBody>
      </p:sp>
      <p:sp>
        <p:nvSpPr>
          <p:cNvPr id="560" name="Google Shape;560;p23"/>
          <p:cNvSpPr txBox="1"/>
          <p:nvPr/>
        </p:nvSpPr>
        <p:spPr>
          <a:xfrm>
            <a:off x="6126480" y="23774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Yocto SDK ensures toolchain consistency</a:t>
            </a:r>
            <a:endParaRPr/>
          </a:p>
        </p:txBody>
      </p:sp>
      <p:sp>
        <p:nvSpPr>
          <p:cNvPr id="561" name="Google Shape;561;p23"/>
          <p:cNvSpPr txBox="1"/>
          <p:nvPr/>
        </p:nvSpPr>
        <p:spPr>
          <a:xfrm>
            <a:off x="6126480" y="28346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Buildroot target is minimal and fast</a:t>
            </a:r>
            <a:endParaRPr/>
          </a:p>
        </p:txBody>
      </p:sp>
      <p:sp>
        <p:nvSpPr>
          <p:cNvPr id="562" name="Google Shape;562;p23"/>
          <p:cNvSpPr txBox="1"/>
          <p:nvPr/>
        </p:nvSpPr>
        <p:spPr>
          <a:xfrm>
            <a:off x="6126480" y="32918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Developers don't need full Yocto builds</a:t>
            </a:r>
            <a:endParaRPr/>
          </a:p>
        </p:txBody>
      </p:sp>
      <p:sp>
        <p:nvSpPr>
          <p:cNvPr id="563" name="Google Shape;563;p23"/>
          <p:cNvSpPr txBox="1"/>
          <p:nvPr/>
        </p:nvSpPr>
        <p:spPr>
          <a:xfrm>
            <a:off x="6126480" y="37490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Faster CI/CD pipelines</a:t>
            </a:r>
            <a:endParaRPr/>
          </a:p>
        </p:txBody>
      </p:sp>
      <p:sp>
        <p:nvSpPr>
          <p:cNvPr id="564" name="Google Shape;564;p23"/>
          <p:cNvSpPr txBox="1"/>
          <p:nvPr/>
        </p:nvSpPr>
        <p:spPr>
          <a:xfrm>
            <a:off x="6126480" y="42062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Best of both worlds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4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Common Pitfalls</a:t>
            </a:r>
            <a:endParaRPr/>
          </a:p>
        </p:txBody>
      </p:sp>
      <p:sp>
        <p:nvSpPr>
          <p:cNvPr id="572" name="Google Shape;572;p24"/>
          <p:cNvSpPr/>
          <p:nvPr/>
        </p:nvSpPr>
        <p:spPr>
          <a:xfrm>
            <a:off x="457200" y="822960"/>
            <a:ext cx="11277295" cy="640080"/>
          </a:xfrm>
          <a:prstGeom prst="roundRect">
            <a:avLst>
              <a:gd fmla="val 16667" name="adj"/>
            </a:avLst>
          </a:prstGeom>
          <a:solidFill>
            <a:srgbClr val="FFF3E0"/>
          </a:solidFill>
          <a:ln cap="flat" cmpd="sng" w="19050">
            <a:solidFill>
              <a:srgbClr val="FF8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4"/>
          <p:cNvSpPr txBox="1"/>
          <p:nvPr/>
        </p:nvSpPr>
        <p:spPr>
          <a:xfrm>
            <a:off x="731520" y="8961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⚠  Forgetting to clean between config changes</a:t>
            </a:r>
            <a:endParaRPr/>
          </a:p>
        </p:txBody>
      </p:sp>
      <p:sp>
        <p:nvSpPr>
          <p:cNvPr id="574" name="Google Shape;574;p24"/>
          <p:cNvSpPr txBox="1"/>
          <p:nvPr/>
        </p:nvSpPr>
        <p:spPr>
          <a:xfrm>
            <a:off x="731520" y="117043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make clean or rm -rf output/ when changing fundamental config options</a:t>
            </a:r>
            <a:endParaRPr/>
          </a:p>
        </p:txBody>
      </p:sp>
      <p:sp>
        <p:nvSpPr>
          <p:cNvPr id="575" name="Google Shape;575;p24"/>
          <p:cNvSpPr/>
          <p:nvPr/>
        </p:nvSpPr>
        <p:spPr>
          <a:xfrm>
            <a:off x="457200" y="1600200"/>
            <a:ext cx="11277295" cy="640080"/>
          </a:xfrm>
          <a:prstGeom prst="roundRect">
            <a:avLst>
              <a:gd fmla="val 16667" name="adj"/>
            </a:avLst>
          </a:prstGeom>
          <a:solidFill>
            <a:srgbClr val="FFF3E0"/>
          </a:solidFill>
          <a:ln cap="flat" cmpd="sng" w="19050">
            <a:solidFill>
              <a:srgbClr val="FF8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4"/>
          <p:cNvSpPr txBox="1"/>
          <p:nvPr/>
        </p:nvSpPr>
        <p:spPr>
          <a:xfrm>
            <a:off x="731520" y="167335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⚠  Mixing toolchain versions</a:t>
            </a:r>
            <a:endParaRPr/>
          </a:p>
        </p:txBody>
      </p:sp>
      <p:sp>
        <p:nvSpPr>
          <p:cNvPr id="577" name="Google Shape;577;p24"/>
          <p:cNvSpPr txBox="1"/>
          <p:nvPr/>
        </p:nvSpPr>
        <p:spPr>
          <a:xfrm>
            <a:off x="731520" y="194767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SDK toolchain must match rootfs C library (musl vs glibc)</a:t>
            </a:r>
            <a:endParaRPr/>
          </a:p>
        </p:txBody>
      </p:sp>
      <p:sp>
        <p:nvSpPr>
          <p:cNvPr id="578" name="Google Shape;578;p24"/>
          <p:cNvSpPr/>
          <p:nvPr/>
        </p:nvSpPr>
        <p:spPr>
          <a:xfrm>
            <a:off x="457200" y="2377453"/>
            <a:ext cx="11277300" cy="827100"/>
          </a:xfrm>
          <a:prstGeom prst="roundRect">
            <a:avLst>
              <a:gd fmla="val 16667" name="adj"/>
            </a:avLst>
          </a:prstGeom>
          <a:solidFill>
            <a:srgbClr val="FFF3E0"/>
          </a:solidFill>
          <a:ln cap="flat" cmpd="sng" w="19050">
            <a:solidFill>
              <a:srgbClr val="FF8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 txBox="1"/>
          <p:nvPr/>
        </p:nvSpPr>
        <p:spPr>
          <a:xfrm>
            <a:off x="731520" y="245059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⚠  Not pinning package versions</a:t>
            </a:r>
            <a:endParaRPr/>
          </a:p>
        </p:txBody>
      </p:sp>
      <p:sp>
        <p:nvSpPr>
          <p:cNvPr id="580" name="Google Shape;580;p24"/>
          <p:cNvSpPr txBox="1"/>
          <p:nvPr/>
        </p:nvSpPr>
        <p:spPr>
          <a:xfrm>
            <a:off x="731520" y="2724912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SRCREV floating → unreproducible builds</a:t>
            </a:r>
            <a:b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Always set SRCREV to a commit hash</a:t>
            </a:r>
            <a:endParaRPr/>
          </a:p>
        </p:txBody>
      </p:sp>
      <p:sp>
        <p:nvSpPr>
          <p:cNvPr id="581" name="Google Shape;581;p24"/>
          <p:cNvSpPr/>
          <p:nvPr/>
        </p:nvSpPr>
        <p:spPr>
          <a:xfrm>
            <a:off x="457200" y="3483849"/>
            <a:ext cx="11277300" cy="827100"/>
          </a:xfrm>
          <a:prstGeom prst="roundRect">
            <a:avLst>
              <a:gd fmla="val 16667" name="adj"/>
            </a:avLst>
          </a:prstGeom>
          <a:solidFill>
            <a:srgbClr val="FFF3E0"/>
          </a:solidFill>
          <a:ln cap="flat" cmpd="sng" w="19050">
            <a:solidFill>
              <a:srgbClr val="FF8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4"/>
          <p:cNvSpPr txBox="1"/>
          <p:nvPr/>
        </p:nvSpPr>
        <p:spPr>
          <a:xfrm>
            <a:off x="731520" y="3557007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⚠  Ignoring build failures</a:t>
            </a:r>
            <a:endParaRPr/>
          </a:p>
        </p:txBody>
      </p:sp>
      <p:sp>
        <p:nvSpPr>
          <p:cNvPr id="583" name="Google Shape;583;p24"/>
          <p:cNvSpPr txBox="1"/>
          <p:nvPr/>
        </p:nvSpPr>
        <p:spPr>
          <a:xfrm>
            <a:off x="731520" y="3831327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Use bitbake -k to continue past non-critical errors</a:t>
            </a:r>
            <a:b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log.do_compile for root cause</a:t>
            </a:r>
            <a:endParaRPr/>
          </a:p>
        </p:txBody>
      </p:sp>
      <p:sp>
        <p:nvSpPr>
          <p:cNvPr id="584" name="Google Shape;584;p24"/>
          <p:cNvSpPr/>
          <p:nvPr/>
        </p:nvSpPr>
        <p:spPr>
          <a:xfrm>
            <a:off x="457200" y="4590377"/>
            <a:ext cx="11277300" cy="890100"/>
          </a:xfrm>
          <a:prstGeom prst="roundRect">
            <a:avLst>
              <a:gd fmla="val 16667" name="adj"/>
            </a:avLst>
          </a:prstGeom>
          <a:solidFill>
            <a:srgbClr val="FFF3E0"/>
          </a:solidFill>
          <a:ln cap="flat" cmpd="sng" w="19050">
            <a:solidFill>
              <a:srgbClr val="FF8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 txBox="1"/>
          <p:nvPr/>
        </p:nvSpPr>
        <p:spPr>
          <a:xfrm>
            <a:off x="731520" y="4663522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⚠  Missing license compliance</a:t>
            </a:r>
            <a:endParaRPr/>
          </a:p>
        </p:txBody>
      </p:sp>
      <p:sp>
        <p:nvSpPr>
          <p:cNvPr id="586" name="Google Shape;586;p24"/>
          <p:cNvSpPr txBox="1"/>
          <p:nvPr/>
        </p:nvSpPr>
        <p:spPr>
          <a:xfrm>
            <a:off x="731520" y="4937842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LIC_FILES_CHKSUM must be set</a:t>
            </a:r>
            <a:b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Commercial products need license auditing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5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5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Debugging Build Issues</a:t>
            </a:r>
            <a:endParaRPr/>
          </a:p>
        </p:txBody>
      </p:sp>
      <p:sp>
        <p:nvSpPr>
          <p:cNvPr id="594" name="Google Shape;594;p25"/>
          <p:cNvSpPr/>
          <p:nvPr/>
        </p:nvSpPr>
        <p:spPr>
          <a:xfrm>
            <a:off x="457200" y="1321196"/>
            <a:ext cx="5501400" cy="320040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5"/>
          <p:cNvSpPr txBox="1"/>
          <p:nvPr/>
        </p:nvSpPr>
        <p:spPr>
          <a:xfrm>
            <a:off x="594360" y="1458356"/>
            <a:ext cx="52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7A8C"/>
                </a:solidFill>
                <a:latin typeface="Arial"/>
                <a:ea typeface="Arial"/>
                <a:cs typeface="Arial"/>
                <a:sym typeface="Arial"/>
              </a:rPr>
              <a:t>Buildroot Debugging</a:t>
            </a:r>
            <a:endParaRPr/>
          </a:p>
        </p:txBody>
      </p:sp>
      <p:sp>
        <p:nvSpPr>
          <p:cNvPr id="596" name="Google Shape;596;p25"/>
          <p:cNvSpPr txBox="1"/>
          <p:nvPr/>
        </p:nvSpPr>
        <p:spPr>
          <a:xfrm>
            <a:off x="594360" y="1778396"/>
            <a:ext cx="52272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Verbose build output: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make V=1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Check build log: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cat output/build/openssh-*/build.log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Dependency graph: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make graph-depends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Save full config: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make savedefconfig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Rebuild single package: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make &lt;package&gt;-dirclean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make &lt;package&gt;-rebuild</a:t>
            </a:r>
            <a:endParaRPr/>
          </a:p>
        </p:txBody>
      </p:sp>
      <p:sp>
        <p:nvSpPr>
          <p:cNvPr id="597" name="Google Shape;597;p25"/>
          <p:cNvSpPr/>
          <p:nvPr/>
        </p:nvSpPr>
        <p:spPr>
          <a:xfrm>
            <a:off x="6233007" y="1321196"/>
            <a:ext cx="5501400" cy="320040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5"/>
          <p:cNvSpPr txBox="1"/>
          <p:nvPr/>
        </p:nvSpPr>
        <p:spPr>
          <a:xfrm>
            <a:off x="6370167" y="1458356"/>
            <a:ext cx="52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D6FF6"/>
                </a:solidFill>
                <a:latin typeface="Arial"/>
                <a:ea typeface="Arial"/>
                <a:cs typeface="Arial"/>
                <a:sym typeface="Arial"/>
              </a:rPr>
              <a:t>Yocto Debugging</a:t>
            </a:r>
            <a:endParaRPr/>
          </a:p>
        </p:txBody>
      </p:sp>
      <p:sp>
        <p:nvSpPr>
          <p:cNvPr id="599" name="Google Shape;599;p25"/>
          <p:cNvSpPr txBox="1"/>
          <p:nvPr/>
        </p:nvSpPr>
        <p:spPr>
          <a:xfrm>
            <a:off x="6370167" y="1778396"/>
            <a:ext cx="5227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Verbose output: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bitbake -v &lt;recipe&gt;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View task log: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cat tmp/work/.../temp/log.do_compile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Dependency graph: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bitbake -g &lt;image&gt; -k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Devshell (inspect recipe env):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bitbake &lt;recipe&gt; -c devshell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# Check shared state:</a:t>
            </a:r>
            <a:b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152334"/>
                </a:solidFill>
                <a:latin typeface="Courier New"/>
                <a:ea typeface="Courier New"/>
                <a:cs typeface="Courier New"/>
                <a:sym typeface="Courier New"/>
              </a:rPr>
              <a:t>bitbake-diffsigs tmp/sstate-control/*.tar.zst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334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6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Session Summary</a:t>
            </a:r>
            <a:endParaRPr/>
          </a:p>
        </p:txBody>
      </p:sp>
      <p:sp>
        <p:nvSpPr>
          <p:cNvPr id="607" name="Google Shape;607;p26"/>
          <p:cNvSpPr/>
          <p:nvPr/>
        </p:nvSpPr>
        <p:spPr>
          <a:xfrm>
            <a:off x="457200" y="1321196"/>
            <a:ext cx="365700" cy="45720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6"/>
          <p:cNvSpPr txBox="1"/>
          <p:nvPr/>
        </p:nvSpPr>
        <p:spPr>
          <a:xfrm>
            <a:off x="1005840" y="1366916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Buildroot: simple, fast, single config → best for static embedded systems</a:t>
            </a:r>
            <a:endParaRPr/>
          </a:p>
        </p:txBody>
      </p:sp>
      <p:sp>
        <p:nvSpPr>
          <p:cNvPr id="609" name="Google Shape;609;p26"/>
          <p:cNvSpPr/>
          <p:nvPr/>
        </p:nvSpPr>
        <p:spPr>
          <a:xfrm>
            <a:off x="457200" y="1961276"/>
            <a:ext cx="365700" cy="457200"/>
          </a:xfrm>
          <a:prstGeom prst="roundRect">
            <a:avLst>
              <a:gd fmla="val 16667" name="adj"/>
            </a:avLst>
          </a:prstGeom>
          <a:solidFill>
            <a:srgbClr val="E686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6"/>
          <p:cNvSpPr txBox="1"/>
          <p:nvPr/>
        </p:nvSpPr>
        <p:spPr>
          <a:xfrm>
            <a:off x="1005840" y="2006996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Yocto: flexible, layered, enterprise-grade → best for complex products</a:t>
            </a:r>
            <a:endParaRPr/>
          </a:p>
        </p:txBody>
      </p:sp>
      <p:sp>
        <p:nvSpPr>
          <p:cNvPr id="611" name="Google Shape;611;p26"/>
          <p:cNvSpPr/>
          <p:nvPr/>
        </p:nvSpPr>
        <p:spPr>
          <a:xfrm>
            <a:off x="457200" y="2601356"/>
            <a:ext cx="365700" cy="457200"/>
          </a:xfrm>
          <a:prstGeom prst="roundRect">
            <a:avLst>
              <a:gd fmla="val 16667" name="adj"/>
            </a:avLst>
          </a:prstGeom>
          <a:solidFill>
            <a:srgbClr val="197A8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6"/>
          <p:cNvSpPr txBox="1"/>
          <p:nvPr/>
        </p:nvSpPr>
        <p:spPr>
          <a:xfrm>
            <a:off x="1005840" y="2647076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Buildroot uses Make + Kconfig; Yocto uses BitBake + layers</a:t>
            </a:r>
            <a:endParaRPr/>
          </a:p>
        </p:txBody>
      </p:sp>
      <p:sp>
        <p:nvSpPr>
          <p:cNvPr id="613" name="Google Shape;613;p26"/>
          <p:cNvSpPr/>
          <p:nvPr/>
        </p:nvSpPr>
        <p:spPr>
          <a:xfrm>
            <a:off x="457200" y="3241436"/>
            <a:ext cx="365700" cy="457200"/>
          </a:xfrm>
          <a:prstGeom prst="roundRect">
            <a:avLst>
              <a:gd fmla="val 16667" name="adj"/>
            </a:avLst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6"/>
          <p:cNvSpPr txBox="1"/>
          <p:nvPr/>
        </p:nvSpPr>
        <p:spPr>
          <a:xfrm>
            <a:off x="1005840" y="3287156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Both support custom packages, overlays, and cross-compilation</a:t>
            </a:r>
            <a:endParaRPr/>
          </a:p>
        </p:txBody>
      </p:sp>
      <p:sp>
        <p:nvSpPr>
          <p:cNvPr id="615" name="Google Shape;615;p26"/>
          <p:cNvSpPr/>
          <p:nvPr/>
        </p:nvSpPr>
        <p:spPr>
          <a:xfrm>
            <a:off x="457200" y="3881516"/>
            <a:ext cx="365700" cy="457200"/>
          </a:xfrm>
          <a:prstGeom prst="roundRect">
            <a:avLst>
              <a:gd fmla="val 16667" name="adj"/>
            </a:avLst>
          </a:prstGeom>
          <a:solidFill>
            <a:srgbClr val="F0B3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6"/>
          <p:cNvSpPr txBox="1"/>
          <p:nvPr/>
        </p:nvSpPr>
        <p:spPr>
          <a:xfrm>
            <a:off x="1005840" y="3927236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Choose based on team size, product complexity, and maintenance needs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7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7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References &amp; Resources</a:t>
            </a:r>
            <a:endParaRPr/>
          </a:p>
        </p:txBody>
      </p:sp>
      <p:sp>
        <p:nvSpPr>
          <p:cNvPr id="624" name="Google Shape;624;p27"/>
          <p:cNvSpPr/>
          <p:nvPr/>
        </p:nvSpPr>
        <p:spPr>
          <a:xfrm>
            <a:off x="457200" y="822960"/>
            <a:ext cx="5760720" cy="1554480"/>
          </a:xfrm>
          <a:prstGeom prst="roundRect">
            <a:avLst>
              <a:gd fmla="val 16667" name="adj"/>
            </a:avLst>
          </a:prstGeom>
          <a:solidFill>
            <a:srgbClr val="E6F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7"/>
          <p:cNvSpPr txBox="1"/>
          <p:nvPr/>
        </p:nvSpPr>
        <p:spPr>
          <a:xfrm>
            <a:off x="594360" y="960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97A8C"/>
                </a:solidFill>
                <a:latin typeface="Arial"/>
                <a:ea typeface="Arial"/>
                <a:cs typeface="Arial"/>
                <a:sym typeface="Arial"/>
              </a:rPr>
              <a:t>Buildroot</a:t>
            </a:r>
            <a:endParaRPr/>
          </a:p>
        </p:txBody>
      </p:sp>
      <p:sp>
        <p:nvSpPr>
          <p:cNvPr id="626" name="Google Shape;626;p27"/>
          <p:cNvSpPr txBox="1"/>
          <p:nvPr/>
        </p:nvSpPr>
        <p:spPr>
          <a:xfrm>
            <a:off x="640080" y="128016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buildroot.org/downloads/manual (official manual)</a:t>
            </a:r>
            <a:endParaRPr/>
          </a:p>
        </p:txBody>
      </p:sp>
      <p:sp>
        <p:nvSpPr>
          <p:cNvPr id="627" name="Google Shape;627;p27"/>
          <p:cNvSpPr txBox="1"/>
          <p:nvPr/>
        </p:nvSpPr>
        <p:spPr>
          <a:xfrm>
            <a:off x="640080" y="173736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buildroot.org/docs.html (getting started guide)</a:t>
            </a:r>
            <a:endParaRPr/>
          </a:p>
        </p:txBody>
      </p:sp>
      <p:sp>
        <p:nvSpPr>
          <p:cNvPr id="628" name="Google Shape;628;p27"/>
          <p:cNvSpPr/>
          <p:nvPr/>
        </p:nvSpPr>
        <p:spPr>
          <a:xfrm>
            <a:off x="6583680" y="822960"/>
            <a:ext cx="5760720" cy="1554480"/>
          </a:xfrm>
          <a:prstGeom prst="roundRect">
            <a:avLst>
              <a:gd fmla="val 16667" name="adj"/>
            </a:avLst>
          </a:prstGeom>
          <a:solidFill>
            <a:srgbClr val="EBF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7"/>
          <p:cNvSpPr txBox="1"/>
          <p:nvPr/>
        </p:nvSpPr>
        <p:spPr>
          <a:xfrm>
            <a:off x="6720840" y="960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D6FF6"/>
                </a:solidFill>
                <a:latin typeface="Arial"/>
                <a:ea typeface="Arial"/>
                <a:cs typeface="Arial"/>
                <a:sym typeface="Arial"/>
              </a:rPr>
              <a:t>Yocto Project</a:t>
            </a:r>
            <a:endParaRPr/>
          </a:p>
        </p:txBody>
      </p:sp>
      <p:sp>
        <p:nvSpPr>
          <p:cNvPr id="630" name="Google Shape;630;p27"/>
          <p:cNvSpPr txBox="1"/>
          <p:nvPr/>
        </p:nvSpPr>
        <p:spPr>
          <a:xfrm>
            <a:off x="6766560" y="128016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docs.yoctoproject.org (official documentation)</a:t>
            </a:r>
            <a:endParaRPr/>
          </a:p>
        </p:txBody>
      </p:sp>
      <p:sp>
        <p:nvSpPr>
          <p:cNvPr id="631" name="Google Shape;631;p27"/>
          <p:cNvSpPr txBox="1"/>
          <p:nvPr/>
        </p:nvSpPr>
        <p:spPr>
          <a:xfrm>
            <a:off x="6766560" y="173736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yoctoproject.org/docs/latest/mega-manual (mega-manual)</a:t>
            </a:r>
            <a:endParaRPr/>
          </a:p>
        </p:txBody>
      </p:sp>
      <p:sp>
        <p:nvSpPr>
          <p:cNvPr id="632" name="Google Shape;632;p27"/>
          <p:cNvSpPr/>
          <p:nvPr/>
        </p:nvSpPr>
        <p:spPr>
          <a:xfrm>
            <a:off x="457200" y="2560326"/>
            <a:ext cx="5760600" cy="1840800"/>
          </a:xfrm>
          <a:prstGeom prst="roundRect">
            <a:avLst>
              <a:gd fmla="val 16667" name="adj"/>
            </a:avLst>
          </a:prstGeom>
          <a:solidFill>
            <a:srgbClr val="FFF9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7"/>
          <p:cNvSpPr txBox="1"/>
          <p:nvPr/>
        </p:nvSpPr>
        <p:spPr>
          <a:xfrm>
            <a:off x="594360" y="2697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B342"/>
                </a:solidFill>
                <a:latin typeface="Arial"/>
                <a:ea typeface="Arial"/>
                <a:cs typeface="Arial"/>
                <a:sym typeface="Arial"/>
              </a:rPr>
              <a:t>Community</a:t>
            </a:r>
            <a:endParaRPr/>
          </a:p>
        </p:txBody>
      </p:sp>
      <p:sp>
        <p:nvSpPr>
          <p:cNvPr id="634" name="Google Shape;634;p27"/>
          <p:cNvSpPr txBox="1"/>
          <p:nvPr/>
        </p:nvSpPr>
        <p:spPr>
          <a:xfrm>
            <a:off x="640080" y="30175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#buildroot and #yoctoproject on Libera.Chat IRC</a:t>
            </a:r>
            <a:endParaRPr/>
          </a:p>
        </p:txBody>
      </p:sp>
      <p:sp>
        <p:nvSpPr>
          <p:cNvPr id="635" name="Google Shape;635;p27"/>
          <p:cNvSpPr txBox="1"/>
          <p:nvPr/>
        </p:nvSpPr>
        <p:spPr>
          <a:xfrm>
            <a:off x="640080" y="34747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Stack Overflow: buildroot / yocto tags</a:t>
            </a:r>
            <a:endParaRPr/>
          </a:p>
        </p:txBody>
      </p:sp>
      <p:sp>
        <p:nvSpPr>
          <p:cNvPr id="636" name="Google Shape;636;p27"/>
          <p:cNvSpPr txBox="1"/>
          <p:nvPr/>
        </p:nvSpPr>
        <p:spPr>
          <a:xfrm>
            <a:off x="640080" y="39319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Embedded Linux Wiki (elinux.org)</a:t>
            </a: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6583680" y="2560320"/>
            <a:ext cx="5760720" cy="1554480"/>
          </a:xfrm>
          <a:prstGeom prst="roundRect">
            <a:avLst>
              <a:gd fmla="val 16667" name="adj"/>
            </a:avLst>
          </a:prstGeom>
          <a:solidFill>
            <a:srgbClr val="FDF4E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7"/>
          <p:cNvSpPr txBox="1"/>
          <p:nvPr/>
        </p:nvSpPr>
        <p:spPr>
          <a:xfrm>
            <a:off x="6720840" y="2697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6862E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/>
          </a:p>
        </p:txBody>
      </p:sp>
      <p:sp>
        <p:nvSpPr>
          <p:cNvPr id="639" name="Google Shape;639;p27"/>
          <p:cNvSpPr txBox="1"/>
          <p:nvPr/>
        </p:nvSpPr>
        <p:spPr>
          <a:xfrm>
            <a:off x="6766560" y="30175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Bootlin training materials: bootlin.com/training</a:t>
            </a:r>
            <a:endParaRPr/>
          </a:p>
        </p:txBody>
      </p:sp>
      <p:sp>
        <p:nvSpPr>
          <p:cNvPr id="640" name="Google Shape;640;p27"/>
          <p:cNvSpPr txBox="1"/>
          <p:nvPr/>
        </p:nvSpPr>
        <p:spPr>
          <a:xfrm>
            <a:off x="6766560" y="347472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52334"/>
                </a:solidFill>
                <a:latin typeface="Arial"/>
                <a:ea typeface="Arial"/>
                <a:cs typeface="Arial"/>
                <a:sym typeface="Arial"/>
              </a:rPr>
              <a:t>▸  Embedded Linux Conference talks (YouTube)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