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51435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Roboto Medium"/>
      <p:regular r:id="rId18"/>
      <p:bold r:id="rId19"/>
      <p:italic r:id="rId20"/>
      <p:boldItalic r:id="rId21"/>
    </p:embeddedFont>
    <p:embeddedFont>
      <p:font typeface="Host Grotesk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hbrWmyjD0Z8fPR+lbaJBz1Xew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edium-italic.fntdata"/><Relationship Id="rId22" Type="http://schemas.openxmlformats.org/officeDocument/2006/relationships/font" Target="fonts/HostGroteskMedium-regular.fntdata"/><Relationship Id="rId21" Type="http://schemas.openxmlformats.org/officeDocument/2006/relationships/font" Target="fonts/RobotoMedium-boldItalic.fntdata"/><Relationship Id="rId24" Type="http://schemas.openxmlformats.org/officeDocument/2006/relationships/font" Target="fonts/HostGroteskMedium-italic.fntdata"/><Relationship Id="rId23" Type="http://schemas.openxmlformats.org/officeDocument/2006/relationships/font" Target="fonts/HostGroteskMedium-bold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HostGrotesk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RobotoMedium-bold.fntdata"/><Relationship Id="rId18" Type="http://schemas.openxmlformats.org/officeDocument/2006/relationships/font" Target="fonts/Roboto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f4ecc2b8e5_0_38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f4ecc2b8e5_0_38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3f4ecc2b8e5_0_38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g3f4ecc2b8e5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4ecc2b8e5_0_38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4ecc2b8e5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f4ecc2b8e5_0_7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g3f4ecc2b8e5_0_7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g3f4ecc2b8e5_0_7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4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4ecc2b8e5_7_0)">
  <p:cSld name="Generated (g3f4ecc2b8e5_7_0)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D9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" name="Google Shape;2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42" y="599405"/>
            <a:ext cx="2629793" cy="394468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"/>
          <p:cNvSpPr/>
          <p:nvPr/>
        </p:nvSpPr>
        <p:spPr>
          <a:xfrm>
            <a:off x="3925119" y="1588368"/>
            <a:ext cx="4722763" cy="1328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750"/>
              <a:buFont typeface="Host Grotesk Medium"/>
              <a:buNone/>
            </a:pPr>
            <a:r>
              <a:rPr lang="en-US" sz="2750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Assignment</a:t>
            </a:r>
            <a:r>
              <a:rPr b="0" i="0" lang="en-US" sz="27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 3: </a:t>
            </a:r>
            <a:br>
              <a:rPr b="0" i="0" lang="en-US" sz="27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</a:br>
            <a:r>
              <a:rPr b="0" i="0" lang="en-US" sz="27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Build a Bootable Linux SD Card with Yocto Project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925119" y="3129930"/>
            <a:ext cx="4722763" cy="425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From source to SD card — build a complete Linux system for Raspberry Pi 4 using the Yocto Project.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496119" y="1145084"/>
            <a:ext cx="1211089" cy="215354"/>
          </a:xfrm>
          <a:prstGeom prst="roundRect">
            <a:avLst>
              <a:gd fmla="val 22119" name="adj"/>
            </a:avLst>
          </a:prstGeom>
          <a:solidFill>
            <a:srgbClr val="D9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581174" y="1187574"/>
            <a:ext cx="1498178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WHAT YOU'LL BUILD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96119" y="1417141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750"/>
              <a:buFont typeface="Host Grotesk Medium"/>
              <a:buNone/>
            </a:pPr>
            <a:r>
              <a:rPr b="0" i="0" lang="en-US" sz="27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Assignment Overview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96119" y="2072729"/>
            <a:ext cx="860896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Build a bootable Linux image for Raspberry Pi 4 — kernel, bootloader, userspace, and SD card image.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94022" y="2444800"/>
            <a:ext cx="4107135" cy="1553617"/>
          </a:xfrm>
          <a:prstGeom prst="roundRect">
            <a:avLst>
              <a:gd fmla="val 6570" name="adj"/>
            </a:avLst>
          </a:prstGeom>
          <a:solidFill>
            <a:srgbClr val="95CC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535781" y="2586558"/>
            <a:ext cx="382361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1350"/>
              <a:buFont typeface="Host Grotesk Medium"/>
              <a:buNone/>
            </a:pPr>
            <a:r>
              <a:rPr b="0" i="0" lang="en-US" sz="13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What You'll Build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35781" y="2949773"/>
            <a:ext cx="3823618" cy="741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3520" lvl="0" marL="22352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Complete Linux root filesystem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Kernel, bootloader, and userspace via Yocto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Bootable SD card image (</a:t>
            </a:r>
            <a:r>
              <a:rPr b="0" i="0" lang="en-US" sz="1100" u="none" cap="none" strike="noStrike">
                <a:solidFill>
                  <a:srgbClr val="000000"/>
                </a:solidFill>
                <a:highlight>
                  <a:srgbClr val="88BFCD"/>
                </a:highlight>
                <a:latin typeface="Consolas"/>
                <a:ea typeface="Consolas"/>
                <a:cs typeface="Consolas"/>
                <a:sym typeface="Consolas"/>
              </a:rPr>
              <a:t>.wic.bz2</a:t>
            </a: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749701" y="2586558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1350"/>
              <a:buFont typeface="Host Grotesk Medium"/>
              <a:buNone/>
            </a:pPr>
            <a:r>
              <a:rPr b="0" i="0" lang="en-US" sz="13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Key Concepts Practiced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749701" y="2949773"/>
            <a:ext cx="3902943" cy="999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3520" lvl="0" marL="22352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Char char="•"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BSP layers and machine configuration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Char char="•"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BitBake layer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Char char="•"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Image recipes and package groups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Char char="•"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License flags for proprietary firmware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4ecc2b8e5_0_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f4ecc2b8e5_0_38"/>
          <p:cNvSpPr/>
          <p:nvPr/>
        </p:nvSpPr>
        <p:spPr>
          <a:xfrm>
            <a:off x="5543550" y="0"/>
            <a:ext cx="3600600" cy="5143500"/>
          </a:xfrm>
          <a:prstGeom prst="rect">
            <a:avLst/>
          </a:prstGeom>
          <a:solidFill>
            <a:srgbClr val="D9ED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g3f4ecc2b8e5_0_38"/>
          <p:cNvPicPr preferRelativeResize="0"/>
          <p:nvPr/>
        </p:nvPicPr>
        <p:blipFill rotWithShape="1">
          <a:blip r:embed="rId3">
            <a:alphaModFix/>
          </a:blip>
          <a:srcRect b="130" l="0" r="0" t="140"/>
          <a:stretch/>
        </p:blipFill>
        <p:spPr>
          <a:xfrm>
            <a:off x="8028623" y="4844415"/>
            <a:ext cx="1071600" cy="2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g3f4ecc2b8e5_0_38"/>
          <p:cNvPicPr preferRelativeResize="0"/>
          <p:nvPr/>
        </p:nvPicPr>
        <p:blipFill rotWithShape="1">
          <a:blip r:embed="rId4">
            <a:alphaModFix/>
          </a:blip>
          <a:srcRect b="0" l="20" r="30" t="0"/>
          <a:stretch/>
        </p:blipFill>
        <p:spPr>
          <a:xfrm>
            <a:off x="6433185" y="580072"/>
            <a:ext cx="2653800" cy="398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g3f4ecc2b8e5_0_38"/>
          <p:cNvSpPr/>
          <p:nvPr/>
        </p:nvSpPr>
        <p:spPr>
          <a:xfrm>
            <a:off x="495300" y="419100"/>
            <a:ext cx="416100" cy="167700"/>
          </a:xfrm>
          <a:prstGeom prst="roundRect">
            <a:avLst>
              <a:gd fmla="val 22159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95CC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f4ecc2b8e5_0_38"/>
          <p:cNvSpPr txBox="1"/>
          <p:nvPr/>
        </p:nvSpPr>
        <p:spPr>
          <a:xfrm>
            <a:off x="561975" y="447675"/>
            <a:ext cx="733500" cy="1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50">
                <a:solidFill>
                  <a:srgbClr val="95CCDA"/>
                </a:solidFill>
                <a:latin typeface="Roboto"/>
                <a:ea typeface="Roboto"/>
                <a:cs typeface="Roboto"/>
                <a:sym typeface="Roboto"/>
              </a:rPr>
              <a:t>STEP 1</a:t>
            </a:r>
            <a:endParaRPr b="0" sz="650">
              <a:solidFill>
                <a:srgbClr val="95CCD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g3f4ecc2b8e5_0_38"/>
          <p:cNvSpPr txBox="1"/>
          <p:nvPr/>
        </p:nvSpPr>
        <p:spPr>
          <a:xfrm>
            <a:off x="495300" y="619125"/>
            <a:ext cx="4714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50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Clone the Yocto Poky Distribution</a:t>
            </a:r>
            <a:endParaRPr b="0" sz="2150">
              <a:solidFill>
                <a:srgbClr val="2E3C4E"/>
              </a:solidFill>
              <a:latin typeface="Host Grotesk Medium"/>
              <a:ea typeface="Host Grotesk Medium"/>
              <a:cs typeface="Host Grotesk Medium"/>
              <a:sym typeface="Host Grotesk Medium"/>
            </a:endParaRPr>
          </a:p>
        </p:txBody>
      </p:sp>
      <p:sp>
        <p:nvSpPr>
          <p:cNvPr id="60" name="Google Shape;60;g3f4ecc2b8e5_0_38"/>
          <p:cNvSpPr txBox="1"/>
          <p:nvPr/>
        </p:nvSpPr>
        <p:spPr>
          <a:xfrm>
            <a:off x="495300" y="1095375"/>
            <a:ext cx="4714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Clone Poky and required layers. All layers must use the </a:t>
            </a:r>
            <a:r>
              <a:rPr b="1" lang="en-US" sz="85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same release branch</a:t>
            </a:r>
            <a:r>
              <a:rPr b="0" lang="en-US" sz="85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— mixing branches causes build failures.</a:t>
            </a:r>
            <a:endParaRPr b="0" sz="850">
              <a:solidFill>
                <a:srgbClr val="38465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1" name="Google Shape;61;g3f4ecc2b8e5_0_38"/>
          <p:cNvGrpSpPr/>
          <p:nvPr/>
        </p:nvGrpSpPr>
        <p:grpSpPr>
          <a:xfrm>
            <a:off x="495300" y="1493520"/>
            <a:ext cx="4722600" cy="1037400"/>
            <a:chOff x="495300" y="1493520"/>
            <a:chExt cx="4722600" cy="1037400"/>
          </a:xfrm>
        </p:grpSpPr>
        <p:sp>
          <p:nvSpPr>
            <p:cNvPr id="62" name="Google Shape;62;g3f4ecc2b8e5_0_38"/>
            <p:cNvSpPr/>
            <p:nvPr/>
          </p:nvSpPr>
          <p:spPr>
            <a:xfrm>
              <a:off x="495300" y="1493520"/>
              <a:ext cx="4722600" cy="1037400"/>
            </a:xfrm>
            <a:prstGeom prst="roundRect">
              <a:avLst>
                <a:gd fmla="val 5509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g3f4ecc2b8e5_0_38"/>
            <p:cNvSpPr txBox="1"/>
            <p:nvPr/>
          </p:nvSpPr>
          <p:spPr>
            <a:xfrm>
              <a:off x="678180" y="1618297"/>
              <a:ext cx="44148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384653"/>
                  </a:solidFill>
                  <a:latin typeface="Host Grotesk Medium"/>
                  <a:ea typeface="Host Grotesk Medium"/>
                  <a:cs typeface="Host Grotesk Medium"/>
                  <a:sym typeface="Host Grotesk Medium"/>
                </a:rPr>
                <a:t>Clone Poky (LTS: scarthgap)</a:t>
              </a:r>
              <a:endParaRPr b="0" sz="1050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endParaRPr>
            </a:p>
          </p:txBody>
        </p:sp>
        <p:sp>
          <p:nvSpPr>
            <p:cNvPr id="64" name="Google Shape;64;g3f4ecc2b8e5_0_38"/>
            <p:cNvSpPr/>
            <p:nvPr/>
          </p:nvSpPr>
          <p:spPr>
            <a:xfrm>
              <a:off x="678180" y="1888808"/>
              <a:ext cx="4414800" cy="516300"/>
            </a:xfrm>
            <a:prstGeom prst="roundRect">
              <a:avLst>
                <a:gd fmla="val 8856" name="adj"/>
              </a:avLst>
            </a:prstGeom>
            <a:solidFill>
              <a:srgbClr val="EDEC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g3f4ecc2b8e5_0_38"/>
            <p:cNvSpPr txBox="1"/>
            <p:nvPr/>
          </p:nvSpPr>
          <p:spPr>
            <a:xfrm>
              <a:off x="810578" y="1999298"/>
              <a:ext cx="41490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E36209"/>
                  </a:solidFill>
                  <a:latin typeface="Consolas"/>
                  <a:ea typeface="Consolas"/>
                  <a:cs typeface="Consolas"/>
                  <a:sym typeface="Consolas"/>
                </a:rPr>
                <a:t>cd ~/el</a:t>
              </a:r>
              <a:endParaRPr b="0" sz="85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E36209"/>
                  </a:solidFill>
                  <a:latin typeface="Consolas"/>
                  <a:ea typeface="Consolas"/>
                  <a:cs typeface="Consolas"/>
                  <a:sym typeface="Consolas"/>
                </a:rPr>
                <a:t>git clone -b scarthgap git://git.yoctoproject.org/poky.git</a:t>
              </a:r>
              <a:endParaRPr b="0" sz="85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6" name="Google Shape;66;g3f4ecc2b8e5_0_38"/>
          <p:cNvGrpSpPr/>
          <p:nvPr/>
        </p:nvGrpSpPr>
        <p:grpSpPr>
          <a:xfrm>
            <a:off x="495300" y="2617470"/>
            <a:ext cx="4722600" cy="1481100"/>
            <a:chOff x="495300" y="2617470"/>
            <a:chExt cx="4722600" cy="1481100"/>
          </a:xfrm>
        </p:grpSpPr>
        <p:sp>
          <p:nvSpPr>
            <p:cNvPr id="67" name="Google Shape;67;g3f4ecc2b8e5_0_38"/>
            <p:cNvSpPr/>
            <p:nvPr/>
          </p:nvSpPr>
          <p:spPr>
            <a:xfrm>
              <a:off x="495300" y="2617470"/>
              <a:ext cx="4722600" cy="1481100"/>
            </a:xfrm>
            <a:prstGeom prst="roundRect">
              <a:avLst>
                <a:gd fmla="val 3858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g3f4ecc2b8e5_0_38"/>
            <p:cNvSpPr txBox="1"/>
            <p:nvPr/>
          </p:nvSpPr>
          <p:spPr>
            <a:xfrm>
              <a:off x="678180" y="2742248"/>
              <a:ext cx="44148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384653"/>
                  </a:solidFill>
                  <a:latin typeface="Host Grotesk Medium"/>
                  <a:ea typeface="Host Grotesk Medium"/>
                  <a:cs typeface="Host Grotesk Medium"/>
                  <a:sym typeface="Host Grotesk Medium"/>
                </a:rPr>
                <a:t>Clone Required Layers</a:t>
              </a:r>
              <a:endParaRPr b="0" sz="1050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endParaRPr>
            </a:p>
          </p:txBody>
        </p:sp>
        <p:sp>
          <p:nvSpPr>
            <p:cNvPr id="69" name="Google Shape;69;g3f4ecc2b8e5_0_38"/>
            <p:cNvSpPr/>
            <p:nvPr/>
          </p:nvSpPr>
          <p:spPr>
            <a:xfrm>
              <a:off x="678180" y="3012757"/>
              <a:ext cx="4414800" cy="960000"/>
            </a:xfrm>
            <a:prstGeom prst="roundRect">
              <a:avLst>
                <a:gd fmla="val 4761" name="adj"/>
              </a:avLst>
            </a:prstGeom>
            <a:solidFill>
              <a:srgbClr val="EDEC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g3f4ecc2b8e5_0_38"/>
            <p:cNvSpPr txBox="1"/>
            <p:nvPr/>
          </p:nvSpPr>
          <p:spPr>
            <a:xfrm>
              <a:off x="810578" y="3123248"/>
              <a:ext cx="4149000" cy="73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E36209"/>
                  </a:solidFill>
                  <a:latin typeface="Consolas"/>
                  <a:ea typeface="Consolas"/>
                  <a:cs typeface="Consolas"/>
                  <a:sym typeface="Consolas"/>
                </a:rPr>
                <a:t>cd ~/el/poky</a:t>
              </a:r>
              <a:endParaRPr b="0" sz="85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E36209"/>
                  </a:solidFill>
                  <a:latin typeface="Consolas"/>
                  <a:ea typeface="Consolas"/>
                  <a:cs typeface="Consolas"/>
                  <a:sym typeface="Consolas"/>
                </a:rPr>
                <a:t>git clone -b scarthgap \</a:t>
              </a:r>
              <a:endParaRPr b="0" sz="85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E36209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b="0" lang="en-US" sz="850">
                  <a:solidFill>
                    <a:srgbClr val="E36209"/>
                  </a:solidFill>
                  <a:latin typeface="Consolas"/>
                  <a:ea typeface="Consolas"/>
                  <a:cs typeface="Consolas"/>
                  <a:sym typeface="Consolas"/>
                </a:rPr>
                <a:t>git://git.openembedded.org/meta-openembedded</a:t>
              </a:r>
              <a:endParaRPr b="0" sz="85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E36209"/>
                  </a:solidFill>
                  <a:latin typeface="Consolas"/>
                  <a:ea typeface="Consolas"/>
                  <a:cs typeface="Consolas"/>
                  <a:sym typeface="Consolas"/>
                </a:rPr>
                <a:t>git clone -b scarthgap \</a:t>
              </a:r>
              <a:endParaRPr b="0" sz="85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E36209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b="0" lang="en-US" sz="850">
                  <a:solidFill>
                    <a:srgbClr val="E36209"/>
                  </a:solidFill>
                  <a:latin typeface="Consolas"/>
                  <a:ea typeface="Consolas"/>
                  <a:cs typeface="Consolas"/>
                  <a:sym typeface="Consolas"/>
                </a:rPr>
                <a:t>git://git.yoctoproject.org/meta-raspberrypi</a:t>
              </a:r>
              <a:endParaRPr b="0" sz="85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71" name="Google Shape;71;g3f4ecc2b8e5_0_38"/>
          <p:cNvGrpSpPr/>
          <p:nvPr/>
        </p:nvGrpSpPr>
        <p:grpSpPr>
          <a:xfrm>
            <a:off x="209550" y="4195763"/>
            <a:ext cx="5008350" cy="524700"/>
            <a:chOff x="209550" y="4195763"/>
            <a:chExt cx="5008350" cy="524700"/>
          </a:xfrm>
        </p:grpSpPr>
        <p:sp>
          <p:nvSpPr>
            <p:cNvPr id="72" name="Google Shape;72;g3f4ecc2b8e5_0_38"/>
            <p:cNvSpPr/>
            <p:nvPr/>
          </p:nvSpPr>
          <p:spPr>
            <a:xfrm>
              <a:off x="495300" y="4195763"/>
              <a:ext cx="4722600" cy="524700"/>
            </a:xfrm>
            <a:prstGeom prst="roundRect">
              <a:avLst>
                <a:gd fmla="val 10889" name="adj"/>
              </a:avLst>
            </a:prstGeom>
            <a:solidFill>
              <a:srgbClr val="DDBE2C"/>
            </a:solidFill>
            <a:ln cap="flat" cmpd="sng" w="19050">
              <a:solidFill>
                <a:srgbClr val="B29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g3f4ecc2b8e5_0_38"/>
            <p:cNvSpPr/>
            <p:nvPr/>
          </p:nvSpPr>
          <p:spPr>
            <a:xfrm>
              <a:off x="209550" y="4343400"/>
              <a:ext cx="228600" cy="228600"/>
            </a:xfrm>
            <a:prstGeom prst="ellipse">
              <a:avLst/>
            </a:prstGeom>
            <a:solidFill>
              <a:srgbClr val="B294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4" name="Google Shape;74;g3f4ecc2b8e5_0_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563" y="4376738"/>
              <a:ext cx="28500" cy="14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g3f4ecc2b8e5_0_3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19100" y="4448175"/>
              <a:ext cx="762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g3f4ecc2b8e5_0_38"/>
            <p:cNvSpPr txBox="1"/>
            <p:nvPr/>
          </p:nvSpPr>
          <p:spPr>
            <a:xfrm>
              <a:off x="855345" y="4310063"/>
              <a:ext cx="4251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2B2100"/>
                  </a:solidFill>
                  <a:latin typeface="Roboto"/>
                  <a:ea typeface="Roboto"/>
                  <a:cs typeface="Roboto"/>
                  <a:sym typeface="Roboto"/>
                </a:rPr>
                <a:t>Image recipes: </a:t>
              </a:r>
              <a:r>
                <a:rPr b="0" lang="en-US" sz="850">
                  <a:solidFill>
                    <a:srgbClr val="2B2100"/>
                  </a:solidFill>
                  <a:highlight>
                    <a:srgbClr val="EFE6C3"/>
                  </a:highlight>
                  <a:latin typeface="Consolas"/>
                  <a:ea typeface="Consolas"/>
                  <a:cs typeface="Consolas"/>
                  <a:sym typeface="Consolas"/>
                </a:rPr>
                <a:t>rpi-test-image</a:t>
              </a:r>
              <a:r>
                <a:rPr b="0" lang="en-US" sz="850">
                  <a:solidFill>
                    <a:srgbClr val="2B2100"/>
                  </a:solidFill>
                  <a:latin typeface="Roboto"/>
                  <a:ea typeface="Roboto"/>
                  <a:cs typeface="Roboto"/>
                  <a:sym typeface="Roboto"/>
                </a:rPr>
                <a:t> (X11, networking) · </a:t>
              </a:r>
              <a:r>
                <a:rPr b="0" lang="en-US" sz="850">
                  <a:solidFill>
                    <a:srgbClr val="2B2100"/>
                  </a:solidFill>
                  <a:highlight>
                    <a:srgbClr val="EFE6C3"/>
                  </a:highlight>
                  <a:latin typeface="Consolas"/>
                  <a:ea typeface="Consolas"/>
                  <a:cs typeface="Consolas"/>
                  <a:sym typeface="Consolas"/>
                </a:rPr>
                <a:t>core-image-minimal</a:t>
              </a:r>
              <a:r>
                <a:rPr b="0" lang="en-US" sz="850">
                  <a:solidFill>
                    <a:srgbClr val="2B2100"/>
                  </a:solidFill>
                  <a:latin typeface="Roboto"/>
                  <a:ea typeface="Roboto"/>
                  <a:cs typeface="Roboto"/>
                  <a:sym typeface="Roboto"/>
                </a:rPr>
                <a:t> (smaller) · </a:t>
              </a:r>
              <a:r>
                <a:rPr b="0" lang="en-US" sz="850">
                  <a:solidFill>
                    <a:srgbClr val="2B2100"/>
                  </a:solidFill>
                  <a:highlight>
                    <a:srgbClr val="EFE6C3"/>
                  </a:highlight>
                  <a:latin typeface="Consolas"/>
                  <a:ea typeface="Consolas"/>
                  <a:cs typeface="Consolas"/>
                  <a:sym typeface="Consolas"/>
                </a:rPr>
                <a:t>rpi-basic-image</a:t>
              </a:r>
              <a:r>
                <a:rPr b="0" lang="en-US" sz="850">
                  <a:solidFill>
                    <a:srgbClr val="2B2100"/>
                  </a:solidFill>
                  <a:latin typeface="Roboto"/>
                  <a:ea typeface="Roboto"/>
                  <a:cs typeface="Roboto"/>
                  <a:sym typeface="Roboto"/>
                </a:rPr>
                <a:t> (console only)</a:t>
              </a:r>
              <a:endParaRPr b="1" sz="850">
                <a:solidFill>
                  <a:srgbClr val="2B21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/>
          <p:nvPr/>
        </p:nvSpPr>
        <p:spPr>
          <a:xfrm>
            <a:off x="496119" y="393353"/>
            <a:ext cx="482873" cy="195114"/>
          </a:xfrm>
          <a:prstGeom prst="roundRect">
            <a:avLst>
              <a:gd fmla="val 22125" name="adj"/>
            </a:avLst>
          </a:prstGeom>
          <a:noFill/>
          <a:ln cap="flat" cmpd="sng" w="9525">
            <a:solidFill>
              <a:srgbClr val="95CC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573137" y="431825"/>
            <a:ext cx="786036" cy="118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95CCDA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95CCDA"/>
                </a:solidFill>
                <a:latin typeface="Roboto"/>
                <a:ea typeface="Roboto"/>
                <a:cs typeface="Roboto"/>
                <a:sym typeface="Roboto"/>
              </a:rPr>
              <a:t>STEP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96119" y="634975"/>
            <a:ext cx="8151763" cy="401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500"/>
              <a:buFont typeface="Host Grotesk Medium"/>
              <a:buNone/>
            </a:pPr>
            <a:r>
              <a:rPr b="0" i="0" lang="en-US" sz="250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Initialize the BitBake Build Environment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96119" y="1211014"/>
            <a:ext cx="8608963" cy="183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Source the environment script to set up BitBake, then register all required layers.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96119" y="1642095"/>
            <a:ext cx="3919165" cy="2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1250"/>
              <a:buFont typeface="Host Grotesk Medium"/>
              <a:buNone/>
            </a:pPr>
            <a:r>
              <a:rPr b="0" i="0" lang="en-US" sz="12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Initialize &amp; Add Layers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96119" y="1973759"/>
            <a:ext cx="3919165" cy="2645346"/>
          </a:xfrm>
          <a:prstGeom prst="roundRect">
            <a:avLst>
              <a:gd fmla="val 2040" name="adj"/>
            </a:avLst>
          </a:prstGeom>
          <a:solidFill>
            <a:srgbClr val="EDE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489719" y="1973759"/>
            <a:ext cx="3931965" cy="2645346"/>
          </a:xfrm>
          <a:prstGeom prst="roundRect">
            <a:avLst>
              <a:gd fmla="val 729" name="adj"/>
            </a:avLst>
          </a:prstGeom>
          <a:solidFill>
            <a:srgbClr val="EDE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650304" y="2102197"/>
            <a:ext cx="3610794" cy="2388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cd ~/el/poky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source oe-init-build-env build-rpi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bitbake-layers add-layer \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  ../meta-openembedded/meta-oe </a:t>
            </a:r>
            <a:r>
              <a:rPr lang="en-U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(essential utilities)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bitbake-layers add-layer \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  ../meta-openembedded/meta-python </a:t>
            </a:r>
            <a:r>
              <a:rPr lang="en-U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(Python packages)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bitbake-layers add-layer \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  ../meta-openembedded/meta-networking </a:t>
            </a:r>
            <a:r>
              <a:rPr lang="en-U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(network tools)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bitbake-layers add-layer \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  ../meta-openembedded/meta-multimedia </a:t>
            </a:r>
            <a:r>
              <a:rPr lang="en-U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(optional 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bitbake-layers add-layer \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  ../meta-raspberrypi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733479" y="1642095"/>
            <a:ext cx="3919165" cy="2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1250"/>
              <a:buFont typeface="Host Grotesk Medium"/>
              <a:buNone/>
            </a:pPr>
            <a:r>
              <a:rPr b="0" i="0" lang="en-US" sz="12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Verify Layer Configuration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733479" y="1973759"/>
            <a:ext cx="3919165" cy="440606"/>
          </a:xfrm>
          <a:prstGeom prst="roundRect">
            <a:avLst>
              <a:gd fmla="val 12247" name="adj"/>
            </a:avLst>
          </a:prstGeom>
          <a:solidFill>
            <a:srgbClr val="EDE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4727079" y="1973759"/>
            <a:ext cx="3931965" cy="440606"/>
          </a:xfrm>
          <a:prstGeom prst="roundRect">
            <a:avLst>
              <a:gd fmla="val 4374" name="adj"/>
            </a:avLst>
          </a:prstGeom>
          <a:solidFill>
            <a:srgbClr val="EDE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887664" y="2102197"/>
            <a:ext cx="4067994" cy="183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384653"/>
                </a:solidFill>
                <a:latin typeface="Consolas"/>
                <a:ea typeface="Consolas"/>
                <a:cs typeface="Consolas"/>
                <a:sym typeface="Consolas"/>
              </a:rPr>
              <a:t>bitbake-layers show-layers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733479" y="2545333"/>
            <a:ext cx="3919165" cy="367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Confirms all layers are registered with matching priorities. Check this before starting any build.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733479" y="3043758"/>
            <a:ext cx="3919165" cy="645914"/>
          </a:xfrm>
          <a:prstGeom prst="roundRect">
            <a:avLst>
              <a:gd fmla="val 8354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1917" y="3225180"/>
            <a:ext cx="160586" cy="12843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/>
          <p:nvPr/>
        </p:nvSpPr>
        <p:spPr>
          <a:xfrm>
            <a:off x="5150941" y="3180606"/>
            <a:ext cx="3373264" cy="37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build-rpi</a:t>
            </a:r>
            <a:r>
              <a:rPr b="0" i="0" lang="en-U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is your isolated build directory — safe to delete and recreate without affecting source layers.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/>
          <p:nvPr/>
        </p:nvSpPr>
        <p:spPr>
          <a:xfrm>
            <a:off x="496119" y="935831"/>
            <a:ext cx="532805" cy="215354"/>
          </a:xfrm>
          <a:prstGeom prst="roundRect">
            <a:avLst>
              <a:gd fmla="val 22119" name="adj"/>
            </a:avLst>
          </a:prstGeom>
          <a:noFill/>
          <a:ln cap="flat" cmpd="sng" w="9525">
            <a:solidFill>
              <a:srgbClr val="95CC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581174" y="978322"/>
            <a:ext cx="819894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95CCDA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95CCDA"/>
                </a:solidFill>
                <a:latin typeface="Roboto"/>
                <a:ea typeface="Roboto"/>
                <a:cs typeface="Roboto"/>
                <a:sym typeface="Roboto"/>
              </a:rPr>
              <a:t>STEP 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96119" y="1207889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750"/>
              <a:buFont typeface="Host Grotesk Medium"/>
              <a:buNone/>
            </a:pPr>
            <a:r>
              <a:rPr b="0" i="0" lang="en-US" sz="27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Configure the Build for Raspberry Pi 4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96119" y="1863477"/>
            <a:ext cx="8608963" cy="217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Edit </a:t>
            </a:r>
            <a:r>
              <a:rPr b="0" i="0" lang="en-US" sz="1100" u="none" cap="none" strike="noStrike">
                <a:solidFill>
                  <a:srgbClr val="384653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build-rpi/conf/local.conf</a:t>
            </a: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to set the target machine and enable headless boot features.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96119" y="2240310"/>
            <a:ext cx="2622724" cy="1967359"/>
          </a:xfrm>
          <a:prstGeom prst="roundRect">
            <a:avLst>
              <a:gd fmla="val 3027" name="adj"/>
            </a:avLst>
          </a:prstGeom>
          <a:solidFill>
            <a:srgbClr val="D9EDF2"/>
          </a:solidFill>
          <a:ln cap="flat" cmpd="sng" w="9525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642640" y="2386831"/>
            <a:ext cx="232968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50"/>
              <a:buFont typeface="Host Grotesk Medium"/>
              <a:buNone/>
            </a:pPr>
            <a:r>
              <a:rPr b="0" i="0" lang="en-US" sz="13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Target Machine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42640" y="2767757"/>
            <a:ext cx="2329681" cy="496119"/>
          </a:xfrm>
          <a:prstGeom prst="roundRect">
            <a:avLst>
              <a:gd fmla="val 12002" name="adj"/>
            </a:avLst>
          </a:prstGeom>
          <a:solidFill>
            <a:srgbClr val="EDE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635571" y="2767757"/>
            <a:ext cx="2343820" cy="496119"/>
          </a:xfrm>
          <a:prstGeom prst="roundRect">
            <a:avLst>
              <a:gd fmla="val 4286" name="adj"/>
            </a:avLst>
          </a:prstGeom>
          <a:solidFill>
            <a:srgbClr val="EDE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812750" y="2909515"/>
            <a:ext cx="1989460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Consolas"/>
                <a:ea typeface="Consolas"/>
                <a:cs typeface="Consolas"/>
                <a:sym typeface="Consolas"/>
              </a:rPr>
              <a:t>MACHINE = "raspberrypi4-64"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42640" y="3423345"/>
            <a:ext cx="2329681" cy="425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Selects the 64-bit BSP for Raspberry Pi 4.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260601" y="2240310"/>
            <a:ext cx="2622724" cy="1967359"/>
          </a:xfrm>
          <a:prstGeom prst="roundRect">
            <a:avLst>
              <a:gd fmla="val 3027" name="adj"/>
            </a:avLst>
          </a:prstGeom>
          <a:solidFill>
            <a:srgbClr val="D9EDF2"/>
          </a:solidFill>
          <a:ln cap="flat" cmpd="sng" w="9525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3407122" y="2386831"/>
            <a:ext cx="232968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50"/>
              <a:buFont typeface="Host Grotesk Medium"/>
              <a:buNone/>
            </a:pPr>
            <a:r>
              <a:rPr b="0" i="0" lang="en-US" sz="13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Enable SSH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407122" y="2767757"/>
            <a:ext cx="2329681" cy="708720"/>
          </a:xfrm>
          <a:prstGeom prst="roundRect">
            <a:avLst>
              <a:gd fmla="val 8401" name="adj"/>
            </a:avLst>
          </a:prstGeom>
          <a:solidFill>
            <a:srgbClr val="EDE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3400053" y="2767757"/>
            <a:ext cx="2343820" cy="708720"/>
          </a:xfrm>
          <a:prstGeom prst="roundRect">
            <a:avLst>
              <a:gd fmla="val 3000" name="adj"/>
            </a:avLst>
          </a:prstGeom>
          <a:solidFill>
            <a:srgbClr val="EDE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3577233" y="2909515"/>
            <a:ext cx="1989460" cy="425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Consolas"/>
                <a:ea typeface="Consolas"/>
                <a:cs typeface="Consolas"/>
                <a:sym typeface="Consolas"/>
              </a:rPr>
              <a:t>IMAGE_FEATURES +=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Consolas"/>
                <a:ea typeface="Consolas"/>
                <a:cs typeface="Consolas"/>
                <a:sym typeface="Consolas"/>
              </a:rPr>
              <a:t>  "ssh-server-openssh"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407122" y="3635946"/>
            <a:ext cx="2329681" cy="425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Critical for headless access after first boot.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025083" y="2240310"/>
            <a:ext cx="2622724" cy="1967359"/>
          </a:xfrm>
          <a:prstGeom prst="roundRect">
            <a:avLst>
              <a:gd fmla="val 3027" name="adj"/>
            </a:avLst>
          </a:prstGeom>
          <a:solidFill>
            <a:srgbClr val="D9EDF2"/>
          </a:solidFill>
          <a:ln cap="flat" cmpd="sng" w="9525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6171605" y="2386831"/>
            <a:ext cx="232968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50"/>
              <a:buFont typeface="Host Grotesk Medium"/>
              <a:buNone/>
            </a:pPr>
            <a:r>
              <a:rPr b="0" i="0" lang="en-US" sz="13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License Flag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171605" y="2767757"/>
            <a:ext cx="2329681" cy="708720"/>
          </a:xfrm>
          <a:prstGeom prst="roundRect">
            <a:avLst>
              <a:gd fmla="val 8401" name="adj"/>
            </a:avLst>
          </a:prstGeom>
          <a:solidFill>
            <a:srgbClr val="EDE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6105625" y="2767750"/>
            <a:ext cx="2497200" cy="708600"/>
          </a:xfrm>
          <a:prstGeom prst="roundRect">
            <a:avLst>
              <a:gd fmla="val 3000" name="adj"/>
            </a:avLst>
          </a:prstGeom>
          <a:solidFill>
            <a:srgbClr val="EDE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6257175" y="2909563"/>
            <a:ext cx="20523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Consolas"/>
                <a:ea typeface="Consolas"/>
                <a:cs typeface="Consolas"/>
                <a:sym typeface="Consolas"/>
              </a:rPr>
              <a:t>LICENSE_FLAGS_ACCEPTED = </a:t>
            </a:r>
            <a:endParaRPr sz="1100">
              <a:solidFill>
                <a:srgbClr val="38465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Consolas"/>
                <a:ea typeface="Consolas"/>
                <a:cs typeface="Consolas"/>
                <a:sym typeface="Consolas"/>
              </a:rPr>
              <a:t> "synaptics-killswitch"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171605" y="3635946"/>
            <a:ext cx="2329681" cy="425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Accepts the proprietary firmware license required by Raspberry Pi.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519625" y="4351875"/>
            <a:ext cx="5448900" cy="5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/>
              <a:t>For other targets, use: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/>
              <a:t>- Raspberry Pi 3: MACHINE = "raspberrypi3"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/>
              <a:t>- Raspberry Pi 3 64-bit: MACHINE = "raspberrypi3-64"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26" name="Google Shape;126;p5"/>
          <p:cNvSpPr/>
          <p:nvPr/>
        </p:nvSpPr>
        <p:spPr>
          <a:xfrm>
            <a:off x="6682975" y="267025"/>
            <a:ext cx="2422200" cy="1205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 txBox="1"/>
          <p:nvPr/>
        </p:nvSpPr>
        <p:spPr>
          <a:xfrm>
            <a:off x="6646750" y="245375"/>
            <a:ext cx="2497200" cy="17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To avoid re-downloading sources on rebuilds, add to conf/local.conf: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DL_DIR = </a:t>
            </a:r>
            <a:br>
              <a:rPr lang="en-US" sz="1100"/>
            </a:br>
            <a:r>
              <a:rPr lang="en-US" sz="1100"/>
              <a:t>  "${HOME}/el/poky/downloads"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SSTATE_DIR = </a:t>
            </a:r>
            <a:br>
              <a:rPr lang="en-US" sz="1100"/>
            </a:br>
            <a:r>
              <a:rPr lang="en-US" sz="1100"/>
              <a:t>  "${HOME}/el/poky/sstate-cache"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496134" y="196212"/>
            <a:ext cx="681000" cy="301200"/>
          </a:xfrm>
          <a:prstGeom prst="roundRect">
            <a:avLst>
              <a:gd fmla="val 22134" name="adj"/>
            </a:avLst>
          </a:prstGeom>
          <a:noFill/>
          <a:ln cap="flat" cmpd="sng" w="9525">
            <a:solidFill>
              <a:srgbClr val="95CC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538600" y="255300"/>
            <a:ext cx="6384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95CCDA"/>
              </a:buClr>
              <a:buSzPts val="400"/>
              <a:buFont typeface="Roboto"/>
              <a:buNone/>
            </a:pPr>
            <a:r>
              <a:rPr b="0" i="0" lang="en-US" sz="1200" u="none" cap="none" strike="noStrike">
                <a:solidFill>
                  <a:srgbClr val="95CCDA"/>
                </a:solidFill>
                <a:latin typeface="Roboto"/>
                <a:ea typeface="Roboto"/>
                <a:cs typeface="Roboto"/>
                <a:sym typeface="Roboto"/>
              </a:rPr>
              <a:t>STEP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1412701" y="186750"/>
            <a:ext cx="36609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1350"/>
              <a:buFont typeface="Host Grotesk Medium"/>
              <a:buNone/>
            </a:pPr>
            <a:r>
              <a:rPr b="0" i="0" lang="en-US" sz="180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Build the Image with BitBake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96125" y="786160"/>
            <a:ext cx="86091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55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BitBake parses recipes, fetches sources, and compiles everything. Expect 30–90 minutes on a modern workstation.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25" y="1097000"/>
            <a:ext cx="8151750" cy="168617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/>
          <p:nvPr/>
        </p:nvSpPr>
        <p:spPr>
          <a:xfrm>
            <a:off x="1850077" y="1609024"/>
            <a:ext cx="1428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1350"/>
              <a:buFont typeface="Host Grotesk Medium"/>
              <a:buNone/>
            </a:pPr>
            <a:r>
              <a:rPr b="0" i="0" lang="en-US" sz="13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Parse Recipes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1850077" y="1892652"/>
            <a:ext cx="14289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Read metadata and resolve deps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869314" y="1570165"/>
            <a:ext cx="1428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1350"/>
              <a:buFont typeface="Host Grotesk Medium"/>
              <a:buNone/>
            </a:pPr>
            <a:r>
              <a:rPr b="0" i="0" lang="en-US" sz="13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Generate Image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869314" y="1853793"/>
            <a:ext cx="14289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Assemble rootfs and produce .wic.bz2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3896735" y="1281019"/>
            <a:ext cx="1428936" cy="441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1350"/>
              <a:buFont typeface="Host Grotesk Medium"/>
              <a:buNone/>
            </a:pPr>
            <a:r>
              <a:rPr b="0" i="0" lang="en-US" sz="13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Compile &amp; Package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3896735" y="1785465"/>
            <a:ext cx="1428936" cy="264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Fetch sources, patch, build packages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02300" y="2987188"/>
            <a:ext cx="86091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550"/>
              <a:buFont typeface="Roboto"/>
              <a:buNone/>
            </a:pPr>
            <a:r>
              <a:rPr b="0" i="0" lang="en-US" sz="10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BitBake moves through three phases automatically — parsing recipes, compiling all components, then assembling the final SD card image.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01723" y="3212843"/>
            <a:ext cx="39894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650"/>
              <a:buFont typeface="Host Grotesk Medium"/>
              <a:buNone/>
            </a:pPr>
            <a:r>
              <a:rPr b="0" i="0" lang="en-US" sz="90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Run the Build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01723" y="3510809"/>
            <a:ext cx="3989400" cy="596100"/>
          </a:xfrm>
          <a:prstGeom prst="roundRect">
            <a:avLst>
              <a:gd fmla="val 9883" name="adj"/>
            </a:avLst>
          </a:prstGeom>
          <a:solidFill>
            <a:srgbClr val="EDE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398225" y="3510809"/>
            <a:ext cx="3996300" cy="596100"/>
          </a:xfrm>
          <a:prstGeom prst="roundRect">
            <a:avLst>
              <a:gd fmla="val 3530" name="adj"/>
            </a:avLst>
          </a:prstGeom>
          <a:solidFill>
            <a:srgbClr val="EDE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486778" y="3651028"/>
            <a:ext cx="38193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550"/>
              <a:buFont typeface="Consolas"/>
              <a:buNone/>
            </a:pPr>
            <a:r>
              <a:rPr b="0" i="0" lang="en-US" sz="10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cd ~/el/poky/build-rpi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550"/>
              <a:buFont typeface="Consolas"/>
              <a:buNone/>
            </a:pPr>
            <a:r>
              <a:rPr b="0" i="0" lang="en-US" sz="10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time bitbake rpi-test-image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01723" y="4185834"/>
            <a:ext cx="39894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650"/>
              <a:buFont typeface="Host Grotesk Medium"/>
              <a:buNone/>
            </a:pPr>
            <a:r>
              <a:rPr b="0" i="0" lang="en-US" sz="100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Monitor Progress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01723" y="4483798"/>
            <a:ext cx="3989400" cy="438300"/>
          </a:xfrm>
          <a:prstGeom prst="roundRect">
            <a:avLst>
              <a:gd fmla="val 13443" name="adj"/>
            </a:avLst>
          </a:prstGeom>
          <a:solidFill>
            <a:srgbClr val="EDE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398225" y="4483798"/>
            <a:ext cx="3996300" cy="438300"/>
          </a:xfrm>
          <a:prstGeom prst="roundRect">
            <a:avLst>
              <a:gd fmla="val 4801" name="adj"/>
            </a:avLst>
          </a:prstGeom>
          <a:solidFill>
            <a:srgbClr val="EDE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486778" y="4624019"/>
            <a:ext cx="42765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550"/>
              <a:buFont typeface="Consolas"/>
              <a:buNone/>
            </a:pPr>
            <a:r>
              <a:rPr b="0" i="0" lang="en-US" sz="10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tail -f tmp/log/bitbake-cookerdaemon.log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568843" y="3212843"/>
            <a:ext cx="39894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650"/>
              <a:buFont typeface="Host Grotesk Medium"/>
              <a:buNone/>
            </a:pPr>
            <a:r>
              <a:rPr b="0" i="0" lang="en-US" sz="6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Locate Output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568843" y="3510809"/>
            <a:ext cx="3989400" cy="596100"/>
          </a:xfrm>
          <a:prstGeom prst="roundRect">
            <a:avLst>
              <a:gd fmla="val 9883" name="adj"/>
            </a:avLst>
          </a:prstGeom>
          <a:solidFill>
            <a:srgbClr val="EDE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4565345" y="3510809"/>
            <a:ext cx="3996300" cy="596100"/>
          </a:xfrm>
          <a:prstGeom prst="roundRect">
            <a:avLst>
              <a:gd fmla="val 3530" name="adj"/>
            </a:avLst>
          </a:prstGeom>
          <a:solidFill>
            <a:srgbClr val="EDE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4653898" y="3651028"/>
            <a:ext cx="38193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550"/>
              <a:buFont typeface="Consolas"/>
              <a:buNone/>
            </a:pPr>
            <a:r>
              <a:rPr b="0" i="0" lang="en-US" sz="10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ls -l tmp/deploy/images/raspberrypi4-64/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568850" y="4165525"/>
            <a:ext cx="44466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After successful build, find your SD card image:</a:t>
            </a:r>
            <a:endParaRPr b="1" sz="1200">
              <a:solidFill>
                <a:srgbClr val="38465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ls -l tmp/deploy/images/${MACHINE}/</a:t>
            </a:r>
            <a:endParaRPr b="1" sz="1200">
              <a:solidFill>
                <a:srgbClr val="38465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550"/>
              <a:buFont typeface="Roboto"/>
              <a:buNone/>
            </a:pPr>
            <a:r>
              <a:t/>
            </a:r>
            <a:endParaRPr b="1" sz="1200">
              <a:solidFill>
                <a:srgbClr val="38465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550"/>
              <a:buFont typeface="Roboto"/>
              <a:buNone/>
            </a:pPr>
            <a:r>
              <a:rPr b="1" i="0" lang="en-US" sz="12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Look for: </a:t>
            </a:r>
            <a:r>
              <a:rPr b="1" i="0" lang="en-US" sz="1200" u="none" cap="none" strike="noStrike">
                <a:solidFill>
                  <a:srgbClr val="384653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rpi-test-image-raspberrypi4-64.rootfs.wic.bz2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174625" y="151550"/>
            <a:ext cx="3752700" cy="47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 txBox="1"/>
          <p:nvPr/>
        </p:nvSpPr>
        <p:spPr>
          <a:xfrm>
            <a:off x="5160200" y="137125"/>
            <a:ext cx="37527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/>
              <a:t>Create directories: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Consolas"/>
                <a:ea typeface="Consolas"/>
                <a:cs typeface="Consolas"/>
                <a:sym typeface="Consolas"/>
              </a:rPr>
              <a:t>mkdir -p ~/el/poky/downloads ~/el/poky/sstate-cache</a:t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2468225" y="3527225"/>
            <a:ext cx="19632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/>
              <a:t>Alternative images to consider: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/>
              <a:t>- core-image-minimal (smaller, faster build)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/>
              <a:t>- rpi-test-image (includes testing utilities)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- rpi-basic-image (basic Raspberry Pi image)</a:t>
            </a:r>
            <a:endParaRPr sz="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D9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9375" y="571500"/>
            <a:ext cx="2667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/>
          <p:nvPr/>
        </p:nvSpPr>
        <p:spPr>
          <a:xfrm>
            <a:off x="496130" y="296529"/>
            <a:ext cx="701100" cy="297600"/>
          </a:xfrm>
          <a:prstGeom prst="roundRect">
            <a:avLst>
              <a:gd fmla="val 22112" name="adj"/>
            </a:avLst>
          </a:prstGeom>
          <a:noFill/>
          <a:ln cap="flat" cmpd="sng" w="9525">
            <a:solidFill>
              <a:srgbClr val="95CC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553275" y="368076"/>
            <a:ext cx="7011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95CCDA"/>
              </a:buClr>
              <a:buSzPts val="600"/>
              <a:buFont typeface="Roboto"/>
              <a:buNone/>
            </a:pPr>
            <a:r>
              <a:rPr b="0" i="0" lang="en-US" sz="1200" u="none" cap="none" strike="noStrike">
                <a:solidFill>
                  <a:srgbClr val="95CCDA"/>
                </a:solidFill>
                <a:latin typeface="Roboto"/>
                <a:ea typeface="Roboto"/>
                <a:cs typeface="Roboto"/>
                <a:sym typeface="Roboto"/>
              </a:rPr>
              <a:t>STEP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1327324" y="327775"/>
            <a:ext cx="3600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1850"/>
              <a:buFont typeface="Host Grotesk Medium"/>
              <a:buNone/>
            </a:pPr>
            <a:r>
              <a:rPr b="0" i="0" lang="en-US" sz="18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Flash the Image to an SD Card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96125" y="713150"/>
            <a:ext cx="49311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750"/>
              <a:buFont typeface="Roboto"/>
              <a:buNone/>
            </a:pPr>
            <a:r>
              <a:rPr b="1" i="0" lang="en-US" sz="12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Decompress the </a:t>
            </a:r>
            <a:r>
              <a:rPr b="1" i="0" lang="en-US" sz="1200" u="none" cap="none" strike="noStrike">
                <a:solidFill>
                  <a:srgbClr val="384653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.wic.bz2</a:t>
            </a:r>
            <a:r>
              <a:rPr b="1" i="0" lang="en-US" sz="12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image and write it to your SD card. </a:t>
            </a:r>
            <a:r>
              <a:rPr b="1" i="0" lang="en-US" sz="1200" u="none" cap="none" strike="noStrike">
                <a:solidFill>
                  <a:srgbClr val="384653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bmaptool</a:t>
            </a:r>
            <a:r>
              <a:rPr b="1" i="0" lang="en-US" sz="12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is faster and verifies integrity.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209526"/>
            <a:ext cx="476250" cy="96009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/>
          <p:nvPr/>
        </p:nvSpPr>
        <p:spPr>
          <a:xfrm>
            <a:off x="1036365" y="1304776"/>
            <a:ext cx="418251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00"/>
              <a:buFont typeface="Host Grotesk Medium"/>
              <a:buNone/>
            </a:pPr>
            <a:r>
              <a:rPr b="0" i="0" lang="en-US" sz="90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Decompress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1036365" y="1525563"/>
            <a:ext cx="4182517" cy="548804"/>
          </a:xfrm>
          <a:prstGeom prst="roundRect">
            <a:avLst>
              <a:gd fmla="val 7289" name="adj"/>
            </a:avLst>
          </a:prstGeom>
          <a:solidFill>
            <a:srgbClr val="EDE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1031602" y="1525563"/>
            <a:ext cx="4192042" cy="548804"/>
          </a:xfrm>
          <a:prstGeom prst="roundRect">
            <a:avLst>
              <a:gd fmla="val 2603" name="adj"/>
            </a:avLst>
          </a:prstGeom>
          <a:solidFill>
            <a:srgbClr val="EDE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1150665" y="1620813"/>
            <a:ext cx="3953917" cy="358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750"/>
              <a:buFont typeface="Consolas"/>
              <a:buNone/>
            </a:pPr>
            <a:r>
              <a:rPr b="0" i="0" lang="en-US" sz="9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cd ~/el/poky/build-rpi/\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750"/>
              <a:buFont typeface="Consolas"/>
              <a:buNone/>
            </a:pPr>
            <a:r>
              <a:rPr b="0" i="0" lang="en-US" sz="9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tmp/deploy/images/raspberrypi4-64/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750"/>
              <a:buFont typeface="Consolas"/>
              <a:buNone/>
            </a:pPr>
            <a:r>
              <a:rPr b="0" i="0" lang="en-US" sz="9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bunzip2 rpi-test-image-*.wic.bz2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" name="Google Shape;17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2169616"/>
            <a:ext cx="476250" cy="107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7"/>
          <p:cNvSpPr/>
          <p:nvPr/>
        </p:nvSpPr>
        <p:spPr>
          <a:xfrm>
            <a:off x="1036365" y="2264866"/>
            <a:ext cx="418251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00"/>
              <a:buFont typeface="Host Grotesk Medium"/>
              <a:buNone/>
            </a:pPr>
            <a:r>
              <a:rPr b="0" i="0" lang="en-US" sz="90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Flash with dd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1036365" y="2485653"/>
            <a:ext cx="4182517" cy="668238"/>
          </a:xfrm>
          <a:prstGeom prst="roundRect">
            <a:avLst>
              <a:gd fmla="val 5987" name="adj"/>
            </a:avLst>
          </a:prstGeom>
          <a:solidFill>
            <a:srgbClr val="EDE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1031602" y="2485653"/>
            <a:ext cx="4192042" cy="668238"/>
          </a:xfrm>
          <a:prstGeom prst="roundRect">
            <a:avLst>
              <a:gd fmla="val 2138" name="adj"/>
            </a:avLst>
          </a:prstGeom>
          <a:solidFill>
            <a:srgbClr val="EDE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1150665" y="2580903"/>
            <a:ext cx="3953917" cy="477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750"/>
              <a:buFont typeface="Consolas"/>
              <a:buNone/>
            </a:pPr>
            <a:r>
              <a:rPr b="0" i="0" lang="en-US" sz="9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sudo dd if=rpi-test-image-*.wic \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750"/>
              <a:buFont typeface="Consolas"/>
              <a:buNone/>
            </a:pPr>
            <a:r>
              <a:rPr b="0" i="0" lang="en-US" sz="9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  of=/dev/sdX bs=4M \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750"/>
              <a:buFont typeface="Consolas"/>
              <a:buNone/>
            </a:pPr>
            <a:r>
              <a:rPr b="0" i="0" lang="en-US" sz="9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  status=progress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750"/>
              <a:buFont typeface="Consolas"/>
              <a:buNone/>
            </a:pPr>
            <a:r>
              <a:rPr b="0" i="0" lang="en-US" sz="9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sync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2" name="Google Shape;18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3249141"/>
            <a:ext cx="476250" cy="96009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7"/>
          <p:cNvSpPr/>
          <p:nvPr/>
        </p:nvSpPr>
        <p:spPr>
          <a:xfrm>
            <a:off x="1036365" y="3344391"/>
            <a:ext cx="418251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00"/>
              <a:buFont typeface="Host Grotesk Medium"/>
              <a:buNone/>
            </a:pPr>
            <a:r>
              <a:rPr b="0" i="0" lang="en-US" sz="90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Or use bmaptool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036365" y="3565178"/>
            <a:ext cx="4182517" cy="548804"/>
          </a:xfrm>
          <a:prstGeom prst="roundRect">
            <a:avLst>
              <a:gd fmla="val 7289" name="adj"/>
            </a:avLst>
          </a:prstGeom>
          <a:solidFill>
            <a:srgbClr val="EDE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1031602" y="3565178"/>
            <a:ext cx="4192042" cy="548804"/>
          </a:xfrm>
          <a:prstGeom prst="roundRect">
            <a:avLst>
              <a:gd fmla="val 2603" name="adj"/>
            </a:avLst>
          </a:prstGeom>
          <a:solidFill>
            <a:srgbClr val="EDE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1150665" y="3660428"/>
            <a:ext cx="3953917" cy="358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750"/>
              <a:buFont typeface="Consolas"/>
              <a:buNone/>
            </a:pPr>
            <a:r>
              <a:rPr b="0" i="0" lang="en-US" sz="9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sudo bmaptool copy \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750"/>
              <a:buFont typeface="Consolas"/>
              <a:buNone/>
            </a:pPr>
            <a:r>
              <a:rPr b="0" i="0" lang="en-US" sz="9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  rpi-test-image-*.wic.bz2 \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750"/>
              <a:buFont typeface="Consolas"/>
              <a:buNone/>
            </a:pPr>
            <a:r>
              <a:rPr b="0" i="0" lang="en-US" sz="900" u="none" cap="none" strike="noStrike">
                <a:solidFill>
                  <a:srgbClr val="E36209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  /dev/sdX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53275" y="4281204"/>
            <a:ext cx="4722900" cy="597600"/>
          </a:xfrm>
          <a:prstGeom prst="roundRect">
            <a:avLst>
              <a:gd fmla="val 9690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1369" y="4402634"/>
            <a:ext cx="119062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7"/>
          <p:cNvSpPr/>
          <p:nvPr/>
        </p:nvSpPr>
        <p:spPr>
          <a:xfrm>
            <a:off x="805681" y="4368998"/>
            <a:ext cx="4317950" cy="243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oboto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Replace </a:t>
            </a:r>
            <a:r>
              <a:rPr b="1" i="0" lang="en-US" sz="1100" u="none" cap="none" strike="noStrike">
                <a:solidFill>
                  <a:srgbClr val="000000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/dev/sdX</a:t>
            </a:r>
            <a:r>
              <a:rPr b="1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with your actual SD card device. Double-check with </a:t>
            </a:r>
            <a:r>
              <a:rPr b="1" i="0" lang="en-US" sz="1100" u="none" cap="none" strike="noStrike">
                <a:solidFill>
                  <a:srgbClr val="000000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lsblk</a:t>
            </a:r>
            <a:r>
              <a:rPr b="1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— writing to the wrong device will overwrite data.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/>
          <p:nvPr/>
        </p:nvSpPr>
        <p:spPr>
          <a:xfrm>
            <a:off x="496119" y="1111374"/>
            <a:ext cx="1347118" cy="215354"/>
          </a:xfrm>
          <a:prstGeom prst="roundRect">
            <a:avLst>
              <a:gd fmla="val 22119" name="adj"/>
            </a:avLst>
          </a:prstGeom>
          <a:noFill/>
          <a:ln cap="flat" cmpd="sng" w="9525">
            <a:solidFill>
              <a:srgbClr val="95CC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581174" y="1153864"/>
            <a:ext cx="1634207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95CCDA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95CCDA"/>
                </a:solidFill>
                <a:latin typeface="Roboto"/>
                <a:ea typeface="Roboto"/>
                <a:cs typeface="Roboto"/>
                <a:sym typeface="Roboto"/>
              </a:rPr>
              <a:t>STEP 6 · VERIFICATION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96119" y="1383432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750"/>
              <a:buFont typeface="Host Grotesk Medium"/>
              <a:buNone/>
            </a:pPr>
            <a:r>
              <a:rPr b="0" i="0" lang="en-US" sz="27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First Boot &amp; Assignment Submission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96119" y="2180779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1350"/>
              <a:buFont typeface="Host Grotesk Medium"/>
              <a:buNone/>
            </a:pPr>
            <a:r>
              <a:rPr b="0" i="0" lang="en-US" sz="13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Boot &amp; Verify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96128" y="2544000"/>
            <a:ext cx="6172500" cy="14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3520" lvl="0" marL="22352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Insert SD card, connect TTL serial (GPIO 14/15, pin 6 GND)</a:t>
            </a:r>
            <a:b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Power on, observe boot messages</a:t>
            </a:r>
            <a:b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Login as </a:t>
            </a:r>
            <a:r>
              <a:rPr b="0" i="0" lang="en-US" sz="1100" u="none" cap="none" strike="noStrike">
                <a:solidFill>
                  <a:srgbClr val="384653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(no password with </a:t>
            </a:r>
            <a:r>
              <a:rPr b="0" i="0" lang="en-US" sz="1100" u="none" cap="none" strike="noStrike">
                <a:solidFill>
                  <a:srgbClr val="384653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debug-tweaks</a:t>
            </a: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b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Run</a:t>
            </a:r>
            <a:r>
              <a:rPr lang="en-US" sz="11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b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200" u="none" cap="none" strike="noStrike">
                <a:solidFill>
                  <a:srgbClr val="384653"/>
                </a:solidFill>
                <a:highlight>
                  <a:srgbClr val="EDECE8"/>
                </a:highlight>
                <a:latin typeface="Consolas"/>
                <a:ea typeface="Consolas"/>
                <a:cs typeface="Consolas"/>
                <a:sym typeface="Consolas"/>
              </a:rPr>
              <a:t>uname -a</a:t>
            </a:r>
            <a:r>
              <a:rPr b="1" i="0" lang="en-US" sz="1200" u="none" cap="none" strike="noStrike">
                <a:solidFill>
                  <a:srgbClr val="38465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b="1" i="0" lang="en-US" sz="1200" u="none" cap="none" strike="noStrike">
                <a:solidFill>
                  <a:srgbClr val="38465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en-US" sz="1200" u="none" cap="none" strike="noStrike">
                <a:solidFill>
                  <a:srgbClr val="384653"/>
                </a:solidFill>
                <a:latin typeface="Roboto Medium"/>
                <a:ea typeface="Roboto Medium"/>
                <a:cs typeface="Roboto Medium"/>
                <a:sym typeface="Roboto Medium"/>
              </a:rPr>
              <a:t>— expect </a:t>
            </a:r>
            <a:r>
              <a:rPr i="0" lang="en-US" sz="1200" u="none" cap="none" strike="noStrike">
                <a:solidFill>
                  <a:srgbClr val="384653"/>
                </a:solidFill>
                <a:highlight>
                  <a:srgbClr val="EDECE8"/>
                </a:highlight>
                <a:latin typeface="Roboto Medium"/>
                <a:ea typeface="Roboto Medium"/>
                <a:cs typeface="Roboto Medium"/>
                <a:sym typeface="Roboto Medium"/>
              </a:rPr>
              <a:t>Linux raspberrypi4-64 … aarch64 GNU/Linux</a:t>
            </a:r>
            <a:endParaRPr i="0" sz="1200" u="none" cap="none" strike="noStrike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647605" y="2039020"/>
            <a:ext cx="4107135" cy="1993106"/>
          </a:xfrm>
          <a:prstGeom prst="roundRect">
            <a:avLst>
              <a:gd fmla="val 5121" name="adj"/>
            </a:avLst>
          </a:prstGeom>
          <a:solidFill>
            <a:srgbClr val="95CC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4789363" y="2180779"/>
            <a:ext cx="382361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1350"/>
              <a:buFont typeface="Host Grotesk Medium"/>
              <a:buNone/>
            </a:pPr>
            <a:r>
              <a:rPr b="0" i="0" lang="en-US" sz="13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Submit to Canvas (or in class)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789363" y="2543994"/>
            <a:ext cx="3823618" cy="121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3520" lvl="0" marL="22352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000000"/>
                </a:solidFill>
                <a:highlight>
                  <a:srgbClr val="88BFCD"/>
                </a:highlight>
                <a:latin typeface="Consolas"/>
                <a:ea typeface="Consolas"/>
                <a:cs typeface="Consolas"/>
                <a:sym typeface="Consolas"/>
              </a:rPr>
              <a:t>uname -a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output from booted 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Screenshot of TTL serial console during boot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Build log excerpt showing successful completion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Brief reflection (2–3 sentences): issues, build time, what you'd do differently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2026-07-13T00:10:20Z</dcterms:created>
</cp:coreProperties>
</file>