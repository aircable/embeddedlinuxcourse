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1" roundtripDataSignature="AMtx7mhVelU+Wbiv3hp6qsfVgJzYjI8P/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1" Type="http://customschemas.google.com/relationships/presentationmetadata" Target="meta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4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4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4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4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4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4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4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4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4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4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4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4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3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2334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0B34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457200" y="1371600"/>
            <a:ext cx="11277295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Embedded Linux Design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457200" y="2926080"/>
            <a:ext cx="1127729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0B342"/>
                </a:solidFill>
                <a:latin typeface="Arial"/>
                <a:ea typeface="Arial"/>
                <a:cs typeface="Arial"/>
                <a:sym typeface="Arial"/>
              </a:rPr>
              <a:t>Session 2: Toolchains &amp; Bootloaders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UCSC Extension  |  Instructor: Juergen Kienhoefer</a:t>
            </a:r>
            <a:endParaRPr/>
          </a:p>
        </p:txBody>
      </p:sp>
      <p:sp>
        <p:nvSpPr>
          <p:cNvPr id="88" name="Google Shape;88;p1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0B34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Today's Roadmap</a:t>
            </a:r>
            <a:endParaRPr/>
          </a:p>
        </p:txBody>
      </p:sp>
      <p:sp>
        <p:nvSpPr>
          <p:cNvPr id="95" name="Google Shape;95;p2"/>
          <p:cNvSpPr/>
          <p:nvPr/>
        </p:nvSpPr>
        <p:spPr>
          <a:xfrm>
            <a:off x="457200" y="822945"/>
            <a:ext cx="5547300" cy="1562400"/>
          </a:xfrm>
          <a:prstGeom prst="roundRect">
            <a:avLst>
              <a:gd fmla="val 16667" name="adj"/>
            </a:avLst>
          </a:prstGeom>
          <a:solidFill>
            <a:srgbClr val="FDF4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/>
          <p:nvPr/>
        </p:nvSpPr>
        <p:spPr>
          <a:xfrm>
            <a:off x="457200" y="822960"/>
            <a:ext cx="5547207" cy="365760"/>
          </a:xfrm>
          <a:prstGeom prst="roundRect">
            <a:avLst>
              <a:gd fmla="val 16667" name="adj"/>
            </a:avLst>
          </a:prstGeom>
          <a:solidFill>
            <a:srgbClr val="F0B34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"/>
          <p:cNvSpPr txBox="1"/>
          <p:nvPr/>
        </p:nvSpPr>
        <p:spPr>
          <a:xfrm>
            <a:off x="594360" y="868680"/>
            <a:ext cx="5272887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Toolchains</a:t>
            </a:r>
            <a:endParaRPr/>
          </a:p>
        </p:txBody>
      </p:sp>
      <p:sp>
        <p:nvSpPr>
          <p:cNvPr id="98" name="Google Shape;98;p2"/>
          <p:cNvSpPr txBox="1"/>
          <p:nvPr/>
        </p:nvSpPr>
        <p:spPr>
          <a:xfrm>
            <a:off x="594360" y="1280160"/>
            <a:ext cx="5272887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Cross-development model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Toolchain components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Building vs. pre-built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Verification</a:t>
            </a:r>
            <a:endParaRPr/>
          </a:p>
        </p:txBody>
      </p:sp>
      <p:sp>
        <p:nvSpPr>
          <p:cNvPr id="99" name="Google Shape;99;p2"/>
          <p:cNvSpPr/>
          <p:nvPr/>
        </p:nvSpPr>
        <p:spPr>
          <a:xfrm>
            <a:off x="6187275" y="822945"/>
            <a:ext cx="5547300" cy="1562400"/>
          </a:xfrm>
          <a:prstGeom prst="roundRect">
            <a:avLst>
              <a:gd fmla="val 16667" name="adj"/>
            </a:avLst>
          </a:prstGeom>
          <a:solidFill>
            <a:srgbClr val="E6F5F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/>
          <p:nvPr/>
        </p:nvSpPr>
        <p:spPr>
          <a:xfrm>
            <a:off x="6187287" y="822960"/>
            <a:ext cx="5547207" cy="365760"/>
          </a:xfrm>
          <a:prstGeom prst="roundRect">
            <a:avLst>
              <a:gd fmla="val 16667" name="adj"/>
            </a:avLst>
          </a:prstGeom>
          <a:solidFill>
            <a:srgbClr val="E686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 txBox="1"/>
          <p:nvPr/>
        </p:nvSpPr>
        <p:spPr>
          <a:xfrm>
            <a:off x="6324447" y="868680"/>
            <a:ext cx="5272887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Bootloaders</a:t>
            </a:r>
            <a:endParaRPr/>
          </a:p>
        </p:txBody>
      </p:sp>
      <p:sp>
        <p:nvSpPr>
          <p:cNvPr id="102" name="Google Shape;102;p2"/>
          <p:cNvSpPr txBox="1"/>
          <p:nvPr/>
        </p:nvSpPr>
        <p:spPr>
          <a:xfrm>
            <a:off x="6324447" y="1280160"/>
            <a:ext cx="5272887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Boot flow overview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SPL + U-Boot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U-Boot hands-on</a:t>
            </a:r>
            <a:endParaRPr/>
          </a:p>
        </p:txBody>
      </p:sp>
      <p:sp>
        <p:nvSpPr>
          <p:cNvPr id="103" name="Google Shape;103;p2"/>
          <p:cNvSpPr/>
          <p:nvPr/>
        </p:nvSpPr>
        <p:spPr>
          <a:xfrm>
            <a:off x="457200" y="2717676"/>
            <a:ext cx="5547300" cy="1404000"/>
          </a:xfrm>
          <a:prstGeom prst="roundRect">
            <a:avLst>
              <a:gd fmla="val 16667" name="adj"/>
            </a:avLst>
          </a:prstGeom>
          <a:solidFill>
            <a:srgbClr val="EBF1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"/>
          <p:cNvSpPr/>
          <p:nvPr/>
        </p:nvSpPr>
        <p:spPr>
          <a:xfrm>
            <a:off x="457200" y="2717673"/>
            <a:ext cx="5547300" cy="365700"/>
          </a:xfrm>
          <a:prstGeom prst="roundRect">
            <a:avLst>
              <a:gd fmla="val 16667" name="adj"/>
            </a:avLst>
          </a:prstGeom>
          <a:solidFill>
            <a:srgbClr val="197A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"/>
          <p:cNvSpPr txBox="1"/>
          <p:nvPr/>
        </p:nvSpPr>
        <p:spPr>
          <a:xfrm>
            <a:off x="594360" y="2763393"/>
            <a:ext cx="527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Kernel Build</a:t>
            </a:r>
            <a:endParaRPr/>
          </a:p>
        </p:txBody>
      </p:sp>
      <p:sp>
        <p:nvSpPr>
          <p:cNvPr id="106" name="Google Shape;106;p2"/>
          <p:cNvSpPr txBox="1"/>
          <p:nvPr/>
        </p:nvSpPr>
        <p:spPr>
          <a:xfrm>
            <a:off x="594360" y="3174873"/>
            <a:ext cx="5272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Config → Build → Verify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Device Tree basics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Kernel + DTB handoff</a:t>
            </a:r>
            <a:endParaRPr/>
          </a:p>
        </p:txBody>
      </p:sp>
      <p:sp>
        <p:nvSpPr>
          <p:cNvPr id="107" name="Google Shape;107;p2"/>
          <p:cNvSpPr/>
          <p:nvPr/>
        </p:nvSpPr>
        <p:spPr>
          <a:xfrm>
            <a:off x="6187275" y="2763401"/>
            <a:ext cx="5547300" cy="1331700"/>
          </a:xfrm>
          <a:prstGeom prst="roundRect">
            <a:avLst>
              <a:gd fmla="val 16667" name="adj"/>
            </a:avLst>
          </a:prstGeom>
          <a:solidFill>
            <a:srgbClr val="FFF9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"/>
          <p:cNvSpPr/>
          <p:nvPr/>
        </p:nvSpPr>
        <p:spPr>
          <a:xfrm>
            <a:off x="6187287" y="2763397"/>
            <a:ext cx="5547300" cy="365700"/>
          </a:xfrm>
          <a:prstGeom prst="roundRect">
            <a:avLst>
              <a:gd fmla="val 16667" name="adj"/>
            </a:avLst>
          </a:prstGeom>
          <a:solidFill>
            <a:srgbClr val="3D6F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"/>
          <p:cNvSpPr txBox="1"/>
          <p:nvPr/>
        </p:nvSpPr>
        <p:spPr>
          <a:xfrm>
            <a:off x="6324447" y="2809117"/>
            <a:ext cx="527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Root Filesystem</a:t>
            </a:r>
            <a:endParaRPr/>
          </a:p>
        </p:txBody>
      </p:sp>
      <p:sp>
        <p:nvSpPr>
          <p:cNvPr id="110" name="Google Shape;110;p2"/>
          <p:cNvSpPr txBox="1"/>
          <p:nvPr/>
        </p:nvSpPr>
        <p:spPr>
          <a:xfrm>
            <a:off x="6324447" y="3220597"/>
            <a:ext cx="5272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Directory structure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Init process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Buildroot quick start</a:t>
            </a:r>
            <a:endParaRPr/>
          </a:p>
        </p:txBody>
      </p:sp>
      <p:sp>
        <p:nvSpPr>
          <p:cNvPr id="111" name="Google Shape;111;p2"/>
          <p:cNvSpPr/>
          <p:nvPr/>
        </p:nvSpPr>
        <p:spPr>
          <a:xfrm>
            <a:off x="457200" y="4650123"/>
            <a:ext cx="5547300" cy="1331700"/>
          </a:xfrm>
          <a:prstGeom prst="roundRect">
            <a:avLst>
              <a:gd fmla="val 16667" name="adj"/>
            </a:avLst>
          </a:prstGeom>
          <a:solidFill>
            <a:srgbClr val="FDF4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"/>
          <p:cNvSpPr/>
          <p:nvPr/>
        </p:nvSpPr>
        <p:spPr>
          <a:xfrm>
            <a:off x="457200" y="4650130"/>
            <a:ext cx="5547300" cy="365700"/>
          </a:xfrm>
          <a:prstGeom prst="roundRect">
            <a:avLst>
              <a:gd fmla="val 16667" name="adj"/>
            </a:avLst>
          </a:prstGeom>
          <a:solidFill>
            <a:srgbClr val="F0B34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2"/>
          <p:cNvSpPr txBox="1"/>
          <p:nvPr/>
        </p:nvSpPr>
        <p:spPr>
          <a:xfrm>
            <a:off x="594360" y="4695850"/>
            <a:ext cx="527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Lab</a:t>
            </a:r>
            <a:endParaRPr/>
          </a:p>
        </p:txBody>
      </p:sp>
      <p:sp>
        <p:nvSpPr>
          <p:cNvPr id="114" name="Google Shape;114;p2"/>
          <p:cNvSpPr txBox="1"/>
          <p:nvPr/>
        </p:nvSpPr>
        <p:spPr>
          <a:xfrm>
            <a:off x="594360" y="5107330"/>
            <a:ext cx="5272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Build a bootable system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Flash and boot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Common pitfalls</a:t>
            </a:r>
            <a:endParaRPr/>
          </a:p>
        </p:txBody>
      </p:sp>
      <p:sp>
        <p:nvSpPr>
          <p:cNvPr id="115" name="Google Shape;115;p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686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The Cross-Development Model</a:t>
            </a:r>
            <a:endParaRPr/>
          </a:p>
        </p:txBody>
      </p:sp>
      <p:sp>
        <p:nvSpPr>
          <p:cNvPr id="122" name="Google Shape;122;p3"/>
          <p:cNvSpPr txBox="1"/>
          <p:nvPr/>
        </p:nvSpPr>
        <p:spPr>
          <a:xfrm>
            <a:off x="457200" y="822960"/>
            <a:ext cx="55014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Development Host</a:t>
            </a:r>
            <a:endParaRPr/>
          </a:p>
        </p:txBody>
      </p:sp>
      <p:sp>
        <p:nvSpPr>
          <p:cNvPr id="123" name="Google Shape;123;p3"/>
          <p:cNvSpPr txBox="1"/>
          <p:nvPr/>
        </p:nvSpPr>
        <p:spPr>
          <a:xfrm>
            <a:off x="457200" y="1280160"/>
            <a:ext cx="5501487" cy="5166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x86_64 Linux workstation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Cross-compiler (e.g., arm-linux-gnueabihf-gcc)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Debugger, serial terminal, build tools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Produces binaries for target architecture</a:t>
            </a:r>
            <a:endParaRPr/>
          </a:p>
        </p:txBody>
      </p:sp>
      <p:sp>
        <p:nvSpPr>
          <p:cNvPr id="124" name="Google Shape;124;p3"/>
          <p:cNvSpPr txBox="1"/>
          <p:nvPr/>
        </p:nvSpPr>
        <p:spPr>
          <a:xfrm>
            <a:off x="6233007" y="822960"/>
            <a:ext cx="55014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Target Hardware</a:t>
            </a:r>
            <a:endParaRPr/>
          </a:p>
        </p:txBody>
      </p:sp>
      <p:sp>
        <p:nvSpPr>
          <p:cNvPr id="125" name="Google Shape;125;p3"/>
          <p:cNvSpPr txBox="1"/>
          <p:nvPr/>
        </p:nvSpPr>
        <p:spPr>
          <a:xfrm>
            <a:off x="6233007" y="1280160"/>
            <a:ext cx="5501487" cy="5166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ARM / RISC-V / MIPS board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Bootloader (U-Boot)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Linux kernel + device tree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Root filesystem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Your application</a:t>
            </a:r>
            <a:endParaRPr/>
          </a:p>
        </p:txBody>
      </p:sp>
      <p:sp>
        <p:nvSpPr>
          <p:cNvPr id="126" name="Google Shape;126;p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You develop on the host, deploy to the target.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2334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97A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 txBox="1"/>
          <p:nvPr/>
        </p:nvSpPr>
        <p:spPr>
          <a:xfrm>
            <a:off x="457200" y="1828800"/>
            <a:ext cx="11277295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Part 1: Toolchains</a:t>
            </a:r>
            <a:endParaRPr/>
          </a:p>
        </p:txBody>
      </p:sp>
      <p:sp>
        <p:nvSpPr>
          <p:cNvPr id="133" name="Google Shape;133;p4"/>
          <p:cNvSpPr txBox="1"/>
          <p:nvPr/>
        </p:nvSpPr>
        <p:spPr>
          <a:xfrm>
            <a:off x="457200" y="3017520"/>
            <a:ext cx="1127729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97A8C"/>
                </a:solidFill>
                <a:latin typeface="Arial"/>
                <a:ea typeface="Arial"/>
                <a:cs typeface="Arial"/>
                <a:sym typeface="Arial"/>
              </a:rPr>
              <a:t>Cross-compilation fundamentals</a:t>
            </a:r>
            <a:endParaRPr/>
          </a:p>
        </p:txBody>
      </p:sp>
      <p:sp>
        <p:nvSpPr>
          <p:cNvPr id="134" name="Google Shape;134;p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D6F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What Is a Toolchain?</a:t>
            </a:r>
            <a:endParaRPr/>
          </a:p>
        </p:txBody>
      </p:sp>
      <p:sp>
        <p:nvSpPr>
          <p:cNvPr id="141" name="Google Shape;141;p5"/>
          <p:cNvSpPr txBox="1"/>
          <p:nvPr/>
        </p:nvSpPr>
        <p:spPr>
          <a:xfrm>
            <a:off x="457200" y="822960"/>
            <a:ext cx="11277295" cy="5623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A toolchain is a set of compilation tools that runs on one architecture (the host) and produces executable code for another (the target).</a:t>
            </a:r>
            <a:br>
              <a:rPr b="0" i="0" lang="en-US" sz="14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4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Core components:</a:t>
            </a:r>
            <a:br>
              <a:rPr b="0" i="0" lang="en-US" sz="14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  • GCC (cross-compiler) — compiles C/C++ for the target</a:t>
            </a:r>
            <a:br>
              <a:rPr b="0" i="0" lang="en-US" sz="14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  • Binutils — linker, assembler, object tools</a:t>
            </a:r>
            <a:br>
              <a:rPr b="0" i="0" lang="en-US" sz="14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  • C library (glibc, musl, uClibc) — standard library for target</a:t>
            </a:r>
            <a:br>
              <a:rPr b="0" i="0" lang="en-US" sz="14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  • GDB (cross-debugger) — debug target binaries from the host</a:t>
            </a:r>
            <a:br>
              <a:rPr b="0" i="0" lang="en-US" sz="14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4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The toolchain is defined by a target tuple:</a:t>
            </a:r>
            <a:br>
              <a:rPr b="0" i="0" lang="en-US" sz="14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  arm-linux-gnueabihf  →  ARM, Linux, hard-float ABI</a:t>
            </a:r>
            <a:endParaRPr/>
          </a:p>
        </p:txBody>
      </p:sp>
      <p:sp>
        <p:nvSpPr>
          <p:cNvPr id="142" name="Google Shape;142;p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0B34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Toolchain Anatomy</a:t>
            </a:r>
            <a:endParaRPr/>
          </a:p>
        </p:txBody>
      </p:sp>
      <p:sp>
        <p:nvSpPr>
          <p:cNvPr id="149" name="Google Shape;149;p6"/>
          <p:cNvSpPr/>
          <p:nvPr/>
        </p:nvSpPr>
        <p:spPr>
          <a:xfrm>
            <a:off x="1828754" y="822960"/>
            <a:ext cx="8534186" cy="1033272"/>
          </a:xfrm>
          <a:prstGeom prst="roundRect">
            <a:avLst>
              <a:gd fmla="val 16667" name="adj"/>
            </a:avLst>
          </a:prstGeom>
          <a:solidFill>
            <a:srgbClr val="F0B34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 txBox="1"/>
          <p:nvPr/>
        </p:nvSpPr>
        <p:spPr>
          <a:xfrm>
            <a:off x="1965914" y="868680"/>
            <a:ext cx="8259866" cy="5166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Source Code (.c/.cpp)</a:t>
            </a:r>
            <a:endParaRPr/>
          </a:p>
        </p:txBody>
      </p:sp>
      <p:sp>
        <p:nvSpPr>
          <p:cNvPr id="151" name="Google Shape;151;p6"/>
          <p:cNvSpPr txBox="1"/>
          <p:nvPr/>
        </p:nvSpPr>
        <p:spPr>
          <a:xfrm>
            <a:off x="1965914" y="1287932"/>
            <a:ext cx="8259866" cy="5166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Your application and kernel source</a:t>
            </a:r>
            <a:endParaRPr/>
          </a:p>
        </p:txBody>
      </p:sp>
      <p:sp>
        <p:nvSpPr>
          <p:cNvPr id="152" name="Google Shape;152;p6"/>
          <p:cNvSpPr/>
          <p:nvPr/>
        </p:nvSpPr>
        <p:spPr>
          <a:xfrm>
            <a:off x="5958687" y="1856232"/>
            <a:ext cx="274320" cy="73152"/>
          </a:xfrm>
          <a:prstGeom prst="triangle">
            <a:avLst>
              <a:gd fmla="val 50000" name="adj"/>
            </a:avLst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1828754" y="1929384"/>
            <a:ext cx="8534186" cy="1033272"/>
          </a:xfrm>
          <a:prstGeom prst="roundRect">
            <a:avLst>
              <a:gd fmla="val 16667" name="adj"/>
            </a:avLst>
          </a:prstGeom>
          <a:solidFill>
            <a:srgbClr val="E686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 txBox="1"/>
          <p:nvPr/>
        </p:nvSpPr>
        <p:spPr>
          <a:xfrm>
            <a:off x="1965914" y="1975104"/>
            <a:ext cx="8259866" cy="5166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Cross-Compiler (gcc)</a:t>
            </a:r>
            <a:endParaRPr/>
          </a:p>
        </p:txBody>
      </p:sp>
      <p:sp>
        <p:nvSpPr>
          <p:cNvPr id="155" name="Google Shape;155;p6"/>
          <p:cNvSpPr txBox="1"/>
          <p:nvPr/>
        </p:nvSpPr>
        <p:spPr>
          <a:xfrm>
            <a:off x="1965914" y="2394356"/>
            <a:ext cx="8259866" cy="5166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Translates to target ISA — produces .o files</a:t>
            </a:r>
            <a:endParaRPr/>
          </a:p>
        </p:txBody>
      </p:sp>
      <p:sp>
        <p:nvSpPr>
          <p:cNvPr id="156" name="Google Shape;156;p6"/>
          <p:cNvSpPr/>
          <p:nvPr/>
        </p:nvSpPr>
        <p:spPr>
          <a:xfrm>
            <a:off x="5958687" y="2962656"/>
            <a:ext cx="274320" cy="73152"/>
          </a:xfrm>
          <a:prstGeom prst="triangle">
            <a:avLst>
              <a:gd fmla="val 50000" name="adj"/>
            </a:avLst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1828754" y="3035808"/>
            <a:ext cx="8534186" cy="1033272"/>
          </a:xfrm>
          <a:prstGeom prst="roundRect">
            <a:avLst>
              <a:gd fmla="val 16667" name="adj"/>
            </a:avLst>
          </a:prstGeom>
          <a:solidFill>
            <a:srgbClr val="197A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 txBox="1"/>
          <p:nvPr/>
        </p:nvSpPr>
        <p:spPr>
          <a:xfrm>
            <a:off x="1965914" y="3081528"/>
            <a:ext cx="8259866" cy="5166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Linker (ld)</a:t>
            </a:r>
            <a:endParaRPr/>
          </a:p>
        </p:txBody>
      </p:sp>
      <p:sp>
        <p:nvSpPr>
          <p:cNvPr id="159" name="Google Shape;159;p6"/>
          <p:cNvSpPr txBox="1"/>
          <p:nvPr/>
        </p:nvSpPr>
        <p:spPr>
          <a:xfrm>
            <a:off x="1965914" y="3500780"/>
            <a:ext cx="8259866" cy="5166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Links .o + libraries → target binary</a:t>
            </a:r>
            <a:endParaRPr/>
          </a:p>
        </p:txBody>
      </p:sp>
      <p:sp>
        <p:nvSpPr>
          <p:cNvPr id="160" name="Google Shape;160;p6"/>
          <p:cNvSpPr/>
          <p:nvPr/>
        </p:nvSpPr>
        <p:spPr>
          <a:xfrm>
            <a:off x="5958687" y="4069080"/>
            <a:ext cx="274320" cy="73152"/>
          </a:xfrm>
          <a:prstGeom prst="triangle">
            <a:avLst>
              <a:gd fmla="val 50000" name="adj"/>
            </a:avLst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1828754" y="4142232"/>
            <a:ext cx="8534186" cy="1033272"/>
          </a:xfrm>
          <a:prstGeom prst="roundRect">
            <a:avLst>
              <a:gd fmla="val 16667" name="adj"/>
            </a:avLst>
          </a:prstGeom>
          <a:solidFill>
            <a:srgbClr val="3D6F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 txBox="1"/>
          <p:nvPr/>
        </p:nvSpPr>
        <p:spPr>
          <a:xfrm>
            <a:off x="1965914" y="4187952"/>
            <a:ext cx="8259866" cy="5166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 Library (libc)</a:t>
            </a:r>
            <a:endParaRPr/>
          </a:p>
        </p:txBody>
      </p:sp>
      <p:sp>
        <p:nvSpPr>
          <p:cNvPr id="163" name="Google Shape;163;p6"/>
          <p:cNvSpPr txBox="1"/>
          <p:nvPr/>
        </p:nvSpPr>
        <p:spPr>
          <a:xfrm>
            <a:off x="1965914" y="4607204"/>
            <a:ext cx="8259866" cy="5166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Provides stdio, stdlib, POSIX APIs for target</a:t>
            </a:r>
            <a:endParaRPr/>
          </a:p>
        </p:txBody>
      </p:sp>
      <p:sp>
        <p:nvSpPr>
          <p:cNvPr id="164" name="Google Shape;164;p6"/>
          <p:cNvSpPr/>
          <p:nvPr/>
        </p:nvSpPr>
        <p:spPr>
          <a:xfrm>
            <a:off x="5958687" y="5175504"/>
            <a:ext cx="274320" cy="73152"/>
          </a:xfrm>
          <a:prstGeom prst="triangle">
            <a:avLst>
              <a:gd fmla="val 50000" name="adj"/>
            </a:avLst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1828754" y="5248656"/>
            <a:ext cx="8534186" cy="1033272"/>
          </a:xfrm>
          <a:prstGeom prst="roundRect">
            <a:avLst>
              <a:gd fmla="val 16667" name="adj"/>
            </a:avLst>
          </a:prstGeom>
          <a:solidFill>
            <a:srgbClr val="F0B34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 txBox="1"/>
          <p:nvPr/>
        </p:nvSpPr>
        <p:spPr>
          <a:xfrm>
            <a:off x="1965914" y="5294376"/>
            <a:ext cx="8259866" cy="5166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Binary Utilities</a:t>
            </a:r>
            <a:endParaRPr/>
          </a:p>
        </p:txBody>
      </p:sp>
      <p:sp>
        <p:nvSpPr>
          <p:cNvPr id="167" name="Google Shape;167;p6"/>
          <p:cNvSpPr txBox="1"/>
          <p:nvPr/>
        </p:nvSpPr>
        <p:spPr>
          <a:xfrm>
            <a:off x="1965914" y="5713628"/>
            <a:ext cx="8259866" cy="5166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readelf, objdump, strip, ar — inspect/manipulate</a:t>
            </a:r>
            <a:endParaRPr/>
          </a:p>
        </p:txBody>
      </p:sp>
      <p:sp>
        <p:nvSpPr>
          <p:cNvPr id="168" name="Google Shape;168;p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686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Choosing Your Toolchain</a:t>
            </a:r>
            <a:endParaRPr/>
          </a:p>
        </p:txBody>
      </p:sp>
      <p:sp>
        <p:nvSpPr>
          <p:cNvPr id="175" name="Google Shape;175;p7"/>
          <p:cNvSpPr/>
          <p:nvPr/>
        </p:nvSpPr>
        <p:spPr>
          <a:xfrm>
            <a:off x="457200" y="822960"/>
            <a:ext cx="2773603" cy="365760"/>
          </a:xfrm>
          <a:prstGeom prst="roundRect">
            <a:avLst>
              <a:gd fmla="val 16667" name="adj"/>
            </a:avLst>
          </a:prstGeom>
          <a:solidFill>
            <a:srgbClr val="15233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 txBox="1"/>
          <p:nvPr/>
        </p:nvSpPr>
        <p:spPr>
          <a:xfrm>
            <a:off x="594360" y="868680"/>
            <a:ext cx="2545003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Approach</a:t>
            </a:r>
            <a:endParaRPr/>
          </a:p>
        </p:txBody>
      </p:sp>
      <p:sp>
        <p:nvSpPr>
          <p:cNvPr id="177" name="Google Shape;177;p7"/>
          <p:cNvSpPr/>
          <p:nvPr/>
        </p:nvSpPr>
        <p:spPr>
          <a:xfrm>
            <a:off x="3276523" y="822960"/>
            <a:ext cx="2773603" cy="365760"/>
          </a:xfrm>
          <a:prstGeom prst="roundRect">
            <a:avLst>
              <a:gd fmla="val 16667" name="adj"/>
            </a:avLst>
          </a:prstGeom>
          <a:solidFill>
            <a:srgbClr val="15233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 txBox="1"/>
          <p:nvPr/>
        </p:nvSpPr>
        <p:spPr>
          <a:xfrm>
            <a:off x="3413683" y="868680"/>
            <a:ext cx="2545003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Pros</a:t>
            </a:r>
            <a:endParaRPr/>
          </a:p>
        </p:txBody>
      </p:sp>
      <p:sp>
        <p:nvSpPr>
          <p:cNvPr id="179" name="Google Shape;179;p7"/>
          <p:cNvSpPr/>
          <p:nvPr/>
        </p:nvSpPr>
        <p:spPr>
          <a:xfrm>
            <a:off x="6095847" y="822960"/>
            <a:ext cx="2773603" cy="365760"/>
          </a:xfrm>
          <a:prstGeom prst="roundRect">
            <a:avLst>
              <a:gd fmla="val 16667" name="adj"/>
            </a:avLst>
          </a:prstGeom>
          <a:solidFill>
            <a:srgbClr val="15233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 txBox="1"/>
          <p:nvPr/>
        </p:nvSpPr>
        <p:spPr>
          <a:xfrm>
            <a:off x="6233007" y="868680"/>
            <a:ext cx="2545003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Cons</a:t>
            </a:r>
            <a:endParaRPr/>
          </a:p>
        </p:txBody>
      </p:sp>
      <p:sp>
        <p:nvSpPr>
          <p:cNvPr id="181" name="Google Shape;181;p7"/>
          <p:cNvSpPr/>
          <p:nvPr/>
        </p:nvSpPr>
        <p:spPr>
          <a:xfrm>
            <a:off x="8915171" y="822960"/>
            <a:ext cx="2773603" cy="365760"/>
          </a:xfrm>
          <a:prstGeom prst="roundRect">
            <a:avLst>
              <a:gd fmla="val 16667" name="adj"/>
            </a:avLst>
          </a:prstGeom>
          <a:solidFill>
            <a:srgbClr val="15233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 txBox="1"/>
          <p:nvPr/>
        </p:nvSpPr>
        <p:spPr>
          <a:xfrm>
            <a:off x="9052331" y="868680"/>
            <a:ext cx="2545003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When to Use</a:t>
            </a:r>
            <a:endParaRPr/>
          </a:p>
        </p:txBody>
      </p:sp>
      <p:sp>
        <p:nvSpPr>
          <p:cNvPr id="183" name="Google Shape;183;p7"/>
          <p:cNvSpPr/>
          <p:nvPr/>
        </p:nvSpPr>
        <p:spPr>
          <a:xfrm>
            <a:off x="457200" y="1280160"/>
            <a:ext cx="2773603" cy="1694688"/>
          </a:xfrm>
          <a:prstGeom prst="rect">
            <a:avLst/>
          </a:prstGeom>
          <a:solidFill>
            <a:srgbClr val="F6F8F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 txBox="1"/>
          <p:nvPr/>
        </p:nvSpPr>
        <p:spPr>
          <a:xfrm>
            <a:off x="594360" y="1325880"/>
            <a:ext cx="2545003" cy="1630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crosstool-NG</a:t>
            </a:r>
            <a:endParaRPr/>
          </a:p>
        </p:txBody>
      </p:sp>
      <p:sp>
        <p:nvSpPr>
          <p:cNvPr id="185" name="Google Shape;185;p7"/>
          <p:cNvSpPr/>
          <p:nvPr/>
        </p:nvSpPr>
        <p:spPr>
          <a:xfrm>
            <a:off x="3276523" y="1280160"/>
            <a:ext cx="2773603" cy="1694688"/>
          </a:xfrm>
          <a:prstGeom prst="rect">
            <a:avLst/>
          </a:prstGeom>
          <a:solidFill>
            <a:srgbClr val="F6F8F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 txBox="1"/>
          <p:nvPr/>
        </p:nvSpPr>
        <p:spPr>
          <a:xfrm>
            <a:off x="3413683" y="1325880"/>
            <a:ext cx="2545003" cy="1630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Fully customizable,</a:t>
            </a:r>
            <a:b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any arch/libc combo</a:t>
            </a:r>
            <a:endParaRPr/>
          </a:p>
        </p:txBody>
      </p:sp>
      <p:sp>
        <p:nvSpPr>
          <p:cNvPr id="187" name="Google Shape;187;p7"/>
          <p:cNvSpPr/>
          <p:nvPr/>
        </p:nvSpPr>
        <p:spPr>
          <a:xfrm>
            <a:off x="6095847" y="1280160"/>
            <a:ext cx="2773603" cy="1694688"/>
          </a:xfrm>
          <a:prstGeom prst="rect">
            <a:avLst/>
          </a:prstGeom>
          <a:solidFill>
            <a:srgbClr val="F6F8F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 txBox="1"/>
          <p:nvPr/>
        </p:nvSpPr>
        <p:spPr>
          <a:xfrm>
            <a:off x="6233007" y="1325880"/>
            <a:ext cx="2545003" cy="1630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Takes hours to build</a:t>
            </a:r>
            <a:b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for first time</a:t>
            </a:r>
            <a:endParaRPr/>
          </a:p>
        </p:txBody>
      </p:sp>
      <p:sp>
        <p:nvSpPr>
          <p:cNvPr id="189" name="Google Shape;189;p7"/>
          <p:cNvSpPr/>
          <p:nvPr/>
        </p:nvSpPr>
        <p:spPr>
          <a:xfrm>
            <a:off x="8915171" y="1280160"/>
            <a:ext cx="2773603" cy="1694688"/>
          </a:xfrm>
          <a:prstGeom prst="rect">
            <a:avLst/>
          </a:prstGeom>
          <a:solidFill>
            <a:srgbClr val="F6F8F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 txBox="1"/>
          <p:nvPr/>
        </p:nvSpPr>
        <p:spPr>
          <a:xfrm>
            <a:off x="9052331" y="1325880"/>
            <a:ext cx="2545003" cy="1630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You need a specific</a:t>
            </a:r>
            <a:b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target tuple not</a:t>
            </a:r>
            <a:b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available pre-built</a:t>
            </a:r>
            <a:endParaRPr/>
          </a:p>
        </p:txBody>
      </p:sp>
      <p:sp>
        <p:nvSpPr>
          <p:cNvPr id="191" name="Google Shape;191;p7"/>
          <p:cNvSpPr/>
          <p:nvPr/>
        </p:nvSpPr>
        <p:spPr>
          <a:xfrm>
            <a:off x="457200" y="3002280"/>
            <a:ext cx="2773603" cy="1694688"/>
          </a:xfrm>
          <a:prstGeom prst="rect">
            <a:avLst/>
          </a:prstGeom>
          <a:solidFill>
            <a:srgbClr val="ECF0F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 txBox="1"/>
          <p:nvPr/>
        </p:nvSpPr>
        <p:spPr>
          <a:xfrm>
            <a:off x="594360" y="3048000"/>
            <a:ext cx="2545003" cy="1630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Pre-built (Linaro/</a:t>
            </a:r>
            <a:b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Bootlin/vendor)</a:t>
            </a:r>
            <a:endParaRPr/>
          </a:p>
        </p:txBody>
      </p:sp>
      <p:sp>
        <p:nvSpPr>
          <p:cNvPr id="193" name="Google Shape;193;p7"/>
          <p:cNvSpPr/>
          <p:nvPr/>
        </p:nvSpPr>
        <p:spPr>
          <a:xfrm>
            <a:off x="3276523" y="3002280"/>
            <a:ext cx="2773603" cy="1694688"/>
          </a:xfrm>
          <a:prstGeom prst="rect">
            <a:avLst/>
          </a:prstGeom>
          <a:solidFill>
            <a:srgbClr val="ECF0F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 txBox="1"/>
          <p:nvPr/>
        </p:nvSpPr>
        <p:spPr>
          <a:xfrm>
            <a:off x="3413683" y="3048000"/>
            <a:ext cx="2545003" cy="1630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Ready in minutes,</a:t>
            </a:r>
            <a:b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well-tested</a:t>
            </a:r>
            <a:endParaRPr/>
          </a:p>
        </p:txBody>
      </p:sp>
      <p:sp>
        <p:nvSpPr>
          <p:cNvPr id="195" name="Google Shape;195;p7"/>
          <p:cNvSpPr/>
          <p:nvPr/>
        </p:nvSpPr>
        <p:spPr>
          <a:xfrm>
            <a:off x="6095847" y="3002280"/>
            <a:ext cx="2773603" cy="1694688"/>
          </a:xfrm>
          <a:prstGeom prst="rect">
            <a:avLst/>
          </a:prstGeom>
          <a:solidFill>
            <a:srgbClr val="ECF0F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 txBox="1"/>
          <p:nvPr/>
        </p:nvSpPr>
        <p:spPr>
          <a:xfrm>
            <a:off x="6233007" y="3048000"/>
            <a:ext cx="2545003" cy="1630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Limited arch/libc</a:t>
            </a:r>
            <a:b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combinations</a:t>
            </a:r>
            <a:endParaRPr/>
          </a:p>
        </p:txBody>
      </p:sp>
      <p:sp>
        <p:nvSpPr>
          <p:cNvPr id="197" name="Google Shape;197;p7"/>
          <p:cNvSpPr/>
          <p:nvPr/>
        </p:nvSpPr>
        <p:spPr>
          <a:xfrm>
            <a:off x="8915171" y="3002280"/>
            <a:ext cx="2773603" cy="1694688"/>
          </a:xfrm>
          <a:prstGeom prst="rect">
            <a:avLst/>
          </a:prstGeom>
          <a:solidFill>
            <a:srgbClr val="ECF0F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 txBox="1"/>
          <p:nvPr/>
        </p:nvSpPr>
        <p:spPr>
          <a:xfrm>
            <a:off x="9052331" y="3048000"/>
            <a:ext cx="2545003" cy="1630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Standard ARM boards</a:t>
            </a:r>
            <a:b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— fastest path</a:t>
            </a:r>
            <a:endParaRPr/>
          </a:p>
        </p:txBody>
      </p:sp>
      <p:sp>
        <p:nvSpPr>
          <p:cNvPr id="199" name="Google Shape;199;p7"/>
          <p:cNvSpPr/>
          <p:nvPr/>
        </p:nvSpPr>
        <p:spPr>
          <a:xfrm>
            <a:off x="457200" y="4724400"/>
            <a:ext cx="2773603" cy="1694688"/>
          </a:xfrm>
          <a:prstGeom prst="rect">
            <a:avLst/>
          </a:prstGeom>
          <a:solidFill>
            <a:srgbClr val="F6F8F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 txBox="1"/>
          <p:nvPr/>
        </p:nvSpPr>
        <p:spPr>
          <a:xfrm>
            <a:off x="594360" y="4770120"/>
            <a:ext cx="2545003" cy="1630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Yocto SDK</a:t>
            </a:r>
            <a:endParaRPr/>
          </a:p>
        </p:txBody>
      </p:sp>
      <p:sp>
        <p:nvSpPr>
          <p:cNvPr id="201" name="Google Shape;201;p7"/>
          <p:cNvSpPr/>
          <p:nvPr/>
        </p:nvSpPr>
        <p:spPr>
          <a:xfrm>
            <a:off x="3276523" y="4724400"/>
            <a:ext cx="2773603" cy="1694688"/>
          </a:xfrm>
          <a:prstGeom prst="rect">
            <a:avLst/>
          </a:prstGeom>
          <a:solidFill>
            <a:srgbClr val="F6F8F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 txBox="1"/>
          <p:nvPr/>
        </p:nvSpPr>
        <p:spPr>
          <a:xfrm>
            <a:off x="3413683" y="4770120"/>
            <a:ext cx="2545003" cy="1630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Matches your Yocto</a:t>
            </a:r>
            <a:b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image exactly</a:t>
            </a:r>
            <a:endParaRPr/>
          </a:p>
        </p:txBody>
      </p:sp>
      <p:sp>
        <p:nvSpPr>
          <p:cNvPr id="203" name="Google Shape;203;p7"/>
          <p:cNvSpPr/>
          <p:nvPr/>
        </p:nvSpPr>
        <p:spPr>
          <a:xfrm>
            <a:off x="6095847" y="4724400"/>
            <a:ext cx="2773603" cy="1694688"/>
          </a:xfrm>
          <a:prstGeom prst="rect">
            <a:avLst/>
          </a:prstGeom>
          <a:solidFill>
            <a:srgbClr val="F6F8F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 txBox="1"/>
          <p:nvPr/>
        </p:nvSpPr>
        <p:spPr>
          <a:xfrm>
            <a:off x="6233007" y="4770120"/>
            <a:ext cx="2545003" cy="1630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Requires Yocto build</a:t>
            </a:r>
            <a:b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first</a:t>
            </a:r>
            <a:endParaRPr/>
          </a:p>
        </p:txBody>
      </p:sp>
      <p:sp>
        <p:nvSpPr>
          <p:cNvPr id="205" name="Google Shape;205;p7"/>
          <p:cNvSpPr/>
          <p:nvPr/>
        </p:nvSpPr>
        <p:spPr>
          <a:xfrm>
            <a:off x="8915171" y="4724400"/>
            <a:ext cx="2773603" cy="1694688"/>
          </a:xfrm>
          <a:prstGeom prst="rect">
            <a:avLst/>
          </a:prstGeom>
          <a:solidFill>
            <a:srgbClr val="F6F8F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 txBox="1"/>
          <p:nvPr/>
        </p:nvSpPr>
        <p:spPr>
          <a:xfrm>
            <a:off x="9052331" y="4770120"/>
            <a:ext cx="2545003" cy="1630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You are using Yocto</a:t>
            </a:r>
            <a:b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for your distro</a:t>
            </a:r>
            <a:endParaRPr/>
          </a:p>
        </p:txBody>
      </p:sp>
      <p:sp>
        <p:nvSpPr>
          <p:cNvPr id="207" name="Google Shape;207;p7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8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97A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Verify Your Toolchain</a:t>
            </a:r>
            <a:endParaRPr/>
          </a:p>
        </p:txBody>
      </p:sp>
      <p:sp>
        <p:nvSpPr>
          <p:cNvPr id="214" name="Google Shape;214;p8"/>
          <p:cNvSpPr/>
          <p:nvPr/>
        </p:nvSpPr>
        <p:spPr>
          <a:xfrm>
            <a:off x="457200" y="822960"/>
            <a:ext cx="11277295" cy="5623560"/>
          </a:xfrm>
          <a:prstGeom prst="roundRect">
            <a:avLst>
              <a:gd fmla="val 16667" name="adj"/>
            </a:avLst>
          </a:prstGeom>
          <a:solidFill>
            <a:srgbClr val="1E1E1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 txBox="1"/>
          <p:nvPr/>
        </p:nvSpPr>
        <p:spPr>
          <a:xfrm>
            <a:off x="594350" y="1479601"/>
            <a:ext cx="110031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# Check the cross-compiler is in PATH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$ which arm-linux-gnueabihf-gcc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/usr/bin/arm-linux-gnueabihf-gcc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# Check version and target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$ arm-linux-gnueabihf-gcc --version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gcc 12.2.0 (crosstool-NG 1.25.0)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Target: arm-linux-gnueabihf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# Check what ABI/hardware it targets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$ arm-linux-gnueabihf-readelf -h /usr/lib/libc.so.6 | grep Machine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Machine:                           ARM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# Compile a test program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$ echo 'int main(){return 0;}' &gt; test.c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$ arm-linux-gnueabihf-gcc -o test test.c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$ file test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test: ELF 32-bit LSB executable, ARM, EABI5</a:t>
            </a:r>
            <a:endParaRPr/>
          </a:p>
        </p:txBody>
      </p:sp>
      <p:sp>
        <p:nvSpPr>
          <p:cNvPr id="216" name="Google Shape;216;p8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2334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9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D6F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9"/>
          <p:cNvSpPr txBox="1"/>
          <p:nvPr/>
        </p:nvSpPr>
        <p:spPr>
          <a:xfrm>
            <a:off x="457200" y="1828800"/>
            <a:ext cx="11277295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Part 2: Bootloaders</a:t>
            </a:r>
            <a:endParaRPr/>
          </a:p>
        </p:txBody>
      </p:sp>
      <p:sp>
        <p:nvSpPr>
          <p:cNvPr id="223" name="Google Shape;223;p9"/>
          <p:cNvSpPr txBox="1"/>
          <p:nvPr/>
        </p:nvSpPr>
        <p:spPr>
          <a:xfrm>
            <a:off x="457200" y="3017520"/>
            <a:ext cx="1127729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D6FF6"/>
                </a:solidFill>
                <a:latin typeface="Arial"/>
                <a:ea typeface="Arial"/>
                <a:cs typeface="Arial"/>
                <a:sym typeface="Arial"/>
              </a:rPr>
              <a:t>From power-on to kernel</a:t>
            </a:r>
            <a:endParaRPr/>
          </a:p>
        </p:txBody>
      </p:sp>
      <p:sp>
        <p:nvSpPr>
          <p:cNvPr id="224" name="Google Shape;224;p9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0B34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0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What Is a Bootloader?</a:t>
            </a:r>
            <a:endParaRPr/>
          </a:p>
        </p:txBody>
      </p:sp>
      <p:sp>
        <p:nvSpPr>
          <p:cNvPr id="231" name="Google Shape;231;p10"/>
          <p:cNvSpPr/>
          <p:nvPr/>
        </p:nvSpPr>
        <p:spPr>
          <a:xfrm>
            <a:off x="457200" y="822960"/>
            <a:ext cx="5547207" cy="2720340"/>
          </a:xfrm>
          <a:prstGeom prst="roundRect">
            <a:avLst>
              <a:gd fmla="val 16667" name="adj"/>
            </a:avLst>
          </a:prstGeom>
          <a:solidFill>
            <a:srgbClr val="FDF4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0"/>
          <p:cNvSpPr/>
          <p:nvPr/>
        </p:nvSpPr>
        <p:spPr>
          <a:xfrm>
            <a:off x="457200" y="822960"/>
            <a:ext cx="5547207" cy="365760"/>
          </a:xfrm>
          <a:prstGeom prst="roundRect">
            <a:avLst>
              <a:gd fmla="val 16667" name="adj"/>
            </a:avLst>
          </a:prstGeom>
          <a:solidFill>
            <a:srgbClr val="F0B34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0"/>
          <p:cNvSpPr txBox="1"/>
          <p:nvPr/>
        </p:nvSpPr>
        <p:spPr>
          <a:xfrm>
            <a:off x="594360" y="868680"/>
            <a:ext cx="5272887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Definition</a:t>
            </a:r>
            <a:endParaRPr/>
          </a:p>
        </p:txBody>
      </p:sp>
      <p:sp>
        <p:nvSpPr>
          <p:cNvPr id="234" name="Google Shape;234;p10"/>
          <p:cNvSpPr txBox="1"/>
          <p:nvPr/>
        </p:nvSpPr>
        <p:spPr>
          <a:xfrm>
            <a:off x="594360" y="1280160"/>
            <a:ext cx="5272887" cy="22174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First software that runs after chip ROM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Initializes essential hardware: DRAM, clocks, storage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Loads the kernel image into RAM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Passes boot arguments and jumps to kernel entry</a:t>
            </a:r>
            <a:endParaRPr/>
          </a:p>
        </p:txBody>
      </p:sp>
      <p:sp>
        <p:nvSpPr>
          <p:cNvPr id="235" name="Google Shape;235;p10"/>
          <p:cNvSpPr/>
          <p:nvPr/>
        </p:nvSpPr>
        <p:spPr>
          <a:xfrm>
            <a:off x="6187287" y="822960"/>
            <a:ext cx="5547207" cy="2720340"/>
          </a:xfrm>
          <a:prstGeom prst="roundRect">
            <a:avLst>
              <a:gd fmla="val 16667" name="adj"/>
            </a:avLst>
          </a:prstGeom>
          <a:solidFill>
            <a:srgbClr val="E6F5F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0"/>
          <p:cNvSpPr/>
          <p:nvPr/>
        </p:nvSpPr>
        <p:spPr>
          <a:xfrm>
            <a:off x="6187287" y="822960"/>
            <a:ext cx="5547207" cy="365760"/>
          </a:xfrm>
          <a:prstGeom prst="roundRect">
            <a:avLst>
              <a:gd fmla="val 16667" name="adj"/>
            </a:avLst>
          </a:prstGeom>
          <a:solidFill>
            <a:srgbClr val="E686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0"/>
          <p:cNvSpPr txBox="1"/>
          <p:nvPr/>
        </p:nvSpPr>
        <p:spPr>
          <a:xfrm>
            <a:off x="6324447" y="868680"/>
            <a:ext cx="5272887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Embedded Linux boot flow</a:t>
            </a:r>
            <a:endParaRPr/>
          </a:p>
        </p:txBody>
      </p:sp>
      <p:sp>
        <p:nvSpPr>
          <p:cNvPr id="238" name="Google Shape;238;p10"/>
          <p:cNvSpPr txBox="1"/>
          <p:nvPr/>
        </p:nvSpPr>
        <p:spPr>
          <a:xfrm>
            <a:off x="6324447" y="1280160"/>
            <a:ext cx="5272887" cy="22174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ROM → SPL → Bootloader → Kernel → Userspace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The bootloader is the critical handoff point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Most common: U-Boot (Universal Boot Loader)</a:t>
            </a:r>
            <a:endParaRPr/>
          </a:p>
        </p:txBody>
      </p:sp>
      <p:sp>
        <p:nvSpPr>
          <p:cNvPr id="239" name="Google Shape;239;p1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686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Two-Stage Boot: SPL + U-Boot</a:t>
            </a:r>
            <a:endParaRPr/>
          </a:p>
        </p:txBody>
      </p:sp>
      <p:sp>
        <p:nvSpPr>
          <p:cNvPr id="246" name="Google Shape;246;p11"/>
          <p:cNvSpPr/>
          <p:nvPr/>
        </p:nvSpPr>
        <p:spPr>
          <a:xfrm>
            <a:off x="1828754" y="822960"/>
            <a:ext cx="8534186" cy="1309878"/>
          </a:xfrm>
          <a:prstGeom prst="roundRect">
            <a:avLst>
              <a:gd fmla="val 16667" name="adj"/>
            </a:avLst>
          </a:prstGeom>
          <a:solidFill>
            <a:srgbClr val="F0B34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1"/>
          <p:cNvSpPr txBox="1"/>
          <p:nvPr/>
        </p:nvSpPr>
        <p:spPr>
          <a:xfrm>
            <a:off x="1965914" y="868680"/>
            <a:ext cx="8259866" cy="6549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ROM (SoC)</a:t>
            </a:r>
            <a:endParaRPr/>
          </a:p>
        </p:txBody>
      </p:sp>
      <p:sp>
        <p:nvSpPr>
          <p:cNvPr id="248" name="Google Shape;248;p11"/>
          <p:cNvSpPr txBox="1"/>
          <p:nvPr/>
        </p:nvSpPr>
        <p:spPr>
          <a:xfrm>
            <a:off x="1965914" y="1412405"/>
            <a:ext cx="8259866" cy="6549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Hard-coded first code. Loads SPL from flash/SD.</a:t>
            </a:r>
            <a:endParaRPr/>
          </a:p>
        </p:txBody>
      </p:sp>
      <p:sp>
        <p:nvSpPr>
          <p:cNvPr id="249" name="Google Shape;249;p11"/>
          <p:cNvSpPr/>
          <p:nvPr/>
        </p:nvSpPr>
        <p:spPr>
          <a:xfrm>
            <a:off x="5958687" y="2132838"/>
            <a:ext cx="274320" cy="73152"/>
          </a:xfrm>
          <a:prstGeom prst="triangle">
            <a:avLst>
              <a:gd fmla="val 50000" name="adj"/>
            </a:avLst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1"/>
          <p:cNvSpPr/>
          <p:nvPr/>
        </p:nvSpPr>
        <p:spPr>
          <a:xfrm>
            <a:off x="1828754" y="2205990"/>
            <a:ext cx="8534186" cy="1309878"/>
          </a:xfrm>
          <a:prstGeom prst="roundRect">
            <a:avLst>
              <a:gd fmla="val 16667" name="adj"/>
            </a:avLst>
          </a:prstGeom>
          <a:solidFill>
            <a:srgbClr val="E686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1"/>
          <p:cNvSpPr txBox="1"/>
          <p:nvPr/>
        </p:nvSpPr>
        <p:spPr>
          <a:xfrm>
            <a:off x="1965914" y="2251710"/>
            <a:ext cx="8259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SPL (Secondary</a:t>
            </a:r>
            <a:r>
              <a:rPr b="1" lang="en-US" sz="1800">
                <a:solidFill>
                  <a:srgbClr val="FFFFFF"/>
                </a:solidFill>
              </a:rPr>
              <a:t> </a:t>
            </a: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Program Loader)</a:t>
            </a:r>
            <a:endParaRPr/>
          </a:p>
        </p:txBody>
      </p:sp>
      <p:sp>
        <p:nvSpPr>
          <p:cNvPr id="252" name="Google Shape;252;p11"/>
          <p:cNvSpPr txBox="1"/>
          <p:nvPr/>
        </p:nvSpPr>
        <p:spPr>
          <a:xfrm>
            <a:off x="1965914" y="2795435"/>
            <a:ext cx="8259866" cy="6549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Minimal init: DRAM, clocks. Loads main U-Boot.</a:t>
            </a:r>
            <a:b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Tiny (~64KB), runs from SRAM.</a:t>
            </a:r>
            <a:endParaRPr/>
          </a:p>
        </p:txBody>
      </p:sp>
      <p:sp>
        <p:nvSpPr>
          <p:cNvPr id="253" name="Google Shape;253;p11"/>
          <p:cNvSpPr/>
          <p:nvPr/>
        </p:nvSpPr>
        <p:spPr>
          <a:xfrm>
            <a:off x="5958687" y="3515868"/>
            <a:ext cx="274320" cy="73152"/>
          </a:xfrm>
          <a:prstGeom prst="triangle">
            <a:avLst>
              <a:gd fmla="val 50000" name="adj"/>
            </a:avLst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1"/>
          <p:cNvSpPr/>
          <p:nvPr/>
        </p:nvSpPr>
        <p:spPr>
          <a:xfrm>
            <a:off x="1828754" y="3589020"/>
            <a:ext cx="8534186" cy="1309878"/>
          </a:xfrm>
          <a:prstGeom prst="roundRect">
            <a:avLst>
              <a:gd fmla="val 16667" name="adj"/>
            </a:avLst>
          </a:prstGeom>
          <a:solidFill>
            <a:srgbClr val="197A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1"/>
          <p:cNvSpPr txBox="1"/>
          <p:nvPr/>
        </p:nvSpPr>
        <p:spPr>
          <a:xfrm>
            <a:off x="1965914" y="3634740"/>
            <a:ext cx="8259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U-Boot (Main</a:t>
            </a:r>
            <a:r>
              <a:rPr b="1" lang="en-US" sz="1800">
                <a:solidFill>
                  <a:srgbClr val="FFFFFF"/>
                </a:solidFill>
              </a:rPr>
              <a:t> </a:t>
            </a: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Bootloader)</a:t>
            </a:r>
            <a:endParaRPr/>
          </a:p>
        </p:txBody>
      </p:sp>
      <p:sp>
        <p:nvSpPr>
          <p:cNvPr id="256" name="Google Shape;256;p11"/>
          <p:cNvSpPr txBox="1"/>
          <p:nvPr/>
        </p:nvSpPr>
        <p:spPr>
          <a:xfrm>
            <a:off x="1965914" y="4178465"/>
            <a:ext cx="8259866" cy="6549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Full environment: USB, network, filesystem.</a:t>
            </a:r>
            <a:b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Loads kernel, DTB, initramfs into RAM.</a:t>
            </a:r>
            <a:endParaRPr/>
          </a:p>
        </p:txBody>
      </p:sp>
      <p:sp>
        <p:nvSpPr>
          <p:cNvPr id="257" name="Google Shape;257;p11"/>
          <p:cNvSpPr/>
          <p:nvPr/>
        </p:nvSpPr>
        <p:spPr>
          <a:xfrm>
            <a:off x="5958687" y="4898898"/>
            <a:ext cx="274320" cy="73152"/>
          </a:xfrm>
          <a:prstGeom prst="triangle">
            <a:avLst>
              <a:gd fmla="val 50000" name="adj"/>
            </a:avLst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1"/>
          <p:cNvSpPr/>
          <p:nvPr/>
        </p:nvSpPr>
        <p:spPr>
          <a:xfrm>
            <a:off x="1828754" y="4972050"/>
            <a:ext cx="8534186" cy="1309878"/>
          </a:xfrm>
          <a:prstGeom prst="roundRect">
            <a:avLst>
              <a:gd fmla="val 16667" name="adj"/>
            </a:avLst>
          </a:prstGeom>
          <a:solidFill>
            <a:srgbClr val="3D6F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1"/>
          <p:cNvSpPr txBox="1"/>
          <p:nvPr/>
        </p:nvSpPr>
        <p:spPr>
          <a:xfrm>
            <a:off x="1965914" y="5017770"/>
            <a:ext cx="8259866" cy="6549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Linux Kernel</a:t>
            </a:r>
            <a:endParaRPr/>
          </a:p>
        </p:txBody>
      </p:sp>
      <p:sp>
        <p:nvSpPr>
          <p:cNvPr id="260" name="Google Shape;260;p11"/>
          <p:cNvSpPr txBox="1"/>
          <p:nvPr/>
        </p:nvSpPr>
        <p:spPr>
          <a:xfrm>
            <a:off x="1965914" y="5561495"/>
            <a:ext cx="8259866" cy="6549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Takes over. Mounts root filesystem. Starts init.</a:t>
            </a:r>
            <a:endParaRPr/>
          </a:p>
        </p:txBody>
      </p:sp>
      <p:sp>
        <p:nvSpPr>
          <p:cNvPr id="261" name="Google Shape;261;p11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97A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U-Boot: The Standard Bootloader for Embedded Linux</a:t>
            </a:r>
            <a:endParaRPr/>
          </a:p>
        </p:txBody>
      </p:sp>
      <p:sp>
        <p:nvSpPr>
          <p:cNvPr id="268" name="Google Shape;268;p12"/>
          <p:cNvSpPr txBox="1"/>
          <p:nvPr/>
        </p:nvSpPr>
        <p:spPr>
          <a:xfrm>
            <a:off x="457200" y="822960"/>
            <a:ext cx="55014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Hardware Support</a:t>
            </a:r>
            <a:endParaRPr/>
          </a:p>
        </p:txBody>
      </p:sp>
      <p:sp>
        <p:nvSpPr>
          <p:cNvPr id="269" name="Google Shape;269;p12"/>
          <p:cNvSpPr txBox="1"/>
          <p:nvPr/>
        </p:nvSpPr>
        <p:spPr>
          <a:xfrm>
            <a:off x="457200" y="1280160"/>
            <a:ext cx="5501487" cy="5166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ARM, x86, RISC-V, MIPS, PowerPC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SD/eMMC, NAND, NOR, SPI flash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USB, Ethernet, UART, I2C, SPI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Filesystem: ext4, FAT, squashfs</a:t>
            </a:r>
            <a:endParaRPr/>
          </a:p>
        </p:txBody>
      </p:sp>
      <p:sp>
        <p:nvSpPr>
          <p:cNvPr id="270" name="Google Shape;270;p12"/>
          <p:cNvSpPr txBox="1"/>
          <p:nvPr/>
        </p:nvSpPr>
        <p:spPr>
          <a:xfrm>
            <a:off x="6233007" y="822960"/>
            <a:ext cx="55014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Developer Features</a:t>
            </a:r>
            <a:endParaRPr/>
          </a:p>
        </p:txBody>
      </p:sp>
      <p:sp>
        <p:nvSpPr>
          <p:cNvPr id="271" name="Google Shape;271;p12"/>
          <p:cNvSpPr txBox="1"/>
          <p:nvPr/>
        </p:nvSpPr>
        <p:spPr>
          <a:xfrm>
            <a:off x="6233007" y="1280160"/>
            <a:ext cx="5501487" cy="5166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Interactive command-line console (serial)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Environment variables (bootcmd, bootargs)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Network boot: TFTP, NFS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Scripted boot sequences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FIT image support (kernel+DTB+ramdisk)</a:t>
            </a:r>
            <a:endParaRPr/>
          </a:p>
        </p:txBody>
      </p:sp>
      <p:sp>
        <p:nvSpPr>
          <p:cNvPr id="272" name="Google Shape;272;p1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D6F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U-Boot Console: What You'll See</a:t>
            </a:r>
            <a:endParaRPr/>
          </a:p>
        </p:txBody>
      </p:sp>
      <p:sp>
        <p:nvSpPr>
          <p:cNvPr id="279" name="Google Shape;279;p13"/>
          <p:cNvSpPr/>
          <p:nvPr/>
        </p:nvSpPr>
        <p:spPr>
          <a:xfrm>
            <a:off x="457200" y="822960"/>
            <a:ext cx="11277295" cy="5623560"/>
          </a:xfrm>
          <a:prstGeom prst="roundRect">
            <a:avLst>
              <a:gd fmla="val 16667" name="adj"/>
            </a:avLst>
          </a:prstGeom>
          <a:solidFill>
            <a:srgbClr val="1E1E1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3"/>
          <p:cNvSpPr txBox="1"/>
          <p:nvPr/>
        </p:nvSpPr>
        <p:spPr>
          <a:xfrm>
            <a:off x="594350" y="1600401"/>
            <a:ext cx="11003100" cy="24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U-Boot SPL 2024.01 (Jan 15 2024 - 10:23:45)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DRAM: 512 MiB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MMC:   SD@ee140000: 0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Loading Environment from MMC... OK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U-Boot 2024.01 (Jan 15 2024 - 10:23:45 +0000)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Model: MyBoard Rev 1.0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DRAM:  512 MiB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MMC:   SD@ee140000: 0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Loading Environment from MMC... OK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Net:   eth0: ethernet@ff0b0000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Hit any key to stop autoboot:  0     &lt;- you must press a key!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=&gt;                                  &lt;- U-Boot prompt</a:t>
            </a:r>
            <a:endParaRPr/>
          </a:p>
        </p:txBody>
      </p:sp>
      <p:sp>
        <p:nvSpPr>
          <p:cNvPr id="281" name="Google Shape;281;p1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4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0B34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4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U-Boot: Essential Commands</a:t>
            </a:r>
            <a:endParaRPr/>
          </a:p>
        </p:txBody>
      </p:sp>
      <p:sp>
        <p:nvSpPr>
          <p:cNvPr id="288" name="Google Shape;288;p14"/>
          <p:cNvSpPr/>
          <p:nvPr/>
        </p:nvSpPr>
        <p:spPr>
          <a:xfrm>
            <a:off x="457200" y="822960"/>
            <a:ext cx="11277295" cy="5623560"/>
          </a:xfrm>
          <a:prstGeom prst="roundRect">
            <a:avLst>
              <a:gd fmla="val 16667" name="adj"/>
            </a:avLst>
          </a:prstGeom>
          <a:solidFill>
            <a:srgbClr val="1E1E1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4"/>
          <p:cNvSpPr txBox="1"/>
          <p:nvPr/>
        </p:nvSpPr>
        <p:spPr>
          <a:xfrm>
            <a:off x="594350" y="1258888"/>
            <a:ext cx="11003100" cy="22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=&gt; help              # List all available commands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=&gt; printenv          # Show all environment variables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=&gt; setenv bootargs 'console=ttyS0,115200 root=/dev/mmcblk0p2'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=&gt; saveenv           # Persist environment to flash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=&gt; mmc list          # List MMC devices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=&gt; mmc dev 0         # Select MMC device 0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=&gt; fatls mmc 0:1     # List files on partition 1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=&gt; fatload mmc 0:1 ${loadaddr} zImage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=&gt; bootz ${loadaddr} # Boot the kernel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=&gt; tftpboot ${loadaddr} zImage   # Load via network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=&gt; bdinfo                        # Board information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=&gt; reset                         # Reset the board</a:t>
            </a:r>
            <a:endParaRPr/>
          </a:p>
        </p:txBody>
      </p:sp>
      <p:sp>
        <p:nvSpPr>
          <p:cNvPr id="290" name="Google Shape;290;p1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5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686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5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U-Boot Boot Sequence</a:t>
            </a:r>
            <a:endParaRPr/>
          </a:p>
        </p:txBody>
      </p:sp>
      <p:sp>
        <p:nvSpPr>
          <p:cNvPr id="297" name="Google Shape;297;p15"/>
          <p:cNvSpPr/>
          <p:nvPr/>
        </p:nvSpPr>
        <p:spPr>
          <a:xfrm>
            <a:off x="1828754" y="822960"/>
            <a:ext cx="8534186" cy="848868"/>
          </a:xfrm>
          <a:prstGeom prst="roundRect">
            <a:avLst>
              <a:gd fmla="val 16667" name="adj"/>
            </a:avLst>
          </a:prstGeom>
          <a:solidFill>
            <a:srgbClr val="F0B34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5"/>
          <p:cNvSpPr txBox="1"/>
          <p:nvPr/>
        </p:nvSpPr>
        <p:spPr>
          <a:xfrm>
            <a:off x="1965914" y="868680"/>
            <a:ext cx="8259866" cy="4244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Power On</a:t>
            </a:r>
            <a:endParaRPr/>
          </a:p>
        </p:txBody>
      </p:sp>
      <p:sp>
        <p:nvSpPr>
          <p:cNvPr id="299" name="Google Shape;299;p15"/>
          <p:cNvSpPr txBox="1"/>
          <p:nvPr/>
        </p:nvSpPr>
        <p:spPr>
          <a:xfrm>
            <a:off x="1965914" y="1204950"/>
            <a:ext cx="8259866" cy="4244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SoC ROM loads SPL from boot media (SD/eMMC/SPI)</a:t>
            </a:r>
            <a:endParaRPr/>
          </a:p>
        </p:txBody>
      </p:sp>
      <p:sp>
        <p:nvSpPr>
          <p:cNvPr id="300" name="Google Shape;300;p15"/>
          <p:cNvSpPr/>
          <p:nvPr/>
        </p:nvSpPr>
        <p:spPr>
          <a:xfrm>
            <a:off x="5958687" y="1671828"/>
            <a:ext cx="274320" cy="73152"/>
          </a:xfrm>
          <a:prstGeom prst="triangle">
            <a:avLst>
              <a:gd fmla="val 50000" name="adj"/>
            </a:avLst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5"/>
          <p:cNvSpPr/>
          <p:nvPr/>
        </p:nvSpPr>
        <p:spPr>
          <a:xfrm>
            <a:off x="1828754" y="1744980"/>
            <a:ext cx="8534186" cy="848868"/>
          </a:xfrm>
          <a:prstGeom prst="roundRect">
            <a:avLst>
              <a:gd fmla="val 16667" name="adj"/>
            </a:avLst>
          </a:prstGeom>
          <a:solidFill>
            <a:srgbClr val="E686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5"/>
          <p:cNvSpPr txBox="1"/>
          <p:nvPr/>
        </p:nvSpPr>
        <p:spPr>
          <a:xfrm>
            <a:off x="1965914" y="1790700"/>
            <a:ext cx="8259866" cy="4244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SPL Runs</a:t>
            </a:r>
            <a:endParaRPr/>
          </a:p>
        </p:txBody>
      </p:sp>
      <p:sp>
        <p:nvSpPr>
          <p:cNvPr id="303" name="Google Shape;303;p15"/>
          <p:cNvSpPr txBox="1"/>
          <p:nvPr/>
        </p:nvSpPr>
        <p:spPr>
          <a:xfrm>
            <a:off x="1965914" y="2126970"/>
            <a:ext cx="8259866" cy="4244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Initializes DRAM, clocks. Loads U-Boot proper.</a:t>
            </a:r>
            <a:endParaRPr/>
          </a:p>
        </p:txBody>
      </p:sp>
      <p:sp>
        <p:nvSpPr>
          <p:cNvPr id="304" name="Google Shape;304;p15"/>
          <p:cNvSpPr/>
          <p:nvPr/>
        </p:nvSpPr>
        <p:spPr>
          <a:xfrm>
            <a:off x="5958687" y="2593848"/>
            <a:ext cx="274320" cy="73152"/>
          </a:xfrm>
          <a:prstGeom prst="triangle">
            <a:avLst>
              <a:gd fmla="val 50000" name="adj"/>
            </a:avLst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5"/>
          <p:cNvSpPr/>
          <p:nvPr/>
        </p:nvSpPr>
        <p:spPr>
          <a:xfrm>
            <a:off x="1828754" y="2667000"/>
            <a:ext cx="8534186" cy="848868"/>
          </a:xfrm>
          <a:prstGeom prst="roundRect">
            <a:avLst>
              <a:gd fmla="val 16667" name="adj"/>
            </a:avLst>
          </a:prstGeom>
          <a:solidFill>
            <a:srgbClr val="197A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5"/>
          <p:cNvSpPr txBox="1"/>
          <p:nvPr/>
        </p:nvSpPr>
        <p:spPr>
          <a:xfrm>
            <a:off x="1965914" y="2712720"/>
            <a:ext cx="8259866" cy="4244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U-Boot Init</a:t>
            </a:r>
            <a:endParaRPr/>
          </a:p>
        </p:txBody>
      </p:sp>
      <p:sp>
        <p:nvSpPr>
          <p:cNvPr id="307" name="Google Shape;307;p15"/>
          <p:cNvSpPr txBox="1"/>
          <p:nvPr/>
        </p:nvSpPr>
        <p:spPr>
          <a:xfrm>
            <a:off x="1965914" y="3048990"/>
            <a:ext cx="8259866" cy="4244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Full hardware init: UART, USB, network, storage</a:t>
            </a:r>
            <a:endParaRPr/>
          </a:p>
        </p:txBody>
      </p:sp>
      <p:sp>
        <p:nvSpPr>
          <p:cNvPr id="308" name="Google Shape;308;p15"/>
          <p:cNvSpPr/>
          <p:nvPr/>
        </p:nvSpPr>
        <p:spPr>
          <a:xfrm>
            <a:off x="5958687" y="3515868"/>
            <a:ext cx="274320" cy="73152"/>
          </a:xfrm>
          <a:prstGeom prst="triangle">
            <a:avLst>
              <a:gd fmla="val 50000" name="adj"/>
            </a:avLst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5"/>
          <p:cNvSpPr/>
          <p:nvPr/>
        </p:nvSpPr>
        <p:spPr>
          <a:xfrm>
            <a:off x="1828754" y="3589020"/>
            <a:ext cx="8534186" cy="848868"/>
          </a:xfrm>
          <a:prstGeom prst="roundRect">
            <a:avLst>
              <a:gd fmla="val 16667" name="adj"/>
            </a:avLst>
          </a:prstGeom>
          <a:solidFill>
            <a:srgbClr val="3D6F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5"/>
          <p:cNvSpPr txBox="1"/>
          <p:nvPr/>
        </p:nvSpPr>
        <p:spPr>
          <a:xfrm>
            <a:off x="1965914" y="3634740"/>
            <a:ext cx="8259866" cy="4244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bootcmd Executes</a:t>
            </a:r>
            <a:endParaRPr/>
          </a:p>
        </p:txBody>
      </p:sp>
      <p:sp>
        <p:nvSpPr>
          <p:cNvPr id="311" name="Google Shape;311;p15"/>
          <p:cNvSpPr txBox="1"/>
          <p:nvPr/>
        </p:nvSpPr>
        <p:spPr>
          <a:xfrm>
            <a:off x="1965914" y="3971010"/>
            <a:ext cx="8259866" cy="4244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Default script: loads kernel, DTB, rootfs from media</a:t>
            </a:r>
            <a:endParaRPr/>
          </a:p>
        </p:txBody>
      </p:sp>
      <p:sp>
        <p:nvSpPr>
          <p:cNvPr id="312" name="Google Shape;312;p15"/>
          <p:cNvSpPr/>
          <p:nvPr/>
        </p:nvSpPr>
        <p:spPr>
          <a:xfrm>
            <a:off x="5958687" y="4437888"/>
            <a:ext cx="274320" cy="73152"/>
          </a:xfrm>
          <a:prstGeom prst="triangle">
            <a:avLst>
              <a:gd fmla="val 50000" name="adj"/>
            </a:avLst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5"/>
          <p:cNvSpPr/>
          <p:nvPr/>
        </p:nvSpPr>
        <p:spPr>
          <a:xfrm>
            <a:off x="1828754" y="4511040"/>
            <a:ext cx="8534186" cy="848868"/>
          </a:xfrm>
          <a:prstGeom prst="roundRect">
            <a:avLst>
              <a:gd fmla="val 16667" name="adj"/>
            </a:avLst>
          </a:prstGeom>
          <a:solidFill>
            <a:srgbClr val="F0B34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5"/>
          <p:cNvSpPr txBox="1"/>
          <p:nvPr/>
        </p:nvSpPr>
        <p:spPr>
          <a:xfrm>
            <a:off x="1965914" y="4556760"/>
            <a:ext cx="8259866" cy="4244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Kernel Handoff</a:t>
            </a:r>
            <a:endParaRPr/>
          </a:p>
        </p:txBody>
      </p:sp>
      <p:sp>
        <p:nvSpPr>
          <p:cNvPr id="315" name="Google Shape;315;p15"/>
          <p:cNvSpPr txBox="1"/>
          <p:nvPr/>
        </p:nvSpPr>
        <p:spPr>
          <a:xfrm>
            <a:off x="1965914" y="4893030"/>
            <a:ext cx="8259866" cy="4244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Decompresses kernel, sets up ATAGS/DTB, jumps to entry</a:t>
            </a:r>
            <a:endParaRPr/>
          </a:p>
        </p:txBody>
      </p:sp>
      <p:sp>
        <p:nvSpPr>
          <p:cNvPr id="316" name="Google Shape;316;p15"/>
          <p:cNvSpPr/>
          <p:nvPr/>
        </p:nvSpPr>
        <p:spPr>
          <a:xfrm>
            <a:off x="5958687" y="5359908"/>
            <a:ext cx="274320" cy="73152"/>
          </a:xfrm>
          <a:prstGeom prst="triangle">
            <a:avLst>
              <a:gd fmla="val 50000" name="adj"/>
            </a:avLst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5"/>
          <p:cNvSpPr/>
          <p:nvPr/>
        </p:nvSpPr>
        <p:spPr>
          <a:xfrm>
            <a:off x="1828754" y="5433060"/>
            <a:ext cx="8534186" cy="848868"/>
          </a:xfrm>
          <a:prstGeom prst="roundRect">
            <a:avLst>
              <a:gd fmla="val 16667" name="adj"/>
            </a:avLst>
          </a:prstGeom>
          <a:solidFill>
            <a:srgbClr val="E686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5"/>
          <p:cNvSpPr txBox="1"/>
          <p:nvPr/>
        </p:nvSpPr>
        <p:spPr>
          <a:xfrm>
            <a:off x="1965914" y="5478780"/>
            <a:ext cx="8259866" cy="4244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Linux Takes Over</a:t>
            </a:r>
            <a:endParaRPr/>
          </a:p>
        </p:txBody>
      </p:sp>
      <p:sp>
        <p:nvSpPr>
          <p:cNvPr id="319" name="Google Shape;319;p15"/>
          <p:cNvSpPr txBox="1"/>
          <p:nvPr/>
        </p:nvSpPr>
        <p:spPr>
          <a:xfrm>
            <a:off x="1965914" y="5815050"/>
            <a:ext cx="8259866" cy="4244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Kernel mounts rootfs, starts init/systemd</a:t>
            </a:r>
            <a:endParaRPr/>
          </a:p>
        </p:txBody>
      </p:sp>
      <p:sp>
        <p:nvSpPr>
          <p:cNvPr id="320" name="Google Shape;320;p1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2334"/>
        </a:solid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6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97A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6"/>
          <p:cNvSpPr txBox="1"/>
          <p:nvPr/>
        </p:nvSpPr>
        <p:spPr>
          <a:xfrm>
            <a:off x="457200" y="1828800"/>
            <a:ext cx="11277295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Part 3: Kernel Build &amp; Device Tree</a:t>
            </a:r>
            <a:endParaRPr/>
          </a:p>
        </p:txBody>
      </p:sp>
      <p:sp>
        <p:nvSpPr>
          <p:cNvPr id="327" name="Google Shape;327;p16"/>
          <p:cNvSpPr txBox="1"/>
          <p:nvPr/>
        </p:nvSpPr>
        <p:spPr>
          <a:xfrm>
            <a:off x="457200" y="3017520"/>
            <a:ext cx="1127729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97A8C"/>
                </a:solidFill>
                <a:latin typeface="Arial"/>
                <a:ea typeface="Arial"/>
                <a:cs typeface="Arial"/>
                <a:sym typeface="Arial"/>
              </a:rPr>
              <a:t>Configuring and compiling the Linux kernel</a:t>
            </a:r>
            <a:endParaRPr/>
          </a:p>
        </p:txBody>
      </p:sp>
      <p:sp>
        <p:nvSpPr>
          <p:cNvPr id="328" name="Google Shape;328;p1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7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D6F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7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Kernel Image Types</a:t>
            </a:r>
            <a:endParaRPr/>
          </a:p>
        </p:txBody>
      </p:sp>
      <p:sp>
        <p:nvSpPr>
          <p:cNvPr id="335" name="Google Shape;335;p17"/>
          <p:cNvSpPr/>
          <p:nvPr/>
        </p:nvSpPr>
        <p:spPr>
          <a:xfrm>
            <a:off x="457200" y="822960"/>
            <a:ext cx="3713378" cy="365760"/>
          </a:xfrm>
          <a:prstGeom prst="roundRect">
            <a:avLst>
              <a:gd fmla="val 16667" name="adj"/>
            </a:avLst>
          </a:prstGeom>
          <a:solidFill>
            <a:srgbClr val="15233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7"/>
          <p:cNvSpPr txBox="1"/>
          <p:nvPr/>
        </p:nvSpPr>
        <p:spPr>
          <a:xfrm>
            <a:off x="594360" y="868680"/>
            <a:ext cx="3484778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Format</a:t>
            </a:r>
            <a:endParaRPr/>
          </a:p>
        </p:txBody>
      </p:sp>
      <p:sp>
        <p:nvSpPr>
          <p:cNvPr id="337" name="Google Shape;337;p17"/>
          <p:cNvSpPr/>
          <p:nvPr/>
        </p:nvSpPr>
        <p:spPr>
          <a:xfrm>
            <a:off x="4216298" y="822960"/>
            <a:ext cx="3713378" cy="365760"/>
          </a:xfrm>
          <a:prstGeom prst="roundRect">
            <a:avLst>
              <a:gd fmla="val 16667" name="adj"/>
            </a:avLst>
          </a:prstGeom>
          <a:solidFill>
            <a:srgbClr val="15233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7"/>
          <p:cNvSpPr txBox="1"/>
          <p:nvPr/>
        </p:nvSpPr>
        <p:spPr>
          <a:xfrm>
            <a:off x="4353458" y="868680"/>
            <a:ext cx="3484778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Description</a:t>
            </a:r>
            <a:endParaRPr/>
          </a:p>
        </p:txBody>
      </p:sp>
      <p:sp>
        <p:nvSpPr>
          <p:cNvPr id="339" name="Google Shape;339;p17"/>
          <p:cNvSpPr/>
          <p:nvPr/>
        </p:nvSpPr>
        <p:spPr>
          <a:xfrm>
            <a:off x="7975396" y="822960"/>
            <a:ext cx="3713378" cy="365760"/>
          </a:xfrm>
          <a:prstGeom prst="roundRect">
            <a:avLst>
              <a:gd fmla="val 16667" name="adj"/>
            </a:avLst>
          </a:prstGeom>
          <a:solidFill>
            <a:srgbClr val="15233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7"/>
          <p:cNvSpPr txBox="1"/>
          <p:nvPr/>
        </p:nvSpPr>
        <p:spPr>
          <a:xfrm>
            <a:off x="8112556" y="868680"/>
            <a:ext cx="3484778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Use Case</a:t>
            </a:r>
            <a:endParaRPr/>
          </a:p>
        </p:txBody>
      </p:sp>
      <p:sp>
        <p:nvSpPr>
          <p:cNvPr id="341" name="Google Shape;341;p17"/>
          <p:cNvSpPr/>
          <p:nvPr/>
        </p:nvSpPr>
        <p:spPr>
          <a:xfrm>
            <a:off x="457200" y="1280160"/>
            <a:ext cx="3713378" cy="1264158"/>
          </a:xfrm>
          <a:prstGeom prst="rect">
            <a:avLst/>
          </a:prstGeom>
          <a:solidFill>
            <a:srgbClr val="F6F8F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7"/>
          <p:cNvSpPr txBox="1"/>
          <p:nvPr/>
        </p:nvSpPr>
        <p:spPr>
          <a:xfrm>
            <a:off x="594360" y="1325880"/>
            <a:ext cx="34847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zImage</a:t>
            </a:r>
            <a:endParaRPr/>
          </a:p>
        </p:txBody>
      </p:sp>
      <p:sp>
        <p:nvSpPr>
          <p:cNvPr id="343" name="Google Shape;343;p17"/>
          <p:cNvSpPr/>
          <p:nvPr/>
        </p:nvSpPr>
        <p:spPr>
          <a:xfrm>
            <a:off x="4216298" y="1280160"/>
            <a:ext cx="3713378" cy="1264158"/>
          </a:xfrm>
          <a:prstGeom prst="rect">
            <a:avLst/>
          </a:prstGeom>
          <a:solidFill>
            <a:srgbClr val="F6F8F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7"/>
          <p:cNvSpPr txBox="1"/>
          <p:nvPr/>
        </p:nvSpPr>
        <p:spPr>
          <a:xfrm>
            <a:off x="4353458" y="1325880"/>
            <a:ext cx="34847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Compressed kernel (gzip), self-decompressing</a:t>
            </a:r>
            <a:endParaRPr/>
          </a:p>
        </p:txBody>
      </p:sp>
      <p:sp>
        <p:nvSpPr>
          <p:cNvPr id="345" name="Google Shape;345;p17"/>
          <p:cNvSpPr/>
          <p:nvPr/>
        </p:nvSpPr>
        <p:spPr>
          <a:xfrm>
            <a:off x="7975396" y="1280160"/>
            <a:ext cx="3713378" cy="1264158"/>
          </a:xfrm>
          <a:prstGeom prst="rect">
            <a:avLst/>
          </a:prstGeom>
          <a:solidFill>
            <a:srgbClr val="F6F8F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7"/>
          <p:cNvSpPr txBox="1"/>
          <p:nvPr/>
        </p:nvSpPr>
        <p:spPr>
          <a:xfrm>
            <a:off x="8112556" y="1325880"/>
            <a:ext cx="34847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Most common for ARM,</a:t>
            </a:r>
            <a:b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standard bootloader format</a:t>
            </a:r>
            <a:endParaRPr/>
          </a:p>
        </p:txBody>
      </p:sp>
      <p:sp>
        <p:nvSpPr>
          <p:cNvPr id="347" name="Google Shape;347;p17"/>
          <p:cNvSpPr/>
          <p:nvPr/>
        </p:nvSpPr>
        <p:spPr>
          <a:xfrm>
            <a:off x="457200" y="2571750"/>
            <a:ext cx="3713378" cy="1264158"/>
          </a:xfrm>
          <a:prstGeom prst="rect">
            <a:avLst/>
          </a:prstGeom>
          <a:solidFill>
            <a:srgbClr val="ECF0F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7"/>
          <p:cNvSpPr txBox="1"/>
          <p:nvPr/>
        </p:nvSpPr>
        <p:spPr>
          <a:xfrm>
            <a:off x="594360" y="2617470"/>
            <a:ext cx="34847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uImage</a:t>
            </a:r>
            <a:endParaRPr/>
          </a:p>
        </p:txBody>
      </p:sp>
      <p:sp>
        <p:nvSpPr>
          <p:cNvPr id="349" name="Google Shape;349;p17"/>
          <p:cNvSpPr/>
          <p:nvPr/>
        </p:nvSpPr>
        <p:spPr>
          <a:xfrm>
            <a:off x="4216298" y="2571750"/>
            <a:ext cx="3713378" cy="1264158"/>
          </a:xfrm>
          <a:prstGeom prst="rect">
            <a:avLst/>
          </a:prstGeom>
          <a:solidFill>
            <a:srgbClr val="ECF0F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7"/>
          <p:cNvSpPr txBox="1"/>
          <p:nvPr/>
        </p:nvSpPr>
        <p:spPr>
          <a:xfrm>
            <a:off x="4353458" y="2617470"/>
            <a:ext cx="34847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U-Boot wrapped zImage (has U-Boot header)</a:t>
            </a:r>
            <a:endParaRPr/>
          </a:p>
        </p:txBody>
      </p:sp>
      <p:sp>
        <p:nvSpPr>
          <p:cNvPr id="351" name="Google Shape;351;p17"/>
          <p:cNvSpPr/>
          <p:nvPr/>
        </p:nvSpPr>
        <p:spPr>
          <a:xfrm>
            <a:off x="7975396" y="2571750"/>
            <a:ext cx="3713378" cy="1264158"/>
          </a:xfrm>
          <a:prstGeom prst="rect">
            <a:avLst/>
          </a:prstGeom>
          <a:solidFill>
            <a:srgbClr val="ECF0F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7"/>
          <p:cNvSpPr txBox="1"/>
          <p:nvPr/>
        </p:nvSpPr>
        <p:spPr>
          <a:xfrm>
            <a:off x="8112556" y="2617470"/>
            <a:ext cx="34847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Older U-Boot versions</a:t>
            </a:r>
            <a:b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(legacy)</a:t>
            </a:r>
            <a:endParaRPr/>
          </a:p>
        </p:txBody>
      </p:sp>
      <p:sp>
        <p:nvSpPr>
          <p:cNvPr id="353" name="Google Shape;353;p17"/>
          <p:cNvSpPr/>
          <p:nvPr/>
        </p:nvSpPr>
        <p:spPr>
          <a:xfrm>
            <a:off x="457200" y="3863340"/>
            <a:ext cx="3713378" cy="1264158"/>
          </a:xfrm>
          <a:prstGeom prst="rect">
            <a:avLst/>
          </a:prstGeom>
          <a:solidFill>
            <a:srgbClr val="F6F8F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7"/>
          <p:cNvSpPr txBox="1"/>
          <p:nvPr/>
        </p:nvSpPr>
        <p:spPr>
          <a:xfrm>
            <a:off x="594360" y="3909060"/>
            <a:ext cx="34847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Image</a:t>
            </a:r>
            <a:endParaRPr/>
          </a:p>
        </p:txBody>
      </p:sp>
      <p:sp>
        <p:nvSpPr>
          <p:cNvPr id="355" name="Google Shape;355;p17"/>
          <p:cNvSpPr/>
          <p:nvPr/>
        </p:nvSpPr>
        <p:spPr>
          <a:xfrm>
            <a:off x="4216298" y="3863340"/>
            <a:ext cx="3713378" cy="1264158"/>
          </a:xfrm>
          <a:prstGeom prst="rect">
            <a:avLst/>
          </a:prstGeom>
          <a:solidFill>
            <a:srgbClr val="F6F8F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7"/>
          <p:cNvSpPr txBox="1"/>
          <p:nvPr/>
        </p:nvSpPr>
        <p:spPr>
          <a:xfrm>
            <a:off x="4353458" y="3909060"/>
            <a:ext cx="34847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Uncompressed raw kernel image</a:t>
            </a:r>
            <a:endParaRPr/>
          </a:p>
        </p:txBody>
      </p:sp>
      <p:sp>
        <p:nvSpPr>
          <p:cNvPr id="357" name="Google Shape;357;p17"/>
          <p:cNvSpPr/>
          <p:nvPr/>
        </p:nvSpPr>
        <p:spPr>
          <a:xfrm>
            <a:off x="7975396" y="3863340"/>
            <a:ext cx="3713378" cy="1264158"/>
          </a:xfrm>
          <a:prstGeom prst="rect">
            <a:avLst/>
          </a:prstGeom>
          <a:solidFill>
            <a:srgbClr val="F6F8F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7"/>
          <p:cNvSpPr txBox="1"/>
          <p:nvPr/>
        </p:nvSpPr>
        <p:spPr>
          <a:xfrm>
            <a:off x="8112556" y="3909060"/>
            <a:ext cx="34847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x86, or when bootloader</a:t>
            </a:r>
            <a:b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does decompression</a:t>
            </a:r>
            <a:endParaRPr/>
          </a:p>
        </p:txBody>
      </p:sp>
      <p:sp>
        <p:nvSpPr>
          <p:cNvPr id="359" name="Google Shape;359;p17"/>
          <p:cNvSpPr/>
          <p:nvPr/>
        </p:nvSpPr>
        <p:spPr>
          <a:xfrm>
            <a:off x="457200" y="5154930"/>
            <a:ext cx="3713378" cy="1264158"/>
          </a:xfrm>
          <a:prstGeom prst="rect">
            <a:avLst/>
          </a:prstGeom>
          <a:solidFill>
            <a:srgbClr val="ECF0F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7"/>
          <p:cNvSpPr txBox="1"/>
          <p:nvPr/>
        </p:nvSpPr>
        <p:spPr>
          <a:xfrm>
            <a:off x="594360" y="5200650"/>
            <a:ext cx="34847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FIT (Flattened</a:t>
            </a:r>
            <a:b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Image Tree)</a:t>
            </a:r>
            <a:endParaRPr/>
          </a:p>
        </p:txBody>
      </p:sp>
      <p:sp>
        <p:nvSpPr>
          <p:cNvPr id="361" name="Google Shape;361;p17"/>
          <p:cNvSpPr/>
          <p:nvPr/>
        </p:nvSpPr>
        <p:spPr>
          <a:xfrm>
            <a:off x="4216298" y="5154930"/>
            <a:ext cx="3713378" cy="1264158"/>
          </a:xfrm>
          <a:prstGeom prst="rect">
            <a:avLst/>
          </a:prstGeom>
          <a:solidFill>
            <a:srgbClr val="ECF0F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7"/>
          <p:cNvSpPr txBox="1"/>
          <p:nvPr/>
        </p:nvSpPr>
        <p:spPr>
          <a:xfrm>
            <a:off x="4353458" y="5200650"/>
            <a:ext cx="34847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Bundle: kernel + DTB + initramfs + config in one image</a:t>
            </a:r>
            <a:endParaRPr/>
          </a:p>
        </p:txBody>
      </p:sp>
      <p:sp>
        <p:nvSpPr>
          <p:cNvPr id="363" name="Google Shape;363;p17"/>
          <p:cNvSpPr/>
          <p:nvPr/>
        </p:nvSpPr>
        <p:spPr>
          <a:xfrm>
            <a:off x="7975396" y="5154930"/>
            <a:ext cx="3713378" cy="1264158"/>
          </a:xfrm>
          <a:prstGeom prst="rect">
            <a:avLst/>
          </a:prstGeom>
          <a:solidFill>
            <a:srgbClr val="ECF0F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7"/>
          <p:cNvSpPr txBox="1"/>
          <p:nvPr/>
        </p:nvSpPr>
        <p:spPr>
          <a:xfrm>
            <a:off x="8112556" y="5200650"/>
            <a:ext cx="34847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Secure boot,</a:t>
            </a:r>
            <a:b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multi-config boot,</a:t>
            </a:r>
            <a:b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modern U-Boot</a:t>
            </a:r>
            <a:endParaRPr/>
          </a:p>
        </p:txBody>
      </p:sp>
      <p:sp>
        <p:nvSpPr>
          <p:cNvPr id="365" name="Google Shape;365;p17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8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0B34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8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Kernel Build: Configuration</a:t>
            </a:r>
            <a:endParaRPr/>
          </a:p>
        </p:txBody>
      </p:sp>
      <p:sp>
        <p:nvSpPr>
          <p:cNvPr id="372" name="Google Shape;372;p18"/>
          <p:cNvSpPr/>
          <p:nvPr/>
        </p:nvSpPr>
        <p:spPr>
          <a:xfrm>
            <a:off x="457200" y="822960"/>
            <a:ext cx="11277295" cy="5623560"/>
          </a:xfrm>
          <a:prstGeom prst="roundRect">
            <a:avLst>
              <a:gd fmla="val 16667" name="adj"/>
            </a:avLst>
          </a:prstGeom>
          <a:solidFill>
            <a:srgbClr val="1E1E1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8"/>
          <p:cNvSpPr txBox="1"/>
          <p:nvPr/>
        </p:nvSpPr>
        <p:spPr>
          <a:xfrm>
            <a:off x="594350" y="1236251"/>
            <a:ext cx="11003100" cy="28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# Download and extract kernel source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$ tar xf linux-6.6.tar.xz &amp;&amp; cd linux-6.6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# Option A: Use a default config for your board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$ make ARCH=arm myboard_defconfig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# Option B: Start from your running config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$ zcat /proc/config.gz &gt; .config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$ make ARCH=arm oldconfig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# Interactive config (menu-driven)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$ make ARCH=arm menuconfig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# Save a minimal defconfig for sharing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$ make ARCH=arm savedefconfig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# Produces: defconfig (human-readable, shareable)</a:t>
            </a:r>
            <a:endParaRPr/>
          </a:p>
        </p:txBody>
      </p:sp>
      <p:sp>
        <p:nvSpPr>
          <p:cNvPr id="374" name="Google Shape;374;p18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9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686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9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Kernel Build: Compilation</a:t>
            </a:r>
            <a:endParaRPr/>
          </a:p>
        </p:txBody>
      </p:sp>
      <p:sp>
        <p:nvSpPr>
          <p:cNvPr id="381" name="Google Shape;381;p19"/>
          <p:cNvSpPr/>
          <p:nvPr/>
        </p:nvSpPr>
        <p:spPr>
          <a:xfrm>
            <a:off x="457200" y="822960"/>
            <a:ext cx="11277295" cy="5623560"/>
          </a:xfrm>
          <a:prstGeom prst="roundRect">
            <a:avLst>
              <a:gd fmla="val 16667" name="adj"/>
            </a:avLst>
          </a:prstGeom>
          <a:solidFill>
            <a:srgbClr val="1E1E1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9"/>
          <p:cNvSpPr txBox="1"/>
          <p:nvPr/>
        </p:nvSpPr>
        <p:spPr>
          <a:xfrm>
            <a:off x="594350" y="1117250"/>
            <a:ext cx="11003100" cy="28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# Build kernel image, modules, and device tree blobs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$ make ARCH=arm CROSS_COMPILE=arm-linux-gnueabihf- \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-j$(nproc) Image modules dtbs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# Output: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#   arch/arm/boot/zImage        &lt;- kernel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#   arch/arm/boot/dts/*.dtb      &lt;- device tree blobs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#   drivers/**/*.ko              &lt;- kernel modules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# Install modules to a staging directory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$ make ARCH=arm INSTALL_MOD_PATH=./modules_install \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modules_install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# Verify the kernel was built for the right arch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$ file arch/arm/boot/zImage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zImage: Linux kernel ARM boot executable zImage</a:t>
            </a:r>
            <a:endParaRPr/>
          </a:p>
        </p:txBody>
      </p:sp>
      <p:sp>
        <p:nvSpPr>
          <p:cNvPr id="383" name="Google Shape;383;p19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97A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0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Kernel Build: Verification</a:t>
            </a:r>
            <a:endParaRPr/>
          </a:p>
        </p:txBody>
      </p:sp>
      <p:sp>
        <p:nvSpPr>
          <p:cNvPr id="390" name="Google Shape;390;p20"/>
          <p:cNvSpPr/>
          <p:nvPr/>
        </p:nvSpPr>
        <p:spPr>
          <a:xfrm>
            <a:off x="457200" y="822960"/>
            <a:ext cx="11277295" cy="5623560"/>
          </a:xfrm>
          <a:prstGeom prst="roundRect">
            <a:avLst>
              <a:gd fmla="val 16667" name="adj"/>
            </a:avLst>
          </a:prstGeom>
          <a:solidFill>
            <a:srgbClr val="1E1E1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0"/>
          <p:cNvSpPr txBox="1"/>
          <p:nvPr/>
        </p:nvSpPr>
        <p:spPr>
          <a:xfrm>
            <a:off x="594350" y="1441876"/>
            <a:ext cx="11003100" cy="34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# Check kernel version and build info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$ strings arch/arm/boot/zImage | grep 'Linux version'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Linux version 6.6.0 (user@host) (arm-linux-gnueabihf-gcc 12.2.0) #1 SMP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# Check what machine it's built for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$ arm-linux-gnueabihf-readelf -h arch/arm/boot/zImage | grep Machine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Machine:                           ARM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# Check DTB matches your board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$ fdtdump arch/arm/boot/dts/myboard.dtb | head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/dts-v1/;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/ {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model = "MyBoard Rev 1.0";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compatible = "myvendor,myboard";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...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# Size check — know what fits in flash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$ ls -lh arch/arm/boot/zImage arch/arm/boot/dts/*.dtb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5.2M zImage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48K myboard.dtb</a:t>
            </a:r>
            <a:endParaRPr/>
          </a:p>
        </p:txBody>
      </p:sp>
      <p:sp>
        <p:nvSpPr>
          <p:cNvPr id="392" name="Google Shape;392;p2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2334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2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D6F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1"/>
          <p:cNvSpPr txBox="1"/>
          <p:nvPr/>
        </p:nvSpPr>
        <p:spPr>
          <a:xfrm>
            <a:off x="457200" y="1828800"/>
            <a:ext cx="11277295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Part 3b: Device Tree</a:t>
            </a:r>
            <a:endParaRPr/>
          </a:p>
        </p:txBody>
      </p:sp>
      <p:sp>
        <p:nvSpPr>
          <p:cNvPr id="399" name="Google Shape;399;p21"/>
          <p:cNvSpPr txBox="1"/>
          <p:nvPr/>
        </p:nvSpPr>
        <p:spPr>
          <a:xfrm>
            <a:off x="457200" y="3017520"/>
            <a:ext cx="1127729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D6FF6"/>
                </a:solidFill>
                <a:latin typeface="Arial"/>
                <a:ea typeface="Arial"/>
                <a:cs typeface="Arial"/>
                <a:sym typeface="Arial"/>
              </a:rPr>
              <a:t>Hardware description without C code</a:t>
            </a:r>
            <a:endParaRPr/>
          </a:p>
        </p:txBody>
      </p:sp>
      <p:sp>
        <p:nvSpPr>
          <p:cNvPr id="400" name="Google Shape;400;p21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2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0B34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2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Device Tree: What &amp; Why</a:t>
            </a:r>
            <a:endParaRPr/>
          </a:p>
        </p:txBody>
      </p:sp>
      <p:sp>
        <p:nvSpPr>
          <p:cNvPr id="407" name="Google Shape;407;p22"/>
          <p:cNvSpPr txBox="1"/>
          <p:nvPr/>
        </p:nvSpPr>
        <p:spPr>
          <a:xfrm>
            <a:off x="457200" y="822960"/>
            <a:ext cx="55014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The Problem</a:t>
            </a:r>
            <a:endParaRPr/>
          </a:p>
        </p:txBody>
      </p:sp>
      <p:sp>
        <p:nvSpPr>
          <p:cNvPr id="408" name="Google Shape;408;p22"/>
          <p:cNvSpPr txBox="1"/>
          <p:nvPr/>
        </p:nvSpPr>
        <p:spPr>
          <a:xfrm>
            <a:off x="457200" y="1280160"/>
            <a:ext cx="5501487" cy="5166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Every board needed a C 'board file' in kernel source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Hundreds of board files, most code duplicated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Changing a GPIO pin meant recompiling the kernel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Vendor BSPs were a maintenance nightmare</a:t>
            </a:r>
            <a:endParaRPr/>
          </a:p>
        </p:txBody>
      </p:sp>
      <p:sp>
        <p:nvSpPr>
          <p:cNvPr id="409" name="Google Shape;409;p22"/>
          <p:cNvSpPr txBox="1"/>
          <p:nvPr/>
        </p:nvSpPr>
        <p:spPr>
          <a:xfrm>
            <a:off x="6233007" y="822960"/>
            <a:ext cx="55014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The Solution</a:t>
            </a:r>
            <a:endParaRPr/>
          </a:p>
        </p:txBody>
      </p:sp>
      <p:sp>
        <p:nvSpPr>
          <p:cNvPr id="410" name="Google Shape;410;p22"/>
          <p:cNvSpPr txBox="1"/>
          <p:nvPr/>
        </p:nvSpPr>
        <p:spPr>
          <a:xfrm>
            <a:off x="6233007" y="1280160"/>
            <a:ext cx="5501487" cy="5166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Device Tree (DTS): data structure describing hardware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Compiled to DTB (binary) — passed to kernel at boot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One kernel image supports many boards via different DTBs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Standard on ARM, RISC-V; x86 uses ACPI instead</a:t>
            </a:r>
            <a:endParaRPr/>
          </a:p>
        </p:txBody>
      </p:sp>
      <p:sp>
        <p:nvSpPr>
          <p:cNvPr id="411" name="Google Shape;411;p2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23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686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Device Tree: Structure</a:t>
            </a:r>
            <a:endParaRPr/>
          </a:p>
        </p:txBody>
      </p:sp>
      <p:sp>
        <p:nvSpPr>
          <p:cNvPr id="418" name="Google Shape;418;p23"/>
          <p:cNvSpPr txBox="1"/>
          <p:nvPr/>
        </p:nvSpPr>
        <p:spPr>
          <a:xfrm>
            <a:off x="457200" y="822960"/>
            <a:ext cx="11277295" cy="5623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A device tree is a tree of nodes, each representing a device or bus:</a:t>
            </a:r>
            <a:br>
              <a:rPr b="0" i="0" lang="en-US" sz="14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4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/ {</a:t>
            </a:r>
            <a:br>
              <a:rPr b="0" i="0" lang="en-US" sz="14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    model = "MyBoard";</a:t>
            </a:r>
            <a:br>
              <a:rPr b="0" i="0" lang="en-US" sz="14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    compatible = "myvendor,myboard";</a:t>
            </a:r>
            <a:br>
              <a:rPr b="0" i="0" lang="en-US" sz="14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    #address-cells = &lt;1&gt;;</a:t>
            </a:r>
            <a:br>
              <a:rPr b="0" i="0" lang="en-US" sz="14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    #size-cells = &lt;1&gt;;</a:t>
            </a:r>
            <a:br>
              <a:rPr b="0" i="0" lang="en-US" sz="14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4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    cpus { ... };</a:t>
            </a:r>
            <a:br>
              <a:rPr b="0" i="0" lang="en-US" sz="14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    memory@80000000 { ... };</a:t>
            </a:r>
            <a:br>
              <a:rPr b="0" i="0" lang="en-US" sz="14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    soc {</a:t>
            </a:r>
            <a:br>
              <a:rPr b="0" i="0" lang="en-US" sz="14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        uart0: serial@ff000000 { ... };</a:t>
            </a:r>
            <a:br>
              <a:rPr b="0" i="0" lang="en-US" sz="14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        i2c0: i2c@ff010000 { ... };</a:t>
            </a:r>
            <a:br>
              <a:rPr b="0" i="0" lang="en-US" sz="14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        mmc0: mmc@ff020000 { ... };</a:t>
            </a:r>
            <a:br>
              <a:rPr b="0" i="0" lang="en-US" sz="14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    };</a:t>
            </a:r>
            <a:br>
              <a:rPr b="0" i="0" lang="en-US" sz="14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};</a:t>
            </a:r>
            <a:br>
              <a:rPr b="0" i="0" lang="en-US" sz="14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4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Key concepts:</a:t>
            </a:r>
            <a:br>
              <a:rPr b="0" i="0" lang="en-US" sz="14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  • Nodes — devices, buses, peripherals</a:t>
            </a:r>
            <a:br>
              <a:rPr b="0" i="0" lang="en-US" sz="14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  • Properties — name=value pairs (strings, integers, arrays)</a:t>
            </a:r>
            <a:br>
              <a:rPr b="0" i="0" lang="en-US" sz="14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  • Labels — references (&amp;uart0) for cross-referencing</a:t>
            </a:r>
            <a:br>
              <a:rPr b="0" i="0" lang="en-US" sz="14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  • Compatible strings — match devices to drivers</a:t>
            </a:r>
            <a:endParaRPr/>
          </a:p>
        </p:txBody>
      </p:sp>
      <p:sp>
        <p:nvSpPr>
          <p:cNvPr id="419" name="Google Shape;419;p2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24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97A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24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Device Tree: Annotated Example</a:t>
            </a:r>
            <a:endParaRPr/>
          </a:p>
        </p:txBody>
      </p:sp>
      <p:sp>
        <p:nvSpPr>
          <p:cNvPr id="426" name="Google Shape;426;p24"/>
          <p:cNvSpPr/>
          <p:nvPr/>
        </p:nvSpPr>
        <p:spPr>
          <a:xfrm>
            <a:off x="457200" y="822960"/>
            <a:ext cx="11277295" cy="5623560"/>
          </a:xfrm>
          <a:prstGeom prst="roundRect">
            <a:avLst>
              <a:gd fmla="val 16667" name="adj"/>
            </a:avLst>
          </a:prstGeom>
          <a:solidFill>
            <a:srgbClr val="1E1E1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24"/>
          <p:cNvSpPr txBox="1"/>
          <p:nvPr/>
        </p:nvSpPr>
        <p:spPr>
          <a:xfrm>
            <a:off x="594350" y="1419226"/>
            <a:ext cx="11003100" cy="44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// myboard.dts — device tree source for MyBoard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/dts-v1/;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#include "armv7.dtsi"          // Include SoC-level definitions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/ {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model = "MyBoard Rev 1.0";     // Human-readable name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compatible = "myvendor,myboard"; // Matches kernel driver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chosen {                         // Kernel cmdline, stdout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  stdout-path = "serial0:115200n8";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  bootargs = "console=ttyS0,115200 root=/dev/mmcblk0p2";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};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memory@80000000 {                // RAM: start 0x80000000, 512MB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  device_type = "memory";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  reg = &lt;0x80000000 0x20000000&gt;;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};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leds {                           // On-board LEDs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  compatible = "gpio-leds";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  status_led: led0 {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label = "status";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gpios = &lt;&amp;gpio0 12 GPIO_ACTIVE_HIGH&gt;;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  };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};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/>
          </a:p>
        </p:txBody>
      </p:sp>
      <p:sp>
        <p:nvSpPr>
          <p:cNvPr id="428" name="Google Shape;428;p2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25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D6F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5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Kernel + DTB: How They Work Together</a:t>
            </a:r>
            <a:endParaRPr/>
          </a:p>
        </p:txBody>
      </p:sp>
      <p:sp>
        <p:nvSpPr>
          <p:cNvPr id="435" name="Google Shape;435;p25"/>
          <p:cNvSpPr/>
          <p:nvPr/>
        </p:nvSpPr>
        <p:spPr>
          <a:xfrm>
            <a:off x="1828754" y="822960"/>
            <a:ext cx="8534186" cy="848868"/>
          </a:xfrm>
          <a:prstGeom prst="roundRect">
            <a:avLst>
              <a:gd fmla="val 16667" name="adj"/>
            </a:avLst>
          </a:prstGeom>
          <a:solidFill>
            <a:srgbClr val="F0B34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25"/>
          <p:cNvSpPr txBox="1"/>
          <p:nvPr/>
        </p:nvSpPr>
        <p:spPr>
          <a:xfrm>
            <a:off x="1965914" y="868680"/>
            <a:ext cx="8259866" cy="4244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U-Boot Loads Images</a:t>
            </a:r>
            <a:endParaRPr/>
          </a:p>
        </p:txBody>
      </p:sp>
      <p:sp>
        <p:nvSpPr>
          <p:cNvPr id="437" name="Google Shape;437;p25"/>
          <p:cNvSpPr txBox="1"/>
          <p:nvPr/>
        </p:nvSpPr>
        <p:spPr>
          <a:xfrm>
            <a:off x="1965914" y="1204950"/>
            <a:ext cx="8259866" cy="4244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Reads zImage and .dtb from flash into RAM at different addresses</a:t>
            </a:r>
            <a:endParaRPr/>
          </a:p>
        </p:txBody>
      </p:sp>
      <p:sp>
        <p:nvSpPr>
          <p:cNvPr id="438" name="Google Shape;438;p25"/>
          <p:cNvSpPr/>
          <p:nvPr/>
        </p:nvSpPr>
        <p:spPr>
          <a:xfrm>
            <a:off x="5958687" y="1671828"/>
            <a:ext cx="274320" cy="73152"/>
          </a:xfrm>
          <a:prstGeom prst="triangle">
            <a:avLst>
              <a:gd fmla="val 50000" name="adj"/>
            </a:avLst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25"/>
          <p:cNvSpPr/>
          <p:nvPr/>
        </p:nvSpPr>
        <p:spPr>
          <a:xfrm>
            <a:off x="1828754" y="1744980"/>
            <a:ext cx="8534186" cy="848868"/>
          </a:xfrm>
          <a:prstGeom prst="roundRect">
            <a:avLst>
              <a:gd fmla="val 16667" name="adj"/>
            </a:avLst>
          </a:prstGeom>
          <a:solidFill>
            <a:srgbClr val="E686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25"/>
          <p:cNvSpPr txBox="1"/>
          <p:nvPr/>
        </p:nvSpPr>
        <p:spPr>
          <a:xfrm>
            <a:off x="1965914" y="1790700"/>
            <a:ext cx="8259866" cy="4244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Passes DTB Address</a:t>
            </a:r>
            <a:endParaRPr/>
          </a:p>
        </p:txBody>
      </p:sp>
      <p:sp>
        <p:nvSpPr>
          <p:cNvPr id="441" name="Google Shape;441;p25"/>
          <p:cNvSpPr txBox="1"/>
          <p:nvPr/>
        </p:nvSpPr>
        <p:spPr>
          <a:xfrm>
            <a:off x="1965914" y="2126970"/>
            <a:ext cx="8259866" cy="4244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U-Boot passes the DTB physical address in a CPU register (r2 on ARM)</a:t>
            </a:r>
            <a:endParaRPr/>
          </a:p>
        </p:txBody>
      </p:sp>
      <p:sp>
        <p:nvSpPr>
          <p:cNvPr id="442" name="Google Shape;442;p25"/>
          <p:cNvSpPr/>
          <p:nvPr/>
        </p:nvSpPr>
        <p:spPr>
          <a:xfrm>
            <a:off x="5958687" y="2593848"/>
            <a:ext cx="274320" cy="73152"/>
          </a:xfrm>
          <a:prstGeom prst="triangle">
            <a:avLst>
              <a:gd fmla="val 50000" name="adj"/>
            </a:avLst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25"/>
          <p:cNvSpPr/>
          <p:nvPr/>
        </p:nvSpPr>
        <p:spPr>
          <a:xfrm>
            <a:off x="1828754" y="2667000"/>
            <a:ext cx="8534186" cy="848868"/>
          </a:xfrm>
          <a:prstGeom prst="roundRect">
            <a:avLst>
              <a:gd fmla="val 16667" name="adj"/>
            </a:avLst>
          </a:prstGeom>
          <a:solidFill>
            <a:srgbClr val="197A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25"/>
          <p:cNvSpPr txBox="1"/>
          <p:nvPr/>
        </p:nvSpPr>
        <p:spPr>
          <a:xfrm>
            <a:off x="1965914" y="2712720"/>
            <a:ext cx="8259866" cy="4244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Kernel Decompresses</a:t>
            </a:r>
            <a:endParaRPr/>
          </a:p>
        </p:txBody>
      </p:sp>
      <p:sp>
        <p:nvSpPr>
          <p:cNvPr id="445" name="Google Shape;445;p25"/>
          <p:cNvSpPr txBox="1"/>
          <p:nvPr/>
        </p:nvSpPr>
        <p:spPr>
          <a:xfrm>
            <a:off x="1965914" y="3048990"/>
            <a:ext cx="8259866" cy="4244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Kernel self-decompresses, early init reads the DTB from register</a:t>
            </a:r>
            <a:endParaRPr/>
          </a:p>
        </p:txBody>
      </p:sp>
      <p:sp>
        <p:nvSpPr>
          <p:cNvPr id="446" name="Google Shape;446;p25"/>
          <p:cNvSpPr/>
          <p:nvPr/>
        </p:nvSpPr>
        <p:spPr>
          <a:xfrm>
            <a:off x="5958687" y="3515868"/>
            <a:ext cx="274320" cy="73152"/>
          </a:xfrm>
          <a:prstGeom prst="triangle">
            <a:avLst>
              <a:gd fmla="val 50000" name="adj"/>
            </a:avLst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25"/>
          <p:cNvSpPr/>
          <p:nvPr/>
        </p:nvSpPr>
        <p:spPr>
          <a:xfrm>
            <a:off x="1828754" y="3589020"/>
            <a:ext cx="8534186" cy="848868"/>
          </a:xfrm>
          <a:prstGeom prst="roundRect">
            <a:avLst>
              <a:gd fmla="val 16667" name="adj"/>
            </a:avLst>
          </a:prstGeom>
          <a:solidFill>
            <a:srgbClr val="3D6F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25"/>
          <p:cNvSpPr txBox="1"/>
          <p:nvPr/>
        </p:nvSpPr>
        <p:spPr>
          <a:xfrm>
            <a:off x="1965914" y="3634740"/>
            <a:ext cx="8259866" cy="4244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DTB Parsing</a:t>
            </a:r>
            <a:endParaRPr/>
          </a:p>
        </p:txBody>
      </p:sp>
      <p:sp>
        <p:nvSpPr>
          <p:cNvPr id="449" name="Google Shape;449;p25"/>
          <p:cNvSpPr txBox="1"/>
          <p:nvPr/>
        </p:nvSpPr>
        <p:spPr>
          <a:xfrm>
            <a:off x="1965914" y="3971010"/>
            <a:ext cx="8259866" cy="4244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Kernel walks the DTB tree, discovers devices, loads matching drivers</a:t>
            </a:r>
            <a:endParaRPr/>
          </a:p>
        </p:txBody>
      </p:sp>
      <p:sp>
        <p:nvSpPr>
          <p:cNvPr id="450" name="Google Shape;450;p25"/>
          <p:cNvSpPr/>
          <p:nvPr/>
        </p:nvSpPr>
        <p:spPr>
          <a:xfrm>
            <a:off x="5958687" y="4437888"/>
            <a:ext cx="274320" cy="73152"/>
          </a:xfrm>
          <a:prstGeom prst="triangle">
            <a:avLst>
              <a:gd fmla="val 50000" name="adj"/>
            </a:avLst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25"/>
          <p:cNvSpPr/>
          <p:nvPr/>
        </p:nvSpPr>
        <p:spPr>
          <a:xfrm>
            <a:off x="1828754" y="4511040"/>
            <a:ext cx="8534186" cy="848868"/>
          </a:xfrm>
          <a:prstGeom prst="roundRect">
            <a:avLst>
              <a:gd fmla="val 16667" name="adj"/>
            </a:avLst>
          </a:prstGeom>
          <a:solidFill>
            <a:srgbClr val="F0B34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5"/>
          <p:cNvSpPr txBox="1"/>
          <p:nvPr/>
        </p:nvSpPr>
        <p:spPr>
          <a:xfrm>
            <a:off x="1965914" y="4556760"/>
            <a:ext cx="8259866" cy="4244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Driver Probe</a:t>
            </a:r>
            <a:endParaRPr/>
          </a:p>
        </p:txBody>
      </p:sp>
      <p:sp>
        <p:nvSpPr>
          <p:cNvPr id="453" name="Google Shape;453;p25"/>
          <p:cNvSpPr txBox="1"/>
          <p:nvPr/>
        </p:nvSpPr>
        <p:spPr>
          <a:xfrm>
            <a:off x="1965914" y="4893030"/>
            <a:ext cx="8259866" cy="4244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Drivers with matching 'compatible' strings are bound to devices</a:t>
            </a:r>
            <a:endParaRPr/>
          </a:p>
        </p:txBody>
      </p:sp>
      <p:sp>
        <p:nvSpPr>
          <p:cNvPr id="454" name="Google Shape;454;p25"/>
          <p:cNvSpPr/>
          <p:nvPr/>
        </p:nvSpPr>
        <p:spPr>
          <a:xfrm>
            <a:off x="5958687" y="5359908"/>
            <a:ext cx="274320" cy="73152"/>
          </a:xfrm>
          <a:prstGeom prst="triangle">
            <a:avLst>
              <a:gd fmla="val 50000" name="adj"/>
            </a:avLst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25"/>
          <p:cNvSpPr/>
          <p:nvPr/>
        </p:nvSpPr>
        <p:spPr>
          <a:xfrm>
            <a:off x="1828754" y="5433060"/>
            <a:ext cx="8534186" cy="848868"/>
          </a:xfrm>
          <a:prstGeom prst="roundRect">
            <a:avLst>
              <a:gd fmla="val 16667" name="adj"/>
            </a:avLst>
          </a:prstGeom>
          <a:solidFill>
            <a:srgbClr val="E686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25"/>
          <p:cNvSpPr txBox="1"/>
          <p:nvPr/>
        </p:nvSpPr>
        <p:spPr>
          <a:xfrm>
            <a:off x="1965914" y="5478780"/>
            <a:ext cx="8259866" cy="4244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Userspace</a:t>
            </a:r>
            <a:endParaRPr/>
          </a:p>
        </p:txBody>
      </p:sp>
      <p:sp>
        <p:nvSpPr>
          <p:cNvPr id="457" name="Google Shape;457;p25"/>
          <p:cNvSpPr txBox="1"/>
          <p:nvPr/>
        </p:nvSpPr>
        <p:spPr>
          <a:xfrm>
            <a:off x="1965914" y="5815050"/>
            <a:ext cx="8259866" cy="4244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Kernel finishes boot, mounts rootfs, starts init — all initialized</a:t>
            </a:r>
            <a:endParaRPr/>
          </a:p>
        </p:txBody>
      </p:sp>
      <p:sp>
        <p:nvSpPr>
          <p:cNvPr id="458" name="Google Shape;458;p2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2334"/>
        </a:solidFill>
      </p:bgPr>
    </p:bg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26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0B34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26"/>
          <p:cNvSpPr txBox="1"/>
          <p:nvPr/>
        </p:nvSpPr>
        <p:spPr>
          <a:xfrm>
            <a:off x="457200" y="1828800"/>
            <a:ext cx="11277295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Part 4: Root Filesystem</a:t>
            </a:r>
            <a:endParaRPr/>
          </a:p>
        </p:txBody>
      </p:sp>
      <p:sp>
        <p:nvSpPr>
          <p:cNvPr id="465" name="Google Shape;465;p26"/>
          <p:cNvSpPr txBox="1"/>
          <p:nvPr/>
        </p:nvSpPr>
        <p:spPr>
          <a:xfrm>
            <a:off x="457200" y="3017520"/>
            <a:ext cx="1127729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0B342"/>
                </a:solidFill>
                <a:latin typeface="Arial"/>
                <a:ea typeface="Arial"/>
                <a:cs typeface="Arial"/>
                <a:sym typeface="Arial"/>
              </a:rPr>
              <a:t>What lives on the target</a:t>
            </a:r>
            <a:endParaRPr/>
          </a:p>
        </p:txBody>
      </p:sp>
      <p:sp>
        <p:nvSpPr>
          <p:cNvPr id="466" name="Google Shape;466;p2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7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686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7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Root Filesystem: Structure</a:t>
            </a:r>
            <a:endParaRPr/>
          </a:p>
        </p:txBody>
      </p:sp>
      <p:sp>
        <p:nvSpPr>
          <p:cNvPr id="473" name="Google Shape;473;p27"/>
          <p:cNvSpPr/>
          <p:nvPr/>
        </p:nvSpPr>
        <p:spPr>
          <a:xfrm>
            <a:off x="457200" y="822947"/>
            <a:ext cx="5547300" cy="3585600"/>
          </a:xfrm>
          <a:prstGeom prst="roundRect">
            <a:avLst>
              <a:gd fmla="val 16667" name="adj"/>
            </a:avLst>
          </a:prstGeom>
          <a:solidFill>
            <a:srgbClr val="FDF4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27"/>
          <p:cNvSpPr/>
          <p:nvPr/>
        </p:nvSpPr>
        <p:spPr>
          <a:xfrm>
            <a:off x="457200" y="822960"/>
            <a:ext cx="5547207" cy="365760"/>
          </a:xfrm>
          <a:prstGeom prst="roundRect">
            <a:avLst>
              <a:gd fmla="val 16667" name="adj"/>
            </a:avLst>
          </a:prstGeom>
          <a:solidFill>
            <a:srgbClr val="F0B34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27"/>
          <p:cNvSpPr txBox="1"/>
          <p:nvPr/>
        </p:nvSpPr>
        <p:spPr>
          <a:xfrm>
            <a:off x="594360" y="868680"/>
            <a:ext cx="5272887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Essential Directories</a:t>
            </a:r>
            <a:endParaRPr/>
          </a:p>
        </p:txBody>
      </p:sp>
      <p:sp>
        <p:nvSpPr>
          <p:cNvPr id="476" name="Google Shape;476;p27"/>
          <p:cNvSpPr txBox="1"/>
          <p:nvPr/>
        </p:nvSpPr>
        <p:spPr>
          <a:xfrm>
            <a:off x="594360" y="1280160"/>
            <a:ext cx="5272887" cy="22174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/bin    — Core user commands (ls, cp, cat, echo)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/sbin   — System commands (init, mount, fdisk)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/etc    — Configuration files (fstab, inittab, hostname)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/lib    — Shared libraries, kernel modules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/dev    — Device nodes (created by kernel/udev)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/proc   — Kernel/process information (virtual)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/sys    — Kernel/device information (virtual)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/tmp    — Temporary files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/usr    — Secondary hierarchy (usr/bin, usr/lib)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/var    — Variable data (logs, spool)</a:t>
            </a:r>
            <a:endParaRPr/>
          </a:p>
        </p:txBody>
      </p:sp>
      <p:sp>
        <p:nvSpPr>
          <p:cNvPr id="477" name="Google Shape;477;p27"/>
          <p:cNvSpPr/>
          <p:nvPr/>
        </p:nvSpPr>
        <p:spPr>
          <a:xfrm>
            <a:off x="6187275" y="822947"/>
            <a:ext cx="5547300" cy="3585600"/>
          </a:xfrm>
          <a:prstGeom prst="roundRect">
            <a:avLst>
              <a:gd fmla="val 16667" name="adj"/>
            </a:avLst>
          </a:prstGeom>
          <a:solidFill>
            <a:srgbClr val="E6F5F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27"/>
          <p:cNvSpPr/>
          <p:nvPr/>
        </p:nvSpPr>
        <p:spPr>
          <a:xfrm>
            <a:off x="6187287" y="822960"/>
            <a:ext cx="5547207" cy="365760"/>
          </a:xfrm>
          <a:prstGeom prst="roundRect">
            <a:avLst>
              <a:gd fmla="val 16667" name="adj"/>
            </a:avLst>
          </a:prstGeom>
          <a:solidFill>
            <a:srgbClr val="E686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27"/>
          <p:cNvSpPr txBox="1"/>
          <p:nvPr/>
        </p:nvSpPr>
        <p:spPr>
          <a:xfrm>
            <a:off x="6324447" y="868680"/>
            <a:ext cx="5272887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Embedded Considerations</a:t>
            </a:r>
            <a:endParaRPr/>
          </a:p>
        </p:txBody>
      </p:sp>
      <p:sp>
        <p:nvSpPr>
          <p:cNvPr id="480" name="Google Shape;480;p27"/>
          <p:cNvSpPr txBox="1"/>
          <p:nvPr/>
        </p:nvSpPr>
        <p:spPr>
          <a:xfrm>
            <a:off x="6324447" y="1280160"/>
            <a:ext cx="5272887" cy="22174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Can fit in as little as 4–16 MB with BusyBox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No package manager on most embedded systems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Buildroot or Yocto create the rootfs at build time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Often read-only (squashfs) or read-write (ext4/ubifs)</a:t>
            </a:r>
            <a:endParaRPr/>
          </a:p>
        </p:txBody>
      </p:sp>
      <p:sp>
        <p:nvSpPr>
          <p:cNvPr id="481" name="Google Shape;481;p27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28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97A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28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Init Process: First Userspace Program</a:t>
            </a:r>
            <a:endParaRPr/>
          </a:p>
        </p:txBody>
      </p:sp>
      <p:sp>
        <p:nvSpPr>
          <p:cNvPr id="488" name="Google Shape;488;p28"/>
          <p:cNvSpPr txBox="1"/>
          <p:nvPr/>
        </p:nvSpPr>
        <p:spPr>
          <a:xfrm>
            <a:off x="457200" y="822960"/>
            <a:ext cx="55014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BusyBox init (typical embedded)</a:t>
            </a:r>
            <a:endParaRPr/>
          </a:p>
        </p:txBody>
      </p:sp>
      <p:sp>
        <p:nvSpPr>
          <p:cNvPr id="489" name="Google Shape;489;p28"/>
          <p:cNvSpPr txBox="1"/>
          <p:nvPr/>
        </p:nvSpPr>
        <p:spPr>
          <a:xfrm>
            <a:off x="457200" y="1280160"/>
            <a:ext cx="5501487" cy="5166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Minimal — single BusyBox binary provides all tools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Reads /etc/inittab for runlevel configuration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Starts /etc/init.d/rcS on boot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Spawns a shell on console (no login required)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Very fast boot (milliseconds to shell)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Size: ~1–2 MB total rootfs</a:t>
            </a:r>
            <a:endParaRPr/>
          </a:p>
        </p:txBody>
      </p:sp>
      <p:sp>
        <p:nvSpPr>
          <p:cNvPr id="490" name="Google Shape;490;p28"/>
          <p:cNvSpPr txBox="1"/>
          <p:nvPr/>
        </p:nvSpPr>
        <p:spPr>
          <a:xfrm>
            <a:off x="6233007" y="822960"/>
            <a:ext cx="55014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systemd (larger embedded / complex)</a:t>
            </a:r>
            <a:endParaRPr/>
          </a:p>
        </p:txBody>
      </p:sp>
      <p:sp>
        <p:nvSpPr>
          <p:cNvPr id="491" name="Google Shape;491;p28"/>
          <p:cNvSpPr txBox="1"/>
          <p:nvPr/>
        </p:nvSpPr>
        <p:spPr>
          <a:xfrm>
            <a:off x="6233007" y="1280160"/>
            <a:ext cx="5501487" cy="5166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Full-featured init system (parallel startup)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Service management, dependencies, socket activation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Logging (journald), device management (udev)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Mounts filesystems, configures network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More overhead but better for complex systems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Size: ~20–50 MB with systemd + dependencies</a:t>
            </a:r>
            <a:endParaRPr/>
          </a:p>
        </p:txBody>
      </p:sp>
      <p:sp>
        <p:nvSpPr>
          <p:cNvPr id="492" name="Google Shape;492;p28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29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D6F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29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Buildroot: Your First Root Filesystem</a:t>
            </a:r>
            <a:endParaRPr/>
          </a:p>
        </p:txBody>
      </p:sp>
      <p:sp>
        <p:nvSpPr>
          <p:cNvPr id="499" name="Google Shape;499;p29"/>
          <p:cNvSpPr/>
          <p:nvPr/>
        </p:nvSpPr>
        <p:spPr>
          <a:xfrm>
            <a:off x="457200" y="822960"/>
            <a:ext cx="11277295" cy="5623560"/>
          </a:xfrm>
          <a:prstGeom prst="roundRect">
            <a:avLst>
              <a:gd fmla="val 16667" name="adj"/>
            </a:avLst>
          </a:prstGeom>
          <a:solidFill>
            <a:srgbClr val="1E1E1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29"/>
          <p:cNvSpPr txBox="1"/>
          <p:nvPr/>
        </p:nvSpPr>
        <p:spPr>
          <a:xfrm>
            <a:off x="594350" y="1251338"/>
            <a:ext cx="11003100" cy="3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# Download and extract Buildroot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$ tar xf buildroot-2024.02.tar.gz &amp;&amp; cd buildroot-2024.02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# Select a default configuration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$ make myboard_defconfig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# Customize (optional)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$ make menuconfig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# Build everything: toolchain, kernel, rootfs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$ make -j$(nproc)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# Takes 30–60 minutes first time, 2–3 minutes incremental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# Output location: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#   output/images/rootfs.tar          &lt;- compressed rootfs archive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#   output/images/rootfs.ext4         &lt;- ready-to-flash ext4 image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#   output/images/zImage              &lt;- kernel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#   output/images/myboard.dtb         &lt;- device tree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# Deploy to SD card partition 2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$ sudo tar xf output/images/rootfs.tar -C /mnt/p2</a:t>
            </a:r>
            <a:endParaRPr/>
          </a:p>
        </p:txBody>
      </p:sp>
      <p:sp>
        <p:nvSpPr>
          <p:cNvPr id="501" name="Google Shape;501;p29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2334"/>
        </a:solidFill>
      </p:bgPr>
    </p:bg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3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0B34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30"/>
          <p:cNvSpPr txBox="1"/>
          <p:nvPr/>
        </p:nvSpPr>
        <p:spPr>
          <a:xfrm>
            <a:off x="457200" y="1828800"/>
            <a:ext cx="11277295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Part 5: Lab</a:t>
            </a:r>
            <a:endParaRPr/>
          </a:p>
        </p:txBody>
      </p:sp>
      <p:sp>
        <p:nvSpPr>
          <p:cNvPr id="508" name="Google Shape;508;p30"/>
          <p:cNvSpPr txBox="1"/>
          <p:nvPr/>
        </p:nvSpPr>
        <p:spPr>
          <a:xfrm>
            <a:off x="457200" y="3017520"/>
            <a:ext cx="1127729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0B342"/>
                </a:solidFill>
                <a:latin typeface="Arial"/>
                <a:ea typeface="Arial"/>
                <a:cs typeface="Arial"/>
                <a:sym typeface="Arial"/>
              </a:rPr>
              <a:t>Build a bootable system from scratch</a:t>
            </a:r>
            <a:endParaRPr/>
          </a:p>
        </p:txBody>
      </p:sp>
      <p:sp>
        <p:nvSpPr>
          <p:cNvPr id="509" name="Google Shape;509;p3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3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686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3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Complete Boot Sequence</a:t>
            </a:r>
            <a:endParaRPr/>
          </a:p>
        </p:txBody>
      </p:sp>
      <p:sp>
        <p:nvSpPr>
          <p:cNvPr id="516" name="Google Shape;516;p31"/>
          <p:cNvSpPr/>
          <p:nvPr/>
        </p:nvSpPr>
        <p:spPr>
          <a:xfrm>
            <a:off x="1828754" y="822960"/>
            <a:ext cx="8534186" cy="541528"/>
          </a:xfrm>
          <a:prstGeom prst="roundRect">
            <a:avLst>
              <a:gd fmla="val 16667" name="adj"/>
            </a:avLst>
          </a:prstGeom>
          <a:solidFill>
            <a:srgbClr val="F0B34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31"/>
          <p:cNvSpPr txBox="1"/>
          <p:nvPr/>
        </p:nvSpPr>
        <p:spPr>
          <a:xfrm>
            <a:off x="1965914" y="868680"/>
            <a:ext cx="8259866" cy="2707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Power On</a:t>
            </a:r>
            <a:endParaRPr/>
          </a:p>
        </p:txBody>
      </p:sp>
      <p:sp>
        <p:nvSpPr>
          <p:cNvPr id="518" name="Google Shape;518;p31"/>
          <p:cNvSpPr txBox="1"/>
          <p:nvPr/>
        </p:nvSpPr>
        <p:spPr>
          <a:xfrm>
            <a:off x="1965914" y="1066647"/>
            <a:ext cx="8259866" cy="2707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SoC internal ROM runs first</a:t>
            </a:r>
            <a:endParaRPr/>
          </a:p>
        </p:txBody>
      </p:sp>
      <p:sp>
        <p:nvSpPr>
          <p:cNvPr id="519" name="Google Shape;519;p31"/>
          <p:cNvSpPr/>
          <p:nvPr/>
        </p:nvSpPr>
        <p:spPr>
          <a:xfrm>
            <a:off x="5958687" y="1364488"/>
            <a:ext cx="274320" cy="73152"/>
          </a:xfrm>
          <a:prstGeom prst="triangle">
            <a:avLst>
              <a:gd fmla="val 50000" name="adj"/>
            </a:avLst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31"/>
          <p:cNvSpPr/>
          <p:nvPr/>
        </p:nvSpPr>
        <p:spPr>
          <a:xfrm>
            <a:off x="1828754" y="1437640"/>
            <a:ext cx="8534186" cy="541528"/>
          </a:xfrm>
          <a:prstGeom prst="roundRect">
            <a:avLst>
              <a:gd fmla="val 16667" name="adj"/>
            </a:avLst>
          </a:prstGeom>
          <a:solidFill>
            <a:srgbClr val="E686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31"/>
          <p:cNvSpPr txBox="1"/>
          <p:nvPr/>
        </p:nvSpPr>
        <p:spPr>
          <a:xfrm>
            <a:off x="1965914" y="1483360"/>
            <a:ext cx="8259866" cy="2707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ROM → SPL</a:t>
            </a:r>
            <a:endParaRPr/>
          </a:p>
        </p:txBody>
      </p:sp>
      <p:sp>
        <p:nvSpPr>
          <p:cNvPr id="522" name="Google Shape;522;p31"/>
          <p:cNvSpPr txBox="1"/>
          <p:nvPr/>
        </p:nvSpPr>
        <p:spPr>
          <a:xfrm>
            <a:off x="1965914" y="1681327"/>
            <a:ext cx="8259866" cy="2707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ROM loads Secondary Program Loader from SD card sector 0</a:t>
            </a:r>
            <a:endParaRPr/>
          </a:p>
        </p:txBody>
      </p:sp>
      <p:sp>
        <p:nvSpPr>
          <p:cNvPr id="523" name="Google Shape;523;p31"/>
          <p:cNvSpPr/>
          <p:nvPr/>
        </p:nvSpPr>
        <p:spPr>
          <a:xfrm>
            <a:off x="5958687" y="1979168"/>
            <a:ext cx="274320" cy="73152"/>
          </a:xfrm>
          <a:prstGeom prst="triangle">
            <a:avLst>
              <a:gd fmla="val 50000" name="adj"/>
            </a:avLst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31"/>
          <p:cNvSpPr/>
          <p:nvPr/>
        </p:nvSpPr>
        <p:spPr>
          <a:xfrm>
            <a:off x="1828754" y="2052320"/>
            <a:ext cx="8534186" cy="541528"/>
          </a:xfrm>
          <a:prstGeom prst="roundRect">
            <a:avLst>
              <a:gd fmla="val 16667" name="adj"/>
            </a:avLst>
          </a:prstGeom>
          <a:solidFill>
            <a:srgbClr val="197A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31"/>
          <p:cNvSpPr txBox="1"/>
          <p:nvPr/>
        </p:nvSpPr>
        <p:spPr>
          <a:xfrm>
            <a:off x="1965914" y="2098040"/>
            <a:ext cx="8259866" cy="2707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SPL</a:t>
            </a:r>
            <a:endParaRPr/>
          </a:p>
        </p:txBody>
      </p:sp>
      <p:sp>
        <p:nvSpPr>
          <p:cNvPr id="526" name="Google Shape;526;p31"/>
          <p:cNvSpPr txBox="1"/>
          <p:nvPr/>
        </p:nvSpPr>
        <p:spPr>
          <a:xfrm>
            <a:off x="1965914" y="2296007"/>
            <a:ext cx="8259866" cy="2707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Initializes DRAM, clocks, minimal peripherals</a:t>
            </a:r>
            <a:endParaRPr/>
          </a:p>
        </p:txBody>
      </p:sp>
      <p:sp>
        <p:nvSpPr>
          <p:cNvPr id="527" name="Google Shape;527;p31"/>
          <p:cNvSpPr/>
          <p:nvPr/>
        </p:nvSpPr>
        <p:spPr>
          <a:xfrm>
            <a:off x="5958687" y="2593848"/>
            <a:ext cx="274320" cy="73152"/>
          </a:xfrm>
          <a:prstGeom prst="triangle">
            <a:avLst>
              <a:gd fmla="val 50000" name="adj"/>
            </a:avLst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31"/>
          <p:cNvSpPr/>
          <p:nvPr/>
        </p:nvSpPr>
        <p:spPr>
          <a:xfrm>
            <a:off x="1828754" y="2667000"/>
            <a:ext cx="8534186" cy="541528"/>
          </a:xfrm>
          <a:prstGeom prst="roundRect">
            <a:avLst>
              <a:gd fmla="val 16667" name="adj"/>
            </a:avLst>
          </a:prstGeom>
          <a:solidFill>
            <a:srgbClr val="3D6F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31"/>
          <p:cNvSpPr txBox="1"/>
          <p:nvPr/>
        </p:nvSpPr>
        <p:spPr>
          <a:xfrm>
            <a:off x="1965914" y="2712720"/>
            <a:ext cx="8259866" cy="2707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SPL → U-Boot</a:t>
            </a:r>
            <a:endParaRPr/>
          </a:p>
        </p:txBody>
      </p:sp>
      <p:sp>
        <p:nvSpPr>
          <p:cNvPr id="530" name="Google Shape;530;p31"/>
          <p:cNvSpPr txBox="1"/>
          <p:nvPr/>
        </p:nvSpPr>
        <p:spPr>
          <a:xfrm>
            <a:off x="1965914" y="2910687"/>
            <a:ext cx="8259866" cy="2707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SPL loads U-Boot proper from SD partition</a:t>
            </a:r>
            <a:endParaRPr/>
          </a:p>
        </p:txBody>
      </p:sp>
      <p:sp>
        <p:nvSpPr>
          <p:cNvPr id="531" name="Google Shape;531;p31"/>
          <p:cNvSpPr/>
          <p:nvPr/>
        </p:nvSpPr>
        <p:spPr>
          <a:xfrm>
            <a:off x="5958687" y="3208528"/>
            <a:ext cx="274320" cy="73152"/>
          </a:xfrm>
          <a:prstGeom prst="triangle">
            <a:avLst>
              <a:gd fmla="val 50000" name="adj"/>
            </a:avLst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31"/>
          <p:cNvSpPr/>
          <p:nvPr/>
        </p:nvSpPr>
        <p:spPr>
          <a:xfrm>
            <a:off x="1828754" y="3281680"/>
            <a:ext cx="8534186" cy="541528"/>
          </a:xfrm>
          <a:prstGeom prst="roundRect">
            <a:avLst>
              <a:gd fmla="val 16667" name="adj"/>
            </a:avLst>
          </a:prstGeom>
          <a:solidFill>
            <a:srgbClr val="F0B34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31"/>
          <p:cNvSpPr txBox="1"/>
          <p:nvPr/>
        </p:nvSpPr>
        <p:spPr>
          <a:xfrm>
            <a:off x="1965914" y="3327400"/>
            <a:ext cx="8259866" cy="2707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U-Boot</a:t>
            </a:r>
            <a:endParaRPr/>
          </a:p>
        </p:txBody>
      </p:sp>
      <p:sp>
        <p:nvSpPr>
          <p:cNvPr id="534" name="Google Shape;534;p31"/>
          <p:cNvSpPr txBox="1"/>
          <p:nvPr/>
        </p:nvSpPr>
        <p:spPr>
          <a:xfrm>
            <a:off x="1965914" y="3525367"/>
            <a:ext cx="8259866" cy="2707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Full hardware init: UART, MMC, USB, network</a:t>
            </a:r>
            <a:endParaRPr/>
          </a:p>
        </p:txBody>
      </p:sp>
      <p:sp>
        <p:nvSpPr>
          <p:cNvPr id="535" name="Google Shape;535;p31"/>
          <p:cNvSpPr/>
          <p:nvPr/>
        </p:nvSpPr>
        <p:spPr>
          <a:xfrm>
            <a:off x="5958687" y="3823208"/>
            <a:ext cx="274320" cy="73152"/>
          </a:xfrm>
          <a:prstGeom prst="triangle">
            <a:avLst>
              <a:gd fmla="val 50000" name="adj"/>
            </a:avLst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31"/>
          <p:cNvSpPr/>
          <p:nvPr/>
        </p:nvSpPr>
        <p:spPr>
          <a:xfrm>
            <a:off x="1828754" y="3896360"/>
            <a:ext cx="8534186" cy="541528"/>
          </a:xfrm>
          <a:prstGeom prst="roundRect">
            <a:avLst>
              <a:gd fmla="val 16667" name="adj"/>
            </a:avLst>
          </a:prstGeom>
          <a:solidFill>
            <a:srgbClr val="E686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31"/>
          <p:cNvSpPr txBox="1"/>
          <p:nvPr/>
        </p:nvSpPr>
        <p:spPr>
          <a:xfrm>
            <a:off x="1965914" y="3942080"/>
            <a:ext cx="8259866" cy="2707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U-Boot → Kernel</a:t>
            </a:r>
            <a:endParaRPr/>
          </a:p>
        </p:txBody>
      </p:sp>
      <p:sp>
        <p:nvSpPr>
          <p:cNvPr id="538" name="Google Shape;538;p31"/>
          <p:cNvSpPr txBox="1"/>
          <p:nvPr/>
        </p:nvSpPr>
        <p:spPr>
          <a:xfrm>
            <a:off x="1965914" y="4140047"/>
            <a:ext cx="8259866" cy="2707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Loads zImage and .dtb into RAM, passes DTB address</a:t>
            </a:r>
            <a:endParaRPr/>
          </a:p>
        </p:txBody>
      </p:sp>
      <p:sp>
        <p:nvSpPr>
          <p:cNvPr id="539" name="Google Shape;539;p31"/>
          <p:cNvSpPr/>
          <p:nvPr/>
        </p:nvSpPr>
        <p:spPr>
          <a:xfrm>
            <a:off x="5958687" y="4437888"/>
            <a:ext cx="274320" cy="73152"/>
          </a:xfrm>
          <a:prstGeom prst="triangle">
            <a:avLst>
              <a:gd fmla="val 50000" name="adj"/>
            </a:avLst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31"/>
          <p:cNvSpPr/>
          <p:nvPr/>
        </p:nvSpPr>
        <p:spPr>
          <a:xfrm>
            <a:off x="1828754" y="4511040"/>
            <a:ext cx="8534186" cy="541528"/>
          </a:xfrm>
          <a:prstGeom prst="roundRect">
            <a:avLst>
              <a:gd fmla="val 16667" name="adj"/>
            </a:avLst>
          </a:prstGeom>
          <a:solidFill>
            <a:srgbClr val="197A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31"/>
          <p:cNvSpPr txBox="1"/>
          <p:nvPr/>
        </p:nvSpPr>
        <p:spPr>
          <a:xfrm>
            <a:off x="1965914" y="4556760"/>
            <a:ext cx="8259866" cy="2707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Kernel</a:t>
            </a:r>
            <a:endParaRPr/>
          </a:p>
        </p:txBody>
      </p:sp>
      <p:sp>
        <p:nvSpPr>
          <p:cNvPr id="542" name="Google Shape;542;p31"/>
          <p:cNvSpPr txBox="1"/>
          <p:nvPr/>
        </p:nvSpPr>
        <p:spPr>
          <a:xfrm>
            <a:off x="1965914" y="4754727"/>
            <a:ext cx="8259866" cy="2707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Decompresses, parses DTB, probes devices, mounts rootfs</a:t>
            </a:r>
            <a:endParaRPr/>
          </a:p>
        </p:txBody>
      </p:sp>
      <p:sp>
        <p:nvSpPr>
          <p:cNvPr id="543" name="Google Shape;543;p31"/>
          <p:cNvSpPr/>
          <p:nvPr/>
        </p:nvSpPr>
        <p:spPr>
          <a:xfrm>
            <a:off x="5958687" y="5052568"/>
            <a:ext cx="274320" cy="73152"/>
          </a:xfrm>
          <a:prstGeom prst="triangle">
            <a:avLst>
              <a:gd fmla="val 50000" name="adj"/>
            </a:avLst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31"/>
          <p:cNvSpPr/>
          <p:nvPr/>
        </p:nvSpPr>
        <p:spPr>
          <a:xfrm>
            <a:off x="1828754" y="5125720"/>
            <a:ext cx="8534186" cy="541528"/>
          </a:xfrm>
          <a:prstGeom prst="roundRect">
            <a:avLst>
              <a:gd fmla="val 16667" name="adj"/>
            </a:avLst>
          </a:prstGeom>
          <a:solidFill>
            <a:srgbClr val="3D6F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31"/>
          <p:cNvSpPr txBox="1"/>
          <p:nvPr/>
        </p:nvSpPr>
        <p:spPr>
          <a:xfrm>
            <a:off x="1965914" y="5171440"/>
            <a:ext cx="8259866" cy="2707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Init</a:t>
            </a:r>
            <a:endParaRPr/>
          </a:p>
        </p:txBody>
      </p:sp>
      <p:sp>
        <p:nvSpPr>
          <p:cNvPr id="546" name="Google Shape;546;p31"/>
          <p:cNvSpPr txBox="1"/>
          <p:nvPr/>
        </p:nvSpPr>
        <p:spPr>
          <a:xfrm>
            <a:off x="1965914" y="5369407"/>
            <a:ext cx="8259866" cy="2707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systemd or BusyBox init starts userspace services</a:t>
            </a:r>
            <a:endParaRPr/>
          </a:p>
        </p:txBody>
      </p:sp>
      <p:sp>
        <p:nvSpPr>
          <p:cNvPr id="547" name="Google Shape;547;p31"/>
          <p:cNvSpPr/>
          <p:nvPr/>
        </p:nvSpPr>
        <p:spPr>
          <a:xfrm>
            <a:off x="5958687" y="5667248"/>
            <a:ext cx="274320" cy="73152"/>
          </a:xfrm>
          <a:prstGeom prst="triangle">
            <a:avLst>
              <a:gd fmla="val 50000" name="adj"/>
            </a:avLst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31"/>
          <p:cNvSpPr/>
          <p:nvPr/>
        </p:nvSpPr>
        <p:spPr>
          <a:xfrm>
            <a:off x="1828754" y="5740400"/>
            <a:ext cx="8534186" cy="541528"/>
          </a:xfrm>
          <a:prstGeom prst="roundRect">
            <a:avLst>
              <a:gd fmla="val 16667" name="adj"/>
            </a:avLst>
          </a:prstGeom>
          <a:solidFill>
            <a:srgbClr val="F0B34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31"/>
          <p:cNvSpPr txBox="1"/>
          <p:nvPr/>
        </p:nvSpPr>
        <p:spPr>
          <a:xfrm>
            <a:off x="1965914" y="5786120"/>
            <a:ext cx="8259866" cy="2707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Shell</a:t>
            </a:r>
            <a:endParaRPr/>
          </a:p>
        </p:txBody>
      </p:sp>
      <p:sp>
        <p:nvSpPr>
          <p:cNvPr id="550" name="Google Shape;550;p31"/>
          <p:cNvSpPr txBox="1"/>
          <p:nvPr/>
        </p:nvSpPr>
        <p:spPr>
          <a:xfrm>
            <a:off x="1965914" y="5984087"/>
            <a:ext cx="8259866" cy="2707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Login prompt on serial console — you're in!</a:t>
            </a:r>
            <a:endParaRPr/>
          </a:p>
        </p:txBody>
      </p:sp>
      <p:sp>
        <p:nvSpPr>
          <p:cNvPr id="551" name="Google Shape;551;p31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3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E7D3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32"/>
          <p:cNvSpPr txBox="1"/>
          <p:nvPr/>
        </p:nvSpPr>
        <p:spPr>
          <a:xfrm>
            <a:off x="457200" y="274320"/>
            <a:ext cx="1127729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Lab: Build a Bootable System</a:t>
            </a:r>
            <a:endParaRPr/>
          </a:p>
        </p:txBody>
      </p:sp>
      <p:sp>
        <p:nvSpPr>
          <p:cNvPr id="558" name="Google Shape;558;p32"/>
          <p:cNvSpPr/>
          <p:nvPr/>
        </p:nvSpPr>
        <p:spPr>
          <a:xfrm>
            <a:off x="457200" y="868680"/>
            <a:ext cx="365760" cy="365760"/>
          </a:xfrm>
          <a:prstGeom prst="ellipse">
            <a:avLst/>
          </a:prstGeom>
          <a:solidFill>
            <a:srgbClr val="2E7D3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32"/>
          <p:cNvSpPr txBox="1"/>
          <p:nvPr/>
        </p:nvSpPr>
        <p:spPr>
          <a:xfrm>
            <a:off x="457200" y="896112"/>
            <a:ext cx="365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560" name="Google Shape;560;p32"/>
          <p:cNvSpPr txBox="1"/>
          <p:nvPr/>
        </p:nvSpPr>
        <p:spPr>
          <a:xfrm>
            <a:off x="1005840" y="822960"/>
            <a:ext cx="10728655" cy="1124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Set up toolchain</a:t>
            </a:r>
            <a:endParaRPr/>
          </a:p>
        </p:txBody>
      </p:sp>
      <p:sp>
        <p:nvSpPr>
          <p:cNvPr id="561" name="Google Shape;561;p32"/>
          <p:cNvSpPr txBox="1"/>
          <p:nvPr/>
        </p:nvSpPr>
        <p:spPr>
          <a:xfrm>
            <a:off x="1005840" y="1097280"/>
            <a:ext cx="10728655" cy="8503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Install or download pre-built arm-linux-gnueabihf toolchain. Verify: arm-linux-gnueabihf-gcc --version</a:t>
            </a:r>
            <a:endParaRPr/>
          </a:p>
        </p:txBody>
      </p:sp>
      <p:sp>
        <p:nvSpPr>
          <p:cNvPr id="562" name="Google Shape;562;p32"/>
          <p:cNvSpPr/>
          <p:nvPr/>
        </p:nvSpPr>
        <p:spPr>
          <a:xfrm>
            <a:off x="457200" y="1993392"/>
            <a:ext cx="365760" cy="365760"/>
          </a:xfrm>
          <a:prstGeom prst="ellipse">
            <a:avLst/>
          </a:prstGeom>
          <a:solidFill>
            <a:srgbClr val="2E7D3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32"/>
          <p:cNvSpPr txBox="1"/>
          <p:nvPr/>
        </p:nvSpPr>
        <p:spPr>
          <a:xfrm>
            <a:off x="457200" y="2020824"/>
            <a:ext cx="365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564" name="Google Shape;564;p32"/>
          <p:cNvSpPr txBox="1"/>
          <p:nvPr/>
        </p:nvSpPr>
        <p:spPr>
          <a:xfrm>
            <a:off x="1005840" y="1947672"/>
            <a:ext cx="10728655" cy="1124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Build kernel</a:t>
            </a:r>
            <a:endParaRPr/>
          </a:p>
        </p:txBody>
      </p:sp>
      <p:sp>
        <p:nvSpPr>
          <p:cNvPr id="565" name="Google Shape;565;p32"/>
          <p:cNvSpPr txBox="1"/>
          <p:nvPr/>
        </p:nvSpPr>
        <p:spPr>
          <a:xfrm>
            <a:off x="1005840" y="2221992"/>
            <a:ext cx="10728655" cy="8503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make ARCH=arm myboard_defconfig &amp;&amp; make ARCH=arm CROSS_COMPILE=arm-linux-gnueabihf- -j$(nproc) Image dtbs</a:t>
            </a:r>
            <a:endParaRPr/>
          </a:p>
        </p:txBody>
      </p:sp>
      <p:sp>
        <p:nvSpPr>
          <p:cNvPr id="566" name="Google Shape;566;p32"/>
          <p:cNvSpPr/>
          <p:nvPr/>
        </p:nvSpPr>
        <p:spPr>
          <a:xfrm>
            <a:off x="457200" y="3118104"/>
            <a:ext cx="365760" cy="365760"/>
          </a:xfrm>
          <a:prstGeom prst="ellipse">
            <a:avLst/>
          </a:prstGeom>
          <a:solidFill>
            <a:srgbClr val="2E7D3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32"/>
          <p:cNvSpPr txBox="1"/>
          <p:nvPr/>
        </p:nvSpPr>
        <p:spPr>
          <a:xfrm>
            <a:off x="457200" y="3145536"/>
            <a:ext cx="365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568" name="Google Shape;568;p32"/>
          <p:cNvSpPr txBox="1"/>
          <p:nvPr/>
        </p:nvSpPr>
        <p:spPr>
          <a:xfrm>
            <a:off x="1005840" y="3072384"/>
            <a:ext cx="10728655" cy="1124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Build rootfs with Buildroot</a:t>
            </a:r>
            <a:endParaRPr/>
          </a:p>
        </p:txBody>
      </p:sp>
      <p:sp>
        <p:nvSpPr>
          <p:cNvPr id="569" name="Google Shape;569;p32"/>
          <p:cNvSpPr txBox="1"/>
          <p:nvPr/>
        </p:nvSpPr>
        <p:spPr>
          <a:xfrm>
            <a:off x="1005840" y="3346704"/>
            <a:ext cx="10728655" cy="8503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make myboard_defconfig &amp;&amp; make -j$(nproc). Output: output/images/rootfs.ext4</a:t>
            </a:r>
            <a:endParaRPr/>
          </a:p>
        </p:txBody>
      </p:sp>
      <p:sp>
        <p:nvSpPr>
          <p:cNvPr id="570" name="Google Shape;570;p32"/>
          <p:cNvSpPr/>
          <p:nvPr/>
        </p:nvSpPr>
        <p:spPr>
          <a:xfrm>
            <a:off x="457200" y="4242816"/>
            <a:ext cx="365760" cy="365760"/>
          </a:xfrm>
          <a:prstGeom prst="ellipse">
            <a:avLst/>
          </a:prstGeom>
          <a:solidFill>
            <a:srgbClr val="2E7D3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32"/>
          <p:cNvSpPr txBox="1"/>
          <p:nvPr/>
        </p:nvSpPr>
        <p:spPr>
          <a:xfrm>
            <a:off x="457200" y="4270248"/>
            <a:ext cx="365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572" name="Google Shape;572;p32"/>
          <p:cNvSpPr txBox="1"/>
          <p:nvPr/>
        </p:nvSpPr>
        <p:spPr>
          <a:xfrm>
            <a:off x="1005840" y="4197096"/>
            <a:ext cx="10728655" cy="1124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Prepare SD card</a:t>
            </a:r>
            <a:endParaRPr/>
          </a:p>
        </p:txBody>
      </p:sp>
      <p:sp>
        <p:nvSpPr>
          <p:cNvPr id="573" name="Google Shape;573;p32"/>
          <p:cNvSpPr txBox="1"/>
          <p:nvPr/>
        </p:nvSpPr>
        <p:spPr>
          <a:xfrm>
            <a:off x="1005840" y="4471416"/>
            <a:ext cx="10728655" cy="8503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Partition: 1 FAT32 (boot), 2 ext4 (rootfs). Copy zImage + .dtb to partition 1, extract rootfs to partition 2</a:t>
            </a:r>
            <a:endParaRPr/>
          </a:p>
        </p:txBody>
      </p:sp>
      <p:sp>
        <p:nvSpPr>
          <p:cNvPr id="574" name="Google Shape;574;p32"/>
          <p:cNvSpPr/>
          <p:nvPr/>
        </p:nvSpPr>
        <p:spPr>
          <a:xfrm>
            <a:off x="457200" y="5367528"/>
            <a:ext cx="365760" cy="365760"/>
          </a:xfrm>
          <a:prstGeom prst="ellipse">
            <a:avLst/>
          </a:prstGeom>
          <a:solidFill>
            <a:srgbClr val="2E7D3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32"/>
          <p:cNvSpPr txBox="1"/>
          <p:nvPr/>
        </p:nvSpPr>
        <p:spPr>
          <a:xfrm>
            <a:off x="457200" y="5394960"/>
            <a:ext cx="365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576" name="Google Shape;576;p32"/>
          <p:cNvSpPr txBox="1"/>
          <p:nvPr/>
        </p:nvSpPr>
        <p:spPr>
          <a:xfrm>
            <a:off x="1005840" y="5321808"/>
            <a:ext cx="10728655" cy="1124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Boot!</a:t>
            </a:r>
            <a:endParaRPr/>
          </a:p>
        </p:txBody>
      </p:sp>
      <p:sp>
        <p:nvSpPr>
          <p:cNvPr id="577" name="Google Shape;577;p32"/>
          <p:cNvSpPr txBox="1"/>
          <p:nvPr/>
        </p:nvSpPr>
        <p:spPr>
          <a:xfrm>
            <a:off x="1005840" y="5596128"/>
            <a:ext cx="10728655" cy="8503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Insert SD card, connect serial cable, power on. Hit a key at U-Boot prompt to stop autoboot if needed.</a:t>
            </a:r>
            <a:endParaRPr/>
          </a:p>
        </p:txBody>
      </p:sp>
      <p:sp>
        <p:nvSpPr>
          <p:cNvPr id="578" name="Google Shape;578;p3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33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E7D3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33"/>
          <p:cNvSpPr txBox="1"/>
          <p:nvPr/>
        </p:nvSpPr>
        <p:spPr>
          <a:xfrm>
            <a:off x="457200" y="274320"/>
            <a:ext cx="1127729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Lab: Flash and Boot — What to Look For</a:t>
            </a:r>
            <a:endParaRPr/>
          </a:p>
        </p:txBody>
      </p:sp>
      <p:sp>
        <p:nvSpPr>
          <p:cNvPr id="585" name="Google Shape;585;p33"/>
          <p:cNvSpPr/>
          <p:nvPr/>
        </p:nvSpPr>
        <p:spPr>
          <a:xfrm>
            <a:off x="457200" y="868680"/>
            <a:ext cx="365760" cy="365760"/>
          </a:xfrm>
          <a:prstGeom prst="ellipse">
            <a:avLst/>
          </a:prstGeom>
          <a:solidFill>
            <a:srgbClr val="2E7D3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33"/>
          <p:cNvSpPr txBox="1"/>
          <p:nvPr/>
        </p:nvSpPr>
        <p:spPr>
          <a:xfrm>
            <a:off x="457200" y="896112"/>
            <a:ext cx="365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587" name="Google Shape;587;p33"/>
          <p:cNvSpPr txBox="1"/>
          <p:nvPr/>
        </p:nvSpPr>
        <p:spPr>
          <a:xfrm>
            <a:off x="1005840" y="822960"/>
            <a:ext cx="10728655" cy="1124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Serial console connection</a:t>
            </a:r>
            <a:endParaRPr/>
          </a:p>
        </p:txBody>
      </p:sp>
      <p:sp>
        <p:nvSpPr>
          <p:cNvPr id="588" name="Google Shape;588;p33"/>
          <p:cNvSpPr txBox="1"/>
          <p:nvPr/>
        </p:nvSpPr>
        <p:spPr>
          <a:xfrm>
            <a:off x="1005840" y="1097280"/>
            <a:ext cx="10728655" cy="8503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Connect USB-to-serial adapter. screen /dev/ttyUSB0 115200. You should see U-Boot output immediately on power-on.</a:t>
            </a:r>
            <a:endParaRPr/>
          </a:p>
        </p:txBody>
      </p:sp>
      <p:sp>
        <p:nvSpPr>
          <p:cNvPr id="589" name="Google Shape;589;p33"/>
          <p:cNvSpPr/>
          <p:nvPr/>
        </p:nvSpPr>
        <p:spPr>
          <a:xfrm>
            <a:off x="457200" y="1993392"/>
            <a:ext cx="365760" cy="365760"/>
          </a:xfrm>
          <a:prstGeom prst="ellipse">
            <a:avLst/>
          </a:prstGeom>
          <a:solidFill>
            <a:srgbClr val="2E7D3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33"/>
          <p:cNvSpPr txBox="1"/>
          <p:nvPr/>
        </p:nvSpPr>
        <p:spPr>
          <a:xfrm>
            <a:off x="457200" y="2020824"/>
            <a:ext cx="365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591" name="Google Shape;591;p33"/>
          <p:cNvSpPr txBox="1"/>
          <p:nvPr/>
        </p:nvSpPr>
        <p:spPr>
          <a:xfrm>
            <a:off x="1005840" y="1947672"/>
            <a:ext cx="10728655" cy="1124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U-Boot output</a:t>
            </a:r>
            <a:endParaRPr/>
          </a:p>
        </p:txBody>
      </p:sp>
      <p:sp>
        <p:nvSpPr>
          <p:cNvPr id="592" name="Google Shape;592;p33"/>
          <p:cNvSpPr txBox="1"/>
          <p:nvPr/>
        </p:nvSpPr>
        <p:spPr>
          <a:xfrm>
            <a:off x="1005840" y="2221992"/>
            <a:ext cx="10728655" cy="8503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Look for: DRAM init OK, MMC detected, kernel loaded. If you see 'Error' or 'CRC failed', your images are corrupted.</a:t>
            </a:r>
            <a:endParaRPr/>
          </a:p>
        </p:txBody>
      </p:sp>
      <p:sp>
        <p:nvSpPr>
          <p:cNvPr id="593" name="Google Shape;593;p33"/>
          <p:cNvSpPr/>
          <p:nvPr/>
        </p:nvSpPr>
        <p:spPr>
          <a:xfrm>
            <a:off x="457200" y="3118104"/>
            <a:ext cx="365760" cy="365760"/>
          </a:xfrm>
          <a:prstGeom prst="ellipse">
            <a:avLst/>
          </a:prstGeom>
          <a:solidFill>
            <a:srgbClr val="2E7D3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33"/>
          <p:cNvSpPr txBox="1"/>
          <p:nvPr/>
        </p:nvSpPr>
        <p:spPr>
          <a:xfrm>
            <a:off x="457200" y="3145536"/>
            <a:ext cx="365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595" name="Google Shape;595;p33"/>
          <p:cNvSpPr txBox="1"/>
          <p:nvPr/>
        </p:nvSpPr>
        <p:spPr>
          <a:xfrm>
            <a:off x="1005840" y="3072384"/>
            <a:ext cx="10728655" cy="1124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Kernel boot messages</a:t>
            </a:r>
            <a:endParaRPr/>
          </a:p>
        </p:txBody>
      </p:sp>
      <p:sp>
        <p:nvSpPr>
          <p:cNvPr id="596" name="Google Shape;596;p33"/>
          <p:cNvSpPr txBox="1"/>
          <p:nvPr/>
        </p:nvSpPr>
        <p:spPr>
          <a:xfrm>
            <a:off x="1005840" y="3346704"/>
            <a:ext cx="10728655" cy="8503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After 'Starting kernel...', you will see Linux boot log. Look for: MMC probed, ext4 mounted, init started.</a:t>
            </a:r>
            <a:endParaRPr/>
          </a:p>
        </p:txBody>
      </p:sp>
      <p:sp>
        <p:nvSpPr>
          <p:cNvPr id="597" name="Google Shape;597;p33"/>
          <p:cNvSpPr/>
          <p:nvPr/>
        </p:nvSpPr>
        <p:spPr>
          <a:xfrm>
            <a:off x="457200" y="4242816"/>
            <a:ext cx="365760" cy="365760"/>
          </a:xfrm>
          <a:prstGeom prst="ellipse">
            <a:avLst/>
          </a:prstGeom>
          <a:solidFill>
            <a:srgbClr val="2E7D3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33"/>
          <p:cNvSpPr txBox="1"/>
          <p:nvPr/>
        </p:nvSpPr>
        <p:spPr>
          <a:xfrm>
            <a:off x="457200" y="4270248"/>
            <a:ext cx="365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599" name="Google Shape;599;p33"/>
          <p:cNvSpPr txBox="1"/>
          <p:nvPr/>
        </p:nvSpPr>
        <p:spPr>
          <a:xfrm>
            <a:off x="1005840" y="4197096"/>
            <a:ext cx="10728655" cy="1124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Login prompt</a:t>
            </a:r>
            <a:endParaRPr/>
          </a:p>
        </p:txBody>
      </p:sp>
      <p:sp>
        <p:nvSpPr>
          <p:cNvPr id="600" name="Google Shape;600;p33"/>
          <p:cNvSpPr txBox="1"/>
          <p:nvPr/>
        </p:nvSpPr>
        <p:spPr>
          <a:xfrm>
            <a:off x="1005840" y="4471416"/>
            <a:ext cx="10728655" cy="8503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The final test: you get a login prompt. Login as root (no password in lab). Run 'uname -a' to verify.</a:t>
            </a:r>
            <a:endParaRPr/>
          </a:p>
        </p:txBody>
      </p:sp>
      <p:sp>
        <p:nvSpPr>
          <p:cNvPr id="601" name="Google Shape;601;p33"/>
          <p:cNvSpPr/>
          <p:nvPr/>
        </p:nvSpPr>
        <p:spPr>
          <a:xfrm>
            <a:off x="457200" y="5367528"/>
            <a:ext cx="365760" cy="365760"/>
          </a:xfrm>
          <a:prstGeom prst="ellipse">
            <a:avLst/>
          </a:prstGeom>
          <a:solidFill>
            <a:srgbClr val="2E7D3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33"/>
          <p:cNvSpPr txBox="1"/>
          <p:nvPr/>
        </p:nvSpPr>
        <p:spPr>
          <a:xfrm>
            <a:off x="457200" y="5394960"/>
            <a:ext cx="365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603" name="Google Shape;603;p33"/>
          <p:cNvSpPr txBox="1"/>
          <p:nvPr/>
        </p:nvSpPr>
        <p:spPr>
          <a:xfrm>
            <a:off x="1005840" y="5321808"/>
            <a:ext cx="10728655" cy="1124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Checkpoint</a:t>
            </a:r>
            <a:endParaRPr/>
          </a:p>
        </p:txBody>
      </p:sp>
      <p:sp>
        <p:nvSpPr>
          <p:cNvPr id="604" name="Google Shape;604;p33"/>
          <p:cNvSpPr txBox="1"/>
          <p:nvPr/>
        </p:nvSpPr>
        <p:spPr>
          <a:xfrm>
            <a:off x="1005840" y="5596128"/>
            <a:ext cx="10728655" cy="8503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If you see 'Welcome to Buildroot' or a shell prompt, your bootable system is working!</a:t>
            </a:r>
            <a:endParaRPr/>
          </a:p>
        </p:txBody>
      </p:sp>
      <p:sp>
        <p:nvSpPr>
          <p:cNvPr id="605" name="Google Shape;605;p3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34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97A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34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Common Pitfalls</a:t>
            </a:r>
            <a:endParaRPr/>
          </a:p>
        </p:txBody>
      </p:sp>
      <p:sp>
        <p:nvSpPr>
          <p:cNvPr id="612" name="Google Shape;612;p34"/>
          <p:cNvSpPr/>
          <p:nvPr/>
        </p:nvSpPr>
        <p:spPr>
          <a:xfrm>
            <a:off x="457200" y="822960"/>
            <a:ext cx="5547207" cy="1783080"/>
          </a:xfrm>
          <a:prstGeom prst="roundRect">
            <a:avLst>
              <a:gd fmla="val 16667" name="adj"/>
            </a:avLst>
          </a:prstGeom>
          <a:solidFill>
            <a:srgbClr val="FDF4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34"/>
          <p:cNvSpPr/>
          <p:nvPr/>
        </p:nvSpPr>
        <p:spPr>
          <a:xfrm>
            <a:off x="457200" y="822960"/>
            <a:ext cx="5547207" cy="365760"/>
          </a:xfrm>
          <a:prstGeom prst="roundRect">
            <a:avLst>
              <a:gd fmla="val 16667" name="adj"/>
            </a:avLst>
          </a:prstGeom>
          <a:solidFill>
            <a:srgbClr val="F0B34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34"/>
          <p:cNvSpPr txBox="1"/>
          <p:nvPr/>
        </p:nvSpPr>
        <p:spPr>
          <a:xfrm>
            <a:off x="594360" y="868680"/>
            <a:ext cx="5272887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Toolchain Issues</a:t>
            </a:r>
            <a:endParaRPr/>
          </a:p>
        </p:txBody>
      </p:sp>
      <p:sp>
        <p:nvSpPr>
          <p:cNvPr id="615" name="Google Shape;615;p34"/>
          <p:cNvSpPr txBox="1"/>
          <p:nvPr/>
        </p:nvSpPr>
        <p:spPr>
          <a:xfrm>
            <a:off x="594360" y="1280160"/>
            <a:ext cx="5272887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Wrong ABI: hard-float toolchain on soft-float kernel (or vice versa)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C library mismatch: compiled against glibc, running on musl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Always match toolchain to rootfs C library</a:t>
            </a:r>
            <a:endParaRPr/>
          </a:p>
        </p:txBody>
      </p:sp>
      <p:sp>
        <p:nvSpPr>
          <p:cNvPr id="616" name="Google Shape;616;p34"/>
          <p:cNvSpPr/>
          <p:nvPr/>
        </p:nvSpPr>
        <p:spPr>
          <a:xfrm>
            <a:off x="6187287" y="822960"/>
            <a:ext cx="5547207" cy="1783080"/>
          </a:xfrm>
          <a:prstGeom prst="roundRect">
            <a:avLst>
              <a:gd fmla="val 16667" name="adj"/>
            </a:avLst>
          </a:prstGeom>
          <a:solidFill>
            <a:srgbClr val="E6F5F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34"/>
          <p:cNvSpPr/>
          <p:nvPr/>
        </p:nvSpPr>
        <p:spPr>
          <a:xfrm>
            <a:off x="6187287" y="822960"/>
            <a:ext cx="5547207" cy="365760"/>
          </a:xfrm>
          <a:prstGeom prst="roundRect">
            <a:avLst>
              <a:gd fmla="val 16667" name="adj"/>
            </a:avLst>
          </a:prstGeom>
          <a:solidFill>
            <a:srgbClr val="E686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34"/>
          <p:cNvSpPr txBox="1"/>
          <p:nvPr/>
        </p:nvSpPr>
        <p:spPr>
          <a:xfrm>
            <a:off x="6324447" y="868680"/>
            <a:ext cx="5272887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Boot Issues</a:t>
            </a:r>
            <a:endParaRPr/>
          </a:p>
        </p:txBody>
      </p:sp>
      <p:sp>
        <p:nvSpPr>
          <p:cNvPr id="619" name="Google Shape;619;p34"/>
          <p:cNvSpPr txBox="1"/>
          <p:nvPr/>
        </p:nvSpPr>
        <p:spPr>
          <a:xfrm>
            <a:off x="6324447" y="1280160"/>
            <a:ext cx="5272887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Wrong DTB: kernel can't find hardware, crashes early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Kernel entry point mismatch: U-Boot loads at wrong address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bootargs missing console= — no serial output after kernel starts</a:t>
            </a:r>
            <a:endParaRPr/>
          </a:p>
        </p:txBody>
      </p:sp>
      <p:sp>
        <p:nvSpPr>
          <p:cNvPr id="620" name="Google Shape;620;p34"/>
          <p:cNvSpPr/>
          <p:nvPr/>
        </p:nvSpPr>
        <p:spPr>
          <a:xfrm>
            <a:off x="457200" y="2697480"/>
            <a:ext cx="5547207" cy="1783080"/>
          </a:xfrm>
          <a:prstGeom prst="roundRect">
            <a:avLst>
              <a:gd fmla="val 16667" name="adj"/>
            </a:avLst>
          </a:prstGeom>
          <a:solidFill>
            <a:srgbClr val="EBF1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34"/>
          <p:cNvSpPr/>
          <p:nvPr/>
        </p:nvSpPr>
        <p:spPr>
          <a:xfrm>
            <a:off x="457200" y="2697480"/>
            <a:ext cx="5547207" cy="365760"/>
          </a:xfrm>
          <a:prstGeom prst="roundRect">
            <a:avLst>
              <a:gd fmla="val 16667" name="adj"/>
            </a:avLst>
          </a:prstGeom>
          <a:solidFill>
            <a:srgbClr val="197A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34"/>
          <p:cNvSpPr txBox="1"/>
          <p:nvPr/>
        </p:nvSpPr>
        <p:spPr>
          <a:xfrm>
            <a:off x="594360" y="2743200"/>
            <a:ext cx="5272887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Root FS Issues</a:t>
            </a:r>
            <a:endParaRPr/>
          </a:p>
        </p:txBody>
      </p:sp>
      <p:sp>
        <p:nvSpPr>
          <p:cNvPr id="623" name="Google Shape;623;p34"/>
          <p:cNvSpPr txBox="1"/>
          <p:nvPr/>
        </p:nvSpPr>
        <p:spPr>
          <a:xfrm>
            <a:off x="594360" y="3154680"/>
            <a:ext cx="5272887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Missing /dev nodes: kernel can't find console or storage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Init not found: 'Kernel panic - not syncing: No init found'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Wrong filesystem type: kernel lacks ext4/ubifs support</a:t>
            </a:r>
            <a:endParaRPr/>
          </a:p>
        </p:txBody>
      </p:sp>
      <p:sp>
        <p:nvSpPr>
          <p:cNvPr id="624" name="Google Shape;624;p3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35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D6F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35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Session Summary</a:t>
            </a:r>
            <a:endParaRPr/>
          </a:p>
        </p:txBody>
      </p:sp>
      <p:sp>
        <p:nvSpPr>
          <p:cNvPr id="631" name="Google Shape;631;p35"/>
          <p:cNvSpPr/>
          <p:nvPr/>
        </p:nvSpPr>
        <p:spPr>
          <a:xfrm>
            <a:off x="457200" y="822960"/>
            <a:ext cx="73152" cy="891540"/>
          </a:xfrm>
          <a:prstGeom prst="rect">
            <a:avLst/>
          </a:prstGeom>
          <a:solidFill>
            <a:srgbClr val="F0B34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35"/>
          <p:cNvSpPr txBox="1"/>
          <p:nvPr/>
        </p:nvSpPr>
        <p:spPr>
          <a:xfrm>
            <a:off x="640080" y="822960"/>
            <a:ext cx="11048695" cy="9372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A toolchain compiles code for a target architecture — verify yours before building anything.</a:t>
            </a:r>
            <a:endParaRPr/>
          </a:p>
        </p:txBody>
      </p:sp>
      <p:sp>
        <p:nvSpPr>
          <p:cNvPr id="633" name="Google Shape;633;p35"/>
          <p:cNvSpPr/>
          <p:nvPr/>
        </p:nvSpPr>
        <p:spPr>
          <a:xfrm>
            <a:off x="457200" y="1760220"/>
            <a:ext cx="73152" cy="891540"/>
          </a:xfrm>
          <a:prstGeom prst="rect">
            <a:avLst/>
          </a:prstGeom>
          <a:solidFill>
            <a:srgbClr val="E686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35"/>
          <p:cNvSpPr txBox="1"/>
          <p:nvPr/>
        </p:nvSpPr>
        <p:spPr>
          <a:xfrm>
            <a:off x="640080" y="1760220"/>
            <a:ext cx="11048695" cy="9372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U-Boot is the standard embedded bootloader — learn the console commands early.</a:t>
            </a:r>
            <a:endParaRPr/>
          </a:p>
        </p:txBody>
      </p:sp>
      <p:sp>
        <p:nvSpPr>
          <p:cNvPr id="635" name="Google Shape;635;p35"/>
          <p:cNvSpPr/>
          <p:nvPr/>
        </p:nvSpPr>
        <p:spPr>
          <a:xfrm>
            <a:off x="457200" y="2697480"/>
            <a:ext cx="73152" cy="891540"/>
          </a:xfrm>
          <a:prstGeom prst="rect">
            <a:avLst/>
          </a:prstGeom>
          <a:solidFill>
            <a:srgbClr val="197A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35"/>
          <p:cNvSpPr txBox="1"/>
          <p:nvPr/>
        </p:nvSpPr>
        <p:spPr>
          <a:xfrm>
            <a:off x="640080" y="2697480"/>
            <a:ext cx="11048695" cy="9372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Kernel build is a 3-step cycle: configure, compile, verify — always check arch and ABI.</a:t>
            </a:r>
            <a:endParaRPr/>
          </a:p>
        </p:txBody>
      </p:sp>
      <p:sp>
        <p:nvSpPr>
          <p:cNvPr id="637" name="Google Shape;637;p35"/>
          <p:cNvSpPr/>
          <p:nvPr/>
        </p:nvSpPr>
        <p:spPr>
          <a:xfrm>
            <a:off x="457200" y="3634740"/>
            <a:ext cx="73152" cy="891540"/>
          </a:xfrm>
          <a:prstGeom prst="rect">
            <a:avLst/>
          </a:prstGeom>
          <a:solidFill>
            <a:srgbClr val="3D6F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35"/>
          <p:cNvSpPr txBox="1"/>
          <p:nvPr/>
        </p:nvSpPr>
        <p:spPr>
          <a:xfrm>
            <a:off x="640080" y="3634740"/>
            <a:ext cx="11048695" cy="9372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Device Tree replaces board files — one kernel, many boards via different DTBs.</a:t>
            </a:r>
            <a:endParaRPr/>
          </a:p>
        </p:txBody>
      </p:sp>
      <p:sp>
        <p:nvSpPr>
          <p:cNvPr id="639" name="Google Shape;639;p35"/>
          <p:cNvSpPr/>
          <p:nvPr/>
        </p:nvSpPr>
        <p:spPr>
          <a:xfrm>
            <a:off x="457200" y="4572000"/>
            <a:ext cx="73152" cy="891540"/>
          </a:xfrm>
          <a:prstGeom prst="rect">
            <a:avLst/>
          </a:prstGeom>
          <a:solidFill>
            <a:srgbClr val="F0B34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35"/>
          <p:cNvSpPr txBox="1"/>
          <p:nvPr/>
        </p:nvSpPr>
        <p:spPr>
          <a:xfrm>
            <a:off x="640080" y="4572000"/>
            <a:ext cx="11048695" cy="9372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Root filesystem contains everything userspace needs — Buildroot makes it easy to build.</a:t>
            </a:r>
            <a:endParaRPr/>
          </a:p>
        </p:txBody>
      </p:sp>
      <p:sp>
        <p:nvSpPr>
          <p:cNvPr id="641" name="Google Shape;641;p35"/>
          <p:cNvSpPr/>
          <p:nvPr/>
        </p:nvSpPr>
        <p:spPr>
          <a:xfrm>
            <a:off x="457200" y="5509260"/>
            <a:ext cx="73152" cy="891540"/>
          </a:xfrm>
          <a:prstGeom prst="rect">
            <a:avLst/>
          </a:prstGeom>
          <a:solidFill>
            <a:srgbClr val="E686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35"/>
          <p:cNvSpPr txBox="1"/>
          <p:nvPr/>
        </p:nvSpPr>
        <p:spPr>
          <a:xfrm>
            <a:off x="640080" y="5509260"/>
            <a:ext cx="11048695" cy="9372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The full boot chain is: ROM → SPL → U-Boot → Kernel → Init — know each stage.</a:t>
            </a:r>
            <a:endParaRPr/>
          </a:p>
        </p:txBody>
      </p:sp>
      <p:sp>
        <p:nvSpPr>
          <p:cNvPr id="643" name="Google Shape;643;p3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