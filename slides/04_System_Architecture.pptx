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9" roundtripDataSignature="AMtx7miYro7PkHd8DnS0CS75Fy8xtXvn0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7" name="Google Shape;487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2334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457200" y="1371600"/>
            <a:ext cx="112772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Session 4: System Architecture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457200" y="2560320"/>
            <a:ext cx="1127729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Storage, Memory, Boot, and Software Updates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457200" y="3474720"/>
            <a:ext cx="11277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UCSC Extension  •  Embedded Linux Design</a:t>
            </a:r>
            <a:r>
              <a:rPr lang="en-US" sz="1600">
                <a:solidFill>
                  <a:srgbClr val="595959"/>
                </a:solidFill>
              </a:rPr>
              <a:t>, X.423</a:t>
            </a:r>
            <a:endParaRPr/>
          </a:p>
        </p:txBody>
      </p:sp>
      <p:sp>
        <p:nvSpPr>
          <p:cNvPr id="88" name="Google Shape;88;p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Embedded Linux Design  •  Session 4  •  System Architecture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8FB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6862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Today's Roadmap</a:t>
            </a: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457200" y="1304084"/>
            <a:ext cx="320100" cy="365700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914400" y="1304084"/>
            <a:ext cx="11185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Storage &amp; Flash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457200" y="1807004"/>
            <a:ext cx="320100" cy="365700"/>
          </a:xfrm>
          <a:prstGeom prst="roundRect">
            <a:avLst>
              <a:gd fmla="val 16667" name="adj"/>
            </a:avLst>
          </a:prstGeom>
          <a:solidFill>
            <a:srgbClr val="E6862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914400" y="1807004"/>
            <a:ext cx="11185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Memory &amp; Boot Chain</a:t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457200" y="2309924"/>
            <a:ext cx="320100" cy="365700"/>
          </a:xfrm>
          <a:prstGeom prst="roundRect">
            <a:avLst>
              <a:gd fmla="val 16667" name="adj"/>
            </a:avLst>
          </a:prstGeom>
          <a:solidFill>
            <a:srgbClr val="197A8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914400" y="2309924"/>
            <a:ext cx="11185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Software Updates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457200" y="2812844"/>
            <a:ext cx="320100" cy="365700"/>
          </a:xfrm>
          <a:prstGeom prst="roundRect">
            <a:avLst>
              <a:gd fmla="val 16667" name="adj"/>
            </a:avLst>
          </a:prstGeom>
          <a:solidFill>
            <a:srgbClr val="3D6F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914400" y="2812844"/>
            <a:ext cx="11185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Prototyping with Raspberry Pi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457200" y="3315764"/>
            <a:ext cx="320100" cy="365700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914400" y="3315764"/>
            <a:ext cx="11185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System Design Case Study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8FB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97A8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 txBox="1"/>
          <p:nvPr/>
        </p:nvSpPr>
        <p:spPr>
          <a:xfrm>
            <a:off x="457200" y="370545"/>
            <a:ext cx="11277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Storage Landscape</a:t>
            </a:r>
            <a:endParaRPr/>
          </a:p>
        </p:txBody>
      </p:sp>
      <p:sp>
        <p:nvSpPr>
          <p:cNvPr id="113" name="Google Shape;113;p3"/>
          <p:cNvSpPr/>
          <p:nvPr/>
        </p:nvSpPr>
        <p:spPr>
          <a:xfrm>
            <a:off x="457200" y="1082767"/>
            <a:ext cx="5760600" cy="1463100"/>
          </a:xfrm>
          <a:prstGeom prst="roundRect">
            <a:avLst>
              <a:gd fmla="val 16667" name="adj"/>
            </a:avLst>
          </a:prstGeom>
          <a:solidFill>
            <a:srgbClr val="E6F5F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457200" y="1082752"/>
            <a:ext cx="5760600" cy="543300"/>
          </a:xfrm>
          <a:prstGeom prst="roundRect">
            <a:avLst>
              <a:gd fmla="val 16667" name="adj"/>
            </a:avLst>
          </a:prstGeom>
          <a:solidFill>
            <a:srgbClr val="197A8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3"/>
          <p:cNvSpPr txBox="1"/>
          <p:nvPr/>
        </p:nvSpPr>
        <p:spPr>
          <a:xfrm>
            <a:off x="594360" y="1128487"/>
            <a:ext cx="5486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NAND Flash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594360" y="1725142"/>
            <a:ext cx="5486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Raw flash (managed by FTL)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Used in: eMMC, SSD, USB drives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Wear leveling required</a:t>
            </a:r>
            <a:endParaRPr/>
          </a:p>
        </p:txBody>
      </p:sp>
      <p:sp>
        <p:nvSpPr>
          <p:cNvPr id="117" name="Google Shape;117;p3"/>
          <p:cNvSpPr/>
          <p:nvPr/>
        </p:nvSpPr>
        <p:spPr>
          <a:xfrm>
            <a:off x="6583680" y="1082767"/>
            <a:ext cx="5760600" cy="1463100"/>
          </a:xfrm>
          <a:prstGeom prst="roundRect">
            <a:avLst>
              <a:gd fmla="val 16667" name="adj"/>
            </a:avLst>
          </a:prstGeom>
          <a:solidFill>
            <a:srgbClr val="EBF1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6583675" y="1082752"/>
            <a:ext cx="5760600" cy="543300"/>
          </a:xfrm>
          <a:prstGeom prst="roundRect">
            <a:avLst>
              <a:gd fmla="val 16667" name="adj"/>
            </a:avLst>
          </a:prstGeom>
          <a:solidFill>
            <a:srgbClr val="3D6F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6720840" y="1128487"/>
            <a:ext cx="5486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NOR Flash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6720840" y="1732416"/>
            <a:ext cx="5486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Execute-in-place (XIP)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Used in: boot ROM, firmware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Fast read, slow write</a:t>
            </a:r>
            <a:endParaRPr/>
          </a:p>
        </p:txBody>
      </p:sp>
      <p:sp>
        <p:nvSpPr>
          <p:cNvPr id="121" name="Google Shape;121;p3"/>
          <p:cNvSpPr/>
          <p:nvPr/>
        </p:nvSpPr>
        <p:spPr>
          <a:xfrm>
            <a:off x="457200" y="3296413"/>
            <a:ext cx="5760600" cy="1463100"/>
          </a:xfrm>
          <a:prstGeom prst="roundRect">
            <a:avLst>
              <a:gd fmla="val 16667" name="adj"/>
            </a:avLst>
          </a:prstGeom>
          <a:solidFill>
            <a:srgbClr val="FFF9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457200" y="3296413"/>
            <a:ext cx="5760600" cy="365700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 txBox="1"/>
          <p:nvPr/>
        </p:nvSpPr>
        <p:spPr>
          <a:xfrm>
            <a:off x="594360" y="3342133"/>
            <a:ext cx="5486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eMMC</a:t>
            </a:r>
            <a:endParaRPr/>
          </a:p>
        </p:txBody>
      </p:sp>
      <p:sp>
        <p:nvSpPr>
          <p:cNvPr id="124" name="Google Shape;124;p3"/>
          <p:cNvSpPr txBox="1"/>
          <p:nvPr/>
        </p:nvSpPr>
        <p:spPr>
          <a:xfrm>
            <a:off x="594360" y="3753613"/>
            <a:ext cx="5486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Managed NAND + controller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Used in: smartphones, embedded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Standardized interface</a:t>
            </a:r>
            <a:endParaRPr/>
          </a:p>
        </p:txBody>
      </p:sp>
      <p:sp>
        <p:nvSpPr>
          <p:cNvPr id="125" name="Google Shape;125;p3"/>
          <p:cNvSpPr/>
          <p:nvPr/>
        </p:nvSpPr>
        <p:spPr>
          <a:xfrm>
            <a:off x="6583680" y="3296413"/>
            <a:ext cx="5760600" cy="1463100"/>
          </a:xfrm>
          <a:prstGeom prst="roundRect">
            <a:avLst>
              <a:gd fmla="val 16667" name="adj"/>
            </a:avLst>
          </a:prstGeom>
          <a:solidFill>
            <a:srgbClr val="FDF4E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6583680" y="3296413"/>
            <a:ext cx="5760600" cy="365700"/>
          </a:xfrm>
          <a:prstGeom prst="roundRect">
            <a:avLst>
              <a:gd fmla="val 16667" name="adj"/>
            </a:avLst>
          </a:prstGeom>
          <a:solidFill>
            <a:srgbClr val="E6862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 txBox="1"/>
          <p:nvPr/>
        </p:nvSpPr>
        <p:spPr>
          <a:xfrm>
            <a:off x="6720840" y="3342133"/>
            <a:ext cx="5486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SD Card</a:t>
            </a:r>
            <a:endParaRPr/>
          </a:p>
        </p:txBody>
      </p:sp>
      <p:sp>
        <p:nvSpPr>
          <p:cNvPr id="128" name="Google Shape;128;p3"/>
          <p:cNvSpPr txBox="1"/>
          <p:nvPr/>
        </p:nvSpPr>
        <p:spPr>
          <a:xfrm>
            <a:off x="6720840" y="3753613"/>
            <a:ext cx="5486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Removable managed NAND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Used in: prototyping, cameras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SPI or SDIO interface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8FB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4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97A8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Flash Partitioning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457200" y="1097280"/>
            <a:ext cx="939774" cy="457200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4"/>
          <p:cNvSpPr txBox="1"/>
          <p:nvPr/>
        </p:nvSpPr>
        <p:spPr>
          <a:xfrm>
            <a:off x="548653" y="1143000"/>
            <a:ext cx="991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Partition 1</a:t>
            </a:r>
            <a:endParaRPr/>
          </a:p>
        </p:txBody>
      </p:sp>
      <p:sp>
        <p:nvSpPr>
          <p:cNvPr id="138" name="Google Shape;138;p4"/>
          <p:cNvSpPr txBox="1"/>
          <p:nvPr/>
        </p:nvSpPr>
        <p:spPr>
          <a:xfrm>
            <a:off x="548640" y="1353312"/>
            <a:ext cx="75689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 MB</a:t>
            </a:r>
            <a:endParaRPr/>
          </a:p>
        </p:txBody>
      </p:sp>
      <p:sp>
        <p:nvSpPr>
          <p:cNvPr id="139" name="Google Shape;139;p4"/>
          <p:cNvSpPr/>
          <p:nvPr/>
        </p:nvSpPr>
        <p:spPr>
          <a:xfrm>
            <a:off x="1396980" y="1097275"/>
            <a:ext cx="1326300" cy="457200"/>
          </a:xfrm>
          <a:prstGeom prst="roundRect">
            <a:avLst>
              <a:gd fmla="val 16667" name="adj"/>
            </a:avLst>
          </a:prstGeom>
          <a:solidFill>
            <a:srgbClr val="E6862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 txBox="1"/>
          <p:nvPr/>
        </p:nvSpPr>
        <p:spPr>
          <a:xfrm>
            <a:off x="1488663" y="1143000"/>
            <a:ext cx="11601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Partition 2</a:t>
            </a:r>
            <a:endParaRPr/>
          </a:p>
        </p:txBody>
      </p:sp>
      <p:sp>
        <p:nvSpPr>
          <p:cNvPr id="141" name="Google Shape;141;p4"/>
          <p:cNvSpPr txBox="1"/>
          <p:nvPr/>
        </p:nvSpPr>
        <p:spPr>
          <a:xfrm>
            <a:off x="1488490" y="1353300"/>
            <a:ext cx="840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256 KB</a:t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2723150" y="1097275"/>
            <a:ext cx="6427200" cy="457200"/>
          </a:xfrm>
          <a:prstGeom prst="roundRect">
            <a:avLst>
              <a:gd fmla="val 16667" name="adj"/>
            </a:avLst>
          </a:prstGeom>
          <a:solidFill>
            <a:srgbClr val="197A8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4"/>
          <p:cNvSpPr txBox="1"/>
          <p:nvPr/>
        </p:nvSpPr>
        <p:spPr>
          <a:xfrm>
            <a:off x="2801318" y="1142994"/>
            <a:ext cx="6270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Partition 3</a:t>
            </a:r>
            <a:endParaRPr/>
          </a:p>
        </p:txBody>
      </p:sp>
      <p:sp>
        <p:nvSpPr>
          <p:cNvPr id="144" name="Google Shape;144;p4"/>
          <p:cNvSpPr txBox="1"/>
          <p:nvPr/>
        </p:nvSpPr>
        <p:spPr>
          <a:xfrm>
            <a:off x="2801318" y="1353303"/>
            <a:ext cx="6270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 MB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9150114" y="1097280"/>
            <a:ext cx="9162802" cy="457200"/>
          </a:xfrm>
          <a:prstGeom prst="roundRect">
            <a:avLst>
              <a:gd fmla="val 16667" name="adj"/>
            </a:avLst>
          </a:prstGeom>
          <a:solidFill>
            <a:srgbClr val="3D6F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 txBox="1"/>
          <p:nvPr/>
        </p:nvSpPr>
        <p:spPr>
          <a:xfrm>
            <a:off x="9241554" y="1143000"/>
            <a:ext cx="897992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Partition 4</a:t>
            </a:r>
            <a:endParaRPr/>
          </a:p>
        </p:txBody>
      </p:sp>
      <p:sp>
        <p:nvSpPr>
          <p:cNvPr id="147" name="Google Shape;147;p4"/>
          <p:cNvSpPr txBox="1"/>
          <p:nvPr/>
        </p:nvSpPr>
        <p:spPr>
          <a:xfrm>
            <a:off x="9241554" y="1353312"/>
            <a:ext cx="897992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remaining</a:t>
            </a:r>
            <a:endParaRPr/>
          </a:p>
        </p:txBody>
      </p:sp>
      <p:sp>
        <p:nvSpPr>
          <p:cNvPr id="148" name="Google Shape;148;p4"/>
          <p:cNvSpPr txBox="1"/>
          <p:nvPr/>
        </p:nvSpPr>
        <p:spPr>
          <a:xfrm>
            <a:off x="457200" y="1737360"/>
            <a:ext cx="11277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MBR vs GPT: MBR supports 4 primary partitions. GPT supports 128+ and includes redundancy.</a:t>
            </a:r>
            <a:endParaRPr sz="1500"/>
          </a:p>
        </p:txBody>
      </p:sp>
      <p:sp>
        <p:nvSpPr>
          <p:cNvPr id="149" name="Google Shape;149;p4"/>
          <p:cNvSpPr/>
          <p:nvPr/>
        </p:nvSpPr>
        <p:spPr>
          <a:xfrm>
            <a:off x="457200" y="2194560"/>
            <a:ext cx="11277295" cy="2286000"/>
          </a:xfrm>
          <a:prstGeom prst="roundRect">
            <a:avLst>
              <a:gd fmla="val 16667" name="adj"/>
            </a:avLst>
          </a:prstGeom>
          <a:solidFill>
            <a:srgbClr val="1E1E1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 txBox="1"/>
          <p:nvPr/>
        </p:nvSpPr>
        <p:spPr>
          <a:xfrm>
            <a:off x="640080" y="2331720"/>
            <a:ext cx="10911535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# View partition table:</a:t>
            </a:r>
            <a:br>
              <a:rPr b="0" i="0" lang="en-US" sz="11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11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$ fdisk -l /dev/mmcblk0</a:t>
            </a:r>
            <a:br>
              <a:rPr b="0" i="0" lang="en-US" sz="11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11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$ parted /dev/mmcblk0 print</a:t>
            </a:r>
            <a:br>
              <a:rPr b="0" i="0" lang="en-US" sz="11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br>
              <a:rPr b="0" i="0" lang="en-US" sz="11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11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# Create partition (GPT):</a:t>
            </a:r>
            <a:br>
              <a:rPr b="0" i="0" lang="en-US" sz="11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11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$ parted /dev/mmcblk0 mklabel gpt</a:t>
            </a:r>
            <a:br>
              <a:rPr b="0" i="0" lang="en-US" sz="11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11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$ parted /dev/mmcblk0 mkpart primary ext4 1MiB 512MiB</a:t>
            </a:r>
            <a:br>
              <a:rPr b="0" i="0" lang="en-US" sz="11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br>
              <a:rPr b="0" i="0" lang="en-US" sz="11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11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# Format:</a:t>
            </a:r>
            <a:br>
              <a:rPr b="0" i="0" lang="en-US" sz="11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11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$ mkfs.ext4 -L rootfs /dev/mmcblk0p1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8FB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5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97A8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5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Flash Filesystems</a:t>
            </a:r>
            <a:endParaRPr/>
          </a:p>
        </p:txBody>
      </p:sp>
      <p:sp>
        <p:nvSpPr>
          <p:cNvPr id="158" name="Google Shape;158;p5"/>
          <p:cNvSpPr/>
          <p:nvPr/>
        </p:nvSpPr>
        <p:spPr>
          <a:xfrm>
            <a:off x="457200" y="1400309"/>
            <a:ext cx="5760600" cy="1463100"/>
          </a:xfrm>
          <a:prstGeom prst="roundRect">
            <a:avLst>
              <a:gd fmla="val 16667" name="adj"/>
            </a:avLst>
          </a:prstGeom>
          <a:solidFill>
            <a:srgbClr val="FFF9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457200" y="1400309"/>
            <a:ext cx="5760600" cy="365700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 txBox="1"/>
          <p:nvPr/>
        </p:nvSpPr>
        <p:spPr>
          <a:xfrm>
            <a:off x="594360" y="1446029"/>
            <a:ext cx="5486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JFFS2</a:t>
            </a:r>
            <a:endParaRPr/>
          </a:p>
        </p:txBody>
      </p:sp>
      <p:sp>
        <p:nvSpPr>
          <p:cNvPr id="161" name="Google Shape;161;p5"/>
          <p:cNvSpPr txBox="1"/>
          <p:nvPr/>
        </p:nvSpPr>
        <p:spPr>
          <a:xfrm>
            <a:off x="594360" y="1857509"/>
            <a:ext cx="5486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Journaling Flash FS v2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Raw NAND, wear leveling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Small pages, slow mount</a:t>
            </a:r>
            <a:endParaRPr/>
          </a:p>
        </p:txBody>
      </p:sp>
      <p:sp>
        <p:nvSpPr>
          <p:cNvPr id="162" name="Google Shape;162;p5"/>
          <p:cNvSpPr/>
          <p:nvPr/>
        </p:nvSpPr>
        <p:spPr>
          <a:xfrm>
            <a:off x="6583680" y="1400309"/>
            <a:ext cx="5760600" cy="1463100"/>
          </a:xfrm>
          <a:prstGeom prst="roundRect">
            <a:avLst>
              <a:gd fmla="val 16667" name="adj"/>
            </a:avLst>
          </a:prstGeom>
          <a:solidFill>
            <a:srgbClr val="FDF4E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6583680" y="1400309"/>
            <a:ext cx="5760600" cy="365700"/>
          </a:xfrm>
          <a:prstGeom prst="roundRect">
            <a:avLst>
              <a:gd fmla="val 16667" name="adj"/>
            </a:avLst>
          </a:prstGeom>
          <a:solidFill>
            <a:srgbClr val="E6862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 txBox="1"/>
          <p:nvPr/>
        </p:nvSpPr>
        <p:spPr>
          <a:xfrm>
            <a:off x="6720840" y="1446029"/>
            <a:ext cx="5486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YAFFS2</a:t>
            </a:r>
            <a:endParaRPr/>
          </a:p>
        </p:txBody>
      </p:sp>
      <p:sp>
        <p:nvSpPr>
          <p:cNvPr id="165" name="Google Shape;165;p5"/>
          <p:cNvSpPr txBox="1"/>
          <p:nvPr/>
        </p:nvSpPr>
        <p:spPr>
          <a:xfrm>
            <a:off x="6720840" y="1857509"/>
            <a:ext cx="5486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Yet Another Flash FS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Raw NAND, log-structured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Fast mount, Linux-only</a:t>
            </a:r>
            <a:endParaRPr/>
          </a:p>
        </p:txBody>
      </p:sp>
      <p:sp>
        <p:nvSpPr>
          <p:cNvPr id="166" name="Google Shape;166;p5"/>
          <p:cNvSpPr/>
          <p:nvPr/>
        </p:nvSpPr>
        <p:spPr>
          <a:xfrm>
            <a:off x="457200" y="3565842"/>
            <a:ext cx="5760600" cy="1463100"/>
          </a:xfrm>
          <a:prstGeom prst="roundRect">
            <a:avLst>
              <a:gd fmla="val 16667" name="adj"/>
            </a:avLst>
          </a:prstGeom>
          <a:solidFill>
            <a:srgbClr val="E6F5F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457200" y="3565842"/>
            <a:ext cx="5760600" cy="365700"/>
          </a:xfrm>
          <a:prstGeom prst="roundRect">
            <a:avLst>
              <a:gd fmla="val 16667" name="adj"/>
            </a:avLst>
          </a:prstGeom>
          <a:solidFill>
            <a:srgbClr val="197A8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 txBox="1"/>
          <p:nvPr/>
        </p:nvSpPr>
        <p:spPr>
          <a:xfrm>
            <a:off x="594360" y="3611562"/>
            <a:ext cx="5486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UBIFS</a:t>
            </a:r>
            <a:endParaRPr/>
          </a:p>
        </p:txBody>
      </p:sp>
      <p:sp>
        <p:nvSpPr>
          <p:cNvPr id="169" name="Google Shape;169;p5"/>
          <p:cNvSpPr txBox="1"/>
          <p:nvPr/>
        </p:nvSpPr>
        <p:spPr>
          <a:xfrm>
            <a:off x="594360" y="4023042"/>
            <a:ext cx="5486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Unsorted Block Image FS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On top of UBI layer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Best for large NAND</a:t>
            </a:r>
            <a:endParaRPr/>
          </a:p>
        </p:txBody>
      </p:sp>
      <p:sp>
        <p:nvSpPr>
          <p:cNvPr id="170" name="Google Shape;170;p5"/>
          <p:cNvSpPr/>
          <p:nvPr/>
        </p:nvSpPr>
        <p:spPr>
          <a:xfrm>
            <a:off x="6583680" y="3565842"/>
            <a:ext cx="5760600" cy="1463100"/>
          </a:xfrm>
          <a:prstGeom prst="roundRect">
            <a:avLst>
              <a:gd fmla="val 16667" name="adj"/>
            </a:avLst>
          </a:prstGeom>
          <a:solidFill>
            <a:srgbClr val="EBF1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5"/>
          <p:cNvSpPr/>
          <p:nvPr/>
        </p:nvSpPr>
        <p:spPr>
          <a:xfrm>
            <a:off x="6583680" y="3565842"/>
            <a:ext cx="5760600" cy="365700"/>
          </a:xfrm>
          <a:prstGeom prst="roundRect">
            <a:avLst>
              <a:gd fmla="val 16667" name="adj"/>
            </a:avLst>
          </a:prstGeom>
          <a:solidFill>
            <a:srgbClr val="3D6F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6720840" y="3611562"/>
            <a:ext cx="5486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ext4</a:t>
            </a:r>
            <a:endParaRPr/>
          </a:p>
        </p:txBody>
      </p:sp>
      <p:sp>
        <p:nvSpPr>
          <p:cNvPr id="173" name="Google Shape;173;p5"/>
          <p:cNvSpPr txBox="1"/>
          <p:nvPr/>
        </p:nvSpPr>
        <p:spPr>
          <a:xfrm>
            <a:off x="6720840" y="4023042"/>
            <a:ext cx="5486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Fourth Extended FS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For managed flash (eMC, SD)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Most common, journaling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8FB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97A8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6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Wear Leveling &amp; UBI</a:t>
            </a:r>
            <a:endParaRPr/>
          </a:p>
        </p:txBody>
      </p:sp>
      <p:sp>
        <p:nvSpPr>
          <p:cNvPr id="181" name="Google Shape;181;p6"/>
          <p:cNvSpPr/>
          <p:nvPr/>
        </p:nvSpPr>
        <p:spPr>
          <a:xfrm>
            <a:off x="457200" y="822960"/>
            <a:ext cx="5501487" cy="3200400"/>
          </a:xfrm>
          <a:prstGeom prst="roundRect">
            <a:avLst>
              <a:gd fmla="val 16667" name="adj"/>
            </a:avLst>
          </a:prstGeom>
          <a:solidFill>
            <a:srgbClr val="E6F5F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 txBox="1"/>
          <p:nvPr/>
        </p:nvSpPr>
        <p:spPr>
          <a:xfrm>
            <a:off x="594360" y="960120"/>
            <a:ext cx="522716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97A8C"/>
                </a:solidFill>
                <a:latin typeface="Arial"/>
                <a:ea typeface="Arial"/>
                <a:cs typeface="Arial"/>
                <a:sym typeface="Arial"/>
              </a:rPr>
              <a:t>Why Wear Leveling?</a:t>
            </a:r>
            <a:endParaRPr/>
          </a:p>
        </p:txBody>
      </p:sp>
      <p:sp>
        <p:nvSpPr>
          <p:cNvPr id="183" name="Google Shape;183;p6"/>
          <p:cNvSpPr txBox="1"/>
          <p:nvPr/>
        </p:nvSpPr>
        <p:spPr>
          <a:xfrm>
            <a:off x="594360" y="1280160"/>
            <a:ext cx="5227167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NAND flash blocks wear out after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~10,000-100,000 erase cycles.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Without wear leveling: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Block 0: ████████████████ (worn out)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Block 1: █ (barely used)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Block 2: █ (barely used)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With wear leveling: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Block 0: ██████ (even)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Block 1: ██████ (even)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Block 2: ██████ (even)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FTL (Flash Translation Layer) or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UBI handles this automatically.</a:t>
            </a:r>
            <a:endParaRPr/>
          </a:p>
        </p:txBody>
      </p:sp>
      <p:sp>
        <p:nvSpPr>
          <p:cNvPr id="184" name="Google Shape;184;p6"/>
          <p:cNvSpPr/>
          <p:nvPr/>
        </p:nvSpPr>
        <p:spPr>
          <a:xfrm>
            <a:off x="6233007" y="822960"/>
            <a:ext cx="5501487" cy="3200400"/>
          </a:xfrm>
          <a:prstGeom prst="roundRect">
            <a:avLst>
              <a:gd fmla="val 16667" name="adj"/>
            </a:avLst>
          </a:prstGeom>
          <a:solidFill>
            <a:srgbClr val="EBF1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 txBox="1"/>
          <p:nvPr/>
        </p:nvSpPr>
        <p:spPr>
          <a:xfrm>
            <a:off x="6370167" y="960120"/>
            <a:ext cx="522716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D6FF6"/>
                </a:solidFill>
                <a:latin typeface="Arial"/>
                <a:ea typeface="Arial"/>
                <a:cs typeface="Arial"/>
                <a:sym typeface="Arial"/>
              </a:rPr>
              <a:t>UBI Volume Management</a:t>
            </a:r>
            <a:endParaRPr/>
          </a:p>
        </p:txBody>
      </p:sp>
      <p:sp>
        <p:nvSpPr>
          <p:cNvPr id="186" name="Google Shape;186;p6"/>
          <p:cNvSpPr txBox="1"/>
          <p:nvPr/>
        </p:nvSpPr>
        <p:spPr>
          <a:xfrm>
            <a:off x="6370167" y="1280160"/>
            <a:ext cx="5227167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UBI (Unsorted Block Image)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sits between MTD and filesystem: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  ┌─────────────────────┐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  │   UBIFS / ext4      │  ← Filesystem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  ├─────────────────────┤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  │   UBI Volume        │  ← Logical volumes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  ├─────────────────────┤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  │   UBI Layer         │  ← Wear leveling, bad block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  ├─────────────────────┤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  │   MTD               │  ← Memory Technology Device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  ├─────────────────────┤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  │   Raw NAND          │  ← Physical flash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  └─────────────────────┘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ubiattach /dev/ubi_ctrl -m 0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mount -t ubifs ubi0:rootfs /mnt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8FB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7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3D6F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7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7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Memory Layout</a:t>
            </a:r>
            <a:endParaRPr/>
          </a:p>
        </p:txBody>
      </p:sp>
      <p:sp>
        <p:nvSpPr>
          <p:cNvPr id="194" name="Google Shape;194;p7"/>
          <p:cNvSpPr txBox="1"/>
          <p:nvPr/>
        </p:nvSpPr>
        <p:spPr>
          <a:xfrm>
            <a:off x="457200" y="117043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95959"/>
                </a:solidFill>
                <a:latin typeface="Courier New"/>
                <a:ea typeface="Courier New"/>
                <a:cs typeface="Courier New"/>
                <a:sym typeface="Courier New"/>
              </a:rPr>
              <a:t>0x0000_0000</a:t>
            </a:r>
            <a:endParaRPr/>
          </a:p>
        </p:txBody>
      </p:sp>
      <p:sp>
        <p:nvSpPr>
          <p:cNvPr id="195" name="Google Shape;195;p7"/>
          <p:cNvSpPr/>
          <p:nvPr/>
        </p:nvSpPr>
        <p:spPr>
          <a:xfrm>
            <a:off x="3200400" y="1097280"/>
            <a:ext cx="8229600" cy="411480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7"/>
          <p:cNvSpPr txBox="1"/>
          <p:nvPr/>
        </p:nvSpPr>
        <p:spPr>
          <a:xfrm>
            <a:off x="3337560" y="1143000"/>
            <a:ext cx="7955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Boot ROM</a:t>
            </a:r>
            <a:endParaRPr/>
          </a:p>
        </p:txBody>
      </p:sp>
      <p:sp>
        <p:nvSpPr>
          <p:cNvPr id="197" name="Google Shape;197;p7"/>
          <p:cNvSpPr txBox="1"/>
          <p:nvPr/>
        </p:nvSpPr>
        <p:spPr>
          <a:xfrm>
            <a:off x="3337560" y="1325880"/>
            <a:ext cx="7955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64 KB</a:t>
            </a:r>
            <a:endParaRPr/>
          </a:p>
        </p:txBody>
      </p:sp>
      <p:sp>
        <p:nvSpPr>
          <p:cNvPr id="198" name="Google Shape;198;p7"/>
          <p:cNvSpPr txBox="1"/>
          <p:nvPr/>
        </p:nvSpPr>
        <p:spPr>
          <a:xfrm>
            <a:off x="457200" y="1655064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95959"/>
                </a:solidFill>
                <a:latin typeface="Courier New"/>
                <a:ea typeface="Courier New"/>
                <a:cs typeface="Courier New"/>
                <a:sym typeface="Courier New"/>
              </a:rPr>
              <a:t>0x0001_0000</a:t>
            </a:r>
            <a:endParaRPr/>
          </a:p>
        </p:txBody>
      </p:sp>
      <p:sp>
        <p:nvSpPr>
          <p:cNvPr id="199" name="Google Shape;199;p7"/>
          <p:cNvSpPr/>
          <p:nvPr/>
        </p:nvSpPr>
        <p:spPr>
          <a:xfrm>
            <a:off x="3200400" y="1581912"/>
            <a:ext cx="8229600" cy="411480"/>
          </a:xfrm>
          <a:prstGeom prst="roundRect">
            <a:avLst>
              <a:gd fmla="val 16667" name="adj"/>
            </a:avLst>
          </a:prstGeom>
          <a:solidFill>
            <a:srgbClr val="E6862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7"/>
          <p:cNvSpPr txBox="1"/>
          <p:nvPr/>
        </p:nvSpPr>
        <p:spPr>
          <a:xfrm>
            <a:off x="3337560" y="1627632"/>
            <a:ext cx="7955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SRAM</a:t>
            </a:r>
            <a:endParaRPr/>
          </a:p>
        </p:txBody>
      </p:sp>
      <p:sp>
        <p:nvSpPr>
          <p:cNvPr id="201" name="Google Shape;201;p7"/>
          <p:cNvSpPr txBox="1"/>
          <p:nvPr/>
        </p:nvSpPr>
        <p:spPr>
          <a:xfrm>
            <a:off x="3337560" y="1810512"/>
            <a:ext cx="7955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128 KB</a:t>
            </a:r>
            <a:endParaRPr/>
          </a:p>
        </p:txBody>
      </p:sp>
      <p:sp>
        <p:nvSpPr>
          <p:cNvPr id="202" name="Google Shape;202;p7"/>
          <p:cNvSpPr txBox="1"/>
          <p:nvPr/>
        </p:nvSpPr>
        <p:spPr>
          <a:xfrm>
            <a:off x="457200" y="2139696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95959"/>
                </a:solidFill>
                <a:latin typeface="Courier New"/>
                <a:ea typeface="Courier New"/>
                <a:cs typeface="Courier New"/>
                <a:sym typeface="Courier New"/>
              </a:rPr>
              <a:t>0x0003_0000</a:t>
            </a:r>
            <a:endParaRPr/>
          </a:p>
        </p:txBody>
      </p:sp>
      <p:sp>
        <p:nvSpPr>
          <p:cNvPr id="203" name="Google Shape;203;p7"/>
          <p:cNvSpPr/>
          <p:nvPr/>
        </p:nvSpPr>
        <p:spPr>
          <a:xfrm>
            <a:off x="3200400" y="2066544"/>
            <a:ext cx="8229600" cy="411480"/>
          </a:xfrm>
          <a:prstGeom prst="roundRect">
            <a:avLst>
              <a:gd fmla="val 16667" name="adj"/>
            </a:avLst>
          </a:prstGeom>
          <a:solidFill>
            <a:srgbClr val="197A8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 txBox="1"/>
          <p:nvPr/>
        </p:nvSpPr>
        <p:spPr>
          <a:xfrm>
            <a:off x="3337560" y="2112264"/>
            <a:ext cx="7955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Peripherals</a:t>
            </a:r>
            <a:endParaRPr/>
          </a:p>
        </p:txBody>
      </p:sp>
      <p:sp>
        <p:nvSpPr>
          <p:cNvPr id="205" name="Google Shape;205;p7"/>
          <p:cNvSpPr txBox="1"/>
          <p:nvPr/>
        </p:nvSpPr>
        <p:spPr>
          <a:xfrm>
            <a:off x="3337560" y="2295144"/>
            <a:ext cx="7955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 MB</a:t>
            </a:r>
            <a:endParaRPr/>
          </a:p>
        </p:txBody>
      </p:sp>
      <p:sp>
        <p:nvSpPr>
          <p:cNvPr id="206" name="Google Shape;206;p7"/>
          <p:cNvSpPr txBox="1"/>
          <p:nvPr/>
        </p:nvSpPr>
        <p:spPr>
          <a:xfrm>
            <a:off x="457200" y="2624328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95959"/>
                </a:solidFill>
                <a:latin typeface="Courier New"/>
                <a:ea typeface="Courier New"/>
                <a:cs typeface="Courier New"/>
                <a:sym typeface="Courier New"/>
              </a:rPr>
              <a:t>0x8000_0000</a:t>
            </a:r>
            <a:endParaRPr/>
          </a:p>
        </p:txBody>
      </p:sp>
      <p:sp>
        <p:nvSpPr>
          <p:cNvPr id="207" name="Google Shape;207;p7"/>
          <p:cNvSpPr/>
          <p:nvPr/>
        </p:nvSpPr>
        <p:spPr>
          <a:xfrm>
            <a:off x="3200400" y="2551176"/>
            <a:ext cx="8229600" cy="411480"/>
          </a:xfrm>
          <a:prstGeom prst="roundRect">
            <a:avLst>
              <a:gd fmla="val 16667" name="adj"/>
            </a:avLst>
          </a:prstGeom>
          <a:solidFill>
            <a:srgbClr val="3D6F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 txBox="1"/>
          <p:nvPr/>
        </p:nvSpPr>
        <p:spPr>
          <a:xfrm>
            <a:off x="3337560" y="2596896"/>
            <a:ext cx="7955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DRAM</a:t>
            </a:r>
            <a:endParaRPr/>
          </a:p>
        </p:txBody>
      </p:sp>
      <p:sp>
        <p:nvSpPr>
          <p:cNvPr id="209" name="Google Shape;209;p7"/>
          <p:cNvSpPr txBox="1"/>
          <p:nvPr/>
        </p:nvSpPr>
        <p:spPr>
          <a:xfrm>
            <a:off x="3337560" y="2779776"/>
            <a:ext cx="7955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512 MB</a:t>
            </a:r>
            <a:endParaRPr/>
          </a:p>
        </p:txBody>
      </p:sp>
      <p:sp>
        <p:nvSpPr>
          <p:cNvPr id="210" name="Google Shape;210;p7"/>
          <p:cNvSpPr txBox="1"/>
          <p:nvPr/>
        </p:nvSpPr>
        <p:spPr>
          <a:xfrm>
            <a:off x="457200" y="310896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95959"/>
                </a:solidFill>
                <a:latin typeface="Courier New"/>
                <a:ea typeface="Courier New"/>
                <a:cs typeface="Courier New"/>
                <a:sym typeface="Courier New"/>
              </a:rPr>
              <a:t>0xA000_0000</a:t>
            </a:r>
            <a:endParaRPr/>
          </a:p>
        </p:txBody>
      </p:sp>
      <p:sp>
        <p:nvSpPr>
          <p:cNvPr id="211" name="Google Shape;211;p7"/>
          <p:cNvSpPr/>
          <p:nvPr/>
        </p:nvSpPr>
        <p:spPr>
          <a:xfrm>
            <a:off x="3200400" y="3035808"/>
            <a:ext cx="8229600" cy="411480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7"/>
          <p:cNvSpPr txBox="1"/>
          <p:nvPr/>
        </p:nvSpPr>
        <p:spPr>
          <a:xfrm>
            <a:off x="3337560" y="3081528"/>
            <a:ext cx="7955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Flash (XIP)</a:t>
            </a:r>
            <a:endParaRPr/>
          </a:p>
        </p:txBody>
      </p:sp>
      <p:sp>
        <p:nvSpPr>
          <p:cNvPr id="213" name="Google Shape;213;p7"/>
          <p:cNvSpPr txBox="1"/>
          <p:nvPr/>
        </p:nvSpPr>
        <p:spPr>
          <a:xfrm>
            <a:off x="3337560" y="3264408"/>
            <a:ext cx="7955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16 MB</a:t>
            </a:r>
            <a:endParaRPr/>
          </a:p>
        </p:txBody>
      </p:sp>
      <p:sp>
        <p:nvSpPr>
          <p:cNvPr id="214" name="Google Shape;214;p7"/>
          <p:cNvSpPr txBox="1"/>
          <p:nvPr/>
        </p:nvSpPr>
        <p:spPr>
          <a:xfrm>
            <a:off x="457200" y="3611880"/>
            <a:ext cx="112772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ARM typical memory map. Addresses vary by SoC. Check your reference manual.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8FB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8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3D6F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Boot Chain: ROM → Linux</a:t>
            </a:r>
            <a:endParaRPr/>
          </a:p>
        </p:txBody>
      </p:sp>
      <p:sp>
        <p:nvSpPr>
          <p:cNvPr id="222" name="Google Shape;222;p8"/>
          <p:cNvSpPr/>
          <p:nvPr/>
        </p:nvSpPr>
        <p:spPr>
          <a:xfrm>
            <a:off x="457200" y="8229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8"/>
          <p:cNvSpPr txBox="1"/>
          <p:nvPr/>
        </p:nvSpPr>
        <p:spPr>
          <a:xfrm>
            <a:off x="594360" y="86868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ROM Boot</a:t>
            </a:r>
            <a:endParaRPr/>
          </a:p>
        </p:txBody>
      </p:sp>
      <p:sp>
        <p:nvSpPr>
          <p:cNvPr id="224" name="Google Shape;224;p8"/>
          <p:cNvSpPr txBox="1"/>
          <p:nvPr/>
        </p:nvSpPr>
        <p:spPr>
          <a:xfrm>
            <a:off x="2011680" y="868680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SoC internal code</a:t>
            </a:r>
            <a:b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Init DRAM, load SPL</a:t>
            </a:r>
            <a:b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from flash/SD/USB</a:t>
            </a:r>
            <a:endParaRPr/>
          </a:p>
        </p:txBody>
      </p:sp>
      <p:sp>
        <p:nvSpPr>
          <p:cNvPr id="225" name="Google Shape;225;p8"/>
          <p:cNvSpPr/>
          <p:nvPr/>
        </p:nvSpPr>
        <p:spPr>
          <a:xfrm>
            <a:off x="1965960" y="1371600"/>
            <a:ext cx="182880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457200" y="15087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E6862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8"/>
          <p:cNvSpPr txBox="1"/>
          <p:nvPr/>
        </p:nvSpPr>
        <p:spPr>
          <a:xfrm>
            <a:off x="594360" y="155448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SPL</a:t>
            </a:r>
            <a:endParaRPr/>
          </a:p>
        </p:txBody>
      </p:sp>
      <p:sp>
        <p:nvSpPr>
          <p:cNvPr id="228" name="Google Shape;228;p8"/>
          <p:cNvSpPr txBox="1"/>
          <p:nvPr/>
        </p:nvSpPr>
        <p:spPr>
          <a:xfrm>
            <a:off x="2011680" y="1554480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Secondary Program Loader</a:t>
            </a:r>
            <a:b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Minimal U-Boot</a:t>
            </a:r>
            <a:b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Init DRAM, load U-Boot</a:t>
            </a:r>
            <a:endParaRPr/>
          </a:p>
        </p:txBody>
      </p:sp>
      <p:sp>
        <p:nvSpPr>
          <p:cNvPr id="229" name="Google Shape;229;p8"/>
          <p:cNvSpPr/>
          <p:nvPr/>
        </p:nvSpPr>
        <p:spPr>
          <a:xfrm>
            <a:off x="1965960" y="2057400"/>
            <a:ext cx="182880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8"/>
          <p:cNvSpPr/>
          <p:nvPr/>
        </p:nvSpPr>
        <p:spPr>
          <a:xfrm>
            <a:off x="457200" y="21945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197A8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 txBox="1"/>
          <p:nvPr/>
        </p:nvSpPr>
        <p:spPr>
          <a:xfrm>
            <a:off x="594360" y="224028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U-Boot</a:t>
            </a:r>
            <a:endParaRPr/>
          </a:p>
        </p:txBody>
      </p:sp>
      <p:sp>
        <p:nvSpPr>
          <p:cNvPr id="232" name="Google Shape;232;p8"/>
          <p:cNvSpPr txBox="1"/>
          <p:nvPr/>
        </p:nvSpPr>
        <p:spPr>
          <a:xfrm>
            <a:off x="2011680" y="2240280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Full bootloader</a:t>
            </a:r>
            <a:b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Load kernel + DTB</a:t>
            </a:r>
            <a:b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Set bootargs, boot</a:t>
            </a:r>
            <a:endParaRPr/>
          </a:p>
        </p:txBody>
      </p:sp>
      <p:sp>
        <p:nvSpPr>
          <p:cNvPr id="233" name="Google Shape;233;p8"/>
          <p:cNvSpPr/>
          <p:nvPr/>
        </p:nvSpPr>
        <p:spPr>
          <a:xfrm>
            <a:off x="1965960" y="2743200"/>
            <a:ext cx="182880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8"/>
          <p:cNvSpPr/>
          <p:nvPr/>
        </p:nvSpPr>
        <p:spPr>
          <a:xfrm>
            <a:off x="457200" y="28803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3D6F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 txBox="1"/>
          <p:nvPr/>
        </p:nvSpPr>
        <p:spPr>
          <a:xfrm>
            <a:off x="594360" y="292608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Kernel</a:t>
            </a:r>
            <a:endParaRPr/>
          </a:p>
        </p:txBody>
      </p:sp>
      <p:sp>
        <p:nvSpPr>
          <p:cNvPr id="236" name="Google Shape;236;p8"/>
          <p:cNvSpPr txBox="1"/>
          <p:nvPr/>
        </p:nvSpPr>
        <p:spPr>
          <a:xfrm>
            <a:off x="2011680" y="2926080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Linux kernel</a:t>
            </a:r>
            <a:b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Init hardware</a:t>
            </a:r>
            <a:b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Mount rootfs, start init</a:t>
            </a:r>
            <a:endParaRPr/>
          </a:p>
        </p:txBody>
      </p:sp>
      <p:sp>
        <p:nvSpPr>
          <p:cNvPr id="237" name="Google Shape;237;p8"/>
          <p:cNvSpPr/>
          <p:nvPr/>
        </p:nvSpPr>
        <p:spPr>
          <a:xfrm>
            <a:off x="1965960" y="3429000"/>
            <a:ext cx="182880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8"/>
          <p:cNvSpPr/>
          <p:nvPr/>
        </p:nvSpPr>
        <p:spPr>
          <a:xfrm>
            <a:off x="457200" y="3566160"/>
            <a:ext cx="3200400" cy="548640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Init</a:t>
            </a:r>
            <a:endParaRPr/>
          </a:p>
        </p:txBody>
      </p:sp>
      <p:sp>
        <p:nvSpPr>
          <p:cNvPr id="240" name="Google Shape;240;p8"/>
          <p:cNvSpPr txBox="1"/>
          <p:nvPr/>
        </p:nvSpPr>
        <p:spPr>
          <a:xfrm>
            <a:off x="2011680" y="3611880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init / systemd</a:t>
            </a:r>
            <a:b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Start services</a:t>
            </a:r>
            <a:b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System ready</a:t>
            </a:r>
            <a:endParaRPr/>
          </a:p>
        </p:txBody>
      </p:sp>
      <p:sp>
        <p:nvSpPr>
          <p:cNvPr id="241" name="Google Shape;241;p8"/>
          <p:cNvSpPr/>
          <p:nvPr/>
        </p:nvSpPr>
        <p:spPr>
          <a:xfrm>
            <a:off x="4114800" y="822960"/>
            <a:ext cx="7589520" cy="3474720"/>
          </a:xfrm>
          <a:prstGeom prst="roundRect">
            <a:avLst>
              <a:gd fmla="val 16667" name="adj"/>
            </a:avLst>
          </a:prstGeom>
          <a:solidFill>
            <a:srgbClr val="1E1E1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8"/>
          <p:cNvSpPr txBox="1"/>
          <p:nvPr/>
        </p:nvSpPr>
        <p:spPr>
          <a:xfrm>
            <a:off x="4297680" y="960120"/>
            <a:ext cx="73152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U-Boot SPL 2023.04 (Oct 15 2023)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DRAM: 512 MiB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MMC:   OMAP SD/MMC: 0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Loading Environment... OK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Loading kernel from mmc 0:1...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U-Boot 2023.04 (Oct 15 2023)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Model: TI AM335x BeagleBone Black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DRAM:  512 MiB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NAND:  0 MiB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MMC:   OMAP SD/MMC: 0, OMAP SD/MMC: 1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Loading kernel...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## Flattened Device Tree blob at 88000000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Booting using the fdt blob at 0x88000000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Loading Kernel Image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Starting kernel...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[    0.000000] Booting Linux on physical CPU 0x0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[    0.000000] Linux version 6.1.50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[    2.345678] VFS: Mounted root (ext4 filesystem).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8FB"/>
        </a:soli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3D6F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9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9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DRAM Initialization</a:t>
            </a: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457200" y="822960"/>
            <a:ext cx="5501487" cy="3200400"/>
          </a:xfrm>
          <a:prstGeom prst="roundRect">
            <a:avLst>
              <a:gd fmla="val 16667" name="adj"/>
            </a:avLst>
          </a:prstGeom>
          <a:solidFill>
            <a:srgbClr val="EBF1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9"/>
          <p:cNvSpPr txBox="1"/>
          <p:nvPr/>
        </p:nvSpPr>
        <p:spPr>
          <a:xfrm>
            <a:off x="594360" y="960120"/>
            <a:ext cx="522716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D6FF6"/>
                </a:solidFill>
                <a:latin typeface="Arial"/>
                <a:ea typeface="Arial"/>
                <a:cs typeface="Arial"/>
                <a:sym typeface="Arial"/>
              </a:rPr>
              <a:t>Why DRAM Init Matters</a:t>
            </a:r>
            <a:endParaRPr/>
          </a:p>
        </p:txBody>
      </p:sp>
      <p:sp>
        <p:nvSpPr>
          <p:cNvPr id="252" name="Google Shape;252;p9"/>
          <p:cNvSpPr txBox="1"/>
          <p:nvPr/>
        </p:nvSpPr>
        <p:spPr>
          <a:xfrm>
            <a:off x="594360" y="1280160"/>
            <a:ext cx="5227167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DRAM must be configured before use: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1. Set up DRAM controller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2. Configure timing parameters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3. Run memory training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4. Test memory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SRAM is used first (small, no init).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SPL runs from SRAM, init DRAM,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then loads U-Boot into DRAM.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Timing parameters are board-specific: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- CAS latency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- Refresh rate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- Bus width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- Number of chip selects</a:t>
            </a: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6233007" y="822960"/>
            <a:ext cx="5501487" cy="3200400"/>
          </a:xfrm>
          <a:prstGeom prst="roundRect">
            <a:avLst>
              <a:gd fmla="val 16667" name="adj"/>
            </a:avLst>
          </a:prstGeom>
          <a:solidFill>
            <a:srgbClr val="E6F5F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9"/>
          <p:cNvSpPr txBox="1"/>
          <p:nvPr/>
        </p:nvSpPr>
        <p:spPr>
          <a:xfrm>
            <a:off x="6370167" y="960120"/>
            <a:ext cx="522716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97A8C"/>
                </a:solidFill>
                <a:latin typeface="Arial"/>
                <a:ea typeface="Arial"/>
                <a:cs typeface="Arial"/>
                <a:sym typeface="Arial"/>
              </a:rPr>
              <a:t>SPL: The DRAM Enabler</a:t>
            </a:r>
            <a:endParaRPr/>
          </a:p>
        </p:txBody>
      </p:sp>
      <p:sp>
        <p:nvSpPr>
          <p:cNvPr id="255" name="Google Shape;255;p9"/>
          <p:cNvSpPr txBox="1"/>
          <p:nvPr/>
        </p:nvSpPr>
        <p:spPr>
          <a:xfrm>
            <a:off x="6370167" y="1280160"/>
            <a:ext cx="5227167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SPL = Secondary Program Loader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Stored in SRAM (no DRAM needed)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Typical size: &lt; 64 KB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SPL responsibilities: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1. Initialize DRAM controller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2. Load U-Boot from storage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3. Jump to U-Boot in DRAM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U-Boot SPL config: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CONFIG_SPL=y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CONFIG_SPL_DRAM_SUPPORT=y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CONFIG_SPL_MMC_SUPPORT=y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Board-specific dram_init():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board_init_f() → dram_init()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→ DDR PHY training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  → Memory test (optional)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2334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6862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0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0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Software Update Strategies</a:t>
            </a:r>
            <a:endParaRPr/>
          </a:p>
        </p:txBody>
      </p:sp>
      <p:sp>
        <p:nvSpPr>
          <p:cNvPr id="263" name="Google Shape;263;p10"/>
          <p:cNvSpPr/>
          <p:nvPr/>
        </p:nvSpPr>
        <p:spPr>
          <a:xfrm>
            <a:off x="457200" y="822960"/>
            <a:ext cx="137160" cy="1005840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0"/>
          <p:cNvSpPr txBox="1"/>
          <p:nvPr/>
        </p:nvSpPr>
        <p:spPr>
          <a:xfrm>
            <a:off x="731520" y="86868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A/B Partitioning</a:t>
            </a:r>
            <a:endParaRPr/>
          </a:p>
        </p:txBody>
      </p:sp>
      <p:sp>
        <p:nvSpPr>
          <p:cNvPr id="265" name="Google Shape;265;p10"/>
          <p:cNvSpPr txBox="1"/>
          <p:nvPr/>
        </p:nvSpPr>
        <p:spPr>
          <a:xfrm>
            <a:off x="731520" y="123444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Two identical rootfs partitions</a:t>
            </a:r>
            <a:b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Active + standby</a:t>
            </a:r>
            <a:b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Atomic switch on update</a:t>
            </a:r>
            <a:b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Rollback by switching back</a:t>
            </a:r>
            <a:endParaRPr/>
          </a:p>
        </p:txBody>
      </p:sp>
      <p:sp>
        <p:nvSpPr>
          <p:cNvPr id="266" name="Google Shape;266;p10"/>
          <p:cNvSpPr/>
          <p:nvPr/>
        </p:nvSpPr>
        <p:spPr>
          <a:xfrm>
            <a:off x="457200" y="2011680"/>
            <a:ext cx="137160" cy="1005840"/>
          </a:xfrm>
          <a:prstGeom prst="roundRect">
            <a:avLst>
              <a:gd fmla="val 16667" name="adj"/>
            </a:avLst>
          </a:prstGeom>
          <a:solidFill>
            <a:srgbClr val="E6862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0"/>
          <p:cNvSpPr txBox="1"/>
          <p:nvPr/>
        </p:nvSpPr>
        <p:spPr>
          <a:xfrm>
            <a:off x="731520" y="205740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Blue-Green</a:t>
            </a:r>
            <a:endParaRPr/>
          </a:p>
        </p:txBody>
      </p:sp>
      <p:sp>
        <p:nvSpPr>
          <p:cNvPr id="268" name="Google Shape;268;p10"/>
          <p:cNvSpPr txBox="1"/>
          <p:nvPr/>
        </p:nvSpPr>
        <p:spPr>
          <a:xfrm>
            <a:off x="731520" y="242316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Two full system images</a:t>
            </a:r>
            <a:b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Load balancer switches traffic</a:t>
            </a:r>
            <a:b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Zero-downtime updates</a:t>
            </a:r>
            <a:b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Common in cloud/edge</a:t>
            </a:r>
            <a:endParaRPr/>
          </a:p>
        </p:txBody>
      </p:sp>
      <p:sp>
        <p:nvSpPr>
          <p:cNvPr id="269" name="Google Shape;269;p10"/>
          <p:cNvSpPr/>
          <p:nvPr/>
        </p:nvSpPr>
        <p:spPr>
          <a:xfrm>
            <a:off x="457200" y="3200400"/>
            <a:ext cx="137160" cy="1005840"/>
          </a:xfrm>
          <a:prstGeom prst="roundRect">
            <a:avLst>
              <a:gd fmla="val 16667" name="adj"/>
            </a:avLst>
          </a:prstGeom>
          <a:solidFill>
            <a:srgbClr val="197A8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0"/>
          <p:cNvSpPr txBox="1"/>
          <p:nvPr/>
        </p:nvSpPr>
        <p:spPr>
          <a:xfrm>
            <a:off x="731520" y="324612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Canary</a:t>
            </a:r>
            <a:endParaRPr/>
          </a:p>
        </p:txBody>
      </p:sp>
      <p:sp>
        <p:nvSpPr>
          <p:cNvPr id="271" name="Google Shape;271;p10"/>
          <p:cNvSpPr txBox="1"/>
          <p:nvPr/>
        </p:nvSpPr>
        <p:spPr>
          <a:xfrm>
            <a:off x="731520" y="361188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Gradual rollout</a:t>
            </a:r>
            <a:b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Small % of devices first</a:t>
            </a:r>
            <a:b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Monitor for errors</a:t>
            </a:r>
            <a:b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Full rollout after validation</a:t>
            </a:r>
            <a:endParaRPr/>
          </a:p>
        </p:txBody>
      </p:sp>
      <p:sp>
        <p:nvSpPr>
          <p:cNvPr id="272" name="Google Shape;272;p10"/>
          <p:cNvSpPr/>
          <p:nvPr/>
        </p:nvSpPr>
        <p:spPr>
          <a:xfrm>
            <a:off x="5943600" y="822960"/>
            <a:ext cx="5669280" cy="3474720"/>
          </a:xfrm>
          <a:prstGeom prst="roundRect">
            <a:avLst>
              <a:gd fmla="val 16667" name="adj"/>
            </a:avLst>
          </a:prstGeom>
          <a:solidFill>
            <a:srgbClr val="1E2A3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0"/>
          <p:cNvSpPr txBox="1"/>
          <p:nvPr/>
        </p:nvSpPr>
        <p:spPr>
          <a:xfrm>
            <a:off x="6126480" y="960120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E6862E"/>
                </a:solidFill>
                <a:latin typeface="Arial"/>
                <a:ea typeface="Arial"/>
                <a:cs typeface="Arial"/>
                <a:sym typeface="Arial"/>
              </a:rPr>
              <a:t>A/B Partition Diagram</a:t>
            </a:r>
            <a:endParaRPr/>
          </a:p>
        </p:txBody>
      </p:sp>
      <p:sp>
        <p:nvSpPr>
          <p:cNvPr id="274" name="Google Shape;274;p10"/>
          <p:cNvSpPr/>
          <p:nvPr/>
        </p:nvSpPr>
        <p:spPr>
          <a:xfrm>
            <a:off x="6217920" y="1371600"/>
            <a:ext cx="5029200" cy="914400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0"/>
          <p:cNvSpPr txBox="1"/>
          <p:nvPr/>
        </p:nvSpPr>
        <p:spPr>
          <a:xfrm>
            <a:off x="6400800" y="146304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Slot A (Active)</a:t>
            </a:r>
            <a:endParaRPr/>
          </a:p>
        </p:txBody>
      </p:sp>
      <p:sp>
        <p:nvSpPr>
          <p:cNvPr id="276" name="Google Shape;276;p10"/>
          <p:cNvSpPr txBox="1"/>
          <p:nvPr/>
        </p:nvSpPr>
        <p:spPr>
          <a:xfrm>
            <a:off x="6400800" y="1783080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Kernel + Rootfs</a:t>
            </a:r>
            <a:endParaRPr/>
          </a:p>
        </p:txBody>
      </p:sp>
      <p:sp>
        <p:nvSpPr>
          <p:cNvPr id="277" name="Google Shape;277;p10"/>
          <p:cNvSpPr/>
          <p:nvPr/>
        </p:nvSpPr>
        <p:spPr>
          <a:xfrm>
            <a:off x="6217920" y="2468880"/>
            <a:ext cx="5029200" cy="914400"/>
          </a:xfrm>
          <a:prstGeom prst="roundRect">
            <a:avLst>
              <a:gd fmla="val 16667" name="adj"/>
            </a:avLst>
          </a:prstGeom>
          <a:solidFill>
            <a:srgbClr val="3D6F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0"/>
          <p:cNvSpPr txBox="1"/>
          <p:nvPr/>
        </p:nvSpPr>
        <p:spPr>
          <a:xfrm>
            <a:off x="6400800" y="256032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Slot B (Standby)</a:t>
            </a:r>
            <a:endParaRPr/>
          </a:p>
        </p:txBody>
      </p:sp>
      <p:sp>
        <p:nvSpPr>
          <p:cNvPr id="279" name="Google Shape;279;p10"/>
          <p:cNvSpPr txBox="1"/>
          <p:nvPr/>
        </p:nvSpPr>
        <p:spPr>
          <a:xfrm>
            <a:off x="6400800" y="2880360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Kernel + Rootfs (new version)</a:t>
            </a:r>
            <a:endParaRPr/>
          </a:p>
        </p:txBody>
      </p:sp>
      <p:sp>
        <p:nvSpPr>
          <p:cNvPr id="280" name="Google Shape;280;p10"/>
          <p:cNvSpPr txBox="1"/>
          <p:nvPr/>
        </p:nvSpPr>
        <p:spPr>
          <a:xfrm>
            <a:off x="6217920" y="35661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Bootloader selects active slot → Kernel boots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8FB"/>
        </a:solidFill>
      </p:bgPr>
    </p:bg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6862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Update Frameworks</a:t>
            </a:r>
            <a:endParaRPr/>
          </a:p>
        </p:txBody>
      </p:sp>
      <p:sp>
        <p:nvSpPr>
          <p:cNvPr id="288" name="Google Shape;288;p11"/>
          <p:cNvSpPr/>
          <p:nvPr/>
        </p:nvSpPr>
        <p:spPr>
          <a:xfrm>
            <a:off x="457200" y="822960"/>
            <a:ext cx="11277295" cy="1005840"/>
          </a:xfrm>
          <a:prstGeom prst="roundRect">
            <a:avLst>
              <a:gd fmla="val 16667" name="adj"/>
            </a:avLst>
          </a:prstGeom>
          <a:solidFill>
            <a:srgbClr val="E6F5F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1"/>
          <p:cNvSpPr/>
          <p:nvPr/>
        </p:nvSpPr>
        <p:spPr>
          <a:xfrm>
            <a:off x="457200" y="822960"/>
            <a:ext cx="11277295" cy="365760"/>
          </a:xfrm>
          <a:prstGeom prst="roundRect">
            <a:avLst>
              <a:gd fmla="val 16667" name="adj"/>
            </a:avLst>
          </a:prstGeom>
          <a:solidFill>
            <a:srgbClr val="197A8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1"/>
          <p:cNvSpPr txBox="1"/>
          <p:nvPr/>
        </p:nvSpPr>
        <p:spPr>
          <a:xfrm>
            <a:off x="594360" y="868680"/>
            <a:ext cx="1100297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SWUpdate</a:t>
            </a:r>
            <a:endParaRPr/>
          </a:p>
        </p:txBody>
      </p:sp>
      <p:sp>
        <p:nvSpPr>
          <p:cNvPr id="291" name="Google Shape;291;p11"/>
          <p:cNvSpPr txBox="1"/>
          <p:nvPr/>
        </p:nvSpPr>
        <p:spPr>
          <a:xfrm>
            <a:off x="594360" y="1280160"/>
            <a:ext cx="1100297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Open source, Lua scripts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Multiple update formats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A/B support, web UI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Lightweight, flexible</a:t>
            </a:r>
            <a:endParaRPr/>
          </a:p>
        </p:txBody>
      </p:sp>
      <p:sp>
        <p:nvSpPr>
          <p:cNvPr id="292" name="Google Shape;292;p11"/>
          <p:cNvSpPr/>
          <p:nvPr/>
        </p:nvSpPr>
        <p:spPr>
          <a:xfrm>
            <a:off x="457200" y="2011680"/>
            <a:ext cx="11277295" cy="1005840"/>
          </a:xfrm>
          <a:prstGeom prst="roundRect">
            <a:avLst>
              <a:gd fmla="val 16667" name="adj"/>
            </a:avLst>
          </a:prstGeom>
          <a:solidFill>
            <a:srgbClr val="EBF1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1"/>
          <p:cNvSpPr/>
          <p:nvPr/>
        </p:nvSpPr>
        <p:spPr>
          <a:xfrm>
            <a:off x="457200" y="2011680"/>
            <a:ext cx="11277295" cy="365760"/>
          </a:xfrm>
          <a:prstGeom prst="roundRect">
            <a:avLst>
              <a:gd fmla="val 16667" name="adj"/>
            </a:avLst>
          </a:prstGeom>
          <a:solidFill>
            <a:srgbClr val="3D6F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1"/>
          <p:cNvSpPr txBox="1"/>
          <p:nvPr/>
        </p:nvSpPr>
        <p:spPr>
          <a:xfrm>
            <a:off x="594360" y="2057400"/>
            <a:ext cx="1100297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Mender</a:t>
            </a:r>
            <a:endParaRPr/>
          </a:p>
        </p:txBody>
      </p:sp>
      <p:sp>
        <p:nvSpPr>
          <p:cNvPr id="295" name="Google Shape;295;p11"/>
          <p:cNvSpPr txBox="1"/>
          <p:nvPr/>
        </p:nvSpPr>
        <p:spPr>
          <a:xfrm>
            <a:off x="594360" y="2468880"/>
            <a:ext cx="1100297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Open source + commercial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A/B updates, robust rollback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Cloud management (Mender Server)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Yocto and Buildroot support</a:t>
            </a:r>
            <a:endParaRPr/>
          </a:p>
        </p:txBody>
      </p:sp>
      <p:sp>
        <p:nvSpPr>
          <p:cNvPr id="296" name="Google Shape;296;p11"/>
          <p:cNvSpPr/>
          <p:nvPr/>
        </p:nvSpPr>
        <p:spPr>
          <a:xfrm>
            <a:off x="457200" y="3200400"/>
            <a:ext cx="11277295" cy="1005840"/>
          </a:xfrm>
          <a:prstGeom prst="roundRect">
            <a:avLst>
              <a:gd fmla="val 16667" name="adj"/>
            </a:avLst>
          </a:prstGeom>
          <a:solidFill>
            <a:srgbClr val="FFF9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1"/>
          <p:cNvSpPr/>
          <p:nvPr/>
        </p:nvSpPr>
        <p:spPr>
          <a:xfrm>
            <a:off x="457200" y="3200400"/>
            <a:ext cx="11277295" cy="365760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1"/>
          <p:cNvSpPr txBox="1"/>
          <p:nvPr/>
        </p:nvSpPr>
        <p:spPr>
          <a:xfrm>
            <a:off x="594360" y="3246120"/>
            <a:ext cx="1100297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RAUC</a:t>
            </a:r>
            <a:endParaRPr/>
          </a:p>
        </p:txBody>
      </p:sp>
      <p:sp>
        <p:nvSpPr>
          <p:cNvPr id="299" name="Google Shape;299;p11"/>
          <p:cNvSpPr txBox="1"/>
          <p:nvPr/>
        </p:nvSpPr>
        <p:spPr>
          <a:xfrm>
            <a:off x="594360" y="3657600"/>
            <a:ext cx="1100297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Robust Auto-Update Controller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A/B with redundancy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Bundle format with signatures</a:t>
            </a:r>
            <a:b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Designed for Linux embedded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8FB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6862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OTA Update Flow</a:t>
            </a:r>
            <a:endParaRPr/>
          </a:p>
        </p:txBody>
      </p:sp>
      <p:sp>
        <p:nvSpPr>
          <p:cNvPr id="307" name="Google Shape;307;p12"/>
          <p:cNvSpPr/>
          <p:nvPr/>
        </p:nvSpPr>
        <p:spPr>
          <a:xfrm>
            <a:off x="457200" y="822960"/>
            <a:ext cx="457200" cy="548640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 txBox="1"/>
          <p:nvPr/>
        </p:nvSpPr>
        <p:spPr>
          <a:xfrm>
            <a:off x="548640" y="914400"/>
            <a:ext cx="320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309" name="Google Shape;309;p12"/>
          <p:cNvSpPr txBox="1"/>
          <p:nvPr/>
        </p:nvSpPr>
        <p:spPr>
          <a:xfrm>
            <a:off x="1097280" y="82296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1. Check</a:t>
            </a:r>
            <a:endParaRPr/>
          </a:p>
        </p:txBody>
      </p:sp>
      <p:sp>
        <p:nvSpPr>
          <p:cNvPr id="310" name="Google Shape;310;p12"/>
          <p:cNvSpPr txBox="1"/>
          <p:nvPr/>
        </p:nvSpPr>
        <p:spPr>
          <a:xfrm>
            <a:off x="1097280" y="11430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Device polls server</a:t>
            </a:r>
            <a:b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Checks for new version</a:t>
            </a:r>
            <a:b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Downloads update bundle</a:t>
            </a:r>
            <a:endParaRPr/>
          </a:p>
        </p:txBody>
      </p:sp>
      <p:sp>
        <p:nvSpPr>
          <p:cNvPr id="311" name="Google Shape;311;p12"/>
          <p:cNvSpPr/>
          <p:nvPr/>
        </p:nvSpPr>
        <p:spPr>
          <a:xfrm>
            <a:off x="2606040" y="1371600"/>
            <a:ext cx="182880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2"/>
          <p:cNvSpPr/>
          <p:nvPr/>
        </p:nvSpPr>
        <p:spPr>
          <a:xfrm>
            <a:off x="457200" y="1508760"/>
            <a:ext cx="457200" cy="548640"/>
          </a:xfrm>
          <a:prstGeom prst="roundRect">
            <a:avLst>
              <a:gd fmla="val 16667" name="adj"/>
            </a:avLst>
          </a:prstGeom>
          <a:solidFill>
            <a:srgbClr val="E6862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2"/>
          <p:cNvSpPr txBox="1"/>
          <p:nvPr/>
        </p:nvSpPr>
        <p:spPr>
          <a:xfrm>
            <a:off x="548640" y="1600200"/>
            <a:ext cx="320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314" name="Google Shape;314;p12"/>
          <p:cNvSpPr txBox="1"/>
          <p:nvPr/>
        </p:nvSpPr>
        <p:spPr>
          <a:xfrm>
            <a:off x="1097280" y="150876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2. Verify</a:t>
            </a:r>
            <a:endParaRPr/>
          </a:p>
        </p:txBody>
      </p:sp>
      <p:sp>
        <p:nvSpPr>
          <p:cNvPr id="315" name="Google Shape;315;p12"/>
          <p:cNvSpPr txBox="1"/>
          <p:nvPr/>
        </p:nvSpPr>
        <p:spPr>
          <a:xfrm>
            <a:off x="1097280" y="18288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Verify signature</a:t>
            </a:r>
            <a:b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Check compatibility</a:t>
            </a:r>
            <a:b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Validate bundle integrity</a:t>
            </a:r>
            <a:endParaRPr/>
          </a:p>
        </p:txBody>
      </p:sp>
      <p:sp>
        <p:nvSpPr>
          <p:cNvPr id="316" name="Google Shape;316;p12"/>
          <p:cNvSpPr/>
          <p:nvPr/>
        </p:nvSpPr>
        <p:spPr>
          <a:xfrm>
            <a:off x="2606040" y="2057400"/>
            <a:ext cx="182880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2"/>
          <p:cNvSpPr/>
          <p:nvPr/>
        </p:nvSpPr>
        <p:spPr>
          <a:xfrm>
            <a:off x="457200" y="2194560"/>
            <a:ext cx="457200" cy="548640"/>
          </a:xfrm>
          <a:prstGeom prst="roundRect">
            <a:avLst>
              <a:gd fmla="val 16667" name="adj"/>
            </a:avLst>
          </a:prstGeom>
          <a:solidFill>
            <a:srgbClr val="197A8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2"/>
          <p:cNvSpPr txBox="1"/>
          <p:nvPr/>
        </p:nvSpPr>
        <p:spPr>
          <a:xfrm>
            <a:off x="548640" y="2286000"/>
            <a:ext cx="320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319" name="Google Shape;319;p12"/>
          <p:cNvSpPr txBox="1"/>
          <p:nvPr/>
        </p:nvSpPr>
        <p:spPr>
          <a:xfrm>
            <a:off x="1097280" y="219456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3. Write</a:t>
            </a:r>
            <a:endParaRPr/>
          </a:p>
        </p:txBody>
      </p:sp>
      <p:sp>
        <p:nvSpPr>
          <p:cNvPr id="320" name="Google Shape;320;p12"/>
          <p:cNvSpPr txBox="1"/>
          <p:nvPr/>
        </p:nvSpPr>
        <p:spPr>
          <a:xfrm>
            <a:off x="1097280" y="25146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Write to inactive slot</a:t>
            </a:r>
            <a:b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Stream data to flash</a:t>
            </a:r>
            <a:b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Progress indicator</a:t>
            </a:r>
            <a:endParaRPr/>
          </a:p>
        </p:txBody>
      </p:sp>
      <p:sp>
        <p:nvSpPr>
          <p:cNvPr id="321" name="Google Shape;321;p12"/>
          <p:cNvSpPr/>
          <p:nvPr/>
        </p:nvSpPr>
        <p:spPr>
          <a:xfrm>
            <a:off x="2606040" y="2743200"/>
            <a:ext cx="182880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2"/>
          <p:cNvSpPr/>
          <p:nvPr/>
        </p:nvSpPr>
        <p:spPr>
          <a:xfrm>
            <a:off x="457200" y="2880360"/>
            <a:ext cx="457200" cy="548640"/>
          </a:xfrm>
          <a:prstGeom prst="roundRect">
            <a:avLst>
              <a:gd fmla="val 16667" name="adj"/>
            </a:avLst>
          </a:prstGeom>
          <a:solidFill>
            <a:srgbClr val="3D6F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2"/>
          <p:cNvSpPr txBox="1"/>
          <p:nvPr/>
        </p:nvSpPr>
        <p:spPr>
          <a:xfrm>
            <a:off x="548640" y="2971800"/>
            <a:ext cx="320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324" name="Google Shape;324;p12"/>
          <p:cNvSpPr txBox="1"/>
          <p:nvPr/>
        </p:nvSpPr>
        <p:spPr>
          <a:xfrm>
            <a:off x="1097280" y="288036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4. Activate</a:t>
            </a:r>
            <a:endParaRPr/>
          </a:p>
        </p:txBody>
      </p:sp>
      <p:sp>
        <p:nvSpPr>
          <p:cNvPr id="325" name="Google Shape;325;p12"/>
          <p:cNvSpPr txBox="1"/>
          <p:nvPr/>
        </p:nvSpPr>
        <p:spPr>
          <a:xfrm>
            <a:off x="1097280" y="32004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Mark new slot as active</a:t>
            </a:r>
            <a:b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Set bootloader flag</a:t>
            </a:r>
            <a:b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Reboot</a:t>
            </a:r>
            <a:endParaRPr/>
          </a:p>
        </p:txBody>
      </p:sp>
      <p:sp>
        <p:nvSpPr>
          <p:cNvPr id="326" name="Google Shape;326;p12"/>
          <p:cNvSpPr/>
          <p:nvPr/>
        </p:nvSpPr>
        <p:spPr>
          <a:xfrm>
            <a:off x="2606040" y="3429000"/>
            <a:ext cx="182880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2"/>
          <p:cNvSpPr/>
          <p:nvPr/>
        </p:nvSpPr>
        <p:spPr>
          <a:xfrm>
            <a:off x="457200" y="3566160"/>
            <a:ext cx="457200" cy="548640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2"/>
          <p:cNvSpPr txBox="1"/>
          <p:nvPr/>
        </p:nvSpPr>
        <p:spPr>
          <a:xfrm>
            <a:off x="548640" y="3657600"/>
            <a:ext cx="320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329" name="Google Shape;329;p12"/>
          <p:cNvSpPr txBox="1"/>
          <p:nvPr/>
        </p:nvSpPr>
        <p:spPr>
          <a:xfrm>
            <a:off x="1097280" y="356616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5. Boot &amp; Verify</a:t>
            </a:r>
            <a:endParaRPr/>
          </a:p>
        </p:txBody>
      </p:sp>
      <p:sp>
        <p:nvSpPr>
          <p:cNvPr id="330" name="Google Shape;330;p12"/>
          <p:cNvSpPr txBox="1"/>
          <p:nvPr/>
        </p:nvSpPr>
        <p:spPr>
          <a:xfrm>
            <a:off x="1097280" y="38862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Boot new image</a:t>
            </a:r>
            <a:b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Health check</a:t>
            </a:r>
            <a:b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Rollback if failed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2334"/>
        </a:solidFill>
      </p:bgPr>
    </p:bg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3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3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Prototyping with Raspberry Pi</a:t>
            </a:r>
            <a:endParaRPr/>
          </a:p>
        </p:txBody>
      </p:sp>
      <p:sp>
        <p:nvSpPr>
          <p:cNvPr id="338" name="Google Shape;338;p13"/>
          <p:cNvSpPr txBox="1"/>
          <p:nvPr/>
        </p:nvSpPr>
        <p:spPr>
          <a:xfrm>
            <a:off x="457200" y="822960"/>
            <a:ext cx="1127729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Raspberry Pi is the ideal prototyping platform for embedded Linux:</a:t>
            </a:r>
            <a:b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Low cost, huge community, mainline kernel support, GPIO, and standard interfaces.</a:t>
            </a:r>
            <a:endParaRPr/>
          </a:p>
        </p:txBody>
      </p:sp>
      <p:sp>
        <p:nvSpPr>
          <p:cNvPr id="339" name="Google Shape;339;p13"/>
          <p:cNvSpPr/>
          <p:nvPr/>
        </p:nvSpPr>
        <p:spPr>
          <a:xfrm>
            <a:off x="457200" y="2468880"/>
            <a:ext cx="11277295" cy="2286000"/>
          </a:xfrm>
          <a:prstGeom prst="roundRect">
            <a:avLst>
              <a:gd fmla="val 16667" name="adj"/>
            </a:avLst>
          </a:prstGeom>
          <a:solidFill>
            <a:srgbClr val="2E7D3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3"/>
          <p:cNvSpPr txBox="1"/>
          <p:nvPr/>
        </p:nvSpPr>
        <p:spPr>
          <a:xfrm>
            <a:off x="731520" y="2651760"/>
            <a:ext cx="10972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▸  Models: RPi 3B+, 4B, 5, Zero 2W</a:t>
            </a:r>
            <a:endParaRPr/>
          </a:p>
        </p:txBody>
      </p:sp>
      <p:sp>
        <p:nvSpPr>
          <p:cNvPr id="341" name="Google Shape;341;p13"/>
          <p:cNvSpPr txBox="1"/>
          <p:nvPr/>
        </p:nvSpPr>
        <p:spPr>
          <a:xfrm>
            <a:off x="731520" y="2971800"/>
            <a:ext cx="10972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▸  SoC: Broadcom BCM2711/BCM2712</a:t>
            </a:r>
            <a:endParaRPr/>
          </a:p>
        </p:txBody>
      </p:sp>
      <p:sp>
        <p:nvSpPr>
          <p:cNvPr id="342" name="Google Shape;342;p13"/>
          <p:cNvSpPr txBox="1"/>
          <p:nvPr/>
        </p:nvSpPr>
        <p:spPr>
          <a:xfrm>
            <a:off x="731520" y="3291840"/>
            <a:ext cx="10972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▸  RAM: 1-8 GB LPDDR4</a:t>
            </a:r>
            <a:endParaRPr/>
          </a:p>
        </p:txBody>
      </p:sp>
      <p:sp>
        <p:nvSpPr>
          <p:cNvPr id="343" name="Google Shape;343;p13"/>
          <p:cNvSpPr txBox="1"/>
          <p:nvPr/>
        </p:nvSpPr>
        <p:spPr>
          <a:xfrm>
            <a:off x="731520" y="3611880"/>
            <a:ext cx="10972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▸  Boot: SD card, USB, network</a:t>
            </a:r>
            <a:endParaRPr/>
          </a:p>
        </p:txBody>
      </p:sp>
      <p:sp>
        <p:nvSpPr>
          <p:cNvPr id="344" name="Google Shape;344;p13"/>
          <p:cNvSpPr txBox="1"/>
          <p:nvPr/>
        </p:nvSpPr>
        <p:spPr>
          <a:xfrm>
            <a:off x="731520" y="3931920"/>
            <a:ext cx="10972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▸  GPIO: 40-pin header, I2C, SPI, UART</a:t>
            </a:r>
            <a:endParaRPr/>
          </a:p>
        </p:txBody>
      </p:sp>
      <p:sp>
        <p:nvSpPr>
          <p:cNvPr id="345" name="Google Shape;345;p13"/>
          <p:cNvSpPr txBox="1"/>
          <p:nvPr/>
        </p:nvSpPr>
        <p:spPr>
          <a:xfrm>
            <a:off x="731520" y="4251960"/>
            <a:ext cx="10972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▸  OS: Raspberry Pi OS, Ubuntu, Buildroot, Yocto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5E9"/>
        </a:solidFill>
      </p:bgPr>
    </p:bg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4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Lab: Prototyping</a:t>
            </a:r>
            <a:endParaRPr/>
          </a:p>
        </p:txBody>
      </p:sp>
      <p:sp>
        <p:nvSpPr>
          <p:cNvPr id="352" name="Google Shape;352;p14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Lab: RPi Setup</a:t>
            </a:r>
            <a:endParaRPr/>
          </a:p>
        </p:txBody>
      </p:sp>
      <p:sp>
        <p:nvSpPr>
          <p:cNvPr id="353" name="Google Shape;353;p14"/>
          <p:cNvSpPr/>
          <p:nvPr/>
        </p:nvSpPr>
        <p:spPr>
          <a:xfrm>
            <a:off x="457200" y="822960"/>
            <a:ext cx="5501487" cy="3200400"/>
          </a:xfrm>
          <a:prstGeom prst="roundRect">
            <a:avLst>
              <a:gd fmla="val 16667" name="adj"/>
            </a:avLst>
          </a:prstGeom>
          <a:solidFill>
            <a:srgbClr val="E6F5F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4"/>
          <p:cNvSpPr txBox="1"/>
          <p:nvPr/>
        </p:nvSpPr>
        <p:spPr>
          <a:xfrm>
            <a:off x="594360" y="960120"/>
            <a:ext cx="522716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Hardware Setup</a:t>
            </a:r>
            <a:endParaRPr/>
          </a:p>
        </p:txBody>
      </p:sp>
      <p:sp>
        <p:nvSpPr>
          <p:cNvPr id="355" name="Google Shape;355;p14"/>
          <p:cNvSpPr txBox="1"/>
          <p:nvPr/>
        </p:nvSpPr>
        <p:spPr>
          <a:xfrm>
            <a:off x="640080" y="1325880"/>
            <a:ext cx="513572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1.  RPi 4B (2GB+ recommended)</a:t>
            </a:r>
            <a:endParaRPr/>
          </a:p>
        </p:txBody>
      </p:sp>
      <p:sp>
        <p:nvSpPr>
          <p:cNvPr id="356" name="Google Shape;356;p14"/>
          <p:cNvSpPr txBox="1"/>
          <p:nvPr/>
        </p:nvSpPr>
        <p:spPr>
          <a:xfrm>
            <a:off x="640080" y="1783080"/>
            <a:ext cx="513572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2.  MicroSD card (16GB+)</a:t>
            </a:r>
            <a:endParaRPr/>
          </a:p>
        </p:txBody>
      </p:sp>
      <p:sp>
        <p:nvSpPr>
          <p:cNvPr id="357" name="Google Shape;357;p14"/>
          <p:cNvSpPr txBox="1"/>
          <p:nvPr/>
        </p:nvSpPr>
        <p:spPr>
          <a:xfrm>
            <a:off x="640080" y="2240280"/>
            <a:ext cx="513572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3.  USB-C power supply (5V 3A)</a:t>
            </a:r>
            <a:endParaRPr/>
          </a:p>
        </p:txBody>
      </p:sp>
      <p:sp>
        <p:nvSpPr>
          <p:cNvPr id="358" name="Google Shape;358;p14"/>
          <p:cNvSpPr txBox="1"/>
          <p:nvPr/>
        </p:nvSpPr>
        <p:spPr>
          <a:xfrm>
            <a:off x="640080" y="2697480"/>
            <a:ext cx="513572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4.  USB-to-TTL serial cable (3.3V!)</a:t>
            </a:r>
            <a:endParaRPr/>
          </a:p>
        </p:txBody>
      </p:sp>
      <p:sp>
        <p:nvSpPr>
          <p:cNvPr id="359" name="Google Shape;359;p14"/>
          <p:cNvSpPr txBox="1"/>
          <p:nvPr/>
        </p:nvSpPr>
        <p:spPr>
          <a:xfrm>
            <a:off x="640080" y="3154680"/>
            <a:ext cx="513572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5.  Ethernet cable or WiFi</a:t>
            </a:r>
            <a:endParaRPr/>
          </a:p>
        </p:txBody>
      </p:sp>
      <p:sp>
        <p:nvSpPr>
          <p:cNvPr id="360" name="Google Shape;360;p14"/>
          <p:cNvSpPr/>
          <p:nvPr/>
        </p:nvSpPr>
        <p:spPr>
          <a:xfrm>
            <a:off x="6233007" y="822960"/>
            <a:ext cx="5501487" cy="3200400"/>
          </a:xfrm>
          <a:prstGeom prst="roundRect">
            <a:avLst>
              <a:gd fmla="val 16667" name="adj"/>
            </a:avLst>
          </a:prstGeom>
          <a:solidFill>
            <a:srgbClr val="1E1E1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4"/>
          <p:cNvSpPr txBox="1"/>
          <p:nvPr/>
        </p:nvSpPr>
        <p:spPr>
          <a:xfrm>
            <a:off x="6370167" y="960120"/>
            <a:ext cx="522716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Serial Console Connection</a:t>
            </a:r>
            <a:endParaRPr/>
          </a:p>
        </p:txBody>
      </p:sp>
      <p:sp>
        <p:nvSpPr>
          <p:cNvPr id="362" name="Google Shape;362;p14"/>
          <p:cNvSpPr txBox="1"/>
          <p:nvPr/>
        </p:nvSpPr>
        <p:spPr>
          <a:xfrm>
            <a:off x="6370167" y="1280160"/>
            <a:ext cx="5227167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# Find serial port: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$ ls /dev/ttyUSB*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# Connect (115200 8N1):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$ screen /dev/ttyUSB0 115200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or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$ minicom -D /dev/ttyUSB0 -b 115200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# Wiring (USB-to-TTL):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RPi GPIO 14 (TX) → USB TTL RX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RPi GPIO 15 (RX) → USB TTL TX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RPi GND         → USB TTL GND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# WARNING: Do NOT connect VCC!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# RPi is self-powered via USB-C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5E9"/>
        </a:solidFill>
      </p:bgPr>
    </p:bg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15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Lab: Prototyping</a:t>
            </a:r>
            <a:endParaRPr/>
          </a:p>
        </p:txBody>
      </p:sp>
      <p:sp>
        <p:nvSpPr>
          <p:cNvPr id="369" name="Google Shape;369;p15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Lab: RPi Boot &amp; Debug</a:t>
            </a:r>
            <a:endParaRPr/>
          </a:p>
        </p:txBody>
      </p:sp>
      <p:sp>
        <p:nvSpPr>
          <p:cNvPr id="370" name="Google Shape;370;p15"/>
          <p:cNvSpPr/>
          <p:nvPr/>
        </p:nvSpPr>
        <p:spPr>
          <a:xfrm>
            <a:off x="457200" y="822960"/>
            <a:ext cx="11277295" cy="1828800"/>
          </a:xfrm>
          <a:prstGeom prst="roundRect">
            <a:avLst>
              <a:gd fmla="val 16667" name="adj"/>
            </a:avLst>
          </a:prstGeom>
          <a:solidFill>
            <a:srgbClr val="1E1E1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5"/>
          <p:cNvSpPr txBox="1"/>
          <p:nvPr/>
        </p:nvSpPr>
        <p:spPr>
          <a:xfrm>
            <a:off x="640080" y="914400"/>
            <a:ext cx="10911535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U-Boot 2023.04 (Oct 15 2023 - 12:34:56 +0000)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Model: Raspberry Pi 4 Model B Rev 1.4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DRAM:  4 GiB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MMC:   mmcnr@7e300000: 1, mmc@7e340000: 0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Loading kernel from mmc 0:1...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## Flattened Device Tree blob at 02600000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Booting using the fdt blob at 0x02600000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Loading Kernel Image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Starting kernel...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[    0.000000] Booting Linux on physical CPU 0x0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[    0.000000] Linux version 6.1.50-v8</a:t>
            </a:r>
            <a:endParaRPr/>
          </a:p>
        </p:txBody>
      </p:sp>
      <p:sp>
        <p:nvSpPr>
          <p:cNvPr id="372" name="Google Shape;372;p15"/>
          <p:cNvSpPr txBox="1"/>
          <p:nvPr/>
        </p:nvSpPr>
        <p:spPr>
          <a:xfrm>
            <a:off x="457200" y="2834640"/>
            <a:ext cx="1127729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Essential Debug Commands:</a:t>
            </a:r>
            <a:endParaRPr/>
          </a:p>
        </p:txBody>
      </p:sp>
      <p:sp>
        <p:nvSpPr>
          <p:cNvPr id="373" name="Google Shape;373;p15"/>
          <p:cNvSpPr/>
          <p:nvPr/>
        </p:nvSpPr>
        <p:spPr>
          <a:xfrm>
            <a:off x="457200" y="3291840"/>
            <a:ext cx="5501487" cy="1645920"/>
          </a:xfrm>
          <a:prstGeom prst="roundRect">
            <a:avLst>
              <a:gd fmla="val 16667" name="adj"/>
            </a:avLst>
          </a:prstGeom>
          <a:solidFill>
            <a:srgbClr val="E6F5F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5"/>
          <p:cNvSpPr txBox="1"/>
          <p:nvPr/>
        </p:nvSpPr>
        <p:spPr>
          <a:xfrm>
            <a:off x="594360" y="3429000"/>
            <a:ext cx="5227167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# Kernel messages: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dmesg | tail -50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# Device tree: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ls /proc/device-tree/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# GPIO status: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cat /sys/kernel/debug/gpio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# Memory: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free -h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cat /proc/meminfo</a:t>
            </a:r>
            <a:endParaRPr/>
          </a:p>
        </p:txBody>
      </p:sp>
      <p:sp>
        <p:nvSpPr>
          <p:cNvPr id="375" name="Google Shape;375;p15"/>
          <p:cNvSpPr/>
          <p:nvPr/>
        </p:nvSpPr>
        <p:spPr>
          <a:xfrm>
            <a:off x="6233007" y="3291840"/>
            <a:ext cx="5501487" cy="1645920"/>
          </a:xfrm>
          <a:prstGeom prst="roundRect">
            <a:avLst>
              <a:gd fmla="val 16667" name="adj"/>
            </a:avLst>
          </a:prstGeom>
          <a:solidFill>
            <a:srgbClr val="EBF1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5"/>
          <p:cNvSpPr txBox="1"/>
          <p:nvPr/>
        </p:nvSpPr>
        <p:spPr>
          <a:xfrm>
            <a:off x="6370167" y="3429000"/>
            <a:ext cx="5227167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# Storage: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df -h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lsblk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fdisk -l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# Network: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ip addr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ip route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ping 8.8.8.8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# Processes: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ps aux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top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# U-Boot env (from Linux):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fw_printenv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5E9"/>
        </a:solidFill>
      </p:bgPr>
    </p:bg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16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Lab: Prototyping</a:t>
            </a:r>
            <a:endParaRPr/>
          </a:p>
        </p:txBody>
      </p:sp>
      <p:sp>
        <p:nvSpPr>
          <p:cNvPr id="383" name="Google Shape;383;p16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Lab: Cross-Compile &amp; Deploy</a:t>
            </a:r>
            <a:endParaRPr/>
          </a:p>
        </p:txBody>
      </p:sp>
      <p:sp>
        <p:nvSpPr>
          <p:cNvPr id="384" name="Google Shape;384;p16"/>
          <p:cNvSpPr/>
          <p:nvPr/>
        </p:nvSpPr>
        <p:spPr>
          <a:xfrm>
            <a:off x="457200" y="822960"/>
            <a:ext cx="457200" cy="640080"/>
          </a:xfrm>
          <a:prstGeom prst="roundRect">
            <a:avLst>
              <a:gd fmla="val 16667" name="adj"/>
            </a:avLst>
          </a:prstGeom>
          <a:solidFill>
            <a:srgbClr val="2E7D3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6"/>
          <p:cNvSpPr txBox="1"/>
          <p:nvPr/>
        </p:nvSpPr>
        <p:spPr>
          <a:xfrm>
            <a:off x="548640" y="914400"/>
            <a:ext cx="320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386" name="Google Shape;386;p16"/>
          <p:cNvSpPr txBox="1"/>
          <p:nvPr/>
        </p:nvSpPr>
        <p:spPr>
          <a:xfrm>
            <a:off x="1097280" y="82296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1. Build on Host</a:t>
            </a:r>
            <a:endParaRPr/>
          </a:p>
        </p:txBody>
      </p:sp>
      <p:sp>
        <p:nvSpPr>
          <p:cNvPr id="387" name="Google Shape;387;p16"/>
          <p:cNvSpPr txBox="1"/>
          <p:nvPr/>
        </p:nvSpPr>
        <p:spPr>
          <a:xfrm>
            <a:off x="1097280" y="11430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Cross-compile with Buildroot/Yocto: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make -j$(nproc)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Output: zImage, rootfs.ext4, DTB</a:t>
            </a:r>
            <a:endParaRPr/>
          </a:p>
        </p:txBody>
      </p:sp>
      <p:sp>
        <p:nvSpPr>
          <p:cNvPr id="388" name="Google Shape;388;p16"/>
          <p:cNvSpPr/>
          <p:nvPr/>
        </p:nvSpPr>
        <p:spPr>
          <a:xfrm>
            <a:off x="457200" y="1645920"/>
            <a:ext cx="457200" cy="640080"/>
          </a:xfrm>
          <a:prstGeom prst="roundRect">
            <a:avLst>
              <a:gd fmla="val 16667" name="adj"/>
            </a:avLst>
          </a:prstGeom>
          <a:solidFill>
            <a:srgbClr val="2E7D3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6"/>
          <p:cNvSpPr txBox="1"/>
          <p:nvPr/>
        </p:nvSpPr>
        <p:spPr>
          <a:xfrm>
            <a:off x="548640" y="1737360"/>
            <a:ext cx="320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390" name="Google Shape;390;p16"/>
          <p:cNvSpPr txBox="1"/>
          <p:nvPr/>
        </p:nvSpPr>
        <p:spPr>
          <a:xfrm>
            <a:off x="1097280" y="164592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2. Flash SD Card</a:t>
            </a:r>
            <a:endParaRPr/>
          </a:p>
        </p:txBody>
      </p:sp>
      <p:sp>
        <p:nvSpPr>
          <p:cNvPr id="391" name="Google Shape;391;p16"/>
          <p:cNvSpPr txBox="1"/>
          <p:nvPr/>
        </p:nvSpPr>
        <p:spPr>
          <a:xfrm>
            <a:off x="1097280" y="196596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Write image to SD card: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dd if=output/images/sdcard.img of=/dev/sdX bs=4M status=progress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sync</a:t>
            </a:r>
            <a:endParaRPr/>
          </a:p>
        </p:txBody>
      </p:sp>
      <p:sp>
        <p:nvSpPr>
          <p:cNvPr id="392" name="Google Shape;392;p16"/>
          <p:cNvSpPr/>
          <p:nvPr/>
        </p:nvSpPr>
        <p:spPr>
          <a:xfrm>
            <a:off x="457200" y="2468880"/>
            <a:ext cx="457200" cy="640080"/>
          </a:xfrm>
          <a:prstGeom prst="roundRect">
            <a:avLst>
              <a:gd fmla="val 16667" name="adj"/>
            </a:avLst>
          </a:prstGeom>
          <a:solidFill>
            <a:srgbClr val="2E7D3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6"/>
          <p:cNvSpPr txBox="1"/>
          <p:nvPr/>
        </p:nvSpPr>
        <p:spPr>
          <a:xfrm>
            <a:off x="548640" y="2560320"/>
            <a:ext cx="320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394" name="Google Shape;394;p16"/>
          <p:cNvSpPr txBox="1"/>
          <p:nvPr/>
        </p:nvSpPr>
        <p:spPr>
          <a:xfrm>
            <a:off x="1097280" y="24688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3. Boot RPi</a:t>
            </a:r>
            <a:endParaRPr/>
          </a:p>
        </p:txBody>
      </p:sp>
      <p:sp>
        <p:nvSpPr>
          <p:cNvPr id="395" name="Google Shape;395;p16"/>
          <p:cNvSpPr txBox="1"/>
          <p:nvPr/>
        </p:nvSpPr>
        <p:spPr>
          <a:xfrm>
            <a:off x="1097280" y="278892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Insert SD card, power on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Connect serial console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Watch U-Boot → Kernel boot</a:t>
            </a:r>
            <a:endParaRPr/>
          </a:p>
        </p:txBody>
      </p:sp>
      <p:sp>
        <p:nvSpPr>
          <p:cNvPr id="396" name="Google Shape;396;p16"/>
          <p:cNvSpPr/>
          <p:nvPr/>
        </p:nvSpPr>
        <p:spPr>
          <a:xfrm>
            <a:off x="457200" y="3291840"/>
            <a:ext cx="457200" cy="640080"/>
          </a:xfrm>
          <a:prstGeom prst="roundRect">
            <a:avLst>
              <a:gd fmla="val 16667" name="adj"/>
            </a:avLst>
          </a:prstGeom>
          <a:solidFill>
            <a:srgbClr val="2E7D3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6"/>
          <p:cNvSpPr txBox="1"/>
          <p:nvPr/>
        </p:nvSpPr>
        <p:spPr>
          <a:xfrm>
            <a:off x="548640" y="3383280"/>
            <a:ext cx="320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398" name="Google Shape;398;p16"/>
          <p:cNvSpPr txBox="1"/>
          <p:nvPr/>
        </p:nvSpPr>
        <p:spPr>
          <a:xfrm>
            <a:off x="1097280" y="329184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4. Deploy App</a:t>
            </a:r>
            <a:endParaRPr/>
          </a:p>
        </p:txBody>
      </p:sp>
      <p:sp>
        <p:nvSpPr>
          <p:cNvPr id="399" name="Google Shape;399;p16"/>
          <p:cNvSpPr txBox="1"/>
          <p:nvPr/>
        </p:nvSpPr>
        <p:spPr>
          <a:xfrm>
            <a:off x="1097280" y="361188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Copy binary to target: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scp myapp root@192.168.1.100:/usr/bin/</a:t>
            </a:r>
            <a:b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Courier New"/>
                <a:ea typeface="Courier New"/>
                <a:cs typeface="Courier New"/>
                <a:sym typeface="Courier New"/>
              </a:rPr>
              <a:t>$ ssh root@192.168.1.100 ./myapp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2334"/>
        </a:solidFill>
      </p:bgPr>
    </p:bg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17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7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7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Case Study: IoT Gateway</a:t>
            </a:r>
            <a:endParaRPr/>
          </a:p>
        </p:txBody>
      </p:sp>
      <p:sp>
        <p:nvSpPr>
          <p:cNvPr id="407" name="Google Shape;407;p17"/>
          <p:cNvSpPr txBox="1"/>
          <p:nvPr/>
        </p:nvSpPr>
        <p:spPr>
          <a:xfrm>
            <a:off x="457200" y="822960"/>
            <a:ext cx="112772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Design an IoT gateway that collects sensor data from multiple sources, processes it locally, and uploads to the cloud.</a:t>
            </a:r>
            <a:endParaRPr/>
          </a:p>
        </p:txBody>
      </p:sp>
      <p:sp>
        <p:nvSpPr>
          <p:cNvPr id="408" name="Google Shape;408;p17"/>
          <p:cNvSpPr/>
          <p:nvPr/>
        </p:nvSpPr>
        <p:spPr>
          <a:xfrm>
            <a:off x="457200" y="2011680"/>
            <a:ext cx="2834640" cy="1828800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7"/>
          <p:cNvSpPr txBox="1"/>
          <p:nvPr/>
        </p:nvSpPr>
        <p:spPr>
          <a:xfrm>
            <a:off x="594360" y="210312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Sensors</a:t>
            </a:r>
            <a:endParaRPr/>
          </a:p>
        </p:txBody>
      </p:sp>
      <p:sp>
        <p:nvSpPr>
          <p:cNvPr id="410" name="Google Shape;410;p17"/>
          <p:cNvSpPr txBox="1"/>
          <p:nvPr/>
        </p:nvSpPr>
        <p:spPr>
          <a:xfrm>
            <a:off x="594360" y="2468880"/>
            <a:ext cx="25603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Temperature, humidity, motion</a:t>
            </a:r>
            <a:b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I2C, SPI, UART interfaces</a:t>
            </a:r>
            <a:endParaRPr/>
          </a:p>
        </p:txBody>
      </p:sp>
      <p:sp>
        <p:nvSpPr>
          <p:cNvPr id="411" name="Google Shape;411;p17"/>
          <p:cNvSpPr/>
          <p:nvPr/>
        </p:nvSpPr>
        <p:spPr>
          <a:xfrm>
            <a:off x="3291840" y="2834640"/>
            <a:ext cx="137160" cy="18288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7"/>
          <p:cNvSpPr/>
          <p:nvPr/>
        </p:nvSpPr>
        <p:spPr>
          <a:xfrm>
            <a:off x="3429000" y="2011680"/>
            <a:ext cx="2834640" cy="1828800"/>
          </a:xfrm>
          <a:prstGeom prst="roundRect">
            <a:avLst>
              <a:gd fmla="val 16667" name="adj"/>
            </a:avLst>
          </a:prstGeom>
          <a:solidFill>
            <a:srgbClr val="E6862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7"/>
          <p:cNvSpPr txBox="1"/>
          <p:nvPr/>
        </p:nvSpPr>
        <p:spPr>
          <a:xfrm>
            <a:off x="3566160" y="210312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Processor</a:t>
            </a:r>
            <a:endParaRPr/>
          </a:p>
        </p:txBody>
      </p:sp>
      <p:sp>
        <p:nvSpPr>
          <p:cNvPr id="414" name="Google Shape;414;p17"/>
          <p:cNvSpPr txBox="1"/>
          <p:nvPr/>
        </p:nvSpPr>
        <p:spPr>
          <a:xfrm>
            <a:off x="3566160" y="2468880"/>
            <a:ext cx="25603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ARM Cortex-A53</a:t>
            </a:r>
            <a:b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512MB-1GB RAM</a:t>
            </a:r>
            <a:b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eMMC + SD card</a:t>
            </a:r>
            <a:endParaRPr/>
          </a:p>
        </p:txBody>
      </p:sp>
      <p:sp>
        <p:nvSpPr>
          <p:cNvPr id="415" name="Google Shape;415;p17"/>
          <p:cNvSpPr/>
          <p:nvPr/>
        </p:nvSpPr>
        <p:spPr>
          <a:xfrm>
            <a:off x="6263640" y="2834640"/>
            <a:ext cx="137160" cy="18288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7"/>
          <p:cNvSpPr/>
          <p:nvPr/>
        </p:nvSpPr>
        <p:spPr>
          <a:xfrm>
            <a:off x="6400800" y="2011680"/>
            <a:ext cx="2834640" cy="1828800"/>
          </a:xfrm>
          <a:prstGeom prst="roundRect">
            <a:avLst>
              <a:gd fmla="val 16667" name="adj"/>
            </a:avLst>
          </a:prstGeom>
          <a:solidFill>
            <a:srgbClr val="197A8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7"/>
          <p:cNvSpPr txBox="1"/>
          <p:nvPr/>
        </p:nvSpPr>
        <p:spPr>
          <a:xfrm>
            <a:off x="6537960" y="210312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Connectivity</a:t>
            </a:r>
            <a:endParaRPr/>
          </a:p>
        </p:txBody>
      </p:sp>
      <p:sp>
        <p:nvSpPr>
          <p:cNvPr id="418" name="Google Shape;418;p17"/>
          <p:cNvSpPr txBox="1"/>
          <p:nvPr/>
        </p:nvSpPr>
        <p:spPr>
          <a:xfrm>
            <a:off x="6537960" y="2468880"/>
            <a:ext cx="25603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Ethernet, WiFi, BLE</a:t>
            </a:r>
            <a:b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4G/LTE optional</a:t>
            </a:r>
            <a:b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MQTT to cloud</a:t>
            </a:r>
            <a:endParaRPr/>
          </a:p>
        </p:txBody>
      </p:sp>
      <p:sp>
        <p:nvSpPr>
          <p:cNvPr id="419" name="Google Shape;419;p17"/>
          <p:cNvSpPr/>
          <p:nvPr/>
        </p:nvSpPr>
        <p:spPr>
          <a:xfrm>
            <a:off x="9235440" y="2834640"/>
            <a:ext cx="137160" cy="18288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7"/>
          <p:cNvSpPr/>
          <p:nvPr/>
        </p:nvSpPr>
        <p:spPr>
          <a:xfrm>
            <a:off x="9372600" y="2011680"/>
            <a:ext cx="2834640" cy="1828800"/>
          </a:xfrm>
          <a:prstGeom prst="roundRect">
            <a:avLst>
              <a:gd fmla="val 16667" name="adj"/>
            </a:avLst>
          </a:prstGeom>
          <a:solidFill>
            <a:srgbClr val="3D6F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7"/>
          <p:cNvSpPr txBox="1"/>
          <p:nvPr/>
        </p:nvSpPr>
        <p:spPr>
          <a:xfrm>
            <a:off x="9509760" y="210312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Software</a:t>
            </a:r>
            <a:endParaRPr/>
          </a:p>
        </p:txBody>
      </p:sp>
      <p:sp>
        <p:nvSpPr>
          <p:cNvPr id="422" name="Google Shape;422;p17"/>
          <p:cNvSpPr txBox="1"/>
          <p:nvPr/>
        </p:nvSpPr>
        <p:spPr>
          <a:xfrm>
            <a:off x="9509760" y="2468880"/>
            <a:ext cx="25603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Buildroot or Yocto</a:t>
            </a:r>
            <a:b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Python + C applications</a:t>
            </a:r>
            <a:b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OTA updates via Mender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8FB"/>
        </a:solidFill>
      </p:bgPr>
    </p:bg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18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8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IoT Gateway: Storage Design</a:t>
            </a:r>
            <a:endParaRPr/>
          </a:p>
        </p:txBody>
      </p:sp>
      <p:sp>
        <p:nvSpPr>
          <p:cNvPr id="430" name="Google Shape;430;p18"/>
          <p:cNvSpPr txBox="1"/>
          <p:nvPr/>
        </p:nvSpPr>
        <p:spPr>
          <a:xfrm>
            <a:off x="457200" y="822960"/>
            <a:ext cx="1127729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eMMC Partition Layout (8 GB)</a:t>
            </a:r>
            <a:endParaRPr/>
          </a:p>
        </p:txBody>
      </p:sp>
      <p:sp>
        <p:nvSpPr>
          <p:cNvPr id="431" name="Google Shape;431;p18"/>
          <p:cNvSpPr/>
          <p:nvPr/>
        </p:nvSpPr>
        <p:spPr>
          <a:xfrm>
            <a:off x="457200" y="1371600"/>
            <a:ext cx="731520" cy="365760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8"/>
          <p:cNvSpPr txBox="1"/>
          <p:nvPr/>
        </p:nvSpPr>
        <p:spPr>
          <a:xfrm>
            <a:off x="530352" y="1399032"/>
            <a:ext cx="5852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boot</a:t>
            </a:r>
            <a:endParaRPr/>
          </a:p>
        </p:txBody>
      </p:sp>
      <p:sp>
        <p:nvSpPr>
          <p:cNvPr id="433" name="Google Shape;433;p18"/>
          <p:cNvSpPr txBox="1"/>
          <p:nvPr/>
        </p:nvSpPr>
        <p:spPr>
          <a:xfrm>
            <a:off x="530352" y="1572768"/>
            <a:ext cx="585216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 MB</a:t>
            </a:r>
            <a:endParaRPr/>
          </a:p>
        </p:txBody>
      </p:sp>
      <p:sp>
        <p:nvSpPr>
          <p:cNvPr id="434" name="Google Shape;434;p18"/>
          <p:cNvSpPr/>
          <p:nvPr/>
        </p:nvSpPr>
        <p:spPr>
          <a:xfrm>
            <a:off x="1188720" y="1371600"/>
            <a:ext cx="731520" cy="365760"/>
          </a:xfrm>
          <a:prstGeom prst="roundRect">
            <a:avLst>
              <a:gd fmla="val 16667" name="adj"/>
            </a:avLst>
          </a:prstGeom>
          <a:solidFill>
            <a:srgbClr val="E6862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8"/>
          <p:cNvSpPr txBox="1"/>
          <p:nvPr/>
        </p:nvSpPr>
        <p:spPr>
          <a:xfrm>
            <a:off x="1261872" y="1399032"/>
            <a:ext cx="5852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env</a:t>
            </a:r>
            <a:endParaRPr/>
          </a:p>
        </p:txBody>
      </p:sp>
      <p:sp>
        <p:nvSpPr>
          <p:cNvPr id="436" name="Google Shape;436;p18"/>
          <p:cNvSpPr txBox="1"/>
          <p:nvPr/>
        </p:nvSpPr>
        <p:spPr>
          <a:xfrm>
            <a:off x="1261872" y="1572768"/>
            <a:ext cx="585216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256 KB</a:t>
            </a:r>
            <a:endParaRPr/>
          </a:p>
        </p:txBody>
      </p:sp>
      <p:sp>
        <p:nvSpPr>
          <p:cNvPr id="437" name="Google Shape;437;p18"/>
          <p:cNvSpPr/>
          <p:nvPr/>
        </p:nvSpPr>
        <p:spPr>
          <a:xfrm>
            <a:off x="1920240" y="1371600"/>
            <a:ext cx="731520" cy="365760"/>
          </a:xfrm>
          <a:prstGeom prst="roundRect">
            <a:avLst>
              <a:gd fmla="val 16667" name="adj"/>
            </a:avLst>
          </a:prstGeom>
          <a:solidFill>
            <a:srgbClr val="197A8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8"/>
          <p:cNvSpPr txBox="1"/>
          <p:nvPr/>
        </p:nvSpPr>
        <p:spPr>
          <a:xfrm>
            <a:off x="1993392" y="1399032"/>
            <a:ext cx="5852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kernel</a:t>
            </a:r>
            <a:endParaRPr/>
          </a:p>
        </p:txBody>
      </p:sp>
      <p:sp>
        <p:nvSpPr>
          <p:cNvPr id="439" name="Google Shape;439;p18"/>
          <p:cNvSpPr txBox="1"/>
          <p:nvPr/>
        </p:nvSpPr>
        <p:spPr>
          <a:xfrm>
            <a:off x="1993392" y="1572768"/>
            <a:ext cx="585216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16 MB</a:t>
            </a:r>
            <a:endParaRPr/>
          </a:p>
        </p:txBody>
      </p:sp>
      <p:sp>
        <p:nvSpPr>
          <p:cNvPr id="440" name="Google Shape;440;p18"/>
          <p:cNvSpPr/>
          <p:nvPr/>
        </p:nvSpPr>
        <p:spPr>
          <a:xfrm>
            <a:off x="2651760" y="1371600"/>
            <a:ext cx="2819323" cy="365760"/>
          </a:xfrm>
          <a:prstGeom prst="roundRect">
            <a:avLst>
              <a:gd fmla="val 16667" name="adj"/>
            </a:avLst>
          </a:prstGeom>
          <a:solidFill>
            <a:srgbClr val="3D6F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8"/>
          <p:cNvSpPr txBox="1"/>
          <p:nvPr/>
        </p:nvSpPr>
        <p:spPr>
          <a:xfrm>
            <a:off x="2724912" y="1399032"/>
            <a:ext cx="267301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rootfs_a</a:t>
            </a:r>
            <a:endParaRPr/>
          </a:p>
        </p:txBody>
      </p:sp>
      <p:sp>
        <p:nvSpPr>
          <p:cNvPr id="442" name="Google Shape;442;p18"/>
          <p:cNvSpPr txBox="1"/>
          <p:nvPr/>
        </p:nvSpPr>
        <p:spPr>
          <a:xfrm>
            <a:off x="2724912" y="1572768"/>
            <a:ext cx="2673019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 GB</a:t>
            </a:r>
            <a:endParaRPr/>
          </a:p>
        </p:txBody>
      </p:sp>
      <p:sp>
        <p:nvSpPr>
          <p:cNvPr id="443" name="Google Shape;443;p18"/>
          <p:cNvSpPr/>
          <p:nvPr/>
        </p:nvSpPr>
        <p:spPr>
          <a:xfrm>
            <a:off x="5471083" y="1371600"/>
            <a:ext cx="2819323" cy="365760"/>
          </a:xfrm>
          <a:prstGeom prst="roundRect">
            <a:avLst>
              <a:gd fmla="val 16667" name="adj"/>
            </a:avLst>
          </a:prstGeom>
          <a:solidFill>
            <a:srgbClr val="3D6F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8"/>
          <p:cNvSpPr txBox="1"/>
          <p:nvPr/>
        </p:nvSpPr>
        <p:spPr>
          <a:xfrm>
            <a:off x="5544235" y="1399032"/>
            <a:ext cx="267301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rootfs_b</a:t>
            </a:r>
            <a:endParaRPr/>
          </a:p>
        </p:txBody>
      </p:sp>
      <p:sp>
        <p:nvSpPr>
          <p:cNvPr id="445" name="Google Shape;445;p18"/>
          <p:cNvSpPr txBox="1"/>
          <p:nvPr/>
        </p:nvSpPr>
        <p:spPr>
          <a:xfrm>
            <a:off x="5544235" y="1572768"/>
            <a:ext cx="2673019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 GB</a:t>
            </a:r>
            <a:endParaRPr/>
          </a:p>
        </p:txBody>
      </p:sp>
      <p:sp>
        <p:nvSpPr>
          <p:cNvPr id="446" name="Google Shape;446;p18"/>
          <p:cNvSpPr/>
          <p:nvPr/>
        </p:nvSpPr>
        <p:spPr>
          <a:xfrm>
            <a:off x="8290407" y="1371600"/>
            <a:ext cx="5638647" cy="365760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8"/>
          <p:cNvSpPr txBox="1"/>
          <p:nvPr/>
        </p:nvSpPr>
        <p:spPr>
          <a:xfrm>
            <a:off x="8363559" y="1399032"/>
            <a:ext cx="5492343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data</a:t>
            </a:r>
            <a:endParaRPr/>
          </a:p>
        </p:txBody>
      </p:sp>
      <p:sp>
        <p:nvSpPr>
          <p:cNvPr id="448" name="Google Shape;448;p18"/>
          <p:cNvSpPr txBox="1"/>
          <p:nvPr/>
        </p:nvSpPr>
        <p:spPr>
          <a:xfrm>
            <a:off x="8363559" y="1572768"/>
            <a:ext cx="5492343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remaining</a:t>
            </a:r>
            <a:endParaRPr/>
          </a:p>
        </p:txBody>
      </p:sp>
      <p:sp>
        <p:nvSpPr>
          <p:cNvPr id="449" name="Google Shape;449;p18"/>
          <p:cNvSpPr txBox="1"/>
          <p:nvPr/>
        </p:nvSpPr>
        <p:spPr>
          <a:xfrm>
            <a:off x="457200" y="1920240"/>
            <a:ext cx="1127729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Filesystem Choices:</a:t>
            </a:r>
            <a:endParaRPr/>
          </a:p>
        </p:txBody>
      </p:sp>
      <p:sp>
        <p:nvSpPr>
          <p:cNvPr id="450" name="Google Shape;450;p18"/>
          <p:cNvSpPr/>
          <p:nvPr/>
        </p:nvSpPr>
        <p:spPr>
          <a:xfrm>
            <a:off x="457200" y="2377440"/>
            <a:ext cx="5501487" cy="1371600"/>
          </a:xfrm>
          <a:prstGeom prst="roundRect">
            <a:avLst>
              <a:gd fmla="val 16667" name="adj"/>
            </a:avLst>
          </a:prstGeom>
          <a:solidFill>
            <a:srgbClr val="197A8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8"/>
          <p:cNvSpPr txBox="1"/>
          <p:nvPr/>
        </p:nvSpPr>
        <p:spPr>
          <a:xfrm>
            <a:off x="594360" y="2468880"/>
            <a:ext cx="52271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0B342"/>
                </a:solidFill>
                <a:latin typeface="Arial"/>
                <a:ea typeface="Arial"/>
                <a:cs typeface="Arial"/>
                <a:sym typeface="Arial"/>
              </a:rPr>
              <a:t>rootfs_a / rootfs_b</a:t>
            </a:r>
            <a:endParaRPr/>
          </a:p>
        </p:txBody>
      </p:sp>
      <p:sp>
        <p:nvSpPr>
          <p:cNvPr id="452" name="Google Shape;452;p18"/>
          <p:cNvSpPr txBox="1"/>
          <p:nvPr/>
        </p:nvSpPr>
        <p:spPr>
          <a:xfrm>
            <a:off x="594360" y="2788920"/>
            <a:ext cx="5227167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ext4 with journaling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Read-only rootfs option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squashfs for read-only</a:t>
            </a:r>
            <a:endParaRPr/>
          </a:p>
        </p:txBody>
      </p:sp>
      <p:sp>
        <p:nvSpPr>
          <p:cNvPr id="453" name="Google Shape;453;p18"/>
          <p:cNvSpPr/>
          <p:nvPr/>
        </p:nvSpPr>
        <p:spPr>
          <a:xfrm>
            <a:off x="6233007" y="2377440"/>
            <a:ext cx="5501487" cy="1371600"/>
          </a:xfrm>
          <a:prstGeom prst="roundRect">
            <a:avLst>
              <a:gd fmla="val 16667" name="adj"/>
            </a:avLst>
          </a:prstGeom>
          <a:solidFill>
            <a:srgbClr val="3D6F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8"/>
          <p:cNvSpPr txBox="1"/>
          <p:nvPr/>
        </p:nvSpPr>
        <p:spPr>
          <a:xfrm>
            <a:off x="6370167" y="2468880"/>
            <a:ext cx="52271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6862E"/>
                </a:solidFill>
                <a:latin typeface="Arial"/>
                <a:ea typeface="Arial"/>
                <a:cs typeface="Arial"/>
                <a:sym typeface="Arial"/>
              </a:rPr>
              <a:t>data</a:t>
            </a:r>
            <a:endParaRPr/>
          </a:p>
        </p:txBody>
      </p:sp>
      <p:sp>
        <p:nvSpPr>
          <p:cNvPr id="455" name="Google Shape;455;p18"/>
          <p:cNvSpPr txBox="1"/>
          <p:nvPr/>
        </p:nvSpPr>
        <p:spPr>
          <a:xfrm>
            <a:off x="6370167" y="2788920"/>
            <a:ext cx="5227167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ext4 with journaling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Persistent across updates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Separate mount point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8FB"/>
        </a:solidFill>
      </p:bgPr>
    </p:bg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19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9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9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IoT Gateway: Boot Design</a:t>
            </a:r>
            <a:endParaRPr/>
          </a:p>
        </p:txBody>
      </p:sp>
      <p:sp>
        <p:nvSpPr>
          <p:cNvPr id="463" name="Google Shape;463;p19"/>
          <p:cNvSpPr/>
          <p:nvPr/>
        </p:nvSpPr>
        <p:spPr>
          <a:xfrm>
            <a:off x="457200" y="822960"/>
            <a:ext cx="2743200" cy="530352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9"/>
          <p:cNvSpPr txBox="1"/>
          <p:nvPr/>
        </p:nvSpPr>
        <p:spPr>
          <a:xfrm>
            <a:off x="566928" y="868680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Power On</a:t>
            </a:r>
            <a:endParaRPr/>
          </a:p>
        </p:txBody>
      </p:sp>
      <p:sp>
        <p:nvSpPr>
          <p:cNvPr id="465" name="Google Shape;465;p19"/>
          <p:cNvSpPr txBox="1"/>
          <p:nvPr/>
        </p:nvSpPr>
        <p:spPr>
          <a:xfrm>
            <a:off x="1828800" y="868680"/>
            <a:ext cx="1280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SoC reset vector</a:t>
            </a:r>
            <a:b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Boot ROM executes</a:t>
            </a:r>
            <a:endParaRPr/>
          </a:p>
        </p:txBody>
      </p:sp>
      <p:sp>
        <p:nvSpPr>
          <p:cNvPr id="466" name="Google Shape;466;p19"/>
          <p:cNvSpPr/>
          <p:nvPr/>
        </p:nvSpPr>
        <p:spPr>
          <a:xfrm>
            <a:off x="1737360" y="1353312"/>
            <a:ext cx="182880" cy="9144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9"/>
          <p:cNvSpPr/>
          <p:nvPr/>
        </p:nvSpPr>
        <p:spPr>
          <a:xfrm>
            <a:off x="457200" y="1481328"/>
            <a:ext cx="2743200" cy="530352"/>
          </a:xfrm>
          <a:prstGeom prst="roundRect">
            <a:avLst>
              <a:gd fmla="val 16667" name="adj"/>
            </a:avLst>
          </a:prstGeom>
          <a:solidFill>
            <a:srgbClr val="E6862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9"/>
          <p:cNvSpPr txBox="1"/>
          <p:nvPr/>
        </p:nvSpPr>
        <p:spPr>
          <a:xfrm>
            <a:off x="566928" y="1527048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SPL</a:t>
            </a:r>
            <a:endParaRPr/>
          </a:p>
        </p:txBody>
      </p:sp>
      <p:sp>
        <p:nvSpPr>
          <p:cNvPr id="469" name="Google Shape;469;p19"/>
          <p:cNvSpPr txBox="1"/>
          <p:nvPr/>
        </p:nvSpPr>
        <p:spPr>
          <a:xfrm>
            <a:off x="1828800" y="1527048"/>
            <a:ext cx="1280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Init DRAM, MMC</a:t>
            </a:r>
            <a:b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Load U-Boot from boot partition</a:t>
            </a:r>
            <a:endParaRPr/>
          </a:p>
        </p:txBody>
      </p:sp>
      <p:sp>
        <p:nvSpPr>
          <p:cNvPr id="470" name="Google Shape;470;p19"/>
          <p:cNvSpPr/>
          <p:nvPr/>
        </p:nvSpPr>
        <p:spPr>
          <a:xfrm>
            <a:off x="1737360" y="2011680"/>
            <a:ext cx="182880" cy="9144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9"/>
          <p:cNvSpPr/>
          <p:nvPr/>
        </p:nvSpPr>
        <p:spPr>
          <a:xfrm>
            <a:off x="457200" y="2139696"/>
            <a:ext cx="2743200" cy="530352"/>
          </a:xfrm>
          <a:prstGeom prst="roundRect">
            <a:avLst>
              <a:gd fmla="val 16667" name="adj"/>
            </a:avLst>
          </a:prstGeom>
          <a:solidFill>
            <a:srgbClr val="197A8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9"/>
          <p:cNvSpPr txBox="1"/>
          <p:nvPr/>
        </p:nvSpPr>
        <p:spPr>
          <a:xfrm>
            <a:off x="566928" y="2185416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U-Boot</a:t>
            </a:r>
            <a:endParaRPr/>
          </a:p>
        </p:txBody>
      </p:sp>
      <p:sp>
        <p:nvSpPr>
          <p:cNvPr id="473" name="Google Shape;473;p19"/>
          <p:cNvSpPr txBox="1"/>
          <p:nvPr/>
        </p:nvSpPr>
        <p:spPr>
          <a:xfrm>
            <a:off x="1828800" y="2185416"/>
            <a:ext cx="1280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Read bootcount</a:t>
            </a:r>
            <a:b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Select active slot (A/B)</a:t>
            </a:r>
            <a:b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Load kernel + DTB</a:t>
            </a:r>
            <a:endParaRPr/>
          </a:p>
        </p:txBody>
      </p:sp>
      <p:sp>
        <p:nvSpPr>
          <p:cNvPr id="474" name="Google Shape;474;p19"/>
          <p:cNvSpPr/>
          <p:nvPr/>
        </p:nvSpPr>
        <p:spPr>
          <a:xfrm>
            <a:off x="1737360" y="2670048"/>
            <a:ext cx="182880" cy="9144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9"/>
          <p:cNvSpPr/>
          <p:nvPr/>
        </p:nvSpPr>
        <p:spPr>
          <a:xfrm>
            <a:off x="457200" y="2798064"/>
            <a:ext cx="2743200" cy="530352"/>
          </a:xfrm>
          <a:prstGeom prst="roundRect">
            <a:avLst>
              <a:gd fmla="val 16667" name="adj"/>
            </a:avLst>
          </a:prstGeom>
          <a:solidFill>
            <a:srgbClr val="3D6F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9"/>
          <p:cNvSpPr txBox="1"/>
          <p:nvPr/>
        </p:nvSpPr>
        <p:spPr>
          <a:xfrm>
            <a:off x="566928" y="2843784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Kernel</a:t>
            </a:r>
            <a:endParaRPr/>
          </a:p>
        </p:txBody>
      </p:sp>
      <p:sp>
        <p:nvSpPr>
          <p:cNvPr id="477" name="Google Shape;477;p19"/>
          <p:cNvSpPr txBox="1"/>
          <p:nvPr/>
        </p:nvSpPr>
        <p:spPr>
          <a:xfrm>
            <a:off x="1828800" y="2843784"/>
            <a:ext cx="1280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Init drivers</a:t>
            </a:r>
            <a:b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Mount rootfs</a:t>
            </a:r>
            <a:b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Start systemd</a:t>
            </a:r>
            <a:endParaRPr/>
          </a:p>
        </p:txBody>
      </p:sp>
      <p:sp>
        <p:nvSpPr>
          <p:cNvPr id="478" name="Google Shape;478;p19"/>
          <p:cNvSpPr/>
          <p:nvPr/>
        </p:nvSpPr>
        <p:spPr>
          <a:xfrm>
            <a:off x="1737360" y="3328416"/>
            <a:ext cx="182880" cy="9144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9999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9"/>
          <p:cNvSpPr/>
          <p:nvPr/>
        </p:nvSpPr>
        <p:spPr>
          <a:xfrm>
            <a:off x="457200" y="3456432"/>
            <a:ext cx="2743200" cy="530352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9"/>
          <p:cNvSpPr txBox="1"/>
          <p:nvPr/>
        </p:nvSpPr>
        <p:spPr>
          <a:xfrm>
            <a:off x="566928" y="350215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Systemd</a:t>
            </a:r>
            <a:endParaRPr/>
          </a:p>
        </p:txBody>
      </p:sp>
      <p:sp>
        <p:nvSpPr>
          <p:cNvPr id="481" name="Google Shape;481;p19"/>
          <p:cNvSpPr txBox="1"/>
          <p:nvPr/>
        </p:nvSpPr>
        <p:spPr>
          <a:xfrm>
            <a:off x="1828800" y="3502152"/>
            <a:ext cx="1280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Start services</a:t>
            </a:r>
            <a:b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Network, MQTT, app</a:t>
            </a:r>
            <a:b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Health check</a:t>
            </a:r>
            <a:endParaRPr/>
          </a:p>
        </p:txBody>
      </p:sp>
      <p:sp>
        <p:nvSpPr>
          <p:cNvPr id="482" name="Google Shape;482;p19"/>
          <p:cNvSpPr/>
          <p:nvPr/>
        </p:nvSpPr>
        <p:spPr>
          <a:xfrm>
            <a:off x="3657600" y="822960"/>
            <a:ext cx="8046720" cy="3474720"/>
          </a:xfrm>
          <a:prstGeom prst="roundRect">
            <a:avLst>
              <a:gd fmla="val 16667" name="adj"/>
            </a:avLst>
          </a:prstGeom>
          <a:solidFill>
            <a:srgbClr val="1E1E1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9"/>
          <p:cNvSpPr txBox="1"/>
          <p:nvPr/>
        </p:nvSpPr>
        <p:spPr>
          <a:xfrm>
            <a:off x="3840480" y="914400"/>
            <a:ext cx="7680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0B342"/>
                </a:solidFill>
                <a:latin typeface="Arial"/>
                <a:ea typeface="Arial"/>
                <a:cs typeface="Arial"/>
                <a:sym typeface="Arial"/>
              </a:rPr>
              <a:t>U-Boot Environment (bootcmd)</a:t>
            </a:r>
            <a:endParaRPr/>
          </a:p>
        </p:txBody>
      </p:sp>
      <p:sp>
        <p:nvSpPr>
          <p:cNvPr id="484" name="Google Shape;484;p19"/>
          <p:cNvSpPr txBox="1"/>
          <p:nvPr/>
        </p:nvSpPr>
        <p:spPr>
          <a:xfrm>
            <a:off x="3840480" y="1280160"/>
            <a:ext cx="768096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# A/B slot selection: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bootcount=0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bootlimit=3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active_slot=a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# Load kernel from active slot: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loadkernel=fatload mmc 0:${kernel_part} \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${kernel_addr_r} zImage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# Boot command: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bootcmd=if test ${active_slot} = a; then \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setenv kernel_part 3; \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else \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setenv kernel_part 4; \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fi; run loadkernel; \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bootz ${kernel_addr_r} - ${fdt_addr_r}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# Rollback on failure: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altbootcmd=if test ${active_slot} = a; then \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setenv active_slot b; \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else \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setenv active_slot a; \</a:t>
            </a:r>
            <a:b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8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fi; saveenv; reset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8FB"/>
        </a:solidFill>
      </p:bgPr>
    </p:bg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2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20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20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IoT Gateway: Update Design</a:t>
            </a:r>
            <a:endParaRPr/>
          </a:p>
        </p:txBody>
      </p:sp>
      <p:sp>
        <p:nvSpPr>
          <p:cNvPr id="492" name="Google Shape;492;p20"/>
          <p:cNvSpPr/>
          <p:nvPr/>
        </p:nvSpPr>
        <p:spPr>
          <a:xfrm>
            <a:off x="457200" y="822960"/>
            <a:ext cx="5501487" cy="3200400"/>
          </a:xfrm>
          <a:prstGeom prst="roundRect">
            <a:avLst>
              <a:gd fmla="val 16667" name="adj"/>
            </a:avLst>
          </a:prstGeom>
          <a:solidFill>
            <a:srgbClr val="FDF4E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20"/>
          <p:cNvSpPr txBox="1"/>
          <p:nvPr/>
        </p:nvSpPr>
        <p:spPr>
          <a:xfrm>
            <a:off x="594360" y="960120"/>
            <a:ext cx="522716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0B342"/>
                </a:solidFill>
                <a:latin typeface="Arial"/>
                <a:ea typeface="Arial"/>
                <a:cs typeface="Arial"/>
                <a:sym typeface="Arial"/>
              </a:rPr>
              <a:t>OTA Update Flow</a:t>
            </a:r>
            <a:endParaRPr/>
          </a:p>
        </p:txBody>
      </p:sp>
      <p:sp>
        <p:nvSpPr>
          <p:cNvPr id="494" name="Google Shape;494;p20"/>
          <p:cNvSpPr txBox="1"/>
          <p:nvPr/>
        </p:nvSpPr>
        <p:spPr>
          <a:xfrm>
            <a:off x="594360" y="1280160"/>
            <a:ext cx="5227167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1. Mender server pushes update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2. Device downloads bundle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3. Write to inactive slot (B)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4. Reboot into slot B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5. Health check runs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6. If OK: mark B as active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7. If FAIL: rollback to slot A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Key: data partition is NEVER</a:t>
            </a:r>
            <a:b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touched during updates.</a:t>
            </a:r>
            <a:endParaRPr/>
          </a:p>
        </p:txBody>
      </p:sp>
      <p:sp>
        <p:nvSpPr>
          <p:cNvPr id="495" name="Google Shape;495;p20"/>
          <p:cNvSpPr/>
          <p:nvPr/>
        </p:nvSpPr>
        <p:spPr>
          <a:xfrm>
            <a:off x="6233007" y="822960"/>
            <a:ext cx="5501487" cy="3200400"/>
          </a:xfrm>
          <a:prstGeom prst="roundRect">
            <a:avLst>
              <a:gd fmla="val 16667" name="adj"/>
            </a:avLst>
          </a:prstGeom>
          <a:solidFill>
            <a:srgbClr val="1E1E1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20"/>
          <p:cNvSpPr txBox="1"/>
          <p:nvPr/>
        </p:nvSpPr>
        <p:spPr>
          <a:xfrm>
            <a:off x="6370167" y="960120"/>
            <a:ext cx="522716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0B342"/>
                </a:solidFill>
                <a:latin typeface="Arial"/>
                <a:ea typeface="Arial"/>
                <a:cs typeface="Arial"/>
                <a:sym typeface="Arial"/>
              </a:rPr>
              <a:t>Mender Artifact</a:t>
            </a:r>
            <a:endParaRPr/>
          </a:p>
        </p:txBody>
      </p:sp>
      <p:sp>
        <p:nvSpPr>
          <p:cNvPr id="497" name="Google Shape;497;p20"/>
          <p:cNvSpPr txBox="1"/>
          <p:nvPr/>
        </p:nvSpPr>
        <p:spPr>
          <a:xfrm>
            <a:off x="6370167" y="1280160"/>
            <a:ext cx="5227167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# mender-artifact format: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update-image.mender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├── header.tar.gz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│   ├── header-info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│   └── headers/0000/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│       └── type-info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├── rootfs.ext4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└── version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# Create artifact: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$ mender-artifact write \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module-image \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-t raspberrypi4 \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-n gateway-v2.1 \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-f rootfs.ext4 \</a:t>
            </a:r>
            <a:b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0" i="0" lang="en-US" sz="900" u="none" cap="none" strike="noStrike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-o update.mender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8FB"/>
        </a:solidFill>
      </p:bgPr>
    </p:bg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2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6862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2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Common Pitfalls</a:t>
            </a:r>
            <a:endParaRPr/>
          </a:p>
        </p:txBody>
      </p:sp>
      <p:sp>
        <p:nvSpPr>
          <p:cNvPr id="505" name="Google Shape;505;p21"/>
          <p:cNvSpPr/>
          <p:nvPr/>
        </p:nvSpPr>
        <p:spPr>
          <a:xfrm>
            <a:off x="457200" y="822960"/>
            <a:ext cx="11277295" cy="640080"/>
          </a:xfrm>
          <a:prstGeom prst="roundRect">
            <a:avLst>
              <a:gd fmla="val 16667" name="adj"/>
            </a:avLst>
          </a:prstGeom>
          <a:solidFill>
            <a:srgbClr val="FFF3E0"/>
          </a:solidFill>
          <a:ln cap="flat" cmpd="sng" w="19050">
            <a:solidFill>
              <a:srgbClr val="FF8F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21"/>
          <p:cNvSpPr txBox="1"/>
          <p:nvPr/>
        </p:nvSpPr>
        <p:spPr>
          <a:xfrm>
            <a:off x="731520" y="896112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⚠  Wrong flash filesystem for raw NAND</a:t>
            </a:r>
            <a:endParaRPr/>
          </a:p>
        </p:txBody>
      </p:sp>
      <p:sp>
        <p:nvSpPr>
          <p:cNvPr id="507" name="Google Shape;507;p21"/>
          <p:cNvSpPr txBox="1"/>
          <p:nvPr/>
        </p:nvSpPr>
        <p:spPr>
          <a:xfrm>
            <a:off x="731520" y="1170432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Using ext4 on raw NAND without FTL</a:t>
            </a:r>
            <a:b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→ Use UBIFS or JFFS2 instead</a:t>
            </a:r>
            <a:endParaRPr/>
          </a:p>
        </p:txBody>
      </p:sp>
      <p:sp>
        <p:nvSpPr>
          <p:cNvPr id="508" name="Google Shape;508;p21"/>
          <p:cNvSpPr/>
          <p:nvPr/>
        </p:nvSpPr>
        <p:spPr>
          <a:xfrm>
            <a:off x="457200" y="1600200"/>
            <a:ext cx="11277295" cy="640080"/>
          </a:xfrm>
          <a:prstGeom prst="roundRect">
            <a:avLst>
              <a:gd fmla="val 16667" name="adj"/>
            </a:avLst>
          </a:prstGeom>
          <a:solidFill>
            <a:srgbClr val="FFF3E0"/>
          </a:solidFill>
          <a:ln cap="flat" cmpd="sng" w="19050">
            <a:solidFill>
              <a:srgbClr val="FF8F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21"/>
          <p:cNvSpPr txBox="1"/>
          <p:nvPr/>
        </p:nvSpPr>
        <p:spPr>
          <a:xfrm>
            <a:off x="731520" y="1673352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⚠  No wear leveling</a:t>
            </a:r>
            <a:endParaRPr/>
          </a:p>
        </p:txBody>
      </p:sp>
      <p:sp>
        <p:nvSpPr>
          <p:cNvPr id="510" name="Google Shape;510;p21"/>
          <p:cNvSpPr txBox="1"/>
          <p:nvPr/>
        </p:nvSpPr>
        <p:spPr>
          <a:xfrm>
            <a:off x="731520" y="1947672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Writing frequently to same blocks</a:t>
            </a:r>
            <a:b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→ Flash wears out prematurely</a:t>
            </a:r>
            <a:endParaRPr/>
          </a:p>
        </p:txBody>
      </p:sp>
      <p:sp>
        <p:nvSpPr>
          <p:cNvPr id="511" name="Google Shape;511;p21"/>
          <p:cNvSpPr/>
          <p:nvPr/>
        </p:nvSpPr>
        <p:spPr>
          <a:xfrm>
            <a:off x="457200" y="2377440"/>
            <a:ext cx="11277295" cy="640080"/>
          </a:xfrm>
          <a:prstGeom prst="roundRect">
            <a:avLst>
              <a:gd fmla="val 16667" name="adj"/>
            </a:avLst>
          </a:prstGeom>
          <a:solidFill>
            <a:srgbClr val="FFF3E0"/>
          </a:solidFill>
          <a:ln cap="flat" cmpd="sng" w="19050">
            <a:solidFill>
              <a:srgbClr val="FF8F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21"/>
          <p:cNvSpPr txBox="1"/>
          <p:nvPr/>
        </p:nvSpPr>
        <p:spPr>
          <a:xfrm>
            <a:off x="731520" y="2450592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⚠  Missing DRAM init</a:t>
            </a:r>
            <a:endParaRPr/>
          </a:p>
        </p:txBody>
      </p:sp>
      <p:sp>
        <p:nvSpPr>
          <p:cNvPr id="513" name="Google Shape;513;p21"/>
          <p:cNvSpPr txBox="1"/>
          <p:nvPr/>
        </p:nvSpPr>
        <p:spPr>
          <a:xfrm>
            <a:off x="731520" y="2724912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SPL doesn't configure DRAM correctly</a:t>
            </a:r>
            <a:b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→ U-Boot crashes immediately</a:t>
            </a:r>
            <a:endParaRPr/>
          </a:p>
        </p:txBody>
      </p:sp>
      <p:sp>
        <p:nvSpPr>
          <p:cNvPr id="514" name="Google Shape;514;p21"/>
          <p:cNvSpPr/>
          <p:nvPr/>
        </p:nvSpPr>
        <p:spPr>
          <a:xfrm>
            <a:off x="457200" y="3154680"/>
            <a:ext cx="11277295" cy="640080"/>
          </a:xfrm>
          <a:prstGeom prst="roundRect">
            <a:avLst>
              <a:gd fmla="val 16667" name="adj"/>
            </a:avLst>
          </a:prstGeom>
          <a:solidFill>
            <a:srgbClr val="FFF3E0"/>
          </a:solidFill>
          <a:ln cap="flat" cmpd="sng" w="19050">
            <a:solidFill>
              <a:srgbClr val="FF8F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21"/>
          <p:cNvSpPr txBox="1"/>
          <p:nvPr/>
        </p:nvSpPr>
        <p:spPr>
          <a:xfrm>
            <a:off x="731520" y="3227832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⚠  No update rollback</a:t>
            </a:r>
            <a:endParaRPr/>
          </a:p>
        </p:txBody>
      </p:sp>
      <p:sp>
        <p:nvSpPr>
          <p:cNvPr id="516" name="Google Shape;516;p21"/>
          <p:cNvSpPr txBox="1"/>
          <p:nvPr/>
        </p:nvSpPr>
        <p:spPr>
          <a:xfrm>
            <a:off x="731520" y="3502152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OTA update bricks device</a:t>
            </a:r>
            <a:b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→ Always implement A/B with rollback</a:t>
            </a:r>
            <a:endParaRPr/>
          </a:p>
        </p:txBody>
      </p:sp>
      <p:sp>
        <p:nvSpPr>
          <p:cNvPr id="517" name="Google Shape;517;p21"/>
          <p:cNvSpPr/>
          <p:nvPr/>
        </p:nvSpPr>
        <p:spPr>
          <a:xfrm>
            <a:off x="457200" y="3931920"/>
            <a:ext cx="11277295" cy="640080"/>
          </a:xfrm>
          <a:prstGeom prst="roundRect">
            <a:avLst>
              <a:gd fmla="val 16667" name="adj"/>
            </a:avLst>
          </a:prstGeom>
          <a:solidFill>
            <a:srgbClr val="FFF3E0"/>
          </a:solidFill>
          <a:ln cap="flat" cmpd="sng" w="19050">
            <a:solidFill>
              <a:srgbClr val="FF8F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21"/>
          <p:cNvSpPr txBox="1"/>
          <p:nvPr/>
        </p:nvSpPr>
        <p:spPr>
          <a:xfrm>
            <a:off x="731520" y="4005072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⚠  Data partition erased on update</a:t>
            </a:r>
            <a:endParaRPr/>
          </a:p>
        </p:txBody>
      </p:sp>
      <p:sp>
        <p:nvSpPr>
          <p:cNvPr id="519" name="Google Shape;519;p21"/>
          <p:cNvSpPr txBox="1"/>
          <p:nvPr/>
        </p:nvSpPr>
        <p:spPr>
          <a:xfrm>
            <a:off x="731520" y="4279392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User data lost after OTA</a:t>
            </a:r>
            <a:b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→ Keep data partition separate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52334"/>
        </a:solidFill>
      </p:bgPr>
    </p:bg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2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2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Session Summary</a:t>
            </a:r>
            <a:endParaRPr/>
          </a:p>
        </p:txBody>
      </p:sp>
      <p:sp>
        <p:nvSpPr>
          <p:cNvPr id="527" name="Google Shape;527;p22"/>
          <p:cNvSpPr/>
          <p:nvPr/>
        </p:nvSpPr>
        <p:spPr>
          <a:xfrm>
            <a:off x="457200" y="822960"/>
            <a:ext cx="365760" cy="457200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22"/>
          <p:cNvSpPr txBox="1"/>
          <p:nvPr/>
        </p:nvSpPr>
        <p:spPr>
          <a:xfrm>
            <a:off x="1005840" y="86868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Choose flash type based on use case: eMMC for managed, raw NAND for custom</a:t>
            </a:r>
            <a:endParaRPr/>
          </a:p>
        </p:txBody>
      </p:sp>
      <p:sp>
        <p:nvSpPr>
          <p:cNvPr id="529" name="Google Shape;529;p22"/>
          <p:cNvSpPr/>
          <p:nvPr/>
        </p:nvSpPr>
        <p:spPr>
          <a:xfrm>
            <a:off x="457200" y="1463040"/>
            <a:ext cx="365760" cy="457200"/>
          </a:xfrm>
          <a:prstGeom prst="roundRect">
            <a:avLst>
              <a:gd fmla="val 16667" name="adj"/>
            </a:avLst>
          </a:prstGeom>
          <a:solidFill>
            <a:srgbClr val="E6862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22"/>
          <p:cNvSpPr txBox="1"/>
          <p:nvPr/>
        </p:nvSpPr>
        <p:spPr>
          <a:xfrm>
            <a:off x="1005840" y="150876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appropriate filesystem: UBIFS for raw NAND, ext4 for managed flash</a:t>
            </a:r>
            <a:endParaRPr/>
          </a:p>
        </p:txBody>
      </p:sp>
      <p:sp>
        <p:nvSpPr>
          <p:cNvPr id="531" name="Google Shape;531;p22"/>
          <p:cNvSpPr/>
          <p:nvPr/>
        </p:nvSpPr>
        <p:spPr>
          <a:xfrm>
            <a:off x="457200" y="2103120"/>
            <a:ext cx="365760" cy="457200"/>
          </a:xfrm>
          <a:prstGeom prst="roundRect">
            <a:avLst>
              <a:gd fmla="val 16667" name="adj"/>
            </a:avLst>
          </a:prstGeom>
          <a:solidFill>
            <a:srgbClr val="197A8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22"/>
          <p:cNvSpPr txBox="1"/>
          <p:nvPr/>
        </p:nvSpPr>
        <p:spPr>
          <a:xfrm>
            <a:off x="1005840" y="214884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A/B partitioning enables safe OTA updates with rollback</a:t>
            </a:r>
            <a:endParaRPr/>
          </a:p>
        </p:txBody>
      </p:sp>
      <p:sp>
        <p:nvSpPr>
          <p:cNvPr id="533" name="Google Shape;533;p22"/>
          <p:cNvSpPr/>
          <p:nvPr/>
        </p:nvSpPr>
        <p:spPr>
          <a:xfrm>
            <a:off x="457200" y="2743200"/>
            <a:ext cx="365760" cy="457200"/>
          </a:xfrm>
          <a:prstGeom prst="roundRect">
            <a:avLst>
              <a:gd fmla="val 16667" name="adj"/>
            </a:avLst>
          </a:prstGeom>
          <a:solidFill>
            <a:srgbClr val="3D6F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22"/>
          <p:cNvSpPr txBox="1"/>
          <p:nvPr/>
        </p:nvSpPr>
        <p:spPr>
          <a:xfrm>
            <a:off x="1005840" y="278892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Raspberry Pi is ideal for prototyping embedded Linux systems</a:t>
            </a:r>
            <a:endParaRPr/>
          </a:p>
        </p:txBody>
      </p:sp>
      <p:sp>
        <p:nvSpPr>
          <p:cNvPr id="535" name="Google Shape;535;p22"/>
          <p:cNvSpPr/>
          <p:nvPr/>
        </p:nvSpPr>
        <p:spPr>
          <a:xfrm>
            <a:off x="457200" y="3383280"/>
            <a:ext cx="365760" cy="457200"/>
          </a:xfrm>
          <a:prstGeom prst="roundRect">
            <a:avLst>
              <a:gd fmla="val 16667" name="adj"/>
            </a:avLst>
          </a:prstGeom>
          <a:solidFill>
            <a:srgbClr val="F0B3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22"/>
          <p:cNvSpPr txBox="1"/>
          <p:nvPr/>
        </p:nvSpPr>
        <p:spPr>
          <a:xfrm>
            <a:off x="1005840" y="34290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Separate data partition survives OTA updates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8FB"/>
        </a:solidFill>
      </p:bgPr>
    </p:bg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23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3D6F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23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References &amp; Resources</a:t>
            </a:r>
            <a:endParaRPr/>
          </a:p>
        </p:txBody>
      </p:sp>
      <p:sp>
        <p:nvSpPr>
          <p:cNvPr id="544" name="Google Shape;544;p23"/>
          <p:cNvSpPr/>
          <p:nvPr/>
        </p:nvSpPr>
        <p:spPr>
          <a:xfrm>
            <a:off x="457200" y="822960"/>
            <a:ext cx="5760720" cy="1554480"/>
          </a:xfrm>
          <a:prstGeom prst="roundRect">
            <a:avLst>
              <a:gd fmla="val 16667" name="adj"/>
            </a:avLst>
          </a:prstGeom>
          <a:solidFill>
            <a:srgbClr val="E6F5F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23"/>
          <p:cNvSpPr txBox="1"/>
          <p:nvPr/>
        </p:nvSpPr>
        <p:spPr>
          <a:xfrm>
            <a:off x="594360" y="9601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97A8C"/>
                </a:solidFill>
                <a:latin typeface="Arial"/>
                <a:ea typeface="Arial"/>
                <a:cs typeface="Arial"/>
                <a:sym typeface="Arial"/>
              </a:rPr>
              <a:t>Flash &amp; Storage</a:t>
            </a:r>
            <a:endParaRPr/>
          </a:p>
        </p:txBody>
      </p:sp>
      <p:sp>
        <p:nvSpPr>
          <p:cNvPr id="546" name="Google Shape;546;p23"/>
          <p:cNvSpPr txBox="1"/>
          <p:nvPr/>
        </p:nvSpPr>
        <p:spPr>
          <a:xfrm>
            <a:off x="640080" y="1280160"/>
            <a:ext cx="5394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▸  MTD subsystem: linux-mtd.infradead.org</a:t>
            </a:r>
            <a:endParaRPr/>
          </a:p>
        </p:txBody>
      </p:sp>
      <p:sp>
        <p:nvSpPr>
          <p:cNvPr id="547" name="Google Shape;547;p23"/>
          <p:cNvSpPr txBox="1"/>
          <p:nvPr/>
        </p:nvSpPr>
        <p:spPr>
          <a:xfrm>
            <a:off x="640080" y="1737360"/>
            <a:ext cx="5394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▸  UBIFS documentation: linux-mtd.infradead.org/doc/ubifs.html</a:t>
            </a:r>
            <a:endParaRPr/>
          </a:p>
        </p:txBody>
      </p:sp>
      <p:sp>
        <p:nvSpPr>
          <p:cNvPr id="548" name="Google Shape;548;p23"/>
          <p:cNvSpPr txBox="1"/>
          <p:nvPr/>
        </p:nvSpPr>
        <p:spPr>
          <a:xfrm>
            <a:off x="640080" y="2194560"/>
            <a:ext cx="5394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▸  eMMC spec: jedec.org/standards-documents</a:t>
            </a:r>
            <a:endParaRPr/>
          </a:p>
        </p:txBody>
      </p:sp>
      <p:sp>
        <p:nvSpPr>
          <p:cNvPr id="549" name="Google Shape;549;p23"/>
          <p:cNvSpPr/>
          <p:nvPr/>
        </p:nvSpPr>
        <p:spPr>
          <a:xfrm>
            <a:off x="6583680" y="822960"/>
            <a:ext cx="5760720" cy="1554480"/>
          </a:xfrm>
          <a:prstGeom prst="roundRect">
            <a:avLst>
              <a:gd fmla="val 16667" name="adj"/>
            </a:avLst>
          </a:prstGeom>
          <a:solidFill>
            <a:srgbClr val="FDF4E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23"/>
          <p:cNvSpPr txBox="1"/>
          <p:nvPr/>
        </p:nvSpPr>
        <p:spPr>
          <a:xfrm>
            <a:off x="6720840" y="9601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E6862E"/>
                </a:solidFill>
                <a:latin typeface="Arial"/>
                <a:ea typeface="Arial"/>
                <a:cs typeface="Arial"/>
                <a:sym typeface="Arial"/>
              </a:rPr>
              <a:t>Software Updates</a:t>
            </a:r>
            <a:endParaRPr/>
          </a:p>
        </p:txBody>
      </p:sp>
      <p:sp>
        <p:nvSpPr>
          <p:cNvPr id="551" name="Google Shape;551;p23"/>
          <p:cNvSpPr txBox="1"/>
          <p:nvPr/>
        </p:nvSpPr>
        <p:spPr>
          <a:xfrm>
            <a:off x="6766560" y="1280160"/>
            <a:ext cx="5394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▸  Mender.io documentation: docs.mender.io</a:t>
            </a:r>
            <a:endParaRPr/>
          </a:p>
        </p:txBody>
      </p:sp>
      <p:sp>
        <p:nvSpPr>
          <p:cNvPr id="552" name="Google Shape;552;p23"/>
          <p:cNvSpPr txBox="1"/>
          <p:nvPr/>
        </p:nvSpPr>
        <p:spPr>
          <a:xfrm>
            <a:off x="6766560" y="1737360"/>
            <a:ext cx="5394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▸  SWUpdate: sbabic.github.io/swupdate</a:t>
            </a:r>
            <a:endParaRPr/>
          </a:p>
        </p:txBody>
      </p:sp>
      <p:sp>
        <p:nvSpPr>
          <p:cNvPr id="553" name="Google Shape;553;p23"/>
          <p:cNvSpPr txBox="1"/>
          <p:nvPr/>
        </p:nvSpPr>
        <p:spPr>
          <a:xfrm>
            <a:off x="6766560" y="2194560"/>
            <a:ext cx="5394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▸  RAUC: rauc.readthedocs.io</a:t>
            </a:r>
            <a:endParaRPr/>
          </a:p>
        </p:txBody>
      </p:sp>
      <p:sp>
        <p:nvSpPr>
          <p:cNvPr id="554" name="Google Shape;554;p23"/>
          <p:cNvSpPr/>
          <p:nvPr/>
        </p:nvSpPr>
        <p:spPr>
          <a:xfrm>
            <a:off x="457200" y="2560320"/>
            <a:ext cx="5760720" cy="1554480"/>
          </a:xfrm>
          <a:prstGeom prst="roundRect">
            <a:avLst>
              <a:gd fmla="val 16667" name="adj"/>
            </a:avLst>
          </a:prstGeom>
          <a:solidFill>
            <a:srgbClr val="FFF9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23"/>
          <p:cNvSpPr txBox="1"/>
          <p:nvPr/>
        </p:nvSpPr>
        <p:spPr>
          <a:xfrm>
            <a:off x="594360" y="269748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Prototyping</a:t>
            </a:r>
            <a:endParaRPr/>
          </a:p>
        </p:txBody>
      </p:sp>
      <p:sp>
        <p:nvSpPr>
          <p:cNvPr id="556" name="Google Shape;556;p23"/>
          <p:cNvSpPr txBox="1"/>
          <p:nvPr/>
        </p:nvSpPr>
        <p:spPr>
          <a:xfrm>
            <a:off x="640080" y="3017520"/>
            <a:ext cx="5394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▸  Raspberry Pi documentation: rpi.com/documentation</a:t>
            </a:r>
            <a:endParaRPr/>
          </a:p>
        </p:txBody>
      </p:sp>
      <p:sp>
        <p:nvSpPr>
          <p:cNvPr id="557" name="Google Shape;557;p23"/>
          <p:cNvSpPr txBox="1"/>
          <p:nvPr/>
        </p:nvSpPr>
        <p:spPr>
          <a:xfrm>
            <a:off x="640080" y="3474720"/>
            <a:ext cx="5394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▸  Bootlin training: bootlin.com/training</a:t>
            </a:r>
            <a:endParaRPr/>
          </a:p>
        </p:txBody>
      </p:sp>
      <p:sp>
        <p:nvSpPr>
          <p:cNvPr id="558" name="Google Shape;558;p23"/>
          <p:cNvSpPr txBox="1"/>
          <p:nvPr/>
        </p:nvSpPr>
        <p:spPr>
          <a:xfrm>
            <a:off x="640080" y="3931920"/>
            <a:ext cx="5394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▸  elinux.org (Embedded Linux Wiki)</a:t>
            </a:r>
            <a:endParaRPr/>
          </a:p>
        </p:txBody>
      </p:sp>
      <p:sp>
        <p:nvSpPr>
          <p:cNvPr id="559" name="Google Shape;559;p23"/>
          <p:cNvSpPr/>
          <p:nvPr/>
        </p:nvSpPr>
        <p:spPr>
          <a:xfrm>
            <a:off x="6583680" y="2560320"/>
            <a:ext cx="5760720" cy="1554480"/>
          </a:xfrm>
          <a:prstGeom prst="roundRect">
            <a:avLst>
              <a:gd fmla="val 16667" name="adj"/>
            </a:avLst>
          </a:prstGeom>
          <a:solidFill>
            <a:srgbClr val="EBF1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23"/>
          <p:cNvSpPr txBox="1"/>
          <p:nvPr/>
        </p:nvSpPr>
        <p:spPr>
          <a:xfrm>
            <a:off x="6720840" y="269748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D6FF6"/>
                </a:solidFill>
                <a:latin typeface="Arial"/>
                <a:ea typeface="Arial"/>
                <a:cs typeface="Arial"/>
                <a:sym typeface="Arial"/>
              </a:rPr>
              <a:t>System Design</a:t>
            </a:r>
            <a:endParaRPr/>
          </a:p>
        </p:txBody>
      </p:sp>
      <p:sp>
        <p:nvSpPr>
          <p:cNvPr id="561" name="Google Shape;561;p23"/>
          <p:cNvSpPr txBox="1"/>
          <p:nvPr/>
        </p:nvSpPr>
        <p:spPr>
          <a:xfrm>
            <a:off x="6766560" y="3017520"/>
            <a:ext cx="5394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▸  Embedded Linux Conference (ELC) talks</a:t>
            </a:r>
            <a:endParaRPr/>
          </a:p>
        </p:txBody>
      </p:sp>
      <p:sp>
        <p:nvSpPr>
          <p:cNvPr id="562" name="Google Shape;562;p23"/>
          <p:cNvSpPr txBox="1"/>
          <p:nvPr/>
        </p:nvSpPr>
        <p:spPr>
          <a:xfrm>
            <a:off x="6766560" y="3474720"/>
            <a:ext cx="5394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▸  Yocto Project docs: docs.yoctoproject.org</a:t>
            </a:r>
            <a:endParaRPr/>
          </a:p>
        </p:txBody>
      </p:sp>
      <p:sp>
        <p:nvSpPr>
          <p:cNvPr id="563" name="Google Shape;563;p23"/>
          <p:cNvSpPr txBox="1"/>
          <p:nvPr/>
        </p:nvSpPr>
        <p:spPr>
          <a:xfrm>
            <a:off x="6766560" y="3931920"/>
            <a:ext cx="5394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52334"/>
                </a:solidFill>
                <a:latin typeface="Arial"/>
                <a:ea typeface="Arial"/>
                <a:cs typeface="Arial"/>
                <a:sym typeface="Arial"/>
              </a:rPr>
              <a:t>▸  Buildroot manual: buildroot.org/downloads/manual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