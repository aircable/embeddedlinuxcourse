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Session 4: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Arial"/>
              </a:defRPr>
            </a:pPr>
            <a:r>
              <a:t>Storage, Memory, Boot, and Software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  <a:latin typeface="Arial"/>
              </a:defRPr>
            </a:pPr>
            <a:r>
              <a:t>UCSC Extension  •  Embedded Linux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4  •  System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Storage &amp;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2004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Memory &amp; Boot Chain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2004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Software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32004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Prototyping with Raspberry 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System Design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Storage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760720" cy="14630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576072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NAND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Raw flash (managed by FTL)</a:t>
            </a:r>
            <a:br/>
            <a:r>
              <a:t>Used in: eMMC, SSD, USB drives</a:t>
            </a:r>
            <a:br/>
            <a:r>
              <a:t>Wear leveling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822960"/>
            <a:ext cx="5760720" cy="14630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822960"/>
            <a:ext cx="576072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NOR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8016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Execute-in-place (XIP)</a:t>
            </a:r>
            <a:br/>
            <a:r>
              <a:t>Used in: boot ROM, firmware</a:t>
            </a:r>
            <a:br/>
            <a:r>
              <a:t>Fast read, slow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5760720" cy="146304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576072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eMMC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Managed NAND + controller</a:t>
            </a:r>
            <a:br/>
            <a:r>
              <a:t>Used in: smartphones, embedded</a:t>
            </a:r>
            <a:br/>
            <a:r>
              <a:t>Standardized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468880"/>
            <a:ext cx="5760720" cy="14630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468880"/>
            <a:ext cx="576072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SD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Removable managed NAND</a:t>
            </a:r>
            <a:br/>
            <a:r>
              <a:t>Used in: prototyping, cameras</a:t>
            </a:r>
            <a:br/>
            <a:r>
              <a:t>SPI or SDIO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Flash Partitioning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939774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75689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Partition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7568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1 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6974" y="1097280"/>
            <a:ext cx="234943" cy="4572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8414" y="1143000"/>
            <a:ext cx="520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Partition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8414" y="1353312"/>
            <a:ext cx="520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256 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1918" y="1097280"/>
            <a:ext cx="7518196" cy="4572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3358" y="1143000"/>
            <a:ext cx="73353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Partition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23358" y="1353312"/>
            <a:ext cx="73353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8 MB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0114" y="1097280"/>
            <a:ext cx="9162802" cy="4572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1554" y="1143000"/>
            <a:ext cx="897992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Partition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1554" y="1353312"/>
            <a:ext cx="897992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remaining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7373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MBR vs GPT: MBR supports 4 primary partitions. GPT supports 128+ and includes redundancy.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94560"/>
            <a:ext cx="11277295" cy="22860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View partition table:</a:t>
            </a:r>
            <a:br/>
            <a:r>
              <a:t>$ fdisk -l /dev/mmcblk0</a:t>
            </a:r>
            <a:br/>
            <a:r>
              <a:t>$ parted /dev/mmcblk0 print</a:t>
            </a:r>
            <a:br/>
            <a:br/>
            <a:r>
              <a:t># Create partition (GPT):</a:t>
            </a:r>
            <a:br/>
            <a:r>
              <a:t>$ parted /dev/mmcblk0 mklabel gpt</a:t>
            </a:r>
            <a:br/>
            <a:r>
              <a:t>$ parted /dev/mmcblk0 mkpart primary ext4 1MiB 512MiB</a:t>
            </a:r>
            <a:br/>
            <a:br/>
            <a:r>
              <a:t># Format:</a:t>
            </a:r>
            <a:br/>
            <a:r>
              <a:t>$ mkfs.ext4 -L rootfs /dev/mmcblk0p1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Flash Filesystems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760720" cy="146304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576072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JFFS2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Journaling Flash FS v2</a:t>
            </a:r>
            <a:br/>
            <a:r>
              <a:t>Raw NAND, wear leveling</a:t>
            </a:r>
            <a:br/>
            <a:r>
              <a:t>Small pages, slow mount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822960"/>
            <a:ext cx="5760720" cy="14630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822960"/>
            <a:ext cx="576072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YAFFS2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8016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Yet Another Flash FS</a:t>
            </a:r>
            <a:br/>
            <a:r>
              <a:t>Raw NAND, log-structured</a:t>
            </a:r>
            <a:br/>
            <a:r>
              <a:t>Fast mount, Linux-only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5760720" cy="14630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576072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UBIFS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2608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Unsorted Block Image FS</a:t>
            </a:r>
            <a:br/>
            <a:r>
              <a:t>On top of UBI layer</a:t>
            </a:r>
            <a:br/>
            <a:r>
              <a:t>Best for large NAND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468880"/>
            <a:ext cx="5760720" cy="14630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468880"/>
            <a:ext cx="576072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ext4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26080"/>
            <a:ext cx="5486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Fourth Extended FS</a:t>
            </a:r>
            <a:br/>
            <a:r>
              <a:t>For managed flash (eMC, SD)</a:t>
            </a:r>
            <a:br/>
            <a:r>
              <a:t>Most common, journaling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Wear Leveling &amp; UBI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Why Wear Leveling?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NAND flash blocks wear out after</a:t>
            </a:r>
            <a:br/>
            <a:r>
              <a:t>~10,000-100,000 erase cycles.</a:t>
            </a:r>
            <a:br/>
            <a:br/>
            <a:r>
              <a:t>Without wear leveling:</a:t>
            </a:r>
            <a:br/>
            <a:r>
              <a:t>  Block 0: ████████████████ (worn out)</a:t>
            </a:r>
            <a:br/>
            <a:r>
              <a:t>  Block 1: █ (barely used)</a:t>
            </a:r>
            <a:br/>
            <a:r>
              <a:t>  Block 2: █ (barely used)</a:t>
            </a:r>
            <a:br/>
            <a:br/>
            <a:r>
              <a:t>With wear leveling:</a:t>
            </a:r>
            <a:br/>
            <a:r>
              <a:t>  Block 0: ██████ (even)</a:t>
            </a:r>
            <a:br/>
            <a:r>
              <a:t>  Block 1: ██████ (even)</a:t>
            </a:r>
            <a:br/>
            <a:r>
              <a:t>  Block 2: ██████ (even)</a:t>
            </a:r>
            <a:br/>
            <a:br/>
            <a:r>
              <a:t>FTL (Flash Translation Layer) or</a:t>
            </a:r>
            <a:br/>
            <a:r>
              <a:t>UBI handles this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UBI Volume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UBI (Unsorted Block Image)</a:t>
            </a:r>
            <a:br/>
            <a:r>
              <a:t>sits between MTD and filesystem:</a:t>
            </a:r>
            <a:br/>
            <a:br/>
            <a:r>
              <a:t>  ┌─────────────────────┐</a:t>
            </a:r>
            <a:br/>
            <a:r>
              <a:t>  │   UBIFS / ext4      │  ← Filesystem</a:t>
            </a:r>
            <a:br/>
            <a:r>
              <a:t>  ├─────────────────────┤</a:t>
            </a:r>
            <a:br/>
            <a:r>
              <a:t>  │   UBI Volume        │  ← Logical volumes</a:t>
            </a:r>
            <a:br/>
            <a:r>
              <a:t>  ├─────────────────────┤</a:t>
            </a:r>
            <a:br/>
            <a:r>
              <a:t>  │   UBI Layer         │  ← Wear leveling, bad block</a:t>
            </a:r>
            <a:br/>
            <a:r>
              <a:t>  ├─────────────────────┤</a:t>
            </a:r>
            <a:br/>
            <a:r>
              <a:t>  │   MTD               │  ← Memory Technology Device</a:t>
            </a:r>
            <a:br/>
            <a:r>
              <a:t>  ├─────────────────────┤</a:t>
            </a:r>
            <a:br/>
            <a:r>
              <a:t>  │   Raw NAND          │  ← Physical flash</a:t>
            </a:r>
            <a:br/>
            <a:r>
              <a:t>  └─────────────────────┘</a:t>
            </a:r>
            <a:br/>
            <a:br/>
            <a:r>
              <a:t>$ ubiattach /dev/ubi_ctrl -m 0</a:t>
            </a:r>
            <a:br/>
            <a:r>
              <a:t>$ mount -t ubifs ubi0:rootfs /mnt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Memory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ourier New"/>
              </a:defRPr>
            </a:pPr>
            <a:r>
              <a:t>0x0000_0000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8229600" cy="4114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43000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Boot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25880"/>
            <a:ext cx="7955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64 KB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55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ourier New"/>
              </a:defRPr>
            </a:pPr>
            <a:r>
              <a:t>0x0001_0000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581912"/>
            <a:ext cx="8229600" cy="41148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627632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810512"/>
            <a:ext cx="7955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128 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39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ourier New"/>
              </a:defRPr>
            </a:pPr>
            <a:r>
              <a:t>0x0003_0000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066544"/>
            <a:ext cx="8229600" cy="4114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112264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Peripherals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95144"/>
            <a:ext cx="7955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1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24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ourier New"/>
              </a:defRPr>
            </a:pPr>
            <a:r>
              <a:t>0x8000_0000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2551176"/>
            <a:ext cx="8229600" cy="41148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596896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779776"/>
            <a:ext cx="7955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512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ourier New"/>
              </a:defRPr>
            </a:pPr>
            <a:r>
              <a:t>0xA000_0000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035808"/>
            <a:ext cx="8229600" cy="4114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081528"/>
            <a:ext cx="7955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Flash (XIP)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264408"/>
            <a:ext cx="7955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16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11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ARM typical memory map. Addresses vary by SoC. Check your reference manual.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Boot Chain: ROM → Linux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ROM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686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SoC internal code</a:t>
            </a:r>
            <a:br/>
            <a:r>
              <a:t>Init DRAM, load SPL</a:t>
            </a:r>
            <a:br/>
            <a:r>
              <a:t>from flash/SD/USB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65960" y="13716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3200400" cy="54864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Secondary Program Loader</a:t>
            </a:r>
            <a:br/>
            <a:r>
              <a:t>Minimal U-Boot</a:t>
            </a:r>
            <a:br/>
            <a:r>
              <a:t>Init DRAM, load U-Boot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65960" y="20574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3200400" cy="54864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U-Boot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2402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Full bootloader</a:t>
            </a:r>
            <a:br/>
            <a:r>
              <a:t>Load kernel + DTB</a:t>
            </a:r>
            <a:br/>
            <a:r>
              <a:t>Set bootargs, boot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965960" y="27432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3200400" cy="54864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26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Linux kernel</a:t>
            </a:r>
            <a:br/>
            <a:r>
              <a:t>Init hardware</a:t>
            </a:r>
            <a:br/>
            <a:r>
              <a:t>Mount rootfs, start init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965960" y="34290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32004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Init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611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Arial"/>
              </a:defRPr>
            </a:pPr>
            <a:r>
              <a:t>init / systemd</a:t>
            </a:r>
            <a:br/>
            <a:r>
              <a:t>Start services</a:t>
            </a:r>
            <a:br/>
            <a:r>
              <a:t>System ready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822960"/>
            <a:ext cx="7589520" cy="34747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96012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U-Boot SPL 2023.04 (Oct 15 2023)</a:t>
            </a:r>
            <a:br/>
            <a:r>
              <a:t>DRAM: 512 MiB</a:t>
            </a:r>
            <a:br/>
            <a:r>
              <a:t>MMC:   OMAP SD/MMC: 0</a:t>
            </a:r>
            <a:br/>
            <a:r>
              <a:t>Loading Environment... OK</a:t>
            </a:r>
            <a:br/>
            <a:r>
              <a:t>Loading kernel from mmc 0:1...</a:t>
            </a:r>
            <a:br/>
            <a:br/>
            <a:r>
              <a:t>U-Boot 2023.04 (Oct 15 2023)</a:t>
            </a:r>
            <a:br/>
            <a:r>
              <a:t>Model: TI AM335x BeagleBone Black</a:t>
            </a:r>
            <a:br/>
            <a:r>
              <a:t>DRAM:  512 MiB</a:t>
            </a:r>
            <a:br/>
            <a:r>
              <a:t>NAND:  0 MiB</a:t>
            </a:r>
            <a:br/>
            <a:r>
              <a:t>MMC:   OMAP SD/MMC: 0, OMAP SD/MMC: 1</a:t>
            </a:r>
            <a:br/>
            <a:r>
              <a:t>Loading kernel...</a:t>
            </a:r>
            <a:br/>
            <a:r>
              <a:t>## Flattened Device Tree blob at 88000000</a:t>
            </a:r>
            <a:br/>
            <a:r>
              <a:t>   Booting using the fdt blob at 0x88000000</a:t>
            </a:r>
            <a:br/>
            <a:r>
              <a:t>   Loading Kernel Image</a:t>
            </a:r>
            <a:br/>
            <a:r>
              <a:t>Starting kernel...</a:t>
            </a:r>
            <a:br/>
            <a:br/>
            <a:r>
              <a:t>[    0.000000] Booting Linux on physical CPU 0x0</a:t>
            </a:r>
            <a:br/>
            <a:r>
              <a:t>[    0.000000] Linux version 6.1.50</a:t>
            </a:r>
            <a:br/>
            <a:r>
              <a:t>[    2.345678] VFS: Mounted root (ext4 filesystem).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DRAM Initialization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Why DRAM Init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DRAM must be configured before use:</a:t>
            </a:r>
            <a:br/>
            <a:r>
              <a:t>  1. Set up DRAM controller</a:t>
            </a:r>
            <a:br/>
            <a:r>
              <a:t>  2. Configure timing parameters</a:t>
            </a:r>
            <a:br/>
            <a:r>
              <a:t>  3. Run memory training</a:t>
            </a:r>
            <a:br/>
            <a:r>
              <a:t>  4. Test memory</a:t>
            </a:r>
            <a:br/>
            <a:br/>
            <a:r>
              <a:t>SRAM is used first (small, no init).</a:t>
            </a:r>
            <a:br/>
            <a:r>
              <a:t>SPL runs from SRAM, init DRAM,</a:t>
            </a:r>
            <a:br/>
            <a:r>
              <a:t>then loads U-Boot into DRAM.</a:t>
            </a:r>
            <a:br/>
            <a:br/>
            <a:r>
              <a:t>Timing parameters are board-specific:</a:t>
            </a:r>
            <a:br/>
            <a:r>
              <a:t>  - CAS latency</a:t>
            </a:r>
            <a:br/>
            <a:r>
              <a:t>  - Refresh rate</a:t>
            </a:r>
            <a:br/>
            <a:r>
              <a:t>  - Bus width</a:t>
            </a:r>
            <a:br/>
            <a:r>
              <a:t>  - Number of chip selects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SPL: The DRAM Enabler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SPL = Secondary Program Loader</a:t>
            </a:r>
            <a:br/>
            <a:br/>
            <a:r>
              <a:t>Stored in SRAM (no DRAM needed)</a:t>
            </a:r>
            <a:br/>
            <a:r>
              <a:t>Typical size: &lt; 64 KB</a:t>
            </a:r>
            <a:br/>
            <a:br/>
            <a:r>
              <a:t>SPL responsibilities:</a:t>
            </a:r>
            <a:br/>
            <a:r>
              <a:t>  1. Initialize DRAM controller</a:t>
            </a:r>
            <a:br/>
            <a:r>
              <a:t>  2. Load U-Boot from storage</a:t>
            </a:r>
            <a:br/>
            <a:r>
              <a:t>  3. Jump to U-Boot in DRAM</a:t>
            </a:r>
            <a:br/>
            <a:br/>
            <a:r>
              <a:t>U-Boot SPL config:</a:t>
            </a:r>
            <a:br/>
            <a:r>
              <a:t>  CONFIG_SPL=y</a:t>
            </a:r>
            <a:br/>
            <a:r>
              <a:t>  CONFIG_SPL_DRAM_SUPPORT=y</a:t>
            </a:r>
            <a:br/>
            <a:r>
              <a:t>  CONFIG_SPL_MMC_SUPPORT=y</a:t>
            </a:r>
            <a:br/>
            <a:br/>
            <a:r>
              <a:t>Board-specific dram_init():</a:t>
            </a:r>
            <a:br/>
            <a:r>
              <a:t>  board_init_f() → dram_init()</a:t>
            </a:r>
            <a:br/>
            <a:r>
              <a:t>  → DDR PHY training</a:t>
            </a:r>
            <a:br/>
            <a:r>
              <a:t>  → Memory test (optional)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Software Update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37160" cy="10058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A/B Partitioning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Arial"/>
              </a:defRPr>
            </a:pPr>
            <a:r>
              <a:t>Two identical rootfs partitions</a:t>
            </a:r>
            <a:br/>
            <a:r>
              <a:t>Active + standby</a:t>
            </a:r>
            <a:br/>
            <a:r>
              <a:t>Atomic switch on update</a:t>
            </a:r>
            <a:br/>
            <a:r>
              <a:t>Rollback by switching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37160" cy="100584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Blue-Green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Arial"/>
              </a:defRPr>
            </a:pPr>
            <a:r>
              <a:t>Two full system images</a:t>
            </a:r>
            <a:br/>
            <a:r>
              <a:t>Load balancer switches traffic</a:t>
            </a:r>
            <a:br/>
            <a:r>
              <a:t>Zero-downtime updates</a:t>
            </a:r>
            <a:br/>
            <a:r>
              <a:t>Common in cloud/edge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37160" cy="100584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Canary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Arial"/>
              </a:defRPr>
            </a:pPr>
            <a:r>
              <a:t>Gradual rollout</a:t>
            </a:r>
            <a:br/>
            <a:r>
              <a:t>Small % of devices first</a:t>
            </a:r>
            <a:br/>
            <a:r>
              <a:t>Monitor for errors</a:t>
            </a:r>
            <a:br/>
            <a:r>
              <a:t>Full rollout after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822960"/>
            <a:ext cx="566928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A/B Partition Diagram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029200" cy="9144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Slot A (Active)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Kernel + Rootfs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68880"/>
            <a:ext cx="5029200" cy="9144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Slot B (Standby)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Kernel + Rootfs (new version)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999999"/>
                </a:solidFill>
                <a:latin typeface="Arial"/>
              </a:defRPr>
            </a:pPr>
            <a:r>
              <a:t>Bootloader selects active slot → Kernel boots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Update Frameworks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0058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77295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SWUpdate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Open source, Lua scripts</a:t>
            </a:r>
            <a:br/>
            <a:r>
              <a:t>Multiple update formats</a:t>
            </a:r>
            <a:br/>
            <a:r>
              <a:t>A/B support, web UI</a:t>
            </a:r>
            <a:br/>
            <a:r>
              <a:t>Lightweight, flexible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77295" cy="10058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11277295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Open source + commercial</a:t>
            </a:r>
            <a:br/>
            <a:r>
              <a:t>A/B updates, robust rollback</a:t>
            </a:r>
            <a:br/>
            <a:r>
              <a:t>Cloud management (Mender Server)</a:t>
            </a:r>
            <a:br/>
            <a:r>
              <a:t>Yocto and Buildroot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1277295" cy="100584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77295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Robust Auto-Update Controller</a:t>
            </a:r>
            <a:br/>
            <a:r>
              <a:t>A/B with redundancy</a:t>
            </a:r>
            <a:br/>
            <a:r>
              <a:t>Bundle format with signatures</a:t>
            </a:r>
            <a:br/>
            <a:r>
              <a:t>Designed for Linux embedded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OTA Update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4572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822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Device polls server</a:t>
            </a:r>
            <a:br/>
            <a:r>
              <a:t>Checks for new version</a:t>
            </a:r>
            <a:br/>
            <a:r>
              <a:t>Downloads update bundle</a:t>
            </a:r>
          </a:p>
        </p:txBody>
      </p:sp>
      <p:sp>
        <p:nvSpPr>
          <p:cNvPr id="9" name="Down Arrow 8"/>
          <p:cNvSpPr/>
          <p:nvPr/>
        </p:nvSpPr>
        <p:spPr>
          <a:xfrm>
            <a:off x="2606040" y="13716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508760"/>
            <a:ext cx="457200" cy="54864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Verify signature</a:t>
            </a:r>
            <a:br/>
            <a:r>
              <a:t>Check compatibility</a:t>
            </a:r>
            <a:br/>
            <a:r>
              <a:t>Validate bundle integrity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606040" y="20574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457200" cy="54864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860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Write to inactive slot</a:t>
            </a:r>
            <a:br/>
            <a:r>
              <a:t>Stream data to flash</a:t>
            </a:r>
            <a:br/>
            <a:r>
              <a:t>Progress indicator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606040" y="27432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2880360"/>
            <a:ext cx="457200" cy="54864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718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Activate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Mark new slot as active</a:t>
            </a:r>
            <a:br/>
            <a:r>
              <a:t>Set bootloader flag</a:t>
            </a:r>
            <a:br/>
            <a:r>
              <a:t>Reboot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606040" y="342900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3566160"/>
            <a:ext cx="457200" cy="5486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5. Boot &amp;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Boot new image</a:t>
            </a:r>
            <a:br/>
            <a:r>
              <a:t>Health check</a:t>
            </a:r>
            <a:br/>
            <a:r>
              <a:t>Rollback if failed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Prototyping with Raspberry 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Raspberry Pi is the ideal prototyping platform for embedded Linux:</a:t>
            </a:r>
            <a:br/>
            <a:r>
              <a:t>Low cost, huge community, mainline kernel support, GPIO, and standard interfaces.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11277295" cy="22860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Models: RPi 3B+, 4B, 5, Zero 2W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SoC: Broadcom BCM2711/BCM2712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RAM: 1-8 GB LPDDR4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Boot: SD card, USB,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GPIO: 40-pin header, I2C, SPI, UART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OS: Raspberry Pi OS, Ubuntu, Buildroot, Yocto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RPi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Hardware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1.  RPi 4B (2GB+ recommended)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2.  MicroSD card (16GB+)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3.  USB-C power supply (5V 3A)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4.  USB-to-TTL serial cable (3.3V!)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51357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5.  Ethernet cable or WiFi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Serial Console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D4D4D4"/>
                </a:solidFill>
                <a:latin typeface="Courier New"/>
              </a:defRPr>
            </a:pPr>
            <a:r>
              <a:t># Find serial port:</a:t>
            </a:r>
            <a:br/>
            <a:r>
              <a:t>$ ls /dev/ttyUSB*</a:t>
            </a:r>
            <a:br/>
            <a:br/>
            <a:r>
              <a:t># Connect (115200 8N1):</a:t>
            </a:r>
            <a:br/>
            <a:r>
              <a:t>$ screen /dev/ttyUSB0 115200</a:t>
            </a:r>
            <a:br/>
            <a:r>
              <a:t>  or</a:t>
            </a:r>
            <a:br/>
            <a:r>
              <a:t>$ minicom -D /dev/ttyUSB0 -b 115200</a:t>
            </a:r>
            <a:br/>
            <a:br/>
            <a:r>
              <a:t># Wiring (USB-to-TTL):</a:t>
            </a:r>
            <a:br/>
            <a:r>
              <a:t>  RPi GPIO 14 (TX) → USB TTL RX</a:t>
            </a:r>
            <a:br/>
            <a:r>
              <a:t>  RPi GPIO 15 (RX) → USB TTL TX</a:t>
            </a:r>
            <a:br/>
            <a:r>
              <a:t>  RPi GND         → USB TTL GND</a:t>
            </a:r>
            <a:br/>
            <a:br/>
            <a:r>
              <a:t># WARNING: Do NOT connect VCC!</a:t>
            </a:r>
            <a:br/>
            <a:r>
              <a:t># RPi is self-powered via USB-C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RPi Boot &amp; Debug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828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U-Boot 2023.04 (Oct 15 2023 - 12:34:56 +0000)</a:t>
            </a:r>
            <a:br/>
            <a:r>
              <a:t>Model: Raspberry Pi 4 Model B Rev 1.4</a:t>
            </a:r>
            <a:br/>
            <a:r>
              <a:t>DRAM:  4 GiB</a:t>
            </a:r>
            <a:br/>
            <a:r>
              <a:t>MMC:   mmcnr@7e300000: 1, mmc@7e340000: 0</a:t>
            </a:r>
            <a:br/>
            <a:r>
              <a:t>Loading kernel from mmc 0:1...</a:t>
            </a:r>
            <a:br/>
            <a:r>
              <a:t>## Flattened Device Tree blob at 02600000</a:t>
            </a:r>
            <a:br/>
            <a:r>
              <a:t>   Booting using the fdt blob at 0x02600000</a:t>
            </a:r>
            <a:br/>
            <a:r>
              <a:t>   Loading Kernel Image</a:t>
            </a:r>
            <a:br/>
            <a:r>
              <a:t>Starting kernel...</a:t>
            </a:r>
            <a:br/>
            <a:r>
              <a:t>[    0.000000] Booting Linux on physical CPU 0x0</a:t>
            </a:r>
            <a:br/>
            <a:r>
              <a:t>[    0.000000] Linux version 6.1.50-v8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Essential Debug Commands: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501487" cy="164592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29000"/>
            <a:ext cx="52271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Kernel messages:</a:t>
            </a:r>
            <a:br/>
            <a:r>
              <a:t>$ dmesg | tail -50</a:t>
            </a:r>
            <a:br/>
            <a:br/>
            <a:r>
              <a:t># Device tree:</a:t>
            </a:r>
            <a:br/>
            <a:r>
              <a:t>$ ls /proc/device-tree/</a:t>
            </a:r>
            <a:br/>
            <a:br/>
            <a:r>
              <a:t># GPIO status:</a:t>
            </a:r>
            <a:br/>
            <a:r>
              <a:t>$ cat /sys/kernel/debug/gpio</a:t>
            </a:r>
            <a:br/>
            <a:br/>
            <a:r>
              <a:t># Memory:</a:t>
            </a:r>
            <a:br/>
            <a:r>
              <a:t>$ free -h</a:t>
            </a:r>
            <a:br/>
            <a:r>
              <a:t>$ cat /proc/meminfo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3291840"/>
            <a:ext cx="5501487" cy="16459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3429000"/>
            <a:ext cx="52271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Storage:</a:t>
            </a:r>
            <a:br/>
            <a:r>
              <a:t>$ df -h</a:t>
            </a:r>
            <a:br/>
            <a:r>
              <a:t>$ lsblk</a:t>
            </a:r>
            <a:br/>
            <a:r>
              <a:t>$ fdisk -l</a:t>
            </a:r>
            <a:br/>
            <a:br/>
            <a:r>
              <a:t># Network:</a:t>
            </a:r>
            <a:br/>
            <a:r>
              <a:t>$ ip addr</a:t>
            </a:r>
            <a:br/>
            <a:r>
              <a:t>$ ip route</a:t>
            </a:r>
            <a:br/>
            <a:r>
              <a:t>$ ping 8.8.8.8</a:t>
            </a:r>
            <a:br/>
            <a:br/>
            <a:r>
              <a:t># Processes:</a:t>
            </a:r>
            <a:br/>
            <a:r>
              <a:t>$ ps aux</a:t>
            </a:r>
            <a:br/>
            <a:r>
              <a:t>$ top</a:t>
            </a:r>
            <a:br/>
            <a:br/>
            <a:r>
              <a:t># U-Boot env (from Linux):</a:t>
            </a:r>
            <a:br/>
            <a:r>
              <a:t>$ fw_printenv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Prototyping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Cross-Compile &amp;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822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Build on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Cross-compile with Buildroot/Yocto:</a:t>
            </a:r>
            <a:br/>
            <a:r>
              <a:t>$ make -j$(nproc)</a:t>
            </a:r>
            <a:br/>
            <a:r>
              <a:t>Output: zImage, rootfs.ext4, DTB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Flash SD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Write image to SD card:</a:t>
            </a:r>
            <a:br/>
            <a:r>
              <a:t>$ dd if=output/images/sdcard.img of=/dev/sdX bs=4M status=progress</a:t>
            </a:r>
            <a:br/>
            <a:r>
              <a:t>$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Boot RPi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Insert SD card, power on</a:t>
            </a:r>
            <a:br/>
            <a:r>
              <a:t>Connect serial console</a:t>
            </a:r>
            <a:br/>
            <a:r>
              <a:t>Watch U-Boot → Kernel boot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Deploy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Copy binary to target:</a:t>
            </a:r>
            <a:br/>
            <a:r>
              <a:t>$ scp myapp root@192.168.1.100:/usr/bin/</a:t>
            </a:r>
            <a:br/>
            <a:r>
              <a:t>$ ssh root@192.168.1.100 ./myapp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Case Study: IoT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Arial"/>
              </a:defRPr>
            </a:pPr>
            <a:r>
              <a:t>Design an IoT gateway that collects sensor data from multiple sources, processes it locally, and uploads to the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834640" cy="18288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Sensors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Temperature, humidity, motion</a:t>
            </a:r>
            <a:br/>
            <a:r>
              <a:t>I2C, SPI, UART interfaces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91840" y="2834640"/>
            <a:ext cx="1371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011680"/>
            <a:ext cx="2834640" cy="18288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ARM Cortex-A53</a:t>
            </a:r>
            <a:br/>
            <a:r>
              <a:t>512MB-1GB RAM</a:t>
            </a:r>
            <a:br/>
            <a:r>
              <a:t>eMMC + SD card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263640" y="2834640"/>
            <a:ext cx="1371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834640" cy="18288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Ethernet, WiFi, BLE</a:t>
            </a:r>
            <a:br/>
            <a:r>
              <a:t>4G/LTE optional</a:t>
            </a:r>
            <a:br/>
            <a:r>
              <a:t>MQTT to cloud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235440" y="2834640"/>
            <a:ext cx="137160" cy="18288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600" y="2011680"/>
            <a:ext cx="2834640" cy="18288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4688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Buildroot or Yocto</a:t>
            </a:r>
            <a:br/>
            <a:r>
              <a:t>Python + C applications</a:t>
            </a:r>
            <a:br/>
            <a:r>
              <a:t>OTA updates via Mender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IoT Gateway: Storage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eMMC Partition Layout (8 GB)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3152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99032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boot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5852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2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1371600"/>
            <a:ext cx="73152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399032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572768"/>
            <a:ext cx="5852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256 KB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371600"/>
            <a:ext cx="73152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1399032"/>
            <a:ext cx="585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kernel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1572768"/>
            <a:ext cx="58521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16 MB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1371600"/>
            <a:ext cx="2819323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24912" y="1399032"/>
            <a:ext cx="2673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rootfs_a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1572768"/>
            <a:ext cx="26730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2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71083" y="1371600"/>
            <a:ext cx="2819323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44235" y="1399032"/>
            <a:ext cx="26730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rootfs_b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4235" y="1572768"/>
            <a:ext cx="26730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2 GB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0407" y="1371600"/>
            <a:ext cx="563864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3559" y="1399032"/>
            <a:ext cx="54923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3559" y="1572768"/>
            <a:ext cx="5492343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Arial"/>
              </a:defRPr>
            </a:pPr>
            <a:r>
              <a:t>remaining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920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Filesystem Choices: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77440"/>
            <a:ext cx="5501487" cy="13716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468880"/>
            <a:ext cx="52271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B342"/>
                </a:solidFill>
                <a:latin typeface="Arial"/>
              </a:defRPr>
            </a:pPr>
            <a:r>
              <a:t>rootfs_a / rootfs_b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788920"/>
            <a:ext cx="52271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ext4 with journaling</a:t>
            </a:r>
            <a:br/>
            <a:r>
              <a:t>Read-only rootfs option</a:t>
            </a:r>
            <a:br/>
            <a:r>
              <a:t>squashfs for read-only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2377440"/>
            <a:ext cx="5501487" cy="13716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2468880"/>
            <a:ext cx="522716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6862E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2788920"/>
            <a:ext cx="52271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ext4 with journaling</a:t>
            </a:r>
            <a:br/>
            <a:r>
              <a:t>Persistent across updates</a:t>
            </a:r>
            <a:br/>
            <a:r>
              <a:t>Separate mount point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IoT Gateway: Boot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2743200" cy="530352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Power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868680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SoC reset vector</a:t>
            </a:r>
            <a:br/>
            <a:r>
              <a:t>Boot ROM executes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1737360" y="1353312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2743200" cy="530352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270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SPL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27048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Init DRAM, MMC</a:t>
            </a:r>
            <a:br/>
            <a:r>
              <a:t>Load U-Boot from boot partition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737360" y="201168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39696"/>
            <a:ext cx="2743200" cy="530352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854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U-Boot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85416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Read bootcount</a:t>
            </a:r>
            <a:br/>
            <a:r>
              <a:t>Select active slot (A/B)</a:t>
            </a:r>
            <a:br/>
            <a:r>
              <a:t>Load kernel + DTB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737360" y="2670048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798064"/>
            <a:ext cx="2743200" cy="530352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84378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Kernel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843784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Init drivers</a:t>
            </a:r>
            <a:br/>
            <a:r>
              <a:t>Mount rootfs</a:t>
            </a:r>
            <a:br/>
            <a:r>
              <a:t>Start systemd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737360" y="3328416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456432"/>
            <a:ext cx="2743200" cy="530352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0215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Systemd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021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Start services</a:t>
            </a:r>
            <a:br/>
            <a:r>
              <a:t>Network, MQTT, app</a:t>
            </a:r>
            <a:br/>
            <a:r>
              <a:t>Health check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822960"/>
            <a:ext cx="8046720" cy="34747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914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U-Boot Environment (bootcmd)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128016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D4D4D4"/>
                </a:solidFill>
                <a:latin typeface="Courier New"/>
              </a:defRPr>
            </a:pPr>
            <a:r>
              <a:t># A/B slot selection:</a:t>
            </a:r>
            <a:br/>
            <a:r>
              <a:t>bootcount=0</a:t>
            </a:r>
            <a:br/>
            <a:r>
              <a:t>bootlimit=3</a:t>
            </a:r>
            <a:br/>
            <a:r>
              <a:t>active_slot=a</a:t>
            </a:r>
            <a:br/>
            <a:br/>
            <a:r>
              <a:t># Load kernel from active slot:</a:t>
            </a:r>
            <a:br/>
            <a:r>
              <a:t>loadkernel=fatload mmc 0:${kernel_part} \</a:t>
            </a:r>
            <a:br/>
            <a:r>
              <a:t>  ${kernel_addr_r} zImage</a:t>
            </a:r>
            <a:br/>
            <a:br/>
            <a:r>
              <a:t># Boot command:</a:t>
            </a:r>
            <a:br/>
            <a:r>
              <a:t>bootcmd=if test ${active_slot} = a; then \</a:t>
            </a:r>
            <a:br/>
            <a:r>
              <a:t>  setenv kernel_part 3; \</a:t>
            </a:r>
            <a:br/>
            <a:r>
              <a:t>else \</a:t>
            </a:r>
            <a:br/>
            <a:r>
              <a:t>  setenv kernel_part 4; \</a:t>
            </a:r>
            <a:br/>
            <a:r>
              <a:t>fi; run loadkernel; \</a:t>
            </a:r>
            <a:br/>
            <a:r>
              <a:t>bootz ${kernel_addr_r} - ${fdt_addr_r}</a:t>
            </a:r>
            <a:br/>
            <a:br/>
            <a:r>
              <a:t># Rollback on failure:</a:t>
            </a:r>
            <a:br/>
            <a:r>
              <a:t>altbootcmd=if test ${active_slot} = a; then \</a:t>
            </a:r>
            <a:br/>
            <a:r>
              <a:t>  setenv active_slot b; \</a:t>
            </a:r>
            <a:br/>
            <a:r>
              <a:t>else \</a:t>
            </a:r>
            <a:br/>
            <a:r>
              <a:t>  setenv active_slot a; \</a:t>
            </a:r>
            <a:br/>
            <a:r>
              <a:t>fi; saveenv; reset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IoT Gateway: Update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OTA Update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1. Mender server pushes update</a:t>
            </a:r>
            <a:br/>
            <a:r>
              <a:t>2. Device downloads bundle</a:t>
            </a:r>
            <a:br/>
            <a:r>
              <a:t>3. Write to inactive slot (B)</a:t>
            </a:r>
            <a:br/>
            <a:r>
              <a:t>4. Reboot into slot B</a:t>
            </a:r>
            <a:br/>
            <a:r>
              <a:t>5. Health check runs</a:t>
            </a:r>
            <a:br/>
            <a:r>
              <a:t>6. If OK: mark B as active</a:t>
            </a:r>
            <a:br/>
            <a:r>
              <a:t>7. If FAIL: rollback to slot A</a:t>
            </a:r>
            <a:br/>
            <a:br/>
            <a:r>
              <a:t>Key: data partition is NEVER</a:t>
            </a:r>
            <a:br/>
            <a:r>
              <a:t>touched during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Mender Artifact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D4D4D4"/>
                </a:solidFill>
                <a:latin typeface="Courier New"/>
              </a:defRPr>
            </a:pPr>
            <a:r>
              <a:t># mender-artifact format:</a:t>
            </a:r>
            <a:br/>
            <a:r>
              <a:t>update-image.mender</a:t>
            </a:r>
            <a:br/>
            <a:r>
              <a:t>  ├── header.tar.gz</a:t>
            </a:r>
            <a:br/>
            <a:r>
              <a:t>  │   ├── header-info</a:t>
            </a:r>
            <a:br/>
            <a:r>
              <a:t>  │   └── headers/0000/</a:t>
            </a:r>
            <a:br/>
            <a:r>
              <a:t>  │       └── type-info</a:t>
            </a:r>
            <a:br/>
            <a:r>
              <a:t>  ├── rootfs.ext4</a:t>
            </a:r>
            <a:br/>
            <a:r>
              <a:t>  └── version</a:t>
            </a:r>
            <a:br/>
            <a:br/>
            <a:r>
              <a:t># Create artifact:</a:t>
            </a:r>
            <a:br/>
            <a:r>
              <a:t>$ mender-artifact write \</a:t>
            </a:r>
            <a:br/>
            <a:r>
              <a:t>  module-image \</a:t>
            </a:r>
            <a:br/>
            <a:r>
              <a:t>  -t raspberrypi4 \</a:t>
            </a:r>
            <a:br/>
            <a:r>
              <a:t>  -n gateway-v2.1 \</a:t>
            </a:r>
            <a:br/>
            <a:r>
              <a:t>  -f rootfs.ext4 \</a:t>
            </a:r>
            <a:br/>
            <a:r>
              <a:t>  -o update.mender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Wrong flash filesystem for raw NAND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Using ext4 on raw NAND without FTL</a:t>
            </a:r>
            <a:br/>
            <a:r>
              <a:t>→ Use UBIFS or JFFS2 instead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No wear leveling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Writing frequently to same blocks</a:t>
            </a:r>
            <a:br/>
            <a:r>
              <a:t>→ Flash wears out prematurely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Missing DRAM 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SPL doesn't configure DRAM correctly</a:t>
            </a:r>
            <a:br/>
            <a:r>
              <a:t>→ U-Boot crashes immediately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No update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OTA update bricks device</a:t>
            </a:r>
            <a:br/>
            <a:r>
              <a:t>→ Always implement A/B with rollback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Data partition erased on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User data lost after OTA</a:t>
            </a:r>
            <a:br/>
            <a:r>
              <a:t>→ Keep data partition separate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Choose flash type based on use case: eMMC for managed, raw NAND for custom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" cy="4572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Use appropriate filesystem: UBIFS for raw NAND, ext4 for managed flash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" cy="4572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A/B partitioning enables safe OTA updates with rollback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365760" cy="4572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Raspberry Pi is ideal for prototyping embedded Linux 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Separate data partition survives OTA updates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References &amp;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760720" cy="155448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Flash &amp;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MTD subsystem: linux-mtd.infradead.org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UBIFS documentation: linux-mtd.infradead.org/doc/ubifs.html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eMMC spec: jedec.org/standards-documents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822960"/>
            <a:ext cx="5760720" cy="155448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Software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Mender.io documentation: docs.mender.io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SWUpdate: sbabic.github.io/swupdate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RAUC: rauc.readthedocs.io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5760720" cy="155448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Arial"/>
              </a:defRPr>
            </a:pPr>
            <a:r>
              <a:t>Prototyping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Raspberry Pi documentation: rpi.com/documentation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Bootlin training: bootlin.com/training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elinux.org (Embedded Linux Wiki)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560320"/>
            <a:ext cx="5760720" cy="155448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System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175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Embedded Linux Conference (ELC) talks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Yocto Project docs: docs.yoctoproject.org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Buildroot manual: buildroot.org/downloads/manual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