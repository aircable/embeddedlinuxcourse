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34442A6-767C-4098-A796-7B8FFA65B99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Welcome to Embedded Linux Design. This first session sets expectations: what this course covers,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how it's structured, what tools we use, and how AI fits into modern embedded development.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By the end of today, you'll know exactly what you're signing up for and what you'll walk away with.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8F00504-DFB4-4ADB-87AF-74598D4272A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Customize with your photo, bio, credentials, and teaching philosophy.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Key message: you're learning from someone who has shipped products using embedded Linux.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02BA951-FBEB-44A7-A113-E88C2FBE2E1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Three principles: 1) CONCEPT FIRST — We start with the problem, not the API.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2) BUILD SECOND — Every session has labs on real hardware.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3) DEPTH OVER BREADTH — Fewer topics, deeper understanding.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545EDA-26B4-49C7-90C9-1551D94BED7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Each session: Lecture -&gt; Deep Dive -&gt; Lab -&gt; Wrap-Up. ~3 hours total.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Labs are the most important part — that's where real learning happens.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4062D8-9547-4E0B-99A4-97AEE8450C3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Full embedded Linux stack: bootloader -&gt; kernel -&gt; rootfs -&gt; apps -&gt; debug -&gt; real-time.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Target: Raspberry Pi 4 (ARM64). Cross-compile on host, deploy to Pi.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1C80E50-3B2E-43BD-A474-1E25BDABCD3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SCALE: Linux dominates embedded. PROBLEM: Ancient unmaintained kernels, stale vendor BSPs.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OPPORTUNITY: High-value skill set, senior engineers in demand across industries.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D41A7A-235B-4FA3-BA99-C417763BF60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For working professionals: firmware engineers, software developers, system architects, career changers.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Need: C/C++, basic Linux CLI. Don't need: kernel dev, Yocto, ARM asm — that's what we teach.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579CFC5-6E8D-49DE-B2B7-C68F9CE0CEB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Bootlin materials are the primary reference. Kernel.org for authoritative API docs.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LWN.net for understanding WHY things changed. Elixir for browsing kernel source.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ABE540F-4714-4DF0-A896-4BBDF5A553A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Linux host (Ubuntu 24.04 recommended). Target: RPi 4 with 4GB+.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USB-to-TTL serial cable (3.3V) is essential. 115200 8N1.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789DA60-3D97-4194-9846-8D2BEF11E19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1. ASK QUESTIONS — If something doesn't make sense, speak up.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2. DO THE LABS — You cannot learn embedded Linux from slides alone.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3. USE AI WISELY — AI fluency is a course outcome, not a shortcut.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8F4737A-427C-4A1C-9C52-CFF90297698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Ten sessions, each building on the last. By the end: a complete bootable Linux system on RPi 4, from scratch.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Sessions 1-2: Foundation. 3-4: Build systems. 5-6: Kernel. 7-8: Applications. 9-10: Production.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171B92B-AAD2-4E16-BFF1-10DAC6BE146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DELEGATE: AI for boilerplate. DEBATE: Challenge AI output. DEBUG: AI code has bugs.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DIRECT: Prompt engineering is a real skill. We'll practice all four.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E5C4FB-64E9-4C7C-A748-9A205149F5B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USE AI FOR: explaining concepts, boilerplate, debugging, test cases.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GROUND RULES: Understand every line. Cite AI use. Never submit blindly.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Goal: AI fluency — being a better engineer WITH AI.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06B9A6-5F15-47DB-BDF8-5031C2C630E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Bridge slide into Session 1. Message: this course is real, hands-on, tangible.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You will build a custom toolchain, boot U-Boot, compile a kernel, create a device tree,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write a kernel module, and build a real-time application. End with energy.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AA0F80-2B56-4E85-96AC-41B6A44B6D1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38BFB5-34F7-42BA-8DAC-88EC76AD84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A9A1E8-B52F-4062-B6CA-9A0014F4D3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6CC70B-9267-4CDF-8B53-0C19EF5E0F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A494FB-0459-4513-8711-B0E0759E51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BC131B-E46E-4E42-9BAD-E11520B1B8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36563E-F347-4E29-B7B5-3390827359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1F44C4-93D9-4200-8E5F-3C83283FC8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DE4C4C-E6AC-4527-8282-2433E6A321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10546C-F157-47D8-8C70-4C5C5C891C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6D6029-A5E6-4B7B-8E1E-A6D06E80AF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0B1D7C-441C-4E7B-B1DC-5990FD9084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48640" y="274320"/>
            <a:ext cx="8777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Embedded Linux Design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548640" y="914400"/>
            <a:ext cx="877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Session 0 — Welcome &amp; Course Introduction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548640" y="2011680"/>
            <a:ext cx="73148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This session sets the stage: who you are, who I am, how this course works,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and what you will build by the end of our ten sessions.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We will also talk about AI — how it is changing software development,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and specifically how we will use it in this course.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5"/>
          <p:cNvSpPr/>
          <p:nvPr/>
        </p:nvSpPr>
        <p:spPr>
          <a:xfrm>
            <a:off x="8686800" y="1371600"/>
            <a:ext cx="2925720" cy="5028840"/>
          </a:xfrm>
          <a:prstGeom prst="rect">
            <a:avLst/>
          </a:prstGeom>
          <a:solidFill>
            <a:srgbClr val="2A2B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8869680" y="1554480"/>
            <a:ext cx="25599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UCSC Extension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Professional Engineers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2026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548640" y="59436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888AA"/>
                </a:solidFill>
                <a:effectLst/>
                <a:uFillTx/>
                <a:latin typeface="Nunito Sans"/>
              </a:rPr>
              <a:t>Session 0 — Introduction | UCSC Extension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About Your Instructor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548640" y="1645920"/>
            <a:ext cx="54860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[Instructor photo / bio placeholder]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[Years] in embedded systems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FPGA, ASIC, SoC bring-up experience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Industry background: [your domain]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Teaching philosophy: learn by building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4"/>
          <p:cNvSpPr/>
          <p:nvPr/>
        </p:nvSpPr>
        <p:spPr>
          <a:xfrm>
            <a:off x="6858000" y="1371600"/>
            <a:ext cx="4754520" cy="4571640"/>
          </a:xfrm>
          <a:prstGeom prst="rect">
            <a:avLst/>
          </a:prstGeom>
          <a:solidFill>
            <a:srgbClr val="2A2B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7040880" y="1554480"/>
            <a:ext cx="43887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8888AA"/>
                </a:solidFill>
                <a:effectLst/>
                <a:uFillTx/>
                <a:latin typeface="Nunito Sans"/>
              </a:rPr>
              <a:t>Why I teach this course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8888AA"/>
                </a:solidFill>
                <a:effectLst/>
                <a:uFillTx/>
                <a:latin typeface="Nunito Sans"/>
              </a:rPr>
              <a:t>Embedded Linux is the backbone of modern devices — from IoT sensors to</a:t>
            </a:r>
            <a:br>
              <a:rPr sz="1400"/>
            </a:br>
            <a:r>
              <a:rPr lang="en-US" sz="1400" b="0" u="none" strike="noStrike">
                <a:solidFill>
                  <a:srgbClr val="8888AA"/>
                </a:solidFill>
                <a:effectLst/>
                <a:uFillTx/>
                <a:latin typeface="Nunito Sans"/>
              </a:rPr>
              <a:t>automotive systems to industrial controllers.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8888AA"/>
                </a:solidFill>
                <a:effectLst/>
                <a:uFillTx/>
                <a:latin typeface="Nunito Sans"/>
              </a:rPr>
              <a:t>This course gives you hands-on experience, not just theory.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How I Teach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3"/>
          <p:cNvSpPr/>
          <p:nvPr/>
        </p:nvSpPr>
        <p:spPr>
          <a:xfrm>
            <a:off x="548640" y="1097280"/>
            <a:ext cx="347436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731520" y="12344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Concept First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731520" y="1645920"/>
            <a:ext cx="31086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Every topic starts with WHY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Real-world context before detail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You learn what problem is solved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Not just how the API works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6"/>
          <p:cNvSpPr/>
          <p:nvPr/>
        </p:nvSpPr>
        <p:spPr>
          <a:xfrm>
            <a:off x="4572000" y="1097280"/>
            <a:ext cx="347436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4754880" y="12344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Build Second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4754880" y="1645920"/>
            <a:ext cx="31086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Hands-on labs every session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Real hardware, real tools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No simulation-only exercises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Build a bootable RPi4 by hand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9"/>
          <p:cNvSpPr/>
          <p:nvPr/>
        </p:nvSpPr>
        <p:spPr>
          <a:xfrm>
            <a:off x="8229600" y="1097280"/>
            <a:ext cx="320004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8412480" y="12344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Depth Over Breadth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1"/>
          <p:cNvSpPr/>
          <p:nvPr/>
        </p:nvSpPr>
        <p:spPr>
          <a:xfrm>
            <a:off x="8412480" y="1645920"/>
            <a:ext cx="283428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Go deep on what matters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Kernel internals, not trivia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Toolchain to deployment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Debugging real failures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Anatomy of a Session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3"/>
          <p:cNvSpPr/>
          <p:nvPr/>
        </p:nvSpPr>
        <p:spPr>
          <a:xfrm>
            <a:off x="548640" y="1097280"/>
            <a:ext cx="255996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731520" y="123444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Lora"/>
              </a:rPr>
              <a:t>1. Lecture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731520" y="1645920"/>
            <a:ext cx="21942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45–60 minutes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Dense, visual slides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Real examples &amp; demos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Q&amp;A encouraged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6"/>
          <p:cNvSpPr/>
          <p:nvPr/>
        </p:nvSpPr>
        <p:spPr>
          <a:xfrm>
            <a:off x="3291840" y="1097280"/>
            <a:ext cx="255996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3474720" y="123444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Lora"/>
              </a:rPr>
              <a:t>2. Deep Dive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8"/>
          <p:cNvSpPr/>
          <p:nvPr/>
        </p:nvSpPr>
        <p:spPr>
          <a:xfrm>
            <a:off x="3474720" y="1645920"/>
            <a:ext cx="21942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30–45 minutes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Architecture details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Code walkthroughs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Trade-off analysis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9"/>
          <p:cNvSpPr/>
          <p:nvPr/>
        </p:nvSpPr>
        <p:spPr>
          <a:xfrm>
            <a:off x="5943600" y="1097280"/>
            <a:ext cx="255996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6126480" y="123444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3. Lab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1"/>
          <p:cNvSpPr/>
          <p:nvPr/>
        </p:nvSpPr>
        <p:spPr>
          <a:xfrm>
            <a:off x="6126480" y="1645920"/>
            <a:ext cx="21942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60–90 minutes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Guided exercises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Real hardware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You build, I coach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12"/>
          <p:cNvSpPr/>
          <p:nvPr/>
        </p:nvSpPr>
        <p:spPr>
          <a:xfrm>
            <a:off x="8686800" y="1097280"/>
            <a:ext cx="292572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3"/>
          <p:cNvSpPr/>
          <p:nvPr/>
        </p:nvSpPr>
        <p:spPr>
          <a:xfrm>
            <a:off x="8869680" y="12344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Lora"/>
              </a:rPr>
              <a:t>4. Wrap-Up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4"/>
          <p:cNvSpPr/>
          <p:nvPr/>
        </p:nvSpPr>
        <p:spPr>
          <a:xfrm>
            <a:off x="8869680" y="1645920"/>
            <a:ext cx="255996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Recap key takeaways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Preview next session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Q&amp;A / discussion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Homework assigned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What This Course Is About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548640" y="914400"/>
            <a:ext cx="87778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Embedded Linux Design teaches you how to build, configure, and debug Linux-based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embedded systems — from hardware bring-up to application deployment.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This is a hands-on course. You will work with real ARM hardware, real toolchains,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and real development workflows used in industry today.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548640" y="2743200"/>
            <a:ext cx="54860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Topics covered: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Cross-compilation toolchains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Bootloaders (U-Boot)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Linux kernel configuration &amp; build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Root filesystems &amp; init systems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Yocto Project &amp; Buildroot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Device trees &amp; kernel modules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Systems programming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Debugging &amp; profiling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Real-time Linux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6858000" y="2743200"/>
            <a:ext cx="47545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D4B438"/>
                </a:solidFill>
                <a:effectLst/>
                <a:uFillTx/>
                <a:latin typeface="Nunito Sans"/>
              </a:rPr>
              <a:t>Hardware: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D4B438"/>
                </a:solidFill>
                <a:effectLst/>
                <a:uFillTx/>
                <a:latin typeface="Nunito Sans"/>
              </a:rPr>
              <a:t>Raspberry Pi 4 (ARM64)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D4B438"/>
                </a:solidFill>
                <a:effectLst/>
                <a:uFillTx/>
                <a:latin typeface="Nunito Sans"/>
              </a:rPr>
              <a:t>Software: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D4B438"/>
                </a:solidFill>
                <a:effectLst/>
                <a:uFillTx/>
                <a:latin typeface="Nunito Sans"/>
              </a:rPr>
              <a:t>Ubuntu 24.04 cross-dev</a:t>
            </a:r>
            <a:br>
              <a:rPr sz="1400"/>
            </a:br>
            <a:r>
              <a:rPr lang="en-US" sz="1400" b="0" u="none" strike="noStrike">
                <a:solidFill>
                  <a:srgbClr val="D4B438"/>
                </a:solidFill>
                <a:effectLst/>
                <a:uFillTx/>
                <a:latin typeface="Nunito Sans"/>
              </a:rPr>
              <a:t>U-Boot / mainline kernel</a:t>
            </a:r>
            <a:br>
              <a:rPr sz="1400"/>
            </a:br>
            <a:r>
              <a:rPr lang="en-US" sz="1400" b="0" u="none" strike="noStrike">
                <a:solidFill>
                  <a:srgbClr val="D4B438"/>
                </a:solidFill>
                <a:effectLst/>
                <a:uFillTx/>
                <a:latin typeface="Nunito Sans"/>
              </a:rPr>
              <a:t>Yocto Project (kirkstone+)</a:t>
            </a:r>
            <a:br>
              <a:rPr sz="1400"/>
            </a:br>
            <a:r>
              <a:rPr lang="en-US" sz="1400" b="0" u="none" strike="noStrike">
                <a:solidFill>
                  <a:srgbClr val="D4B438"/>
                </a:solidFill>
                <a:effectLst/>
                <a:uFillTx/>
                <a:latin typeface="Nunito Sans"/>
              </a:rPr>
              <a:t>Buildroot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Why It Matters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548640" y="914400"/>
            <a:ext cx="8777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Linux powers the vast majority of embedded devices. Understanding how to build</a:t>
            </a:r>
            <a:br>
              <a:rPr sz="1800"/>
            </a:b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and maintain these systems is a critical engineering skill.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4"/>
          <p:cNvSpPr/>
          <p:nvPr/>
        </p:nvSpPr>
        <p:spPr>
          <a:xfrm>
            <a:off x="548640" y="2011680"/>
            <a:ext cx="3474360" cy="438876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5"/>
          <p:cNvSpPr/>
          <p:nvPr/>
        </p:nvSpPr>
        <p:spPr>
          <a:xfrm>
            <a:off x="731520" y="21488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The Scale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731520" y="2560320"/>
            <a:ext cx="310860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90%+ of smart devices run Linux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IoT, automotive, industrial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Medical devices, networking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Set-top boxes, printers, routers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7"/>
          <p:cNvSpPr/>
          <p:nvPr/>
        </p:nvSpPr>
        <p:spPr>
          <a:xfrm>
            <a:off x="4846320" y="2011680"/>
            <a:ext cx="3474360" cy="438876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8"/>
          <p:cNvSpPr/>
          <p:nvPr/>
        </p:nvSpPr>
        <p:spPr>
          <a:xfrm>
            <a:off x="5029200" y="214884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The Problem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9"/>
          <p:cNvSpPr/>
          <p:nvPr/>
        </p:nvSpPr>
        <p:spPr>
          <a:xfrm>
            <a:off x="5029200" y="2560320"/>
            <a:ext cx="310860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End-of-life kernel versions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Unpatched CVEs in the field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Vendor BSPs go stale fast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No upgrade path without expertise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10"/>
          <p:cNvSpPr/>
          <p:nvPr/>
        </p:nvSpPr>
        <p:spPr>
          <a:xfrm>
            <a:off x="8595360" y="2011680"/>
            <a:ext cx="3200040" cy="438876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11"/>
          <p:cNvSpPr/>
          <p:nvPr/>
        </p:nvSpPr>
        <p:spPr>
          <a:xfrm>
            <a:off x="8778240" y="214884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The Opportunity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2"/>
          <p:cNvSpPr/>
          <p:nvPr/>
        </p:nvSpPr>
        <p:spPr>
          <a:xfrm>
            <a:off x="8778240" y="2560320"/>
            <a:ext cx="283428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High demand, low supply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Senior embedded roles pay well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Skills transfer across domains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Foundation for RTOS + Linux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Who This Course Is For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548640" y="914400"/>
            <a:ext cx="8777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This course is designed for working professionals who want to move into or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deepen their embedded Linux skills.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4"/>
          <p:cNvSpPr/>
          <p:nvPr/>
        </p:nvSpPr>
        <p:spPr>
          <a:xfrm>
            <a:off x="548640" y="1828800"/>
            <a:ext cx="50288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731520" y="19659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Ideal Background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731520" y="2377440"/>
            <a:ext cx="46630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C/C++ programming experience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Basic Linux command line comfort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Some bare-metal or RTOS exposure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Understanding of computer architecture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Familiarity with makefiles and build systems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7"/>
          <p:cNvSpPr/>
          <p:nvPr/>
        </p:nvSpPr>
        <p:spPr>
          <a:xfrm>
            <a:off x="6583680" y="1828800"/>
            <a:ext cx="50288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6766560" y="19659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Lora"/>
              </a:rPr>
              <a:t>What You Don't Need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6766560" y="2377440"/>
            <a:ext cx="46630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Prior kernel development experience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Device driver writing background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Yocto or Buildroot knowledge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ARM assembly expertise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Electronics or PCB design skills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Reference Materials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548640" y="91440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These are the primary references we will use throughout the course.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4"/>
          <p:cNvSpPr/>
          <p:nvPr/>
        </p:nvSpPr>
        <p:spPr>
          <a:xfrm>
            <a:off x="548640" y="1645920"/>
            <a:ext cx="5028840" cy="47545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5"/>
          <p:cNvSpPr/>
          <p:nvPr/>
        </p:nvSpPr>
        <p:spPr>
          <a:xfrm>
            <a:off x="731520" y="17830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Core References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731520" y="2194560"/>
            <a:ext cx="466308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Bootlin Training Materials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bootlin.com/doc/training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The Linux Kernel Documentation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kernel.org/doc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Yocto Project Documentation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docs.yoctoproject.org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Buildroot Manual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buildroot.org/downloads/manual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7"/>
          <p:cNvSpPr/>
          <p:nvPr/>
        </p:nvSpPr>
        <p:spPr>
          <a:xfrm>
            <a:off x="6583680" y="1645920"/>
            <a:ext cx="5028840" cy="47545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8"/>
          <p:cNvSpPr/>
          <p:nvPr/>
        </p:nvSpPr>
        <p:spPr>
          <a:xfrm>
            <a:off x="6766560" y="17830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Lora"/>
              </a:rPr>
              <a:t>Supplementary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9"/>
          <p:cNvSpPr/>
          <p:nvPr/>
        </p:nvSpPr>
        <p:spPr>
          <a:xfrm>
            <a:off x="6766560" y="2194560"/>
            <a:ext cx="466308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Linux Weekly News (lwn.net)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Kernel development context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Elixir Cross Referencer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elixir.bootlin.com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PREEMPT_RT Wiki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wiki.linuxfoundation.org/realtime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Embedded Linux Wiki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elinux.org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Lab Infrastructure &amp; Tools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3"/>
          <p:cNvSpPr/>
          <p:nvPr/>
        </p:nvSpPr>
        <p:spPr>
          <a:xfrm>
            <a:off x="548640" y="1097280"/>
            <a:ext cx="502884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731520" y="123444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Your Workstation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731520" y="1645920"/>
            <a:ext cx="466308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Linux host (Ubuntu 24.04 recommended)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or macOS with Homebrew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or Windows + WSL2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Required tools: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• git, make, gcc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• minicom or picocom (serial)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• ssh, scp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• Python 3.11+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6"/>
          <p:cNvSpPr/>
          <p:nvPr/>
        </p:nvSpPr>
        <p:spPr>
          <a:xfrm>
            <a:off x="6583680" y="1097280"/>
            <a:ext cx="5028840" cy="50288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6766560" y="123444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Lora"/>
              </a:rPr>
              <a:t>Target Hardware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8"/>
          <p:cNvSpPr/>
          <p:nvPr/>
        </p:nvSpPr>
        <p:spPr>
          <a:xfrm>
            <a:off x="6766560" y="1645920"/>
            <a:ext cx="466308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Raspberry Pi 4 (4GB+)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MicroSD card (32GB+)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USB-to-TTL serial cable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Ethernet or WiFi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Serial console is essential: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115200 baud, 8N1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Access U-Boot and kernel boot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  Primary debug channel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Rules of the Road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548640" y="91440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A few ground rules to make this course work for everyone.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4"/>
          <p:cNvSpPr/>
          <p:nvPr/>
        </p:nvSpPr>
        <p:spPr>
          <a:xfrm>
            <a:off x="548640" y="1645920"/>
            <a:ext cx="32000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5"/>
          <p:cNvSpPr/>
          <p:nvPr/>
        </p:nvSpPr>
        <p:spPr>
          <a:xfrm>
            <a:off x="731520" y="178308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1. Ask Questions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6"/>
          <p:cNvSpPr/>
          <p:nvPr/>
        </p:nvSpPr>
        <p:spPr>
          <a:xfrm>
            <a:off x="731520" y="2194560"/>
            <a:ext cx="28342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No question is too basic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If you're confused, others are too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Interrupt anytime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Slack/Discord between sessions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7"/>
          <p:cNvSpPr/>
          <p:nvPr/>
        </p:nvSpPr>
        <p:spPr>
          <a:xfrm>
            <a:off x="4572000" y="1645920"/>
            <a:ext cx="32000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8"/>
          <p:cNvSpPr/>
          <p:nvPr/>
        </p:nvSpPr>
        <p:spPr>
          <a:xfrm>
            <a:off x="4754880" y="178308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2. Do the Labs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9"/>
          <p:cNvSpPr/>
          <p:nvPr/>
        </p:nvSpPr>
        <p:spPr>
          <a:xfrm>
            <a:off x="4754880" y="2194560"/>
            <a:ext cx="28342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Lectures without labs = nothing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Struggle is part of learning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Break things on purpose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That's how you learn debugging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10"/>
          <p:cNvSpPr/>
          <p:nvPr/>
        </p:nvSpPr>
        <p:spPr>
          <a:xfrm>
            <a:off x="7863840" y="1645920"/>
            <a:ext cx="374868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1"/>
          <p:cNvSpPr/>
          <p:nvPr/>
        </p:nvSpPr>
        <p:spPr>
          <a:xfrm>
            <a:off x="8046720" y="1783080"/>
            <a:ext cx="3382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3. Use AI Wisely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2"/>
          <p:cNvSpPr/>
          <p:nvPr/>
        </p:nvSpPr>
        <p:spPr>
          <a:xfrm>
            <a:off x="8046720" y="2194560"/>
            <a:ext cx="338292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AI is a tool, not a crutch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Understand before you generate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We'll learn prompt engineering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AI fluency is a course outcome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What You Will Learn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3"/>
          <p:cNvSpPr/>
          <p:nvPr/>
        </p:nvSpPr>
        <p:spPr>
          <a:xfrm>
            <a:off x="548640" y="914400"/>
            <a:ext cx="877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Ten sessions. One coherent journey from hardware to deployed system.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4"/>
          <p:cNvSpPr/>
          <p:nvPr/>
        </p:nvSpPr>
        <p:spPr>
          <a:xfrm>
            <a:off x="548640" y="146304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5"/>
          <p:cNvSpPr/>
          <p:nvPr/>
        </p:nvSpPr>
        <p:spPr>
          <a:xfrm>
            <a:off x="1097280" y="146304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Introduction &amp; Key Concepts</a:t>
            </a:r>
            <a:br>
              <a:rPr sz="1200"/>
            </a:b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Requirements, embedded attributes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6"/>
          <p:cNvSpPr/>
          <p:nvPr/>
        </p:nvSpPr>
        <p:spPr>
          <a:xfrm>
            <a:off x="548640" y="246888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7"/>
          <p:cNvSpPr/>
          <p:nvPr/>
        </p:nvSpPr>
        <p:spPr>
          <a:xfrm>
            <a:off x="1097280" y="246888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Toolchains &amp; Bootloaders</a:t>
            </a:r>
            <a:br>
              <a:rPr sz="1200"/>
            </a:b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Cross-compilation, U-Boot, kernel build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8"/>
          <p:cNvSpPr/>
          <p:nvPr/>
        </p:nvSpPr>
        <p:spPr>
          <a:xfrm>
            <a:off x="548640" y="347472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9"/>
          <p:cNvSpPr/>
          <p:nvPr/>
        </p:nvSpPr>
        <p:spPr>
          <a:xfrm>
            <a:off x="1097280" y="347472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Yocto &amp; Buildroot</a:t>
            </a:r>
            <a:br>
              <a:rPr sz="1200"/>
            </a:b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BitBake, layer model, distro builds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10"/>
          <p:cNvSpPr/>
          <p:nvPr/>
        </p:nvSpPr>
        <p:spPr>
          <a:xfrm>
            <a:off x="548640" y="448056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1"/>
          <p:cNvSpPr/>
          <p:nvPr/>
        </p:nvSpPr>
        <p:spPr>
          <a:xfrm>
            <a:off x="1097280" y="448056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System Architecture</a:t>
            </a:r>
            <a:br>
              <a:rPr sz="1200"/>
            </a:b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Flash, memory layout, filesystems, updates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12"/>
          <p:cNvSpPr/>
          <p:nvPr/>
        </p:nvSpPr>
        <p:spPr>
          <a:xfrm>
            <a:off x="548640" y="548640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3"/>
          <p:cNvSpPr/>
          <p:nvPr/>
        </p:nvSpPr>
        <p:spPr>
          <a:xfrm>
            <a:off x="1097280" y="548640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Linux Kernel Overview</a:t>
            </a:r>
            <a:br>
              <a:rPr sz="1200"/>
            </a:b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Kernel concepts, modules, init vs systemd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14"/>
          <p:cNvSpPr/>
          <p:nvPr/>
        </p:nvSpPr>
        <p:spPr>
          <a:xfrm>
            <a:off x="6492240" y="146304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5"/>
          <p:cNvSpPr/>
          <p:nvPr/>
        </p:nvSpPr>
        <p:spPr>
          <a:xfrm>
            <a:off x="7040880" y="146304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Kernel Architecture</a:t>
            </a:r>
            <a:br>
              <a:rPr sz="1200"/>
            </a:b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/proc, device trees, sysfs, interrupts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16"/>
          <p:cNvSpPr/>
          <p:nvPr/>
        </p:nvSpPr>
        <p:spPr>
          <a:xfrm>
            <a:off x="6492240" y="246888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7"/>
          <p:cNvSpPr/>
          <p:nvPr/>
        </p:nvSpPr>
        <p:spPr>
          <a:xfrm>
            <a:off x="7040880" y="246888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Systems Programming</a:t>
            </a:r>
            <a:br>
              <a:rPr sz="1200"/>
            </a:b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Processes, threads, IPC, signals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18"/>
          <p:cNvSpPr/>
          <p:nvPr/>
        </p:nvSpPr>
        <p:spPr>
          <a:xfrm>
            <a:off x="6492240" y="347472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9"/>
          <p:cNvSpPr/>
          <p:nvPr/>
        </p:nvSpPr>
        <p:spPr>
          <a:xfrm>
            <a:off x="7040880" y="347472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Embedded Applications</a:t>
            </a:r>
            <a:br>
              <a:rPr sz="1200"/>
            </a:b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Application concepts, embedded Python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20"/>
          <p:cNvSpPr/>
          <p:nvPr/>
        </p:nvSpPr>
        <p:spPr>
          <a:xfrm>
            <a:off x="6492240" y="448056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21"/>
          <p:cNvSpPr/>
          <p:nvPr/>
        </p:nvSpPr>
        <p:spPr>
          <a:xfrm>
            <a:off x="7040880" y="448056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Debug &amp; Profiling</a:t>
            </a:r>
            <a:br>
              <a:rPr sz="1200"/>
            </a:b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GDB, strace, perf, ftrace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22"/>
          <p:cNvSpPr/>
          <p:nvPr/>
        </p:nvSpPr>
        <p:spPr>
          <a:xfrm>
            <a:off x="6492240" y="5486400"/>
            <a:ext cx="456840" cy="45684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22337"/>
                </a:solidFill>
                <a:effectLst/>
                <a:uFillTx/>
                <a:latin typeface="Lora"/>
              </a:rPr>
              <a:t>S10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23"/>
          <p:cNvSpPr/>
          <p:nvPr/>
        </p:nvSpPr>
        <p:spPr>
          <a:xfrm>
            <a:off x="7040880" y="548640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Real-Time Systems</a:t>
            </a:r>
            <a:br>
              <a:rPr sz="1200"/>
            </a:b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PREEMPT_RT, latency, cyclictest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The 4 Ds of AI Fluency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548640" y="914400"/>
            <a:ext cx="8777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AI is changing how we develop software. This course teaches you to use it effectively.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4"/>
          <p:cNvSpPr/>
          <p:nvPr/>
        </p:nvSpPr>
        <p:spPr>
          <a:xfrm>
            <a:off x="548640" y="1554480"/>
            <a:ext cx="2468520" cy="47545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5"/>
          <p:cNvSpPr/>
          <p:nvPr/>
        </p:nvSpPr>
        <p:spPr>
          <a:xfrm>
            <a:off x="731520" y="16916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Delegate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6"/>
          <p:cNvSpPr/>
          <p:nvPr/>
        </p:nvSpPr>
        <p:spPr>
          <a:xfrm>
            <a:off x="731520" y="2103120"/>
            <a:ext cx="210276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Let AI handle boilerplate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Code generation, documentation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Repetitive tasks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Focus your time on design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7"/>
          <p:cNvSpPr/>
          <p:nvPr/>
        </p:nvSpPr>
        <p:spPr>
          <a:xfrm>
            <a:off x="3566160" y="1554480"/>
            <a:ext cx="2468520" cy="47545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8"/>
          <p:cNvSpPr/>
          <p:nvPr/>
        </p:nvSpPr>
        <p:spPr>
          <a:xfrm>
            <a:off x="3749040" y="16916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Debate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9"/>
          <p:cNvSpPr/>
          <p:nvPr/>
        </p:nvSpPr>
        <p:spPr>
          <a:xfrm>
            <a:off x="3749040" y="2103120"/>
            <a:ext cx="210276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Challenge AI output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Ask for alternatives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Probe edge cases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Don't accept blindly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10"/>
          <p:cNvSpPr/>
          <p:nvPr/>
        </p:nvSpPr>
        <p:spPr>
          <a:xfrm>
            <a:off x="6126480" y="1554480"/>
            <a:ext cx="2468520" cy="47545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11"/>
          <p:cNvSpPr/>
          <p:nvPr/>
        </p:nvSpPr>
        <p:spPr>
          <a:xfrm>
            <a:off x="6309360" y="16916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Debug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2"/>
          <p:cNvSpPr/>
          <p:nvPr/>
        </p:nvSpPr>
        <p:spPr>
          <a:xfrm>
            <a:off x="6309360" y="2103120"/>
            <a:ext cx="210276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AI code has bugs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Understand before deploying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Read every line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Test thoroughly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13"/>
          <p:cNvSpPr/>
          <p:nvPr/>
        </p:nvSpPr>
        <p:spPr>
          <a:xfrm>
            <a:off x="8686800" y="1554480"/>
            <a:ext cx="2925720" cy="47545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14"/>
          <p:cNvSpPr/>
          <p:nvPr/>
        </p:nvSpPr>
        <p:spPr>
          <a:xfrm>
            <a:off x="8869680" y="16916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Direct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15"/>
          <p:cNvSpPr/>
          <p:nvPr/>
        </p:nvSpPr>
        <p:spPr>
          <a:xfrm>
            <a:off x="8869680" y="2103120"/>
            <a:ext cx="2559960" cy="40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Prompt engineering is a skill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Be specific and contextual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Iterate on prompts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Learn what works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AI in This Course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3"/>
          <p:cNvSpPr/>
          <p:nvPr/>
        </p:nvSpPr>
        <p:spPr>
          <a:xfrm>
            <a:off x="548640" y="91440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We will use AI tools actively — but with discipline.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4"/>
          <p:cNvSpPr/>
          <p:nvPr/>
        </p:nvSpPr>
        <p:spPr>
          <a:xfrm>
            <a:off x="548640" y="1645920"/>
            <a:ext cx="50288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5"/>
          <p:cNvSpPr/>
          <p:nvPr/>
        </p:nvSpPr>
        <p:spPr>
          <a:xfrm>
            <a:off x="731520" y="17830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How We Use AI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6"/>
          <p:cNvSpPr/>
          <p:nvPr/>
        </p:nvSpPr>
        <p:spPr>
          <a:xfrm>
            <a:off x="731520" y="2194560"/>
            <a:ext cx="46630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Code generation for boilerplate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Explaining kernel concepts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Debugging assistance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Writing test cases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Documentation and notes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Exploring unfamiliar APIs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7"/>
          <p:cNvSpPr/>
          <p:nvPr/>
        </p:nvSpPr>
        <p:spPr>
          <a:xfrm>
            <a:off x="6583680" y="1645920"/>
            <a:ext cx="50288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8"/>
          <p:cNvSpPr/>
          <p:nvPr/>
        </p:nvSpPr>
        <p:spPr>
          <a:xfrm>
            <a:off x="6766560" y="17830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Lora"/>
              </a:rPr>
              <a:t>The Ground Rules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9"/>
          <p:cNvSpPr/>
          <p:nvPr/>
        </p:nvSpPr>
        <p:spPr>
          <a:xfrm>
            <a:off x="6766560" y="2194560"/>
            <a:ext cx="46630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You must understand every line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AI output is a starting point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Cite AI use in assignments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Never submit AI code blindly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The exam is without AI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Learning &gt; convenience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2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0" y="6492240"/>
            <a:ext cx="12188520" cy="54360"/>
          </a:xfrm>
          <a:prstGeom prst="rect">
            <a:avLst/>
          </a:prstGeom>
          <a:solidFill>
            <a:srgbClr val="D4B4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2"/>
          <p:cNvSpPr/>
          <p:nvPr/>
        </p:nvSpPr>
        <p:spPr>
          <a:xfrm>
            <a:off x="548640" y="274320"/>
            <a:ext cx="8777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Let's Build Something Real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3"/>
          <p:cNvSpPr/>
          <p:nvPr/>
        </p:nvSpPr>
        <p:spPr>
          <a:xfrm>
            <a:off x="548640" y="914400"/>
            <a:ext cx="8777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By the end of this course, you will have built a complete embedded Linux system</a:t>
            </a:r>
            <a:br>
              <a:rPr sz="1800"/>
            </a:b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on a Raspberry Pi 4 — from scratch.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4"/>
          <p:cNvSpPr/>
          <p:nvPr/>
        </p:nvSpPr>
        <p:spPr>
          <a:xfrm>
            <a:off x="548640" y="1828800"/>
            <a:ext cx="50288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5"/>
          <p:cNvSpPr/>
          <p:nvPr/>
        </p:nvSpPr>
        <p:spPr>
          <a:xfrm>
            <a:off x="731520" y="19659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What You'll Build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6"/>
          <p:cNvSpPr/>
          <p:nvPr/>
        </p:nvSpPr>
        <p:spPr>
          <a:xfrm>
            <a:off x="731520" y="2377440"/>
            <a:ext cx="46630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Custom cross-compilation toolchain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U-Boot bootloader on SD card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Mainline Linux kernel (6.x)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Minimal root filesystem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Device tree for your hardware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Kernel module from scratch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Real-time application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7"/>
          <p:cNvSpPr/>
          <p:nvPr/>
        </p:nvSpPr>
        <p:spPr>
          <a:xfrm>
            <a:off x="6583680" y="1828800"/>
            <a:ext cx="5028840" cy="457164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8"/>
          <p:cNvSpPr/>
          <p:nvPr/>
        </p:nvSpPr>
        <p:spPr>
          <a:xfrm>
            <a:off x="6766560" y="196596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Lora"/>
              </a:rPr>
              <a:t>What You'll Know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9"/>
          <p:cNvSpPr/>
          <p:nvPr/>
        </p:nvSpPr>
        <p:spPr>
          <a:xfrm>
            <a:off x="6766560" y="2377440"/>
            <a:ext cx="46630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How embedded Linux boots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How to configure the kernel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How to build with Yocto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How to debug at every layer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How to measure real-time latency</a:t>
            </a:r>
            <a:br>
              <a:rPr sz="1400"/>
            </a:b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unito Sans"/>
              </a:rPr>
              <a:t>• How to use AI as a developer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0"/>
          <p:cNvSpPr/>
          <p:nvPr/>
        </p:nvSpPr>
        <p:spPr>
          <a:xfrm>
            <a:off x="548640" y="62179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D4B438"/>
                </a:solidFill>
                <a:effectLst/>
                <a:uFillTx/>
                <a:latin typeface="Lora"/>
              </a:rPr>
              <a:t>Session 1 starts now. Let's go.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LibreOffice/26.2.3.2$Linux_X86_64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2026-06-23T16:00:23Z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