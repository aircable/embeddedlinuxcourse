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Session 8 -- Embedded Applications. This is where everything from the previous seven sessions comes together into a single capstone project. We are going to build a Smart Sensor Bridge: a real embedded Linux application that reads physical sensors (BME280 or Raspberry Pi Sense HAT), serves the data through a local API, and sends it to a cloud AI service for classification and anomaly detection. This session directly addresses outcomes O4 (develop and download applications), O5 (describe kernel modules and device drivers), and O6 (summarize filesystem and storage concepts). It is the capstone assignment -- the last hands-on project in the course. The project uses the Raspberry Pi 4 system you have been building since Session 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session is structured in three parts, each about 60 minutes of teaching plus hands-on time. Part 1 covers the architectural foundations: what makes embedded applications different from the desktop and server software most students are used to. We will look at the hardware-software interface -- how userspace code talks to physical sensors through the Linux kernel. Part 2 is the build phase. Students write a C program that reads an I2C sensor, wrap it in a Python Flask API, cross-compile the C component for ARM, and integrate it as a systemd service that starts at boot. Part 3 connects the sensor data to a cloud AI service. We use a simple REST API call to send sensor readings to a cloud endpoint for classification. The build path code for this session is AP -- Application Programming.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key point for students coming from desktop or web development: embedded applications live in a fundamentally different environment. Resource constraints are real. On the RPi4 you have 1-4 GB of RAM, but on a typical embedded target you might have 64-256 MB. There is no swap partition on flash-based systems because flash wear would destroy the storage. Hardware interaction is direct -- there is no HAL hiding the sensors. Your application reads from /dev/i2c-1 or memory-mapped registers. Reliability is non-negotiable: an embedded system might run for months or years without human intervention. We use systemd restart policies and hardware watchdogs to handle this. And failure is visible: if a sensor app fails, the system is blind.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dominant architecture patterns for embedded applications. Event-driven is the most efficient -- your application sleeps until something happens. On Linux, you use epoll or select to wait on multiple file descriptors. Polling is simpler: read the sensor, process, sleep, repeat. Predictable and easy to debug. The data pipeline pattern separates concerns into stages: sensor reader, filter, aggregator, output. Each stage is a small component communicating through pipes or sockets. Our project uses a hybrid: the C sensor reader polls the BME280 at 1 Hz (polling), and the Python service reads from it through a pipe (pipeline). The Flask API then serves the aggregated data.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critical concept connecting back to Sessions 5 and 6. In embedded Linux, userspace cannot directly access hardware registers -- the MMU prevents it. All hardware access goes through kernel drivers. For our project, we use /dev/i2c-1 to talk to the BME280 via the i2c-dev kernel module. We do not need a dedicated kernel driver -- we can talk I2C directly from userspace using ioctl. The device tree tells the kernel that an I2C bus exists and what devices are connected. For the RPi4, the I2C1 bus is already in the device tree. General rule: use userspace I2C for prototyping and low-frequency sensors. Write a kernel module when you need high-frequency sampling or tight interrupt handling.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BME280 is our primary sensor. It combines three environmental sensors in a single package: temperature (+/- 1C), humidity (+/- 3% RH), and pressure (+/- 1 hPa). It communicates over I2C with configurable address (0x76 or 0x77 via SDO pin). Runs on 3.3V, matching RPi4 GPIO levels. Important: the BME280 stores factory calibration data in NVM. Your driver must read calibration registers at startup and apply Bosch compensation formulas from the datasheet. These involve fixed-point arithmetic with specific truncation behavior. Available on breakout boards from Adafruit/SparkFun for ~$5 with pull-up resistors included.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Raspberry Pi Sense HAT is an alternative requiring no wiring -- it plugs onto the 40-pin GPIO header. It has three I2C sensors: HTS221 (humidity/temp at 0x5F), LPS25H (pressure at 0x5C), and LSM9DS1 (IMU). The Python sense-hat library provides a clean API: sense.get_temperature(), sense.get_humidity(), sense.get_pressure(). The LED matrix is a bonus: display red on anomaly, green when normal. Device tree overlay is pi3-sense-hat (works on Pi 4). Let students choose: BME280 for I2C protocol learning, Sense HAT for zero wiring and LED display.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hands-on lab: confirm the sensor is electrically connected and responding. Step 1: Enable I2C via raspi-config or add dtparam=i2c_arm=on to /boot/config.txt. Reboot. Step 2: Install i2c-tools for i2cdetect, i2cdump, i2cget, i2cset. Step 3: i2cdetect -y 1 scans /dev/i2c-1. BME280 shows at 0x76. Step 4: Read chip ID from register 0xD0 -- must be 0x60 for genuine BME280. Common problems: missing pull-ups, wrong address, loose breadboard connections, I2C not enabled in device tree.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2 is the core build phase. Architecture: C program reads BME280 via I2C, Python aggregator reads from C through a pipe, Flask API exposes JSON over HTTP. Why split C and Python? C handles precise I2C timing and Bosch compensation formulas (fixed-point arithmetic). Python handles networking (Flask, requests) which is much more productive than C HTTP. The communication is a simple Unix pipe -- C writes JSON lines to stdout, Python reads stdin. Cross-compilation uses the ARM toolchain from Session 2. Statically link the C binary. Deploy as systemd service with auto-start and restart.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BME280 initialization: open /dev/i2c-1, set target address 0x76 via ioctl. Verify chip by reading register 0xD0 (must return 0x60). Read 39 bytes of factory calibration data from register ranges 0x88-0xA1 and 0xE1-0xE7. Store in a struct as signed/unsigned 16-bit little-endian values. Configure the sensor: write ctrl_meas register for oversampling and mode, write config register for standby time and IIR filter. The Bosch datasheet has the complete register map and initialization procedure. Full init takes about 10 lines of C.</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Reading data: trigger measurement, read raw ADC, apply compensation. In forced mode, write 0x01 to ctrl_meas and poll status register until measuring bit clears (~6.4ms). Read raw values from 0xF7-0xFE: pressure and temperature are 20-bit, humidity is 16-bit. Apply Bosch fixed-point compensation formulas from the datasheet -- use 32-bit integers to avoid overflow. Output compensated values as JSON to stdout. The Python aggregator reads this through the pipe. Normal mode (continuous) simplifies the loop -- just read registers at 1 Hz.</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Sense HAT C driver follows the same pattern with simpler compensation. HTS221 (0x5F): WHO_AM_I=0xBC, linear interpolation calibration from two reference points. LPS25H (0x5C): WHO_AM_I=0xBD, single linear offset. Both use /dev/i2c-1 with ioctl. Output JSON to stdout same as BME280 path. The LED matrix (IS31FL3731 at 0x54) is optional but impressive: set all LEDs green for normal, red for anomaly. The STMicroelectronics datasheets have complete register maps.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Python aggregator launches C driver as subprocess with stdout piped. A dedicated thread reads JSON lines and appends to a rolling buffer (last 60 readings). Compute statistics: min, max, average, std deviation. Spike detection: current &gt; avg + 3*stddev flags anomaly. Thread safety via threading.Lock -- held briefly to copy data. The aggregator also tracks anomaly count and last anomaly timestamp, exposed through the Flask API.</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Flask API with two endpoints. GET /sensors returns current readings plus rolling statistics (min, max, avg, anomaly count). GET /health returns status and uptime for monitoring. Bind to 0.0.0.0:5000 for local network access. Test with curl. The entire Flask app is about 30 lines -- this is why we use Python for networking. For production, add auth and HTTPS, but plain HTTP on localhost is fine for the lab.</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Cross-compile with the ARM toolchain from Session 2. The -static flag includes all libraries in the binary. Verify with file command: should show ARM, statically linked. Copy via scp or add to rootfs image. On target, run ./bme280 -- should print JSON lines. If 'No such file or directory' on ARM binary, wrong architecture. If permission denied, chmod +x. If no output, check /dev/i2c-1 exists and user has i2c group membership.</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Systemd service file in /etc/systemd/system/. [Unit]: description and dependencies (After=network.target for Flask). [Service]: ExecStart points to wrapper script. Restart=always recovers from crashes. RestartSec=5 prevents tight restart loops. StandardOutput=journal sends all output to journald. [Install]: WantedBy=multi-user.target enables boot startup. The wrapper script pipes C driver to Python: /usr/bin/bme280 | /usr/bin/sensor-bridge.py. After enabling, reboot and verify with systemctl status.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journalctl -u sensor-bridge.service shows full log. -f for follow mode. --since for time filtering. systemctl status gives quick overview: running? PID? memory? last log lines? Common failures: immediate fail = wrong path or permissions. No data = I2C issue. Repeated restarts = something crashing, check journal for cause. Resource limits: MemoryMax and CPUQuota prevent misbehaving apps from taking down the system.</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2: deploy the full service. Cross-compile, copy to target, create systemd service, enable and start. Verify with curl and journalctl. If curl returns connection refused, Flask not running -- check systemctl status. If curl returns zeros, C driver running but not reading sensor -- check I2C with i2cdetect. Most common issues: wrong cross-compiler (x86 binary), missing -static flag, I2C permission denied (add user to i2c group).</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3 connects our embedded system to the cloud. Architecture: sensor -&gt; local Flask API -&gt; cloud AI -&gt; classification -&gt; local alert. We use cloud AI instead of local inference because cloud services have more powerful models and the integration pattern (REST API call, parse response) is the same whether the AI is in the cloud or on the edge. For the cloud AI, we send sensor data via HTTPS POST and receive a classification. This is the capstone assignment -- it combines toolchain, kernel, rootfs, drivers, networking, and application design.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Cloud integration pattern: poll local API every 30 seconds, package into JSON, POST to cloud. Payload includes device ID, ISO 8601 timestamp, current readings, and last 10 readings for trend analysis. Response handling: 200 = parse classification, 429 = exponential backoff, network failure = queue and retry. This pattern is standard in IoT applications. For the class project, we provide a simple cloud endpoint; students can replace it with a real AI service.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Minimal cloud endpoint for testing. Flask route at /classify accepts POST with JSON. Thresholds: &gt;35C or &gt;80% RH = critical, &gt;30C or &gt;70% RH = warning, else normal. For real AI, replace thresholds with an LLM prompt: 'Classify these sensor readings as normal, warning, or critical: temp=23.5C, humidity=55%, pressure=1013 hPa. Recent trend: temperature rising 2C over 5 minutes.' We provide a simple threshold endpoint for the class project.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Cloud client runs in a loop: read local /sensors, build payload, POST to cloud, check classification, trigger alert on critical. try/except catches all network failures -- the loop continues. API keys in environment variables, never in source code. Set in systemd service file with Environment=CLOUD_API_KEY=.... For paid services, remind students to set spending limits.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Sense HAT: sense.clear(color) sets all 64 LEDs. Green for normal, red for 2 seconds then clear for alert. BME280 users: LED on GPIO 17 via gpiozero: led = LED(17); led.on(); time.sleep(2); led.off(). Add buzzer on GPIO 27 for audible alert. Discuss local vs cloud decision-making: local for immediate safety (temp &gt; 40C), cloud for sophisticated analysis (unusual rate of change).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Network design for IoT: bandwidth (send summaries, compress, batch), reliability (retry with backoff, SQLite queue for outages), security (HTTPS, env vars for keys, client certs), power (batch uploads to minimize radio-on time). The RPi4 is mains-powered, but students should know these constraints for real-world deployments.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3: complete the pipeline. Deploy cloud endpoint, configure client, start it, generate anomaly by holding sensor or breathing on it. Verify with journalctl and cloud-client log. If LED lights up, the full pipeline works. This is the most satisfying lab -- physical sensor data flows through code, across network, into cloud AI, back to physical LED. Complete embedded Linux application stack.</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architecture: Hardware (RPi4 + sensor), Kernel (i2c-dev, sysfs, device tree from Sessions 5-6), Application (C driver -&gt; pipe -&gt; Python -&gt; Flask), Service (systemd), Cloud (HTTPS -&gt; AI -&gt; alert). Every session contributed: S1 concepts, S2 toolchain, S3 Buildroot/Yocto, S4 system arch, S5 kernel, S6 drivers, S7 systems programming, S8 applications. This is the capstone -- it all comes together here.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Error handling: retry sensor reads (3x), re-initialize I2C on bus errors, queue cloud failures with backoff. Hardware watchdog: RPi4 has a BCM2835 watchdog. Install watchdog package, configure /dev/watchdog. Application pings it periodically. If app hangs or kernel panics, watchdog fires and reboots. Without watchdog, a hung app means a dead system until physical reboot -- unacceptable for remote embedded devices.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monitoring: top/htop for CPU and memory, free -h for memory, df -h for disk. Time the C driver for 100 reads -- should be ~100 seconds at 1 Hz. cProfile for Python shows bottlenecks. Systemd resource accounting via systemctl show gives per-service CPU and memory. C driver should use &lt;1% CPU, Python service 2-5% CPU and 20-30 MB RAM.</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run as non-root (useradd -r -s /bin/false -G i2c sensor-bridge). API keys in env vars, not code. EnvironmentFile in systemd with chmod 600. Firewall (ufw), HTTPS, SSH keys only. Regular software updates. These are not optional for production -- compromised IoT devices become botnet nodes.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Testing: unit test compensation formulas on host with known vectors from Bosch datasheet. Mock I2C reads. Integration test on target with real sensor. Hardware-in-the-loop: use Arduino as I2C slave to simulate sensor and inject edge cases. CI: GitHub Actions for ARM cross-compilation, QEMU user-mode for basic smoke tests.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Debugging tools: strace for system calls (shows raw I2C data), gdb for C debugging (breakpoints, variable inspection), pdb for Python, tcpdump for network traffic. I2C-specific: i2cdetect scans the bus, i2cdump reads all registers from a device. All available on RPi4 via apt install.</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Capstone assignment: complete sensor-to-cloud pipeline. Required: C driver, Python aggregator + Flask API, systemd service, cloud AI client. Deliverables: GitHub repo, curl screenshot, systemd status screenshot, cloud classification screenshot, 2-3 min demo video. Due end of Session 10. Grading: functionality 40%, code quality 20%, documentation 20%, demo video 20%. This is the final project for the course.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 credit: Sense HAT LED display (green/yellow/red + scrolling temp), SQLite queue for cloud outages, hardware watchdog, real LLM classification (send prompt to GPT, parse response), Grafana dashboard with real-time graphs. Each adds significant value and demonstrates professional IoT skills.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Troubleshooting: no I2C devices = wiring/pull-up/DT config issue. Zeros = wrong address or uninit sensor. Flask refused = not running or missing module. Cloud 401 = API key issue. This guide covers 90% of student problems.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Session recap: embedded apps differ from desktop (constraints, hardware, reliability). Hardware interface through kernel via /dev/i2c-N and device tree. Multi-language: C for hardware, Python for networking, pipe for IPC. Systemd for production deployment. Cloud AI via REST API. Capstone: Smart Sensor Bridge -- the final project combining all 8 sessions.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Session 9 (Debug Methods) covers GDB remote debugging, strace, ltrace, perf, ftrace -- directly useful for the capstone. Session 10 (Realtime Systems) covers PREEMPT_RT, scheduling classes, cyclictest. Capstone due end of Session 10. Students should start now and iterate -- the debugging and real-time tools from upcoming sessions can improve their project.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References: Bosch BME280 datasheet for compensation formulas and register map. RPi Sense HAT docs for I2C addresses and Python library. Linux kernel I2C dev interface documentation. Flask docs for API development. Systemd.service man page for service file syntax. Bootlin training materials for general embedded Linux context.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Picture Placeholder 2"/>
          <p:cNvSpPr>
            <a:spLocks noGrp="1"/>
          </p:cNvSpPr>
          <p:nvPr>
            <p:ph type="pic" idx="1"/>
          </p:nvPr>
        </p:nvSpPr>
        <p:spPr/>
      </p:sp>
      <p:sp>
        <p:nvSpPr>
          <p:cNvPr id="4" name="Text Placeholder 3"/>
          <p:cNvSpPr>
            <a:spLocks noGrp="1"/>
          </p:cNvSpPr>
          <p:nvPr>
            <p:ph type="body" idx="2" sz="half"/>
          </p:nvPr>
        </p:nvSpPr>
        <p:spPr/>
        <p:txBody>
          <a:bodyPr/>
          <a:lstStyle/>
          <a:p/>
        </p:txBody>
      </p:sp>
      <p:sp>
        <p:nvSpPr>
          <p:cNvPr id="5" name="TextBox 4"/>
          <p:cNvSpPr txBox="1"/>
          <p:nvPr/>
        </p:nvSpPr>
        <p:spPr>
          <a:xfrm>
            <a:off x="457200" y="274320"/>
            <a:ext cx="8229240" cy="731160"/>
          </a:xfrm>
          <a:prstGeom prst="rect">
            <a:avLst/>
          </a:prstGeom>
          <a:noFill/>
        </p:spPr>
        <p:txBody>
          <a:bodyPr wrap="square"/>
          <a:lstStyle/>
          <a:p>
            <a:pPr algn="l"/>
            <a:r>
              <a:rPr sz="2960" b="1">
                <a:solidFill>
                  <a:srgbClr val="1A1A2E"/>
                </a:solidFill>
                <a:latin typeface="Calibri"/>
              </a:rPr>
              <a:t>Embedded Applications</a:t>
            </a:r>
          </a:p>
        </p:txBody>
      </p:sp>
      <p:sp>
        <p:nvSpPr>
          <p:cNvPr id="6" name="TextBox 5"/>
          <p:cNvSpPr txBox="1"/>
          <p:nvPr/>
        </p:nvSpPr>
        <p:spPr>
          <a:xfrm>
            <a:off x="457200" y="1097280"/>
            <a:ext cx="8229240" cy="5028840"/>
          </a:xfrm>
          <a:prstGeom prst="rect">
            <a:avLst/>
          </a:prstGeom>
          <a:noFill/>
        </p:spPr>
        <p:txBody>
          <a:bodyPr wrap="square"/>
          <a:lstStyle/>
          <a:p>
            <a:pPr algn="l"/>
            <a:r>
              <a:rPr sz="1900" b="0">
                <a:solidFill>
                  <a:srgbClr val="1A1A2E"/>
                </a:solidFill>
                <a:latin typeface="Calibri"/>
              </a:rPr>
              <a:t/>
            </a:r>
          </a:p>
          <a:p>
            <a:pPr/>
            <a:r>
              <a:rPr sz="1900" b="0">
                <a:solidFill>
                  <a:srgbClr val="1A1A2E"/>
                </a:solidFill>
                <a:latin typeface="Calibri"/>
              </a:rPr>
              <a:t>Session 8: Smart Sensor Bridge</a:t>
            </a:r>
          </a:p>
          <a:p>
            <a:pPr/>
            <a:r>
              <a:rPr sz="1900" b="0">
                <a:solidFill>
                  <a:srgbClr val="1A1A2E"/>
                </a:solidFill>
                <a:latin typeface="Calibri"/>
              </a:rPr>
              <a:t/>
            </a:r>
          </a:p>
          <a:p>
            <a:pPr/>
            <a:r>
              <a:rPr sz="1900" b="0">
                <a:solidFill>
                  <a:srgbClr val="1A1A2E"/>
                </a:solidFill>
                <a:latin typeface="Calibri"/>
              </a:rPr>
              <a:t>BME280 / Sense HAT + Cloud AI on Raspberry Pi 4</a:t>
            </a:r>
          </a:p>
          <a:p>
            <a:pPr/>
            <a:r>
              <a:rPr sz="1900" b="0">
                <a:solidFill>
                  <a:srgbClr val="1A1A2E"/>
                </a:solidFill>
                <a:latin typeface="Calibri"/>
              </a:rPr>
              <a:t/>
            </a:r>
          </a:p>
          <a:p>
            <a:pPr/>
            <a:r>
              <a:rPr sz="1900" b="0">
                <a:solidFill>
                  <a:srgbClr val="1A1A2E"/>
                </a:solidFill>
                <a:latin typeface="Calibri"/>
              </a:rPr>
              <a:t>UCSC Extension -- Embedded Linux Design</a:t>
            </a:r>
          </a:p>
        </p:txBody>
      </p:sp>
      <p:sp>
        <p:nvSpPr>
          <p:cNvPr id="7" name="TextBox 6"/>
          <p:cNvSpPr txBox="1"/>
          <p:nvPr/>
        </p:nvSpPr>
        <p:spPr>
          <a:xfrm>
            <a:off x="457200" y="6400800"/>
            <a:ext cx="2742840" cy="273960"/>
          </a:xfrm>
          <a:prstGeom prst="rect">
            <a:avLst/>
          </a:prstGeom>
          <a:noFill/>
        </p:spPr>
        <p:txBody>
          <a:bodyPr wrap="square"/>
          <a:lstStyle/>
          <a:p>
            <a:pPr algn="l"/>
            <a:r>
              <a:rPr sz="630" b="0">
                <a:solidFill>
                  <a:srgbClr val="808080"/>
                </a:solidFill>
                <a:latin typeface="Calibri"/>
              </a:rPr>
              <a:t>Outcomes: O4, O5, O6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Picture Placeholder 2"/>
          <p:cNvSpPr>
            <a:spLocks noGrp="1"/>
          </p:cNvSpPr>
          <p:nvPr>
            <p:ph type="pic" idx="1"/>
          </p:nvPr>
        </p:nvSpPr>
        <p:spPr/>
      </p:sp>
      <p:sp>
        <p:nvSpPr>
          <p:cNvPr id="4" name="Text Placeholder 3"/>
          <p:cNvSpPr>
            <a:spLocks noGrp="1"/>
          </p:cNvSpPr>
          <p:nvPr>
            <p:ph type="body" idx="2" sz="half"/>
          </p:nvPr>
        </p:nvSpPr>
        <p:spPr/>
        <p:txBody>
          <a:bodyPr/>
          <a:lstStyle/>
          <a:p/>
        </p:txBody>
      </p:sp>
      <p:sp>
        <p:nvSpPr>
          <p:cNvPr id="5" name="TextBox 4"/>
          <p:cNvSpPr txBox="1"/>
          <p:nvPr/>
        </p:nvSpPr>
        <p:spPr>
          <a:xfrm>
            <a:off x="457200" y="274320"/>
            <a:ext cx="8229240" cy="731160"/>
          </a:xfrm>
          <a:prstGeom prst="rect">
            <a:avLst/>
          </a:prstGeom>
          <a:noFill/>
        </p:spPr>
        <p:txBody>
          <a:bodyPr wrap="square"/>
          <a:lstStyle/>
          <a:p>
            <a:pPr algn="l"/>
            <a:r>
              <a:rPr sz="2960" b="1">
                <a:solidFill>
                  <a:srgbClr val="1A1A2E"/>
                </a:solidFill>
                <a:latin typeface="Calibri"/>
              </a:rPr>
              <a:t>Session Overview</a:t>
            </a:r>
          </a:p>
        </p:txBody>
      </p:sp>
      <p:sp>
        <p:nvSpPr>
          <p:cNvPr id="6" name="TextBox 5"/>
          <p:cNvSpPr txBox="1"/>
          <p:nvPr/>
        </p:nvSpPr>
        <p:spPr>
          <a:xfrm>
            <a:off x="457200" y="1097280"/>
            <a:ext cx="8229240" cy="5028840"/>
          </a:xfrm>
          <a:prstGeom prst="rect">
            <a:avLst/>
          </a:prstGeom>
          <a:noFill/>
        </p:spPr>
        <p:txBody>
          <a:bodyPr wrap="square"/>
          <a:lstStyle/>
          <a:p>
            <a:pPr algn="l"/>
            <a:r>
              <a:rPr sz="1900" b="0">
                <a:solidFill>
                  <a:srgbClr val="1A1A2E"/>
                </a:solidFill>
                <a:latin typeface="Calibri"/>
              </a:rPr>
              <a:t/>
            </a:r>
          </a:p>
          <a:p>
            <a:pPr/>
            <a:r>
              <a:rPr sz="1900" b="0">
                <a:solidFill>
                  <a:srgbClr val="1A1A2E"/>
                </a:solidFill>
                <a:latin typeface="Calibri"/>
              </a:rPr>
              <a:t>Part 1: Embedded Application Architecture (60 min)</a:t>
            </a:r>
          </a:p>
          <a:p>
            <a:pPr lvl="1"/>
            <a:r>
              <a:rPr sz="1900" b="0">
                <a:solidFill>
                  <a:srgbClr val="1A1A2E"/>
                </a:solidFill>
                <a:latin typeface="Calibri"/>
              </a:rPr>
              <a:t>  - How embedded apps differ from desktop/server</a:t>
            </a:r>
          </a:p>
          <a:p>
            <a:pPr lvl="1"/>
            <a:r>
              <a:rPr sz="1900" b="0">
                <a:solidFill>
                  <a:srgbClr val="1A1A2E"/>
                </a:solidFill>
                <a:latin typeface="Calibri"/>
              </a:rPr>
              <a:t>  - Hardware-software interface patterns</a:t>
            </a:r>
          </a:p>
          <a:p>
            <a:pPr lvl="1"/>
            <a:r>
              <a:rPr sz="1900" b="0">
                <a:solidFill>
                  <a:srgbClr val="1A1A2E"/>
                </a:solidFill>
                <a:latin typeface="Calibri"/>
              </a:rPr>
              <a:t>  - Hands-on: I2C sensor detection on RPi4</a:t>
            </a:r>
          </a:p>
          <a:p>
            <a:pPr/>
            <a:r>
              <a:rPr sz="1900" b="0">
                <a:solidFill>
                  <a:srgbClr val="1A1A2E"/>
                </a:solidFill>
                <a:latin typeface="Calibri"/>
              </a:rPr>
              <a:t/>
            </a:r>
          </a:p>
          <a:p>
            <a:pPr/>
            <a:r>
              <a:rPr sz="1900" b="0">
                <a:solidFill>
                  <a:srgbClr val="1A1A2E"/>
                </a:solidFill>
                <a:latin typeface="Calibri"/>
              </a:rPr>
              <a:t>Part 2: Building the Sensor Service (60 min)</a:t>
            </a:r>
          </a:p>
          <a:p>
            <a:pPr lvl="1"/>
            <a:r>
              <a:rPr sz="1900" b="0">
                <a:solidFill>
                  <a:srgbClr val="1A1A2E"/>
                </a:solidFill>
                <a:latin typeface="Calibri"/>
              </a:rPr>
              <a:t>  - C sensor interface + Python API service</a:t>
            </a:r>
          </a:p>
          <a:p>
            <a:pPr lvl="1"/>
            <a:r>
              <a:rPr sz="1900" b="0">
                <a:solidFill>
                  <a:srgbClr val="1A1A2E"/>
                </a:solidFill>
                <a:latin typeface="Calibri"/>
              </a:rPr>
              <a:t>  - Cross-compilation and deployment</a:t>
            </a:r>
          </a:p>
          <a:p>
            <a:pPr lvl="1"/>
            <a:r>
              <a:rPr sz="1900" b="0">
                <a:solidFill>
                  <a:srgbClr val="1A1A2E"/>
                </a:solidFill>
                <a:latin typeface="Calibri"/>
              </a:rPr>
              <a:t>  - Systemd integration for boot-time startup</a:t>
            </a:r>
          </a:p>
          <a:p>
            <a:pPr/>
            <a:r>
              <a:rPr sz="1900" b="0">
                <a:solidFill>
                  <a:srgbClr val="1A1A2E"/>
                </a:solidFill>
                <a:latin typeface="Calibri"/>
              </a:rPr>
              <a:t/>
            </a:r>
          </a:p>
          <a:p>
            <a:pPr/>
            <a:r>
              <a:rPr sz="1900" b="0">
                <a:solidFill>
                  <a:srgbClr val="1A1A2E"/>
                </a:solidFill>
                <a:latin typeface="Calibri"/>
              </a:rPr>
              <a:t>Part 3: Cloud AI Integration (60 min)</a:t>
            </a:r>
          </a:p>
          <a:p>
            <a:pPr lvl="1"/>
            <a:r>
              <a:rPr sz="1900" b="0">
                <a:solidFill>
                  <a:srgbClr val="1A1A2E"/>
                </a:solidFill>
                <a:latin typeface="Calibri"/>
              </a:rPr>
              <a:t>  - REST API to cloud AI (AWS / Google / Azure)</a:t>
            </a:r>
          </a:p>
          <a:p>
            <a:pPr lvl="1"/>
            <a:r>
              <a:rPr sz="1900" b="0">
                <a:solidFill>
                  <a:srgbClr val="1A1A2E"/>
                </a:solidFill>
                <a:latin typeface="Calibri"/>
              </a:rPr>
              <a:t>  - Anomaly detection pipeline</a:t>
            </a:r>
          </a:p>
          <a:p>
            <a:pPr lvl="1"/>
            <a:r>
              <a:rPr sz="1900" b="0">
                <a:solidFill>
                  <a:srgbClr val="1A1A2E"/>
                </a:solidFill>
                <a:latin typeface="Calibri"/>
              </a:rPr>
              <a:t>  - Capstone assignment briefing</a:t>
            </a:r>
          </a:p>
        </p:txBody>
      </p:sp>
      <p:sp>
        <p:nvSpPr>
          <p:cNvPr id="7" name="TextBox 6"/>
          <p:cNvSpPr txBox="1"/>
          <p:nvPr/>
        </p:nvSpPr>
        <p:spPr>
          <a:xfrm>
            <a:off x="457200" y="6400800"/>
            <a:ext cx="2742840" cy="273960"/>
          </a:xfrm>
          <a:prstGeom prst="rect">
            <a:avLst/>
          </a:prstGeom>
          <a:noFill/>
        </p:spPr>
        <p:txBody>
          <a:bodyPr wrap="square"/>
          <a:lstStyle/>
          <a:p>
            <a:pPr algn="l"/>
            <a:r>
              <a:rPr sz="630" b="0">
                <a:solidFill>
                  <a:srgbClr val="808080"/>
                </a:solidFill>
                <a:latin typeface="Calibri"/>
              </a:rPr>
              <a:t>Build Path: AP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Picture Placeholder 2"/>
          <p:cNvSpPr>
            <a:spLocks noGrp="1"/>
          </p:cNvSpPr>
          <p:nvPr>
            <p:ph type="pic" idx="1"/>
          </p:nvPr>
        </p:nvSpPr>
        <p:spPr/>
      </p:sp>
      <p:sp>
        <p:nvSpPr>
          <p:cNvPr id="4" name="Text Placeholder 3"/>
          <p:cNvSpPr>
            <a:spLocks noGrp="1"/>
          </p:cNvSpPr>
          <p:nvPr>
            <p:ph type="body" idx="2" sz="half"/>
          </p:nvPr>
        </p:nvSpPr>
        <p:spPr/>
        <p:txBody>
          <a:bodyPr/>
          <a:lstStyle/>
          <a:p/>
        </p:txBody>
      </p:sp>
      <p:sp>
        <p:nvSpPr>
          <p:cNvPr id="5" name="TextBox 4"/>
          <p:cNvSpPr txBox="1"/>
          <p:nvPr/>
        </p:nvSpPr>
        <p:spPr>
          <a:xfrm>
            <a:off x="457200" y="274320"/>
            <a:ext cx="8229240" cy="731160"/>
          </a:xfrm>
          <a:prstGeom prst="rect">
            <a:avLst/>
          </a:prstGeom>
          <a:noFill/>
        </p:spPr>
        <p:txBody>
          <a:bodyPr wrap="square"/>
          <a:lstStyle/>
          <a:p>
            <a:pPr algn="l"/>
            <a:r>
              <a:rPr sz="2960" b="1">
                <a:solidFill>
                  <a:srgbClr val="1A1A2E"/>
                </a:solidFill>
                <a:latin typeface="Calibri"/>
              </a:rPr>
              <a:t>What Makes Embedded Applications Different</a:t>
            </a:r>
          </a:p>
        </p:txBody>
      </p:sp>
      <p:sp>
        <p:nvSpPr>
          <p:cNvPr id="6" name="TextBox 5"/>
          <p:cNvSpPr txBox="1"/>
          <p:nvPr/>
        </p:nvSpPr>
        <p:spPr>
          <a:xfrm>
            <a:off x="457200" y="1097280"/>
            <a:ext cx="8229240" cy="5028840"/>
          </a:xfrm>
          <a:prstGeom prst="rect">
            <a:avLst/>
          </a:prstGeom>
          <a:noFill/>
        </p:spPr>
        <p:txBody>
          <a:bodyPr wrap="square"/>
          <a:lstStyle/>
          <a:p>
            <a:pPr algn="l"/>
            <a:r>
              <a:rPr sz="1900" b="0">
                <a:solidFill>
                  <a:srgbClr val="1A1A2E"/>
                </a:solidFill>
                <a:latin typeface="Calibri"/>
              </a:rPr>
              <a:t/>
            </a:r>
          </a:p>
          <a:p>
            <a:pPr/>
            <a:r>
              <a:rPr sz="1900" b="0">
                <a:solidFill>
                  <a:srgbClr val="1A1A2E"/>
                </a:solidFill>
                <a:latin typeface="Calibri"/>
              </a:rPr>
              <a:t>Resource constraints: limited RAM, CPU, storage</a:t>
            </a:r>
          </a:p>
          <a:p>
            <a:pPr lvl="1"/>
            <a:r>
              <a:rPr sz="1900" b="0">
                <a:solidFill>
                  <a:srgbClr val="1A1A2E"/>
                </a:solidFill>
                <a:latin typeface="Calibri"/>
              </a:rPr>
              <a:t>  - No swap, no OOM killer safety net</a:t>
            </a:r>
          </a:p>
          <a:p>
            <a:pPr lvl="1"/>
            <a:r>
              <a:rPr sz="1900" b="0">
                <a:solidFill>
                  <a:srgbClr val="1A1A2E"/>
                </a:solidFill>
                <a:latin typeface="Calibri"/>
              </a:rPr>
              <a:t>  - Flash wear matters (not just capacity)</a:t>
            </a:r>
          </a:p>
          <a:p>
            <a:pPr/>
            <a:r>
              <a:rPr sz="1900" b="0">
                <a:solidFill>
                  <a:srgbClr val="1A1A2E"/>
                </a:solidFill>
                <a:latin typeface="Calibri"/>
              </a:rPr>
              <a:t/>
            </a:r>
          </a:p>
          <a:p>
            <a:pPr/>
            <a:r>
              <a:rPr sz="1900" b="0">
                <a:solidFill>
                  <a:srgbClr val="1A1A2E"/>
                </a:solidFill>
                <a:latin typeface="Calibri"/>
              </a:rPr>
              <a:t>Hardware interaction: direct sensor/actuator access</a:t>
            </a:r>
          </a:p>
          <a:p>
            <a:pPr lvl="1"/>
            <a:r>
              <a:rPr sz="1900" b="0">
                <a:solidFill>
                  <a:srgbClr val="1A1A2E"/>
                </a:solidFill>
                <a:latin typeface="Calibri"/>
              </a:rPr>
              <a:t>  - No HAL abstraction -- you talk to the kernel</a:t>
            </a:r>
          </a:p>
          <a:p>
            <a:pPr lvl="1"/>
            <a:r>
              <a:rPr sz="1900" b="0">
                <a:solidFill>
                  <a:srgbClr val="1A1A2E"/>
                </a:solidFill>
                <a:latin typeface="Calibri"/>
              </a:rPr>
              <a:t>  - sysfs, devfs, memory-mapped I/O</a:t>
            </a:r>
          </a:p>
          <a:p>
            <a:pPr/>
            <a:r>
              <a:rPr sz="1900" b="0">
                <a:solidFill>
                  <a:srgbClr val="1A1A2E"/>
                </a:solidFill>
                <a:latin typeface="Calibri"/>
              </a:rPr>
              <a:t/>
            </a:r>
          </a:p>
          <a:p>
            <a:pPr/>
            <a:r>
              <a:rPr sz="1900" b="0">
                <a:solidFill>
                  <a:srgbClr val="1A1A2E"/>
                </a:solidFill>
                <a:latin typeface="Calibri"/>
              </a:rPr>
              <a:t>Reliability requirements: must run unattended</a:t>
            </a:r>
          </a:p>
          <a:p>
            <a:pPr lvl="1"/>
            <a:r>
              <a:rPr sz="1900" b="0">
                <a:solidFill>
                  <a:srgbClr val="1A1A2E"/>
                </a:solidFill>
                <a:latin typeface="Calibri"/>
              </a:rPr>
              <a:t>  - No user to restart a crashed service</a:t>
            </a:r>
          </a:p>
          <a:p>
            <a:pPr lvl="1"/>
            <a:r>
              <a:rPr sz="1900" b="0">
                <a:solidFill>
                  <a:srgbClr val="1A1A2E"/>
                </a:solidFill>
                <a:latin typeface="Calibri"/>
              </a:rPr>
              <a:t>  - Watchdogs, systemd restart policies</a:t>
            </a:r>
          </a:p>
          <a:p>
            <a:pPr/>
            <a:r>
              <a:rPr sz="1900" b="0">
                <a:solidFill>
                  <a:srgbClr val="1A1A2E"/>
                </a:solidFill>
                <a:latin typeface="Calibri"/>
              </a:rPr>
              <a:t/>
            </a:r>
          </a:p>
          <a:p>
            <a:pPr/>
            <a:r>
              <a:rPr sz="1900" b="0">
                <a:solidFill>
                  <a:srgbClr val="1A1A2E"/>
                </a:solidFill>
                <a:latin typeface="Calibri"/>
              </a:rPr>
              <a:t>No graceful degradation: failure is visible</a:t>
            </a:r>
          </a:p>
          <a:p>
            <a:pPr lvl="1"/>
            <a:r>
              <a:rPr sz="1900" b="0">
                <a:solidFill>
                  <a:srgbClr val="1A1A2E"/>
                </a:solidFill>
                <a:latin typeface="Calibri"/>
              </a:rPr>
              <a:t>  - A crashed sensor app means blind system</a:t>
            </a:r>
          </a:p>
          <a:p>
            <a:pPr lvl="1"/>
            <a:r>
              <a:rPr sz="1900" b="0">
                <a:solidFill>
                  <a:srgbClr val="1A1A2E"/>
                </a:solidFill>
                <a:latin typeface="Calibri"/>
              </a:rPr>
              <a:t>  - Must handle sensor disconnection gracefully</a:t>
            </a:r>
          </a:p>
        </p:txBody>
      </p:sp>
      <p:sp>
        <p:nvSpPr>
          <p:cNvPr id="7" name="TextBox 6"/>
          <p:cNvSpPr txBox="1"/>
          <p:nvPr/>
        </p:nvSpPr>
        <p:spPr>
          <a:xfrm>
            <a:off x="457200" y="6400800"/>
            <a:ext cx="2742840" cy="273960"/>
          </a:xfrm>
          <a:prstGeom prst="rect">
            <a:avLst/>
          </a:prstGeom>
          <a:noFill/>
        </p:spPr>
        <p:txBody>
          <a:bodyPr wrap="square"/>
          <a:lstStyle/>
          <a:p>
            <a:pPr algn="l"/>
            <a:r>
              <a:rPr sz="630" b="0">
                <a:solidFill>
                  <a:srgbClr val="808080"/>
                </a:solidFill>
                <a:latin typeface="Calibri"/>
              </a:rPr>
              <a:t>Build Path: AP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Picture Placeholder 2"/>
          <p:cNvSpPr>
            <a:spLocks noGrp="1"/>
          </p:cNvSpPr>
          <p:nvPr>
            <p:ph type="pic" idx="1"/>
          </p:nvPr>
        </p:nvSpPr>
        <p:spPr/>
      </p:sp>
      <p:sp>
        <p:nvSpPr>
          <p:cNvPr id="4" name="Text Placeholder 3"/>
          <p:cNvSpPr>
            <a:spLocks noGrp="1"/>
          </p:cNvSpPr>
          <p:nvPr>
            <p:ph type="body" idx="2" sz="half"/>
          </p:nvPr>
        </p:nvSpPr>
        <p:spPr/>
        <p:txBody>
          <a:bodyPr/>
          <a:lstStyle/>
          <a:p/>
        </p:txBody>
      </p:sp>
      <p:sp>
        <p:nvSpPr>
          <p:cNvPr id="5" name="TextBox 4"/>
          <p:cNvSpPr txBox="1"/>
          <p:nvPr/>
        </p:nvSpPr>
        <p:spPr>
          <a:xfrm>
            <a:off x="457200" y="274320"/>
            <a:ext cx="8229240" cy="731160"/>
          </a:xfrm>
          <a:prstGeom prst="rect">
            <a:avLst/>
          </a:prstGeom>
          <a:noFill/>
        </p:spPr>
        <p:txBody>
          <a:bodyPr wrap="square"/>
          <a:lstStyle/>
          <a:p>
            <a:pPr algn="l"/>
            <a:r>
              <a:rPr sz="2960" b="1">
                <a:solidFill>
                  <a:srgbClr val="1A1A2E"/>
                </a:solidFill>
                <a:latin typeface="Calibri"/>
              </a:rPr>
              <a:t>Application Architecture Patterns</a:t>
            </a:r>
          </a:p>
        </p:txBody>
      </p:sp>
      <p:sp>
        <p:nvSpPr>
          <p:cNvPr id="6" name="TextBox 5"/>
          <p:cNvSpPr txBox="1"/>
          <p:nvPr/>
        </p:nvSpPr>
        <p:spPr>
          <a:xfrm>
            <a:off x="457200" y="1097280"/>
            <a:ext cx="8229240" cy="5028840"/>
          </a:xfrm>
          <a:prstGeom prst="rect">
            <a:avLst/>
          </a:prstGeom>
          <a:noFill/>
        </p:spPr>
        <p:txBody>
          <a:bodyPr wrap="square"/>
          <a:lstStyle/>
          <a:p>
            <a:pPr algn="l"/>
            <a:r>
              <a:rPr sz="1900" b="0">
                <a:solidFill>
                  <a:srgbClr val="1A1A2E"/>
                </a:solidFill>
                <a:latin typeface="Calibri"/>
              </a:rPr>
              <a:t/>
            </a:r>
          </a:p>
          <a:p>
            <a:pPr/>
            <a:r>
              <a:rPr sz="1900" b="0">
                <a:solidFill>
                  <a:srgbClr val="1A1A2E"/>
                </a:solidFill>
                <a:latin typeface="Calibri"/>
              </a:rPr>
              <a:t>Event-driven (interrupt-based)</a:t>
            </a:r>
          </a:p>
          <a:p>
            <a:pPr lvl="1"/>
            <a:r>
              <a:rPr sz="1900" b="0">
                <a:solidFill>
                  <a:srgbClr val="1A1A2E"/>
                </a:solidFill>
                <a:latin typeface="Calibri"/>
              </a:rPr>
              <a:t>  - Signal handler on GPIO edge detection</a:t>
            </a:r>
          </a:p>
          <a:p>
            <a:pPr lvl="1"/>
            <a:r>
              <a:rPr sz="1900" b="0">
                <a:solidFill>
                  <a:srgbClr val="1A1A2E"/>
                </a:solidFill>
                <a:latin typeface="Calibri"/>
              </a:rPr>
              <a:t>  - epoll on device file descriptors</a:t>
            </a:r>
          </a:p>
          <a:p>
            <a:pPr lvl="1"/>
            <a:r>
              <a:rPr sz="1900" b="0">
                <a:solidFill>
                  <a:srgbClr val="1A1A2E"/>
                </a:solidFill>
                <a:latin typeface="Calibri"/>
              </a:rPr>
              <a:t>  - Best for low-power, responsive systems</a:t>
            </a:r>
          </a:p>
          <a:p>
            <a:pPr/>
            <a:r>
              <a:rPr sz="1900" b="0">
                <a:solidFill>
                  <a:srgbClr val="1A1A2E"/>
                </a:solidFill>
                <a:latin typeface="Calibri"/>
              </a:rPr>
              <a:t/>
            </a:r>
          </a:p>
          <a:p>
            <a:pPr/>
            <a:r>
              <a:rPr sz="1900" b="0">
                <a:solidFill>
                  <a:srgbClr val="1A1A2E"/>
                </a:solidFill>
                <a:latin typeface="Calibri"/>
              </a:rPr>
              <a:t>Polling (periodic read)</a:t>
            </a:r>
          </a:p>
          <a:p>
            <a:pPr lvl="1"/>
            <a:r>
              <a:rPr sz="1900" b="0">
                <a:solidFill>
                  <a:srgbClr val="1A1A2E"/>
                </a:solidFill>
                <a:latin typeface="Calibri"/>
              </a:rPr>
              <a:t>  - Simple loop: read sensor, process, sleep</a:t>
            </a:r>
          </a:p>
          <a:p>
            <a:pPr lvl="1"/>
            <a:r>
              <a:rPr sz="1900" b="0">
                <a:solidFill>
                  <a:srgbClr val="1A1A2E"/>
                </a:solidFill>
                <a:latin typeface="Calibri"/>
              </a:rPr>
              <a:t>  - Predictable timing, easy to debug</a:t>
            </a:r>
          </a:p>
          <a:p>
            <a:pPr lvl="1"/>
            <a:r>
              <a:rPr sz="1900" b="0">
                <a:solidFill>
                  <a:srgbClr val="1A1A2E"/>
                </a:solidFill>
                <a:latin typeface="Calibri"/>
              </a:rPr>
              <a:t>  - Best for regular-interval data collection</a:t>
            </a:r>
          </a:p>
          <a:p>
            <a:pPr/>
            <a:r>
              <a:rPr sz="1900" b="0">
                <a:solidFill>
                  <a:srgbClr val="1A1A2E"/>
                </a:solidFill>
                <a:latin typeface="Calibri"/>
              </a:rPr>
              <a:t/>
            </a:r>
          </a:p>
          <a:p>
            <a:pPr/>
            <a:r>
              <a:rPr sz="1900" b="0">
                <a:solidFill>
                  <a:srgbClr val="1A1A2E"/>
                </a:solidFill>
                <a:latin typeface="Calibri"/>
              </a:rPr>
              <a:t>Data pipeline pattern</a:t>
            </a:r>
          </a:p>
          <a:p>
            <a:pPr lvl="1"/>
            <a:r>
              <a:rPr sz="1900" b="0">
                <a:solidFill>
                  <a:srgbClr val="1A1A2E"/>
                </a:solidFill>
                <a:latin typeface="Calibri"/>
              </a:rPr>
              <a:t>  - Sensor reader -&gt; Filter -&gt; Aggregator -&gt; Output</a:t>
            </a:r>
          </a:p>
          <a:p>
            <a:pPr lvl="1"/>
            <a:r>
              <a:rPr sz="1900" b="0">
                <a:solidFill>
                  <a:srgbClr val="1A1A2E"/>
                </a:solidFill>
                <a:latin typeface="Calibri"/>
              </a:rPr>
              <a:t>  - Each stage is a separate process or thread</a:t>
            </a:r>
          </a:p>
          <a:p>
            <a:pPr lvl="1"/>
            <a:r>
              <a:rPr sz="1900" b="0">
                <a:solidFill>
                  <a:srgbClr val="1A1A2E"/>
                </a:solidFill>
                <a:latin typeface="Calibri"/>
              </a:rPr>
              <a:t>  - Communicate via pipes, sockets, or shared memory</a:t>
            </a:r>
          </a:p>
          <a:p>
            <a:pPr/>
            <a:r>
              <a:rPr sz="1900" b="0">
                <a:solidFill>
                  <a:srgbClr val="1A1A2E"/>
                </a:solidFill>
                <a:latin typeface="Calibri"/>
              </a:rPr>
              <a:t/>
            </a:r>
          </a:p>
          <a:p>
            <a:pPr/>
            <a:r>
              <a:rPr sz="1900" b="0">
                <a:solidFill>
                  <a:srgbClr val="1A1A2E"/>
                </a:solidFill>
                <a:latin typeface="Calibri"/>
              </a:rPr>
              <a:t>Our project: polling + pipeline hybrid</a:t>
            </a:r>
          </a:p>
          <a:p>
            <a:pPr lvl="1"/>
            <a:r>
              <a:rPr sz="1900" b="0">
                <a:solidFill>
                  <a:srgbClr val="1A1A2E"/>
                </a:solidFill>
                <a:latin typeface="Calibri"/>
              </a:rPr>
              <a:t>  - C program polls BME280 at 1 Hz</a:t>
            </a:r>
          </a:p>
          <a:p>
            <a:pPr lvl="1"/>
            <a:r>
              <a:rPr sz="1900" b="0">
                <a:solidFill>
                  <a:srgbClr val="1A1A2E"/>
                </a:solidFill>
                <a:latin typeface="Calibri"/>
              </a:rPr>
              <a:t>  - Python service reads from C via pipe</a:t>
            </a:r>
          </a:p>
          <a:p>
            <a:pPr lvl="1"/>
            <a:r>
              <a:rPr sz="1900" b="0">
                <a:solidFill>
                  <a:srgbClr val="1A1A2E"/>
                </a:solidFill>
                <a:latin typeface="Calibri"/>
              </a:rPr>
              <a:t>  - Flask API serves aggregated data</a:t>
            </a:r>
          </a:p>
        </p:txBody>
      </p:sp>
      <p:sp>
        <p:nvSpPr>
          <p:cNvPr id="7" name="TextBox 6"/>
          <p:cNvSpPr txBox="1"/>
          <p:nvPr/>
        </p:nvSpPr>
        <p:spPr>
          <a:xfrm>
            <a:off x="457200" y="6400800"/>
            <a:ext cx="2742840" cy="273960"/>
          </a:xfrm>
          <a:prstGeom prst="rect">
            <a:avLst/>
          </a:prstGeom>
          <a:noFill/>
        </p:spPr>
        <p:txBody>
          <a:bodyPr wrap="square"/>
          <a:lstStyle/>
          <a:p>
            <a:pPr algn="l"/>
            <a:r>
              <a:rPr sz="630" b="0">
                <a:solidFill>
                  <a:srgbClr val="808080"/>
                </a:solidFill>
                <a:latin typeface="Calibri"/>
              </a:rPr>
              <a:t>Build Path: AP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Picture Placeholder 2"/>
          <p:cNvSpPr>
            <a:spLocks noGrp="1"/>
          </p:cNvSpPr>
          <p:nvPr>
            <p:ph type="pic" idx="1"/>
          </p:nvPr>
        </p:nvSpPr>
        <p:spPr/>
      </p:sp>
      <p:sp>
        <p:nvSpPr>
          <p:cNvPr id="4" name="Text Placeholder 3"/>
          <p:cNvSpPr>
            <a:spLocks noGrp="1"/>
          </p:cNvSpPr>
          <p:nvPr>
            <p:ph type="body" idx="2" sz="half"/>
          </p:nvPr>
        </p:nvSpPr>
        <p:spPr/>
        <p:txBody>
          <a:bodyPr/>
          <a:lstStyle/>
          <a:p/>
        </p:txBody>
      </p:sp>
      <p:sp>
        <p:nvSpPr>
          <p:cNvPr id="5" name="TextBox 4"/>
          <p:cNvSpPr txBox="1"/>
          <p:nvPr/>
        </p:nvSpPr>
        <p:spPr>
          <a:xfrm>
            <a:off x="457200" y="274320"/>
            <a:ext cx="8229240" cy="731160"/>
          </a:xfrm>
          <a:prstGeom prst="rect">
            <a:avLst/>
          </a:prstGeom>
          <a:noFill/>
        </p:spPr>
        <p:txBody>
          <a:bodyPr wrap="square"/>
          <a:lstStyle/>
          <a:p>
            <a:pPr algn="l"/>
            <a:r>
              <a:rPr sz="2960" b="1">
                <a:solidFill>
                  <a:srgbClr val="1A1A2E"/>
                </a:solidFill>
                <a:latin typeface="Calibri"/>
              </a:rPr>
              <a:t>Hardware-Software Interface</a:t>
            </a:r>
          </a:p>
        </p:txBody>
      </p:sp>
      <p:sp>
        <p:nvSpPr>
          <p:cNvPr id="6" name="TextBox 5"/>
          <p:cNvSpPr txBox="1"/>
          <p:nvPr/>
        </p:nvSpPr>
        <p:spPr>
          <a:xfrm>
            <a:off x="457200" y="1097280"/>
            <a:ext cx="8229240" cy="5028840"/>
          </a:xfrm>
          <a:prstGeom prst="rect">
            <a:avLst/>
          </a:prstGeom>
          <a:noFill/>
        </p:spPr>
        <p:txBody>
          <a:bodyPr wrap="square"/>
          <a:lstStyle/>
          <a:p>
            <a:pPr algn="l"/>
            <a:r>
              <a:rPr sz="1900" b="0">
                <a:solidFill>
                  <a:srgbClr val="1A1A2E"/>
                </a:solidFill>
                <a:latin typeface="Calibri"/>
              </a:rPr>
              <a:t/>
            </a:r>
          </a:p>
          <a:p>
            <a:pPr/>
            <a:r>
              <a:rPr sz="1900" b="0">
                <a:solidFill>
                  <a:srgbClr val="1A1A2E"/>
                </a:solidFill>
                <a:latin typeface="Calibri"/>
              </a:rPr>
              <a:t>The kernel is the gatekeeper</a:t>
            </a:r>
          </a:p>
          <a:p>
            <a:pPr lvl="1"/>
            <a:r>
              <a:rPr sz="1900" b="0">
                <a:solidFill>
                  <a:srgbClr val="1A1A2E"/>
                </a:solidFill>
                <a:latin typeface="Calibri"/>
              </a:rPr>
              <a:t>  - Userspace cannot directly access hardware registers</a:t>
            </a:r>
          </a:p>
          <a:p>
            <a:pPr lvl="1"/>
            <a:r>
              <a:rPr sz="1900" b="0">
                <a:solidFill>
                  <a:srgbClr val="1A1A2E"/>
                </a:solidFill>
                <a:latin typeface="Calibri"/>
              </a:rPr>
              <a:t>  - All access goes through kernel drivers</a:t>
            </a:r>
          </a:p>
          <a:p>
            <a:pPr lvl="1"/>
            <a:r>
              <a:rPr sz="1900" b="0">
                <a:solidFill>
                  <a:srgbClr val="1A1A2E"/>
                </a:solidFill>
                <a:latin typeface="Calibri"/>
              </a:rPr>
              <a:t>  - sysfs, devfs, netlink, ioctl</a:t>
            </a:r>
          </a:p>
          <a:p>
            <a:pPr/>
            <a:r>
              <a:rPr sz="1900" b="0">
                <a:solidFill>
                  <a:srgbClr val="1A1A2E"/>
                </a:solidFill>
                <a:latin typeface="Calibri"/>
              </a:rPr>
              <a:t/>
            </a:r>
          </a:p>
          <a:p>
            <a:pPr/>
            <a:r>
              <a:rPr sz="1900" b="0">
                <a:solidFill>
                  <a:srgbClr val="1A1A2E"/>
                </a:solidFill>
                <a:latin typeface="Calibri"/>
              </a:rPr>
              <a:t>I2C from userspace: /dev/i2c-N</a:t>
            </a:r>
          </a:p>
          <a:p>
            <a:pPr lvl="1"/>
            <a:r>
              <a:rPr sz="1900" b="0">
                <a:solidFill>
                  <a:srgbClr val="1A1A2E"/>
                </a:solidFill>
                <a:latin typeface="Calibri"/>
              </a:rPr>
              <a:t>  - Open device file, use ioctl for read/write</a:t>
            </a:r>
          </a:p>
          <a:p>
            <a:pPr lvl="1"/>
            <a:r>
              <a:rPr sz="1900" b="0">
                <a:solidFill>
                  <a:srgbClr val="1A1A2E"/>
                </a:solidFill>
                <a:latin typeface="Calibri"/>
              </a:rPr>
              <a:t>  - Linux I2C dev interface (i2c-dev kernel module)</a:t>
            </a:r>
          </a:p>
          <a:p>
            <a:pPr lvl="1"/>
            <a:r>
              <a:rPr sz="1900" b="0">
                <a:solidFill>
                  <a:srgbClr val="1A1A2E"/>
                </a:solidFill>
                <a:latin typeface="Calibri"/>
              </a:rPr>
              <a:t>  - Works with any I2C sensor without a kernel driver</a:t>
            </a:r>
          </a:p>
          <a:p>
            <a:pPr/>
            <a:r>
              <a:rPr sz="1900" b="0">
                <a:solidFill>
                  <a:srgbClr val="1A1A2E"/>
                </a:solidFill>
                <a:latin typeface="Calibri"/>
              </a:rPr>
              <a:t/>
            </a:r>
          </a:p>
          <a:p>
            <a:pPr/>
            <a:r>
              <a:rPr sz="1900" b="0">
                <a:solidFill>
                  <a:srgbClr val="1A1A2E"/>
                </a:solidFill>
                <a:latin typeface="Calibri"/>
              </a:rPr>
              <a:t>Device tree tells the kernel what is connected</a:t>
            </a:r>
          </a:p>
          <a:p>
            <a:pPr lvl="1"/>
            <a:r>
              <a:rPr sz="1900" b="0">
                <a:solidFill>
                  <a:srgbClr val="1A1A2E"/>
                </a:solidFill>
                <a:latin typeface="Calibri"/>
              </a:rPr>
              <a:t>  - i2c1 node -&gt; BME280 at address 0x76</a:t>
            </a:r>
          </a:p>
          <a:p>
            <a:pPr lvl="1"/>
            <a:r>
              <a:rPr sz="1900" b="0">
                <a:solidFill>
                  <a:srgbClr val="1A1A2E"/>
                </a:solidFill>
                <a:latin typeface="Calibri"/>
              </a:rPr>
              <a:t>  - Kernel driver matches compatible string</a:t>
            </a:r>
          </a:p>
          <a:p>
            <a:pPr lvl="1"/>
            <a:r>
              <a:rPr sz="1900" b="0">
                <a:solidFill>
                  <a:srgbClr val="1A1A2E"/>
                </a:solidFill>
                <a:latin typeface="Calibri"/>
              </a:rPr>
              <a:t>  - Or: bit-bang GPIO I2C for custom boards</a:t>
            </a:r>
          </a:p>
          <a:p>
            <a:pPr/>
            <a:r>
              <a:rPr sz="1900" b="0">
                <a:solidFill>
                  <a:srgbClr val="1A1A2E"/>
                </a:solidFill>
                <a:latin typeface="Calibri"/>
              </a:rPr>
              <a:t/>
            </a:r>
          </a:p>
          <a:p>
            <a:pPr/>
            <a:r>
              <a:rPr sz="1900" b="0">
                <a:solidFill>
                  <a:srgbClr val="1A1A2E"/>
                </a:solidFill>
                <a:latin typeface="Calibri"/>
              </a:rPr>
              <a:t>When to write a kernel module vs userspace</a:t>
            </a:r>
          </a:p>
          <a:p>
            <a:pPr lvl="1"/>
            <a:r>
              <a:rPr sz="1900" b="0">
                <a:solidFill>
                  <a:srgbClr val="1A1A2E"/>
                </a:solidFill>
                <a:latin typeface="Calibri"/>
              </a:rPr>
              <a:t>  - Userspace: prototyping, low-frequency, non-critical</a:t>
            </a:r>
          </a:p>
          <a:p>
            <a:pPr lvl="1"/>
            <a:r>
              <a:rPr sz="1900" b="0">
                <a:solidFill>
                  <a:srgbClr val="1A1A2E"/>
                </a:solidFill>
                <a:latin typeface="Calibri"/>
              </a:rPr>
              <a:t>  - Kernel module: high-frequency, DMA, interrupt handling</a:t>
            </a:r>
          </a:p>
        </p:txBody>
      </p:sp>
      <p:sp>
        <p:nvSpPr>
          <p:cNvPr id="7" name="TextBox 6"/>
          <p:cNvSpPr txBox="1"/>
          <p:nvPr/>
        </p:nvSpPr>
        <p:spPr>
          <a:xfrm>
            <a:off x="457200" y="6400800"/>
            <a:ext cx="2742840" cy="273960"/>
          </a:xfrm>
          <a:prstGeom prst="rect">
            <a:avLst/>
          </a:prstGeom>
          <a:noFill/>
        </p:spPr>
        <p:txBody>
          <a:bodyPr wrap="square"/>
          <a:lstStyle/>
          <a:p>
            <a:pPr algn="l"/>
            <a:r>
              <a:rPr sz="630" b="0">
                <a:solidFill>
                  <a:srgbClr val="808080"/>
                </a:solidFill>
                <a:latin typeface="Calibri"/>
              </a:rPr>
              <a:t>Build Path: AP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Picture Placeholder 2"/>
          <p:cNvSpPr>
            <a:spLocks noGrp="1"/>
          </p:cNvSpPr>
          <p:nvPr>
            <p:ph type="pic" idx="1"/>
          </p:nvPr>
        </p:nvSpPr>
        <p:spPr/>
      </p:sp>
      <p:sp>
        <p:nvSpPr>
          <p:cNvPr id="4" name="Text Placeholder 3"/>
          <p:cNvSpPr>
            <a:spLocks noGrp="1"/>
          </p:cNvSpPr>
          <p:nvPr>
            <p:ph type="body" idx="2" sz="half"/>
          </p:nvPr>
        </p:nvSpPr>
        <p:spPr/>
        <p:txBody>
          <a:bodyPr/>
          <a:lstStyle/>
          <a:p/>
        </p:txBody>
      </p:sp>
      <p:sp>
        <p:nvSpPr>
          <p:cNvPr id="5" name="TextBox 4"/>
          <p:cNvSpPr txBox="1"/>
          <p:nvPr/>
        </p:nvSpPr>
        <p:spPr>
          <a:xfrm>
            <a:off x="457200" y="274320"/>
            <a:ext cx="8229240" cy="731160"/>
          </a:xfrm>
          <a:prstGeom prst="rect">
            <a:avLst/>
          </a:prstGeom>
          <a:noFill/>
        </p:spPr>
        <p:txBody>
          <a:bodyPr wrap="square"/>
          <a:lstStyle/>
          <a:p>
            <a:pPr algn="l"/>
            <a:r>
              <a:rPr sz="2960" b="1">
                <a:solidFill>
                  <a:srgbClr val="1A1A2E"/>
                </a:solidFill>
                <a:latin typeface="Calibri"/>
              </a:rPr>
              <a:t>BME280: Temperature, Humidity, Pressure</a:t>
            </a:r>
          </a:p>
        </p:txBody>
      </p:sp>
      <p:sp>
        <p:nvSpPr>
          <p:cNvPr id="6" name="TextBox 5"/>
          <p:cNvSpPr txBox="1"/>
          <p:nvPr/>
        </p:nvSpPr>
        <p:spPr>
          <a:xfrm>
            <a:off x="457200" y="1097280"/>
            <a:ext cx="8229240" cy="5028840"/>
          </a:xfrm>
          <a:prstGeom prst="rect">
            <a:avLst/>
          </a:prstGeom>
          <a:noFill/>
        </p:spPr>
        <p:txBody>
          <a:bodyPr wrap="square"/>
          <a:lstStyle/>
          <a:p>
            <a:pPr algn="l"/>
            <a:r>
              <a:rPr sz="1900" b="0">
                <a:solidFill>
                  <a:srgbClr val="1A1A2E"/>
                </a:solidFill>
                <a:latin typeface="Calibri"/>
              </a:rPr>
              <a:t/>
            </a:r>
          </a:p>
          <a:p>
            <a:pPr/>
            <a:r>
              <a:rPr sz="1900" b="0">
                <a:solidFill>
                  <a:srgbClr val="1A1A2E"/>
                </a:solidFill>
                <a:latin typeface="Calibri"/>
              </a:rPr>
              <a:t>Bosch BME280: combined environmental sensor</a:t>
            </a:r>
          </a:p>
          <a:p>
            <a:pPr lvl="1"/>
            <a:r>
              <a:rPr sz="1900" b="0">
                <a:solidFill>
                  <a:srgbClr val="1A1A2E"/>
                </a:solidFill>
                <a:latin typeface="Calibri"/>
              </a:rPr>
              <a:t>  - Temperature: -40 to +85 C, +/- 1.0 C accuracy</a:t>
            </a:r>
          </a:p>
          <a:p>
            <a:pPr lvl="1"/>
            <a:r>
              <a:rPr sz="1900" b="0">
                <a:solidFill>
                  <a:srgbClr val="1A1A2E"/>
                </a:solidFill>
                <a:latin typeface="Calibri"/>
              </a:rPr>
              <a:t>  - Humidity: 0-100% RH, +/- 3% accuracy</a:t>
            </a:r>
          </a:p>
          <a:p>
            <a:pPr lvl="1"/>
            <a:r>
              <a:rPr sz="1900" b="0">
                <a:solidFill>
                  <a:srgbClr val="1A1A2E"/>
                </a:solidFill>
                <a:latin typeface="Calibri"/>
              </a:rPr>
              <a:t>  - Pressure: 300-1100 hPa, +/- 1 hPa accuracy</a:t>
            </a:r>
          </a:p>
          <a:p>
            <a:pPr/>
            <a:r>
              <a:rPr sz="1900" b="0">
                <a:solidFill>
                  <a:srgbClr val="1A1A2E"/>
                </a:solidFill>
                <a:latin typeface="Calibri"/>
              </a:rPr>
              <a:t/>
            </a:r>
          </a:p>
          <a:p>
            <a:pPr/>
            <a:r>
              <a:rPr sz="1900" b="0">
                <a:solidFill>
                  <a:srgbClr val="1A1A2E"/>
                </a:solidFill>
                <a:latin typeface="Calibri"/>
              </a:rPr>
              <a:t>I2C interface: address 0x76 or 0x77</a:t>
            </a:r>
          </a:p>
          <a:p>
            <a:pPr lvl="1"/>
            <a:r>
              <a:rPr sz="1900" b="0">
                <a:solidFill>
                  <a:srgbClr val="1A1A2E"/>
                </a:solidFill>
                <a:latin typeface="Calibri"/>
              </a:rPr>
              <a:t>  - Configurable via SDO pin</a:t>
            </a:r>
          </a:p>
          <a:p>
            <a:pPr lvl="1"/>
            <a:r>
              <a:rPr sz="1900" b="0">
                <a:solidFill>
                  <a:srgbClr val="1A1A2E"/>
                </a:solidFill>
                <a:latin typeface="Calibri"/>
              </a:rPr>
              <a:t>  - Up to 3.3V supply (perfect for RPi4 GPIO)</a:t>
            </a:r>
          </a:p>
          <a:p>
            <a:pPr/>
            <a:r>
              <a:rPr sz="1900" b="0">
                <a:solidFill>
                  <a:srgbClr val="1A1A2E"/>
                </a:solidFill>
                <a:latin typeface="Calibri"/>
              </a:rPr>
              <a:t/>
            </a:r>
          </a:p>
          <a:p>
            <a:pPr/>
            <a:r>
              <a:rPr sz="1900" b="0">
                <a:solidFill>
                  <a:srgbClr val="1A1A2E"/>
                </a:solidFill>
                <a:latin typeface="Calibri"/>
              </a:rPr>
              <a:t>Calibration data stored in sensor NVM</a:t>
            </a:r>
          </a:p>
          <a:p>
            <a:pPr lvl="1"/>
            <a:r>
              <a:rPr sz="1900" b="0">
                <a:solidFill>
                  <a:srgbClr val="1A1A2E"/>
                </a:solidFill>
                <a:latin typeface="Calibri"/>
              </a:rPr>
              <a:t>  - Factory-calibrated at manufacturing time</a:t>
            </a:r>
          </a:p>
          <a:p>
            <a:pPr lvl="1"/>
            <a:r>
              <a:rPr sz="1900" b="0">
                <a:solidFill>
                  <a:srgbClr val="1A1A2E"/>
                </a:solidFill>
                <a:latin typeface="Calibri"/>
              </a:rPr>
              <a:t>  - Read once at startup, apply to raw readings</a:t>
            </a:r>
          </a:p>
          <a:p>
            <a:pPr lvl="1"/>
            <a:r>
              <a:rPr sz="1900" b="0">
                <a:solidFill>
                  <a:srgbClr val="1A1A2E"/>
                </a:solidFill>
                <a:latin typeface="Calibri"/>
              </a:rPr>
              <a:t>  - Bosch provides the compensation formulas</a:t>
            </a:r>
          </a:p>
          <a:p>
            <a:pPr/>
            <a:r>
              <a:rPr sz="1900" b="0">
                <a:solidFill>
                  <a:srgbClr val="1A1A2E"/>
                </a:solidFill>
                <a:latin typeface="Calibri"/>
              </a:rPr>
              <a:t/>
            </a:r>
          </a:p>
          <a:p>
            <a:pPr/>
            <a:r>
              <a:rPr sz="1900" b="0">
                <a:solidFill>
                  <a:srgbClr val="1A1A2E"/>
                </a:solidFill>
                <a:latin typeface="Calibri"/>
              </a:rPr>
              <a:t>~$5 on breakout board (Adafruit, SparkFun)</a:t>
            </a:r>
          </a:p>
          <a:p>
            <a:pPr lvl="1"/>
            <a:r>
              <a:rPr sz="1900" b="0">
                <a:solidFill>
                  <a:srgbClr val="1A1A2E"/>
                </a:solidFill>
                <a:latin typeface="Calibri"/>
              </a:rPr>
              <a:t>  - 4-pin: VCC, GND, SDA, SCL</a:t>
            </a:r>
          </a:p>
          <a:p>
            <a:pPr lvl="1"/>
            <a:r>
              <a:rPr sz="1900" b="0">
                <a:solidFill>
                  <a:srgbClr val="1A1A2E"/>
                </a:solidFill>
                <a:latin typeface="Calibri"/>
              </a:rPr>
              <a:t>  - Pull-up resistors usually on board</a:t>
            </a:r>
          </a:p>
        </p:txBody>
      </p:sp>
      <p:sp>
        <p:nvSpPr>
          <p:cNvPr id="7" name="TextBox 6"/>
          <p:cNvSpPr txBox="1"/>
          <p:nvPr/>
        </p:nvSpPr>
        <p:spPr>
          <a:xfrm>
            <a:off x="457200" y="6400800"/>
            <a:ext cx="2742840" cy="273960"/>
          </a:xfrm>
          <a:prstGeom prst="rect">
            <a:avLst/>
          </a:prstGeom>
          <a:noFill/>
        </p:spPr>
        <p:txBody>
          <a:bodyPr wrap="square"/>
          <a:lstStyle/>
          <a:p>
            <a:pPr algn="l"/>
            <a:r>
              <a:rPr sz="630" b="0">
                <a:solidFill>
                  <a:srgbClr val="808080"/>
                </a:solidFill>
                <a:latin typeface="Calibri"/>
              </a:rPr>
              <a:t>Build Path: AP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Picture Placeholder 2"/>
          <p:cNvSpPr>
            <a:spLocks noGrp="1"/>
          </p:cNvSpPr>
          <p:nvPr>
            <p:ph type="pic" idx="1"/>
          </p:nvPr>
        </p:nvSpPr>
        <p:spPr/>
      </p:sp>
      <p:sp>
        <p:nvSpPr>
          <p:cNvPr id="4" name="Text Placeholder 3"/>
          <p:cNvSpPr>
            <a:spLocks noGrp="1"/>
          </p:cNvSpPr>
          <p:nvPr>
            <p:ph type="body" idx="2" sz="half"/>
          </p:nvPr>
        </p:nvSpPr>
        <p:spPr/>
        <p:txBody>
          <a:bodyPr/>
          <a:lstStyle/>
          <a:p/>
        </p:txBody>
      </p:sp>
      <p:sp>
        <p:nvSpPr>
          <p:cNvPr id="5" name="TextBox 4"/>
          <p:cNvSpPr txBox="1"/>
          <p:nvPr/>
        </p:nvSpPr>
        <p:spPr>
          <a:xfrm>
            <a:off x="457200" y="274320"/>
            <a:ext cx="8229240" cy="731160"/>
          </a:xfrm>
          <a:prstGeom prst="rect">
            <a:avLst/>
          </a:prstGeom>
          <a:noFill/>
        </p:spPr>
        <p:txBody>
          <a:bodyPr wrap="square"/>
          <a:lstStyle/>
          <a:p>
            <a:pPr algn="l"/>
            <a:r>
              <a:rPr sz="2960" b="1">
                <a:solidFill>
                  <a:srgbClr val="1A1A2E"/>
                </a:solidFill>
                <a:latin typeface="Calibri"/>
              </a:rPr>
              <a:t>Alternative: Raspberry Pi Sense HAT</a:t>
            </a:r>
          </a:p>
        </p:txBody>
      </p:sp>
      <p:sp>
        <p:nvSpPr>
          <p:cNvPr id="6" name="TextBox 5"/>
          <p:cNvSpPr txBox="1"/>
          <p:nvPr/>
        </p:nvSpPr>
        <p:spPr>
          <a:xfrm>
            <a:off x="457200" y="1097280"/>
            <a:ext cx="8229240" cy="5028840"/>
          </a:xfrm>
          <a:prstGeom prst="rect">
            <a:avLst/>
          </a:prstGeom>
          <a:noFill/>
        </p:spPr>
        <p:txBody>
          <a:bodyPr wrap="square"/>
          <a:lstStyle/>
          <a:p>
            <a:pPr algn="l"/>
            <a:r>
              <a:rPr sz="1900" b="0">
                <a:solidFill>
                  <a:srgbClr val="1A1A2E"/>
                </a:solidFill>
                <a:latin typeface="Calibri"/>
              </a:rPr>
              <a:t/>
            </a:r>
          </a:p>
          <a:p>
            <a:pPr/>
            <a:r>
              <a:rPr sz="1900" b="0">
                <a:solidFill>
                  <a:srgbClr val="1A1A2E"/>
                </a:solidFill>
                <a:latin typeface="Calibri"/>
              </a:rPr>
              <a:t>Sense HAT v1 or v2: add-on board for RPi</a:t>
            </a:r>
          </a:p>
          <a:p>
            <a:pPr lvl="1"/>
            <a:r>
              <a:rPr sz="1900" b="0">
                <a:solidFill>
                  <a:srgbClr val="1A1A2E"/>
                </a:solidFill>
                <a:latin typeface="Calibri"/>
              </a:rPr>
              <a:t>  - HTS221: humidity + temperature (I2C 0x5F)</a:t>
            </a:r>
          </a:p>
          <a:p>
            <a:pPr lvl="1"/>
            <a:r>
              <a:rPr sz="1900" b="0">
                <a:solidFill>
                  <a:srgbClr val="1A1A2E"/>
                </a:solidFill>
                <a:latin typeface="Calibri"/>
              </a:rPr>
              <a:t>  - LPS25H: pressure + temperature (I2C 0x5C)</a:t>
            </a:r>
          </a:p>
          <a:p>
            <a:pPr lvl="1"/>
            <a:r>
              <a:rPr sz="1900" b="0">
                <a:solidFill>
                  <a:srgbClr val="1A1A2E"/>
                </a:solidFill>
                <a:latin typeface="Calibri"/>
              </a:rPr>
              <a:t>  - IMU: LSM9DS1 accelerometer/gyro/magnetometer</a:t>
            </a:r>
          </a:p>
          <a:p>
            <a:pPr lvl="1"/>
            <a:r>
              <a:rPr sz="1900" b="0">
                <a:solidFill>
                  <a:srgbClr val="1A1A2E"/>
                </a:solidFill>
                <a:latin typeface="Calibri"/>
              </a:rPr>
              <a:t>  - 8x8 RGB LED matrix display</a:t>
            </a:r>
          </a:p>
          <a:p>
            <a:pPr lvl="1"/>
            <a:r>
              <a:rPr sz="1900" b="0">
                <a:solidFill>
                  <a:srgbClr val="1A1A2E"/>
                </a:solidFill>
                <a:latin typeface="Calibri"/>
              </a:rPr>
              <a:t>  - Joystick (5-way, GPIO)</a:t>
            </a:r>
          </a:p>
          <a:p>
            <a:pPr/>
            <a:r>
              <a:rPr sz="1900" b="0">
                <a:solidFill>
                  <a:srgbClr val="1A1A2E"/>
                </a:solidFill>
                <a:latin typeface="Calibri"/>
              </a:rPr>
              <a:t/>
            </a:r>
          </a:p>
          <a:p>
            <a:pPr/>
            <a:r>
              <a:rPr sz="1900" b="0">
                <a:solidFill>
                  <a:srgbClr val="1A1A2E"/>
                </a:solidFill>
                <a:latin typeface="Calibri"/>
              </a:rPr>
              <a:t>Plug-and-play on RPi4</a:t>
            </a:r>
          </a:p>
          <a:p>
            <a:pPr lvl="1"/>
            <a:r>
              <a:rPr sz="1900" b="0">
                <a:solidFill>
                  <a:srgbClr val="1A1A2E"/>
                </a:solidFill>
                <a:latin typeface="Calibri"/>
              </a:rPr>
              <a:t>  - Device tree overlay: dtoverlay=pi3-sense-hat</a:t>
            </a:r>
          </a:p>
          <a:p>
            <a:pPr lvl="1"/>
            <a:r>
              <a:rPr sz="1900" b="0">
                <a:solidFill>
                  <a:srgbClr val="1A1A2E"/>
                </a:solidFill>
                <a:latin typeface="Calibri"/>
              </a:rPr>
              <a:t>  - Python library: sense-hat (pip install sense-hat)</a:t>
            </a:r>
          </a:p>
          <a:p>
            <a:pPr lvl="1"/>
            <a:r>
              <a:rPr sz="1900" b="0">
                <a:solidFill>
                  <a:srgbClr val="1A1A2E"/>
                </a:solidFill>
                <a:latin typeface="Calibri"/>
              </a:rPr>
              <a:t>  - C access via /dev/i2c-1 + ioctl</a:t>
            </a:r>
          </a:p>
          <a:p>
            <a:pPr/>
            <a:r>
              <a:rPr sz="1900" b="0">
                <a:solidFill>
                  <a:srgbClr val="1A1A2E"/>
                </a:solidFill>
                <a:latin typeface="Calibri"/>
              </a:rPr>
              <a:t/>
            </a:r>
          </a:p>
          <a:p>
            <a:pPr/>
            <a:r>
              <a:rPr sz="1900" b="0">
                <a:solidFill>
                  <a:srgbClr val="1A1A2E"/>
                </a:solidFill>
                <a:latin typeface="Calibri"/>
              </a:rPr>
              <a:t>Why Sense HAT for this project?</a:t>
            </a:r>
          </a:p>
          <a:p>
            <a:pPr lvl="1"/>
            <a:r>
              <a:rPr sz="1900" b="0">
                <a:solidFill>
                  <a:srgbClr val="1A1A2E"/>
                </a:solidFill>
                <a:latin typeface="Calibri"/>
              </a:rPr>
              <a:t>  - No wiring -- just plug onto GPIO header</a:t>
            </a:r>
          </a:p>
          <a:p>
            <a:pPr lvl="1"/>
            <a:r>
              <a:rPr sz="1900" b="0">
                <a:solidFill>
                  <a:srgbClr val="1A1A2E"/>
                </a:solidFill>
                <a:latin typeface="Calibri"/>
              </a:rPr>
              <a:t>  - LED matrix for local status display (anomaly alert)</a:t>
            </a:r>
          </a:p>
          <a:p>
            <a:pPr lvl="1"/>
            <a:r>
              <a:rPr sz="1900" b="0">
                <a:solidFill>
                  <a:srgbClr val="1A1A2E"/>
                </a:solidFill>
                <a:latin typeface="Calibri"/>
              </a:rPr>
              <a:t>  - Same I2C concepts as BME280</a:t>
            </a:r>
          </a:p>
        </p:txBody>
      </p:sp>
      <p:sp>
        <p:nvSpPr>
          <p:cNvPr id="7" name="TextBox 6"/>
          <p:cNvSpPr txBox="1"/>
          <p:nvPr/>
        </p:nvSpPr>
        <p:spPr>
          <a:xfrm>
            <a:off x="457200" y="6400800"/>
            <a:ext cx="2742840" cy="273960"/>
          </a:xfrm>
          <a:prstGeom prst="rect">
            <a:avLst/>
          </a:prstGeom>
          <a:noFill/>
        </p:spPr>
        <p:txBody>
          <a:bodyPr wrap="square"/>
          <a:lstStyle/>
          <a:p>
            <a:pPr algn="l"/>
            <a:r>
              <a:rPr sz="630" b="0">
                <a:solidFill>
                  <a:srgbClr val="808080"/>
                </a:solidFill>
                <a:latin typeface="Calibri"/>
              </a:rPr>
              <a:t>Build Path: AP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Picture Placeholder 2"/>
          <p:cNvSpPr>
            <a:spLocks noGrp="1"/>
          </p:cNvSpPr>
          <p:nvPr>
            <p:ph type="pic" idx="1"/>
          </p:nvPr>
        </p:nvSpPr>
        <p:spPr/>
      </p:sp>
      <p:sp>
        <p:nvSpPr>
          <p:cNvPr id="4" name="Text Placeholder 3"/>
          <p:cNvSpPr>
            <a:spLocks noGrp="1"/>
          </p:cNvSpPr>
          <p:nvPr>
            <p:ph type="body" idx="2" sz="half"/>
          </p:nvPr>
        </p:nvSpPr>
        <p:spPr/>
        <p:txBody>
          <a:bodyPr/>
          <a:lstStyle/>
          <a:p/>
        </p:txBody>
      </p:sp>
      <p:sp>
        <p:nvSpPr>
          <p:cNvPr id="5" name="TextBox 4"/>
          <p:cNvSpPr txBox="1"/>
          <p:nvPr/>
        </p:nvSpPr>
        <p:spPr>
          <a:xfrm>
            <a:off x="457200" y="274320"/>
            <a:ext cx="8229240" cy="731160"/>
          </a:xfrm>
          <a:prstGeom prst="rect">
            <a:avLst/>
          </a:prstGeom>
          <a:noFill/>
        </p:spPr>
        <p:txBody>
          <a:bodyPr wrap="square"/>
          <a:lstStyle/>
          <a:p>
            <a:pPr algn="l"/>
            <a:r>
              <a:rPr sz="2960" b="1">
                <a:solidFill>
                  <a:srgbClr val="1A1A2E"/>
                </a:solidFill>
                <a:latin typeface="Calibri"/>
              </a:rPr>
              <a:t>Lab 1: Detect Your Sensor on I2C</a:t>
            </a:r>
          </a:p>
        </p:txBody>
      </p:sp>
      <p:sp>
        <p:nvSpPr>
          <p:cNvPr id="6" name="TextBox 5"/>
          <p:cNvSpPr txBox="1"/>
          <p:nvPr/>
        </p:nvSpPr>
        <p:spPr>
          <a:xfrm>
            <a:off x="457200" y="1097280"/>
            <a:ext cx="8229240" cy="5028840"/>
          </a:xfrm>
          <a:prstGeom prst="rect">
            <a:avLst/>
          </a:prstGeom>
          <a:noFill/>
        </p:spPr>
        <p:txBody>
          <a:bodyPr wrap="square"/>
          <a:lstStyle/>
          <a:p>
            <a:pPr algn="l"/>
            <a:r>
              <a:rPr sz="1900" b="0">
                <a:solidFill>
                  <a:srgbClr val="1A1A2E"/>
                </a:solidFill>
                <a:latin typeface="Calibri"/>
              </a:rPr>
              <a:t/>
            </a:r>
          </a:p>
          <a:p>
            <a:pPr/>
            <a:r>
              <a:rPr sz="1900" b="0">
                <a:solidFill>
                  <a:srgbClr val="1A1A2E"/>
                </a:solidFill>
                <a:latin typeface="Calibri"/>
              </a:rPr>
              <a:t>Objective: verify I2C communication with BME280 or Sense HAT</a:t>
            </a:r>
          </a:p>
          <a:p>
            <a:pPr/>
            <a:r>
              <a:rPr sz="1900" b="0">
                <a:solidFill>
                  <a:srgbClr val="1A1A2E"/>
                </a:solidFill>
                <a:latin typeface="Calibri"/>
              </a:rPr>
              <a:t/>
            </a:r>
          </a:p>
          <a:p>
            <a:pPr/>
            <a:r>
              <a:rPr sz="1900" b="0">
                <a:solidFill>
                  <a:srgbClr val="1A1A2E"/>
                </a:solidFill>
                <a:latin typeface="Calibri"/>
              </a:rPr>
              <a:t>Step 1: Enable I2C on RPi4</a:t>
            </a:r>
          </a:p>
          <a:p>
            <a:pPr lvl="1"/>
            <a:r>
              <a:rPr sz="1900" b="0">
                <a:solidFill>
                  <a:srgbClr val="1A1A2E"/>
                </a:solidFill>
                <a:latin typeface="Calibri"/>
              </a:rPr>
              <a:t>  $ sudo raspi-config -&gt; Interface Options -&gt; I2C -&gt; Enable</a:t>
            </a:r>
          </a:p>
          <a:p>
            <a:pPr lvl="1"/>
            <a:r>
              <a:rPr sz="1900" b="0">
                <a:solidFill>
                  <a:srgbClr val="1A1A2E"/>
                </a:solidFill>
                <a:latin typeface="Calibri"/>
              </a:rPr>
              <a:t>  $ sudo reboot</a:t>
            </a:r>
          </a:p>
          <a:p>
            <a:pPr/>
            <a:r>
              <a:rPr sz="1900" b="0">
                <a:solidFill>
                  <a:srgbClr val="1A1A2E"/>
                </a:solidFill>
                <a:latin typeface="Calibri"/>
              </a:rPr>
              <a:t/>
            </a:r>
          </a:p>
          <a:p>
            <a:pPr/>
            <a:r>
              <a:rPr sz="1900" b="0">
                <a:solidFill>
                  <a:srgbClr val="1A1A2E"/>
                </a:solidFill>
                <a:latin typeface="Calibri"/>
              </a:rPr>
              <a:t>Step 2: Install i2c-tools</a:t>
            </a:r>
          </a:p>
          <a:p>
            <a:pPr lvl="1"/>
            <a:r>
              <a:rPr sz="1900" b="0">
                <a:solidFill>
                  <a:srgbClr val="1A1A2E"/>
                </a:solidFill>
                <a:latin typeface="Calibri"/>
              </a:rPr>
              <a:t>  $ sudo apt install i2c-tools</a:t>
            </a:r>
          </a:p>
          <a:p>
            <a:pPr/>
            <a:r>
              <a:rPr sz="1900" b="0">
                <a:solidFill>
                  <a:srgbClr val="1A1A2E"/>
                </a:solidFill>
                <a:latin typeface="Calibri"/>
              </a:rPr>
              <a:t/>
            </a:r>
          </a:p>
          <a:p>
            <a:pPr/>
            <a:r>
              <a:rPr sz="1900" b="0">
                <a:solidFill>
                  <a:srgbClr val="1A1A2E"/>
                </a:solidFill>
                <a:latin typeface="Calibri"/>
              </a:rPr>
              <a:t>Step 3: Scan the I2C bus</a:t>
            </a:r>
          </a:p>
          <a:p>
            <a:pPr lvl="1"/>
            <a:r>
              <a:rPr sz="1900" b="0">
                <a:solidFill>
                  <a:srgbClr val="1A1A2E"/>
                </a:solidFill>
                <a:latin typeface="Calibri"/>
              </a:rPr>
              <a:t>  $ i2cdetect -y 1</a:t>
            </a:r>
          </a:p>
          <a:p>
            <a:pPr lvl="1"/>
            <a:r>
              <a:rPr sz="1900" b="0">
                <a:solidFill>
                  <a:srgbClr val="1A1A2E"/>
                </a:solidFill>
                <a:latin typeface="Calibri"/>
              </a:rPr>
              <a:t>  -&gt; BME280 should appear at 0x76</a:t>
            </a:r>
          </a:p>
          <a:p>
            <a:pPr lvl="1"/>
            <a:r>
              <a:rPr sz="1900" b="0">
                <a:solidFill>
                  <a:srgbClr val="1A1A2E"/>
                </a:solidFill>
                <a:latin typeface="Calibri"/>
              </a:rPr>
              <a:t>  -&gt; Sense HAT sensors at 0x5C, 0x5F, 0x6A</a:t>
            </a:r>
          </a:p>
          <a:p>
            <a:pPr/>
            <a:r>
              <a:rPr sz="1900" b="0">
                <a:solidFill>
                  <a:srgbClr val="1A1A2E"/>
                </a:solidFill>
                <a:latin typeface="Calibri"/>
              </a:rPr>
              <a:t/>
            </a:r>
          </a:p>
          <a:p>
            <a:pPr/>
            <a:r>
              <a:rPr sz="1900" b="0">
                <a:solidFill>
                  <a:srgbClr val="1A1A2E"/>
                </a:solidFill>
                <a:latin typeface="Calibri"/>
              </a:rPr>
              <a:t>Step 4: Read a register</a:t>
            </a:r>
          </a:p>
          <a:p>
            <a:pPr lvl="1"/>
            <a:r>
              <a:rPr sz="1900" b="0">
                <a:solidFill>
                  <a:srgbClr val="1A1A2E"/>
                </a:solidFill>
                <a:latin typeface="Calibri"/>
              </a:rPr>
              <a:t>  $ i2cdump -y 1 0x76</a:t>
            </a:r>
          </a:p>
          <a:p>
            <a:pPr lvl="1"/>
            <a:r>
              <a:rPr sz="1900" b="0">
                <a:solidFill>
                  <a:srgbClr val="1A1A2E"/>
                </a:solidFill>
                <a:latin typeface="Calibri"/>
              </a:rPr>
              <a:t>  -&gt; Chip ID register (0xD0) should return 0x60 for BME280</a:t>
            </a:r>
          </a:p>
        </p:txBody>
      </p:sp>
      <p:sp>
        <p:nvSpPr>
          <p:cNvPr id="7" name="TextBox 6"/>
          <p:cNvSpPr txBox="1"/>
          <p:nvPr/>
        </p:nvSpPr>
        <p:spPr>
          <a:xfrm>
            <a:off x="457200" y="6400800"/>
            <a:ext cx="2742840" cy="273960"/>
          </a:xfrm>
          <a:prstGeom prst="rect">
            <a:avLst/>
          </a:prstGeom>
          <a:noFill/>
        </p:spPr>
        <p:txBody>
          <a:bodyPr wrap="square"/>
          <a:lstStyle/>
          <a:p>
            <a:pPr algn="l"/>
            <a:r>
              <a:rPr sz="630" b="0">
                <a:solidFill>
                  <a:srgbClr val="808080"/>
                </a:solidFill>
                <a:latin typeface="Calibri"/>
              </a:rPr>
              <a:t>Build Path: AP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Picture Placeholder 2"/>
          <p:cNvSpPr>
            <a:spLocks noGrp="1"/>
          </p:cNvSpPr>
          <p:nvPr>
            <p:ph type="pic" idx="1"/>
          </p:nvPr>
        </p:nvSpPr>
        <p:spPr/>
      </p:sp>
      <p:sp>
        <p:nvSpPr>
          <p:cNvPr id="4" name="Text Placeholder 3"/>
          <p:cNvSpPr>
            <a:spLocks noGrp="1"/>
          </p:cNvSpPr>
          <p:nvPr>
            <p:ph type="body" idx="2" sz="half"/>
          </p:nvPr>
        </p:nvSpPr>
        <p:spPr/>
        <p:txBody>
          <a:bodyPr/>
          <a:lstStyle/>
          <a:p/>
        </p:txBody>
      </p:sp>
      <p:sp>
        <p:nvSpPr>
          <p:cNvPr id="5" name="TextBox 4"/>
          <p:cNvSpPr txBox="1"/>
          <p:nvPr/>
        </p:nvSpPr>
        <p:spPr>
          <a:xfrm>
            <a:off x="457200" y="274320"/>
            <a:ext cx="8229240" cy="731160"/>
          </a:xfrm>
          <a:prstGeom prst="rect">
            <a:avLst/>
          </a:prstGeom>
          <a:noFill/>
        </p:spPr>
        <p:txBody>
          <a:bodyPr wrap="square"/>
          <a:lstStyle/>
          <a:p>
            <a:pPr algn="l"/>
            <a:r>
              <a:rPr sz="2960" b="1">
                <a:solidFill>
                  <a:srgbClr val="1A1A2E"/>
                </a:solidFill>
                <a:latin typeface="Calibri"/>
              </a:rPr>
              <a:t>Part 2: Building the Sensor Service</a:t>
            </a:r>
          </a:p>
        </p:txBody>
      </p:sp>
      <p:sp>
        <p:nvSpPr>
          <p:cNvPr id="6" name="TextBox 5"/>
          <p:cNvSpPr txBox="1"/>
          <p:nvPr/>
        </p:nvSpPr>
        <p:spPr>
          <a:xfrm>
            <a:off x="457200" y="1097280"/>
            <a:ext cx="8229240" cy="5028840"/>
          </a:xfrm>
          <a:prstGeom prst="rect">
            <a:avLst/>
          </a:prstGeom>
          <a:noFill/>
        </p:spPr>
        <p:txBody>
          <a:bodyPr wrap="square"/>
          <a:lstStyle/>
          <a:p>
            <a:pPr algn="l"/>
            <a:r>
              <a:rPr sz="1900" b="0">
                <a:solidFill>
                  <a:srgbClr val="1A1A2E"/>
                </a:solidFill>
                <a:latin typeface="Calibri"/>
              </a:rPr>
              <a:t/>
            </a:r>
          </a:p>
          <a:p>
            <a:pPr/>
            <a:r>
              <a:rPr sz="1900" b="0">
                <a:solidFill>
                  <a:srgbClr val="1A1A2E"/>
                </a:solidFill>
                <a:latin typeface="Calibri"/>
              </a:rPr>
              <a:t>Architecture overview:</a:t>
            </a:r>
          </a:p>
          <a:p>
            <a:pPr lvl="1"/>
            <a:r>
              <a:rPr sz="1900" b="0">
                <a:solidFill>
                  <a:srgbClr val="1A1A2E"/>
                </a:solidFill>
                <a:latin typeface="Calibri"/>
              </a:rPr>
              <a:t>  C sensor driver -&gt; pipe -&gt; Python aggregator -&gt; Flask API</a:t>
            </a:r>
          </a:p>
          <a:p>
            <a:pPr/>
            <a:r>
              <a:rPr sz="1900" b="0">
                <a:solidFill>
                  <a:srgbClr val="1A1A2E"/>
                </a:solidFill>
                <a:latin typeface="Calibri"/>
              </a:rPr>
              <a:t/>
            </a:r>
          </a:p>
          <a:p>
            <a:pPr/>
            <a:r>
              <a:rPr sz="1900" b="0">
                <a:solidFill>
                  <a:srgbClr val="1A1A2E"/>
                </a:solidFill>
                <a:latin typeface="Calibri"/>
              </a:rPr>
              <a:t>Why this split?</a:t>
            </a:r>
          </a:p>
          <a:p>
            <a:pPr lvl="1"/>
            <a:r>
              <a:rPr sz="1900" b="0">
                <a:solidFill>
                  <a:srgbClr val="1A1A2E"/>
                </a:solidFill>
                <a:latin typeface="Calibri"/>
              </a:rPr>
              <a:t>  - C for hardware interface (precision, timing)</a:t>
            </a:r>
          </a:p>
          <a:p>
            <a:pPr lvl="1"/>
            <a:r>
              <a:rPr sz="1900" b="0">
                <a:solidFill>
                  <a:srgbClr val="1A1A2E"/>
                </a:solidFill>
                <a:latin typeface="Calibri"/>
              </a:rPr>
              <a:t>  - Python for networking (Flask, requests library)</a:t>
            </a:r>
          </a:p>
          <a:p>
            <a:pPr lvl="1"/>
            <a:r>
              <a:rPr sz="1900" b="0">
                <a:solidFill>
                  <a:srgbClr val="1A1A2E"/>
                </a:solidFill>
                <a:latin typeface="Calibri"/>
              </a:rPr>
              <a:t>  - Pipe for clean separation (Unix pipe)</a:t>
            </a:r>
          </a:p>
          <a:p>
            <a:pPr/>
            <a:r>
              <a:rPr sz="1900" b="0">
                <a:solidFill>
                  <a:srgbClr val="1A1A2E"/>
                </a:solidFill>
                <a:latin typeface="Calibri"/>
              </a:rPr>
              <a:t/>
            </a:r>
          </a:p>
          <a:p>
            <a:pPr/>
            <a:r>
              <a:rPr sz="1900" b="0">
                <a:solidFill>
                  <a:srgbClr val="1A1A2E"/>
                </a:solidFill>
                <a:latin typeface="Calibri"/>
              </a:rPr>
              <a:t>Cross-compilation: build ARM binary on x86 host</a:t>
            </a:r>
          </a:p>
          <a:p>
            <a:pPr lvl="1"/>
            <a:r>
              <a:rPr sz="1900" b="0">
                <a:solidFill>
                  <a:srgbClr val="1A1A2E"/>
                </a:solidFill>
                <a:latin typeface="Calibri"/>
              </a:rPr>
              <a:t>  - Use the toolchain from Session 2</a:t>
            </a:r>
          </a:p>
          <a:p>
            <a:pPr lvl="1"/>
            <a:r>
              <a:rPr sz="1900" b="0">
                <a:solidFill>
                  <a:srgbClr val="1A1A2E"/>
                </a:solidFill>
                <a:latin typeface="Calibri"/>
              </a:rPr>
              <a:t>  - Static linking avoids library dependencies on target</a:t>
            </a:r>
          </a:p>
          <a:p>
            <a:pPr/>
            <a:r>
              <a:rPr sz="1900" b="0">
                <a:solidFill>
                  <a:srgbClr val="1A1A2E"/>
                </a:solidFill>
                <a:latin typeface="Calibri"/>
              </a:rPr>
              <a:t/>
            </a:r>
          </a:p>
          <a:p>
            <a:pPr/>
            <a:r>
              <a:rPr sz="1900" b="0">
                <a:solidFill>
                  <a:srgbClr val="1A1A2E"/>
                </a:solidFill>
                <a:latin typeface="Calibri"/>
              </a:rPr>
              <a:t>Deployment: systemd service starts at boot</a:t>
            </a:r>
          </a:p>
          <a:p>
            <a:pPr lvl="1"/>
            <a:r>
              <a:rPr sz="1900" b="0">
                <a:solidFill>
                  <a:srgbClr val="1A1A2E"/>
                </a:solidFill>
                <a:latin typeface="Calibri"/>
              </a:rPr>
              <a:t>  - No manual startup required</a:t>
            </a:r>
          </a:p>
          <a:p>
            <a:pPr lvl="1"/>
            <a:r>
              <a:rPr sz="1900" b="0">
                <a:solidFill>
                  <a:srgbClr val="1A1A2E"/>
                </a:solidFill>
                <a:latin typeface="Calibri"/>
              </a:rPr>
              <a:t>  - Automatic restart on failure</a:t>
            </a:r>
          </a:p>
          <a:p>
            <a:pPr lvl="1"/>
            <a:r>
              <a:rPr sz="1900" b="0">
                <a:solidFill>
                  <a:srgbClr val="1A1A2E"/>
                </a:solidFill>
                <a:latin typeface="Calibri"/>
              </a:rPr>
              <a:t>  - Logging via journald</a:t>
            </a:r>
          </a:p>
        </p:txBody>
      </p:sp>
      <p:sp>
        <p:nvSpPr>
          <p:cNvPr id="7" name="TextBox 6"/>
          <p:cNvSpPr txBox="1"/>
          <p:nvPr/>
        </p:nvSpPr>
        <p:spPr>
          <a:xfrm>
            <a:off x="457200" y="6400800"/>
            <a:ext cx="2742840" cy="273960"/>
          </a:xfrm>
          <a:prstGeom prst="rect">
            <a:avLst/>
          </a:prstGeom>
          <a:noFill/>
        </p:spPr>
        <p:txBody>
          <a:bodyPr wrap="square"/>
          <a:lstStyle/>
          <a:p>
            <a:pPr algn="l"/>
            <a:r>
              <a:rPr sz="630" b="0">
                <a:solidFill>
                  <a:srgbClr val="808080"/>
                </a:solidFill>
                <a:latin typeface="Calibri"/>
              </a:rPr>
              <a:t>Build Path: AP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Picture Placeholder 2"/>
          <p:cNvSpPr>
            <a:spLocks noGrp="1"/>
          </p:cNvSpPr>
          <p:nvPr>
            <p:ph type="pic" idx="1"/>
          </p:nvPr>
        </p:nvSpPr>
        <p:spPr/>
      </p:sp>
      <p:sp>
        <p:nvSpPr>
          <p:cNvPr id="4" name="Text Placeholder 3"/>
          <p:cNvSpPr>
            <a:spLocks noGrp="1"/>
          </p:cNvSpPr>
          <p:nvPr>
            <p:ph type="body" idx="2" sz="half"/>
          </p:nvPr>
        </p:nvSpPr>
        <p:spPr/>
        <p:txBody>
          <a:bodyPr/>
          <a:lstStyle/>
          <a:p/>
        </p:txBody>
      </p:sp>
      <p:sp>
        <p:nvSpPr>
          <p:cNvPr id="5" name="TextBox 4"/>
          <p:cNvSpPr txBox="1"/>
          <p:nvPr/>
        </p:nvSpPr>
        <p:spPr>
          <a:xfrm>
            <a:off x="457200" y="274320"/>
            <a:ext cx="8229240" cy="731160"/>
          </a:xfrm>
          <a:prstGeom prst="rect">
            <a:avLst/>
          </a:prstGeom>
          <a:noFill/>
        </p:spPr>
        <p:txBody>
          <a:bodyPr wrap="square"/>
          <a:lstStyle/>
          <a:p>
            <a:pPr algn="l"/>
            <a:r>
              <a:rPr sz="2960" b="1">
                <a:solidFill>
                  <a:srgbClr val="1A1A2E"/>
                </a:solidFill>
                <a:latin typeface="Calibri"/>
              </a:rPr>
              <a:t>BME280 C Driver: Initialization</a:t>
            </a:r>
          </a:p>
        </p:txBody>
      </p:sp>
      <p:sp>
        <p:nvSpPr>
          <p:cNvPr id="6" name="TextBox 5"/>
          <p:cNvSpPr txBox="1"/>
          <p:nvPr/>
        </p:nvSpPr>
        <p:spPr>
          <a:xfrm>
            <a:off x="457200" y="1097280"/>
            <a:ext cx="8229240" cy="5028840"/>
          </a:xfrm>
          <a:prstGeom prst="rect">
            <a:avLst/>
          </a:prstGeom>
          <a:noFill/>
        </p:spPr>
        <p:txBody>
          <a:bodyPr wrap="square"/>
          <a:lstStyle/>
          <a:p>
            <a:pPr algn="l"/>
            <a:r>
              <a:rPr sz="1900" b="0">
                <a:solidFill>
                  <a:srgbClr val="1A1A2E"/>
                </a:solidFill>
                <a:latin typeface="Calibri"/>
              </a:rPr>
              <a:t/>
            </a:r>
          </a:p>
          <a:p>
            <a:pPr/>
            <a:r>
              <a:rPr sz="1900" b="0">
                <a:solidFill>
                  <a:srgbClr val="1A1A2E"/>
                </a:solidFill>
                <a:latin typeface="Calibri"/>
              </a:rPr>
              <a:t>Open I2C bus device</a:t>
            </a:r>
          </a:p>
          <a:p>
            <a:pPr lvl="1"/>
            <a:r>
              <a:rPr sz="1900" b="0">
                <a:solidFill>
                  <a:srgbClr val="1A1A2E"/>
                </a:solidFill>
                <a:latin typeface="Calibri"/>
              </a:rPr>
              <a:t>  fd = open("/dev/i2c-1", O_RDWR);</a:t>
            </a:r>
          </a:p>
          <a:p>
            <a:pPr lvl="1"/>
            <a:r>
              <a:rPr sz="1900" b="0">
                <a:solidFill>
                  <a:srgbClr val="1A1A2E"/>
                </a:solidFill>
                <a:latin typeface="Calibri"/>
              </a:rPr>
              <a:t>  ioctl(fd, I2C_SLAVE, 0x76);</a:t>
            </a:r>
          </a:p>
          <a:p>
            <a:pPr/>
            <a:r>
              <a:rPr sz="1900" b="0">
                <a:solidFill>
                  <a:srgbClr val="1A1A2E"/>
                </a:solidFill>
                <a:latin typeface="Calibri"/>
              </a:rPr>
              <a:t/>
            </a:r>
          </a:p>
          <a:p>
            <a:pPr/>
            <a:r>
              <a:rPr sz="1900" b="0">
                <a:solidFill>
                  <a:srgbClr val="1A1A2E"/>
                </a:solidFill>
                <a:latin typeface="Calibri"/>
              </a:rPr>
              <a:t>Verify chip ID</a:t>
            </a:r>
          </a:p>
          <a:p>
            <a:pPr lvl="1"/>
            <a:r>
              <a:rPr sz="1900" b="0">
                <a:solidFill>
                  <a:srgbClr val="1A1A2E"/>
                </a:solidFill>
                <a:latin typeface="Calibri"/>
              </a:rPr>
              <a:t>  uint8_t id = i2c_read_reg(fd, 0xD0);</a:t>
            </a:r>
          </a:p>
          <a:p>
            <a:pPr lvl="1"/>
            <a:r>
              <a:rPr sz="1900" b="0">
                <a:solidFill>
                  <a:srgbClr val="1A1A2E"/>
                </a:solidFill>
                <a:latin typeface="Calibri"/>
              </a:rPr>
              <a:t>  if (id != 0x60) { error("not a BME280"); }</a:t>
            </a:r>
          </a:p>
          <a:p>
            <a:pPr/>
            <a:r>
              <a:rPr sz="1900" b="0">
                <a:solidFill>
                  <a:srgbClr val="1A1A2E"/>
                </a:solidFill>
                <a:latin typeface="Calibri"/>
              </a:rPr>
              <a:t/>
            </a:r>
          </a:p>
          <a:p>
            <a:pPr/>
            <a:r>
              <a:rPr sz="1900" b="0">
                <a:solidFill>
                  <a:srgbClr val="1A1A2E"/>
                </a:solidFill>
                <a:latin typeface="Calibri"/>
              </a:rPr>
              <a:t>Read calibration data (registers 0x88-0xA1, 0xE1-0xE7)</a:t>
            </a:r>
          </a:p>
          <a:p>
            <a:pPr lvl="1"/>
            <a:r>
              <a:rPr sz="1900" b="0">
                <a:solidFill>
                  <a:srgbClr val="1A1A2E"/>
                </a:solidFill>
                <a:latin typeface="Calibri"/>
              </a:rPr>
              <a:t>  - 26 bytes of temperature/humidity calibration</a:t>
            </a:r>
          </a:p>
          <a:p>
            <a:pPr lvl="1"/>
            <a:r>
              <a:rPr sz="1900" b="0">
                <a:solidFill>
                  <a:srgbClr val="1A1A2E"/>
                </a:solidFill>
                <a:latin typeface="Calibri"/>
              </a:rPr>
              <a:t>  - 13 bytes of pressure calibration</a:t>
            </a:r>
          </a:p>
          <a:p>
            <a:pPr lvl="1"/>
            <a:r>
              <a:rPr sz="1900" b="0">
                <a:solidFill>
                  <a:srgbClr val="1A1A2E"/>
                </a:solidFill>
                <a:latin typeface="Calibri"/>
              </a:rPr>
              <a:t>  - Stored as signed/unsigned 16-bit values (little-endian)</a:t>
            </a:r>
          </a:p>
          <a:p>
            <a:pPr/>
            <a:r>
              <a:rPr sz="1900" b="0">
                <a:solidFill>
                  <a:srgbClr val="1A1A2E"/>
                </a:solidFill>
                <a:latin typeface="Calibri"/>
              </a:rPr>
              <a:t/>
            </a:r>
          </a:p>
          <a:p>
            <a:pPr/>
            <a:r>
              <a:rPr sz="1900" b="0">
                <a:solidFill>
                  <a:srgbClr val="1A1A2E"/>
                </a:solidFill>
                <a:latin typeface="Calibri"/>
              </a:rPr>
              <a:t>Set oversampling and mode</a:t>
            </a:r>
          </a:p>
          <a:p>
            <a:pPr lvl="1"/>
            <a:r>
              <a:rPr sz="1900" b="0">
                <a:solidFill>
                  <a:srgbClr val="1A1A2E"/>
                </a:solidFill>
                <a:latin typeface="Calibri"/>
              </a:rPr>
              <a:t>  - ctrl_meas: temperature x1, pressure x1, normal mode</a:t>
            </a:r>
          </a:p>
          <a:p>
            <a:pPr lvl="1"/>
            <a:r>
              <a:rPr sz="1900" b="0">
                <a:solidFill>
                  <a:srgbClr val="1A1A2E"/>
                </a:solidFill>
                <a:latin typeface="Calibri"/>
              </a:rPr>
              <a:t>  - config: standby 1000ms, filter off</a:t>
            </a:r>
          </a:p>
        </p:txBody>
      </p:sp>
      <p:sp>
        <p:nvSpPr>
          <p:cNvPr id="7" name="TextBox 6"/>
          <p:cNvSpPr txBox="1"/>
          <p:nvPr/>
        </p:nvSpPr>
        <p:spPr>
          <a:xfrm>
            <a:off x="457200" y="6400800"/>
            <a:ext cx="2742840" cy="273960"/>
          </a:xfrm>
          <a:prstGeom prst="rect">
            <a:avLst/>
          </a:prstGeom>
          <a:noFill/>
        </p:spPr>
        <p:txBody>
          <a:bodyPr wrap="square"/>
          <a:lstStyle/>
          <a:p>
            <a:pPr algn="l"/>
            <a:r>
              <a:rPr sz="630" b="0">
                <a:solidFill>
                  <a:srgbClr val="808080"/>
                </a:solidFill>
                <a:latin typeface="Calibri"/>
              </a:rPr>
              <a:t>Build Path: AP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Picture Placeholder 2"/>
          <p:cNvSpPr>
            <a:spLocks noGrp="1"/>
          </p:cNvSpPr>
          <p:nvPr>
            <p:ph type="pic" idx="1"/>
          </p:nvPr>
        </p:nvSpPr>
        <p:spPr/>
      </p:sp>
      <p:sp>
        <p:nvSpPr>
          <p:cNvPr id="4" name="Text Placeholder 3"/>
          <p:cNvSpPr>
            <a:spLocks noGrp="1"/>
          </p:cNvSpPr>
          <p:nvPr>
            <p:ph type="body" idx="2" sz="half"/>
          </p:nvPr>
        </p:nvSpPr>
        <p:spPr/>
        <p:txBody>
          <a:bodyPr/>
          <a:lstStyle/>
          <a:p/>
        </p:txBody>
      </p:sp>
      <p:sp>
        <p:nvSpPr>
          <p:cNvPr id="5" name="TextBox 4"/>
          <p:cNvSpPr txBox="1"/>
          <p:nvPr/>
        </p:nvSpPr>
        <p:spPr>
          <a:xfrm>
            <a:off x="457200" y="274320"/>
            <a:ext cx="8229240" cy="731160"/>
          </a:xfrm>
          <a:prstGeom prst="rect">
            <a:avLst/>
          </a:prstGeom>
          <a:noFill/>
        </p:spPr>
        <p:txBody>
          <a:bodyPr wrap="square"/>
          <a:lstStyle/>
          <a:p>
            <a:pPr algn="l"/>
            <a:r>
              <a:rPr sz="2960" b="1">
                <a:solidFill>
                  <a:srgbClr val="1A1A2E"/>
                </a:solidFill>
                <a:latin typeface="Calibri"/>
              </a:rPr>
              <a:t>BME280 C Driver: Reading Data</a:t>
            </a:r>
          </a:p>
        </p:txBody>
      </p:sp>
      <p:sp>
        <p:nvSpPr>
          <p:cNvPr id="6" name="TextBox 5"/>
          <p:cNvSpPr txBox="1"/>
          <p:nvPr/>
        </p:nvSpPr>
        <p:spPr>
          <a:xfrm>
            <a:off x="457200" y="1097280"/>
            <a:ext cx="8229240" cy="5028840"/>
          </a:xfrm>
          <a:prstGeom prst="rect">
            <a:avLst/>
          </a:prstGeom>
          <a:noFill/>
        </p:spPr>
        <p:txBody>
          <a:bodyPr wrap="square"/>
          <a:lstStyle/>
          <a:p>
            <a:pPr algn="l"/>
            <a:r>
              <a:rPr sz="1900" b="0">
                <a:solidFill>
                  <a:srgbClr val="1A1A2E"/>
                </a:solidFill>
                <a:latin typeface="Calibri"/>
              </a:rPr>
              <a:t/>
            </a:r>
          </a:p>
          <a:p>
            <a:pPr/>
            <a:r>
              <a:rPr sz="1900" b="0">
                <a:solidFill>
                  <a:srgbClr val="1A1A2E"/>
                </a:solidFill>
                <a:latin typeface="Calibri"/>
              </a:rPr>
              <a:t>Trigger a measurement (forced or normal mode)</a:t>
            </a:r>
          </a:p>
          <a:p>
            <a:pPr lvl="1"/>
            <a:r>
              <a:rPr sz="1900" b="0">
                <a:solidFill>
                  <a:srgbClr val="1A1A2E"/>
                </a:solidFill>
                <a:latin typeface="Calibri"/>
              </a:rPr>
              <a:t>  - Forced: write ctrl_meas with mode=0x01, wait for completion</a:t>
            </a:r>
          </a:p>
          <a:p>
            <a:pPr lvl="1"/>
            <a:r>
              <a:rPr sz="1900" b="0">
                <a:solidFill>
                  <a:srgbClr val="1A1A2E"/>
                </a:solidFill>
                <a:latin typeface="Calibri"/>
              </a:rPr>
              <a:t>  - Normal: continuous sampling, just read output registers</a:t>
            </a:r>
          </a:p>
          <a:p>
            <a:pPr/>
            <a:r>
              <a:rPr sz="1900" b="0">
                <a:solidFill>
                  <a:srgbClr val="1A1A2E"/>
                </a:solidFill>
                <a:latin typeface="Calibri"/>
              </a:rPr>
              <a:t/>
            </a:r>
          </a:p>
          <a:p>
            <a:pPr/>
            <a:r>
              <a:rPr sz="1900" b="0">
                <a:solidFill>
                  <a:srgbClr val="1A1A2E"/>
                </a:solidFill>
                <a:latin typeface="Calibri"/>
              </a:rPr>
              <a:t>Read raw ADC values (registers 0xF7-0xFE)</a:t>
            </a:r>
          </a:p>
          <a:p>
            <a:pPr lvl="1"/>
            <a:r>
              <a:rPr sz="1900" b="0">
                <a:solidFill>
                  <a:srgbClr val="1A1A2E"/>
                </a:solidFill>
                <a:latin typeface="Calibri"/>
              </a:rPr>
              <a:t>  - Pressure: 20 bits across 0xF7-0xF9</a:t>
            </a:r>
          </a:p>
          <a:p>
            <a:pPr lvl="1"/>
            <a:r>
              <a:rPr sz="1900" b="0">
                <a:solidFill>
                  <a:srgbClr val="1A1A2E"/>
                </a:solidFill>
                <a:latin typeface="Calibri"/>
              </a:rPr>
              <a:t>  - Temperature: 20 bits across 0xFA-0xFC</a:t>
            </a:r>
          </a:p>
          <a:p>
            <a:pPr lvl="1"/>
            <a:r>
              <a:rPr sz="1900" b="0">
                <a:solidFill>
                  <a:srgbClr val="1A1A2E"/>
                </a:solidFill>
                <a:latin typeface="Calibri"/>
              </a:rPr>
              <a:t>  - Humidity: 16 bits across 0xFD-0xFE</a:t>
            </a:r>
          </a:p>
          <a:p>
            <a:pPr/>
            <a:r>
              <a:rPr sz="1900" b="0">
                <a:solidFill>
                  <a:srgbClr val="1A1A2E"/>
                </a:solidFill>
                <a:latin typeface="Calibri"/>
              </a:rPr>
              <a:t/>
            </a:r>
          </a:p>
          <a:p>
            <a:pPr/>
            <a:r>
              <a:rPr sz="1900" b="0">
                <a:solidFill>
                  <a:srgbClr val="1A1A2E"/>
                </a:solidFill>
                <a:latin typeface="Calibri"/>
              </a:rPr>
              <a:t>Apply Bosch compensation formulas</a:t>
            </a:r>
          </a:p>
          <a:p>
            <a:pPr lvl="1"/>
            <a:r>
              <a:rPr sz="1900" b="0">
                <a:solidFill>
                  <a:srgbClr val="1A1A2E"/>
                </a:solidFill>
                <a:latin typeface="Calibri"/>
              </a:rPr>
              <a:t>  - dig_T1, dig_T2, dig_T3 -&gt; temperature in 0.01 C units</a:t>
            </a:r>
          </a:p>
          <a:p>
            <a:pPr lvl="1"/>
            <a:r>
              <a:rPr sz="1900" b="0">
                <a:solidFill>
                  <a:srgbClr val="1A1A2E"/>
                </a:solidFill>
                <a:latin typeface="Calibri"/>
              </a:rPr>
              <a:t>  - dig_P1..P9 -&gt; pressure in Pa</a:t>
            </a:r>
          </a:p>
          <a:p>
            <a:pPr lvl="1"/>
            <a:r>
              <a:rPr sz="1900" b="0">
                <a:solidFill>
                  <a:srgbClr val="1A1A2E"/>
                </a:solidFill>
                <a:latin typeface="Calibri"/>
              </a:rPr>
              <a:t>  - dig_H1..H6 -&gt; humidity in % RH (0.001 units)</a:t>
            </a:r>
          </a:p>
          <a:p>
            <a:pPr/>
            <a:r>
              <a:rPr sz="1900" b="0">
                <a:solidFill>
                  <a:srgbClr val="1A1A2E"/>
                </a:solidFill>
                <a:latin typeface="Calibri"/>
              </a:rPr>
              <a:t/>
            </a:r>
          </a:p>
          <a:p>
            <a:pPr/>
            <a:r>
              <a:rPr sz="1900" b="0">
                <a:solidFill>
                  <a:srgbClr val="1A1A2E"/>
                </a:solidFill>
                <a:latin typeface="Calibri"/>
              </a:rPr>
              <a:t>Output as JSON to stdout</a:t>
            </a:r>
          </a:p>
          <a:p>
            <a:pPr lvl="1"/>
            <a:r>
              <a:rPr sz="1900" b="0">
                <a:solidFill>
                  <a:srgbClr val="1A1A2E"/>
                </a:solidFill>
                <a:latin typeface="Calibri"/>
              </a:rPr>
              <a:t>  printf("{\"t\":%.2f,\"h\":%.2f,\"p\":%.2f}\n", t, h, p);</a:t>
            </a:r>
          </a:p>
        </p:txBody>
      </p:sp>
      <p:sp>
        <p:nvSpPr>
          <p:cNvPr id="7" name="TextBox 6"/>
          <p:cNvSpPr txBox="1"/>
          <p:nvPr/>
        </p:nvSpPr>
        <p:spPr>
          <a:xfrm>
            <a:off x="457200" y="6400800"/>
            <a:ext cx="2742840" cy="273960"/>
          </a:xfrm>
          <a:prstGeom prst="rect">
            <a:avLst/>
          </a:prstGeom>
          <a:noFill/>
        </p:spPr>
        <p:txBody>
          <a:bodyPr wrap="square"/>
          <a:lstStyle/>
          <a:p>
            <a:pPr algn="l"/>
            <a:r>
              <a:rPr sz="630" b="0">
                <a:solidFill>
                  <a:srgbClr val="808080"/>
                </a:solidFill>
                <a:latin typeface="Calibri"/>
              </a:rPr>
              <a:t>Build Path: AP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Picture Placeholder 2"/>
          <p:cNvSpPr>
            <a:spLocks noGrp="1"/>
          </p:cNvSpPr>
          <p:nvPr>
            <p:ph type="pic" idx="1"/>
          </p:nvPr>
        </p:nvSpPr>
        <p:spPr/>
      </p:sp>
      <p:sp>
        <p:nvSpPr>
          <p:cNvPr id="4" name="Text Placeholder 3"/>
          <p:cNvSpPr>
            <a:spLocks noGrp="1"/>
          </p:cNvSpPr>
          <p:nvPr>
            <p:ph type="body" idx="2" sz="half"/>
          </p:nvPr>
        </p:nvSpPr>
        <p:spPr/>
        <p:txBody>
          <a:bodyPr/>
          <a:lstStyle/>
          <a:p/>
        </p:txBody>
      </p:sp>
      <p:sp>
        <p:nvSpPr>
          <p:cNvPr id="5" name="TextBox 4"/>
          <p:cNvSpPr txBox="1"/>
          <p:nvPr/>
        </p:nvSpPr>
        <p:spPr>
          <a:xfrm>
            <a:off x="457200" y="274320"/>
            <a:ext cx="8229240" cy="731160"/>
          </a:xfrm>
          <a:prstGeom prst="rect">
            <a:avLst/>
          </a:prstGeom>
          <a:noFill/>
        </p:spPr>
        <p:txBody>
          <a:bodyPr wrap="square"/>
          <a:lstStyle/>
          <a:p>
            <a:pPr algn="l"/>
            <a:r>
              <a:rPr sz="2960" b="1">
                <a:solidFill>
                  <a:srgbClr val="1A1A2E"/>
                </a:solidFill>
                <a:latin typeface="Calibri"/>
              </a:rPr>
              <a:t>Sense HAT C Driver (Alternative Path)</a:t>
            </a:r>
          </a:p>
        </p:txBody>
      </p:sp>
      <p:sp>
        <p:nvSpPr>
          <p:cNvPr id="6" name="TextBox 5"/>
          <p:cNvSpPr txBox="1"/>
          <p:nvPr/>
        </p:nvSpPr>
        <p:spPr>
          <a:xfrm>
            <a:off x="457200" y="1097280"/>
            <a:ext cx="8229240" cy="5028840"/>
          </a:xfrm>
          <a:prstGeom prst="rect">
            <a:avLst/>
          </a:prstGeom>
          <a:noFill/>
        </p:spPr>
        <p:txBody>
          <a:bodyPr wrap="square"/>
          <a:lstStyle/>
          <a:p>
            <a:pPr algn="l"/>
            <a:r>
              <a:rPr sz="1900" b="0">
                <a:solidFill>
                  <a:srgbClr val="1A1A2E"/>
                </a:solidFill>
                <a:latin typeface="Calibri"/>
              </a:rPr>
              <a:t/>
            </a:r>
          </a:p>
          <a:p>
            <a:pPr/>
            <a:r>
              <a:rPr sz="1900" b="0">
                <a:solidFill>
                  <a:srgbClr val="1A1A2E"/>
                </a:solidFill>
                <a:latin typeface="Calibri"/>
              </a:rPr>
              <a:t>HTS221: humidity + temperature sensor</a:t>
            </a:r>
          </a:p>
          <a:p>
            <a:pPr lvl="1"/>
            <a:r>
              <a:rPr sz="1900" b="0">
                <a:solidFill>
                  <a:srgbClr val="1A1A2E"/>
                </a:solidFill>
                <a:latin typeface="Calibri"/>
              </a:rPr>
              <a:t>  - I2C address: 0x5F, WHO_AM_I (0x0F) returns 0xBC</a:t>
            </a:r>
          </a:p>
          <a:p>
            <a:pPr lvl="1"/>
            <a:r>
              <a:rPr sz="1900" b="0">
                <a:solidFill>
                  <a:srgbClr val="1A1A2E"/>
                </a:solidFill>
                <a:latin typeface="Calibri"/>
              </a:rPr>
              <a:t>  - Calibration: registers 0x30-0x3F (linear interpolation)</a:t>
            </a:r>
          </a:p>
          <a:p>
            <a:pPr lvl="1"/>
            <a:r>
              <a:rPr sz="1900" b="0">
                <a:solidFill>
                  <a:srgbClr val="1A1A2E"/>
                </a:solidFill>
                <a:latin typeface="Calibri"/>
              </a:rPr>
              <a:t>  - Output: registers 0x28-0x2B (H), 0x2A-0x2B (T)</a:t>
            </a:r>
          </a:p>
          <a:p>
            <a:pPr/>
            <a:r>
              <a:rPr sz="1900" b="0">
                <a:solidFill>
                  <a:srgbClr val="1A1A2E"/>
                </a:solidFill>
                <a:latin typeface="Calibri"/>
              </a:rPr>
              <a:t/>
            </a:r>
          </a:p>
          <a:p>
            <a:pPr/>
            <a:r>
              <a:rPr sz="1900" b="0">
                <a:solidFill>
                  <a:srgbClr val="1A1A2E"/>
                </a:solidFill>
                <a:latin typeface="Calibri"/>
              </a:rPr>
              <a:t>LPS25H: pressure sensor</a:t>
            </a:r>
          </a:p>
          <a:p>
            <a:pPr lvl="1"/>
            <a:r>
              <a:rPr sz="1900" b="0">
                <a:solidFill>
                  <a:srgbClr val="1A1A2E"/>
                </a:solidFill>
                <a:latin typeface="Calibri"/>
              </a:rPr>
              <a:t>  - I2C address: 0x5C, WHO_AM_I (0x0F) returns 0xBD</a:t>
            </a:r>
          </a:p>
          <a:p>
            <a:pPr lvl="1"/>
            <a:r>
              <a:rPr sz="1900" b="0">
                <a:solidFill>
                  <a:srgbClr val="1A1A2E"/>
                </a:solidFill>
                <a:latin typeface="Calibri"/>
              </a:rPr>
              <a:t>  - Calibration: simple linear offset (registers 0x08-0x0A)</a:t>
            </a:r>
          </a:p>
          <a:p>
            <a:pPr lvl="1"/>
            <a:r>
              <a:rPr sz="1900" b="0">
                <a:solidFill>
                  <a:srgbClr val="1A1A2E"/>
                </a:solidFill>
                <a:latin typeface="Calibri"/>
              </a:rPr>
              <a:t>  - Output: registers 0x28-0x2A (24-bit pressure)</a:t>
            </a:r>
          </a:p>
          <a:p>
            <a:pPr/>
            <a:r>
              <a:rPr sz="1900" b="0">
                <a:solidFill>
                  <a:srgbClr val="1A1A2E"/>
                </a:solidFill>
                <a:latin typeface="Calibri"/>
              </a:rPr>
              <a:t/>
            </a:r>
          </a:p>
          <a:p>
            <a:pPr/>
            <a:r>
              <a:rPr sz="1900" b="0">
                <a:solidFill>
                  <a:srgbClr val="1A1A2E"/>
                </a:solidFill>
                <a:latin typeface="Calibri"/>
              </a:rPr>
              <a:t>Same architecture as BME280 driver</a:t>
            </a:r>
          </a:p>
          <a:p>
            <a:pPr lvl="1"/>
            <a:r>
              <a:rPr sz="1900" b="0">
                <a:solidFill>
                  <a:srgbClr val="1A1A2E"/>
                </a:solidFill>
                <a:latin typeface="Calibri"/>
              </a:rPr>
              <a:t>  - Open /dev/i2c-1, set address, read calibration, read data</a:t>
            </a:r>
          </a:p>
          <a:p>
            <a:pPr lvl="1"/>
            <a:r>
              <a:rPr sz="1900" b="0">
                <a:solidFill>
                  <a:srgbClr val="1A1A2E"/>
                </a:solidFill>
                <a:latin typeface="Calibri"/>
              </a:rPr>
              <a:t>  - Output JSON to stdout</a:t>
            </a:r>
          </a:p>
          <a:p>
            <a:pPr/>
            <a:r>
              <a:rPr sz="1900" b="0">
                <a:solidFill>
                  <a:srgbClr val="1A1A2E"/>
                </a:solidFill>
                <a:latin typeface="Calibri"/>
              </a:rPr>
              <a:t/>
            </a:r>
          </a:p>
          <a:p>
            <a:pPr/>
            <a:r>
              <a:rPr sz="1900" b="0">
                <a:solidFill>
                  <a:srgbClr val="1A1A2E"/>
                </a:solidFill>
                <a:latin typeface="Calibri"/>
              </a:rPr>
              <a:t>Bonus: LED matrix via IS31FL3731 at 0x54</a:t>
            </a:r>
          </a:p>
          <a:p>
            <a:pPr lvl="1"/>
            <a:r>
              <a:rPr sz="1900" b="0">
                <a:solidFill>
                  <a:srgbClr val="1A1A2E"/>
                </a:solidFill>
                <a:latin typeface="Calibri"/>
              </a:rPr>
              <a:t>  - Set individual LED colors for status display</a:t>
            </a:r>
          </a:p>
        </p:txBody>
      </p:sp>
      <p:sp>
        <p:nvSpPr>
          <p:cNvPr id="7" name="TextBox 6"/>
          <p:cNvSpPr txBox="1"/>
          <p:nvPr/>
        </p:nvSpPr>
        <p:spPr>
          <a:xfrm>
            <a:off x="457200" y="6400800"/>
            <a:ext cx="2742840" cy="273960"/>
          </a:xfrm>
          <a:prstGeom prst="rect">
            <a:avLst/>
          </a:prstGeom>
          <a:noFill/>
        </p:spPr>
        <p:txBody>
          <a:bodyPr wrap="square"/>
          <a:lstStyle/>
          <a:p>
            <a:pPr algn="l"/>
            <a:r>
              <a:rPr sz="630" b="0">
                <a:solidFill>
                  <a:srgbClr val="808080"/>
                </a:solidFill>
                <a:latin typeface="Calibri"/>
              </a:rPr>
              <a:t>Build Path: AP</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Picture Placeholder 2"/>
          <p:cNvSpPr>
            <a:spLocks noGrp="1"/>
          </p:cNvSpPr>
          <p:nvPr>
            <p:ph type="pic" idx="1"/>
          </p:nvPr>
        </p:nvSpPr>
        <p:spPr/>
      </p:sp>
      <p:sp>
        <p:nvSpPr>
          <p:cNvPr id="4" name="Text Placeholder 3"/>
          <p:cNvSpPr>
            <a:spLocks noGrp="1"/>
          </p:cNvSpPr>
          <p:nvPr>
            <p:ph type="body" idx="2" sz="half"/>
          </p:nvPr>
        </p:nvSpPr>
        <p:spPr/>
        <p:txBody>
          <a:bodyPr/>
          <a:lstStyle/>
          <a:p/>
        </p:txBody>
      </p:sp>
      <p:sp>
        <p:nvSpPr>
          <p:cNvPr id="5" name="TextBox 4"/>
          <p:cNvSpPr txBox="1"/>
          <p:nvPr/>
        </p:nvSpPr>
        <p:spPr>
          <a:xfrm>
            <a:off x="457200" y="274320"/>
            <a:ext cx="8229240" cy="731160"/>
          </a:xfrm>
          <a:prstGeom prst="rect">
            <a:avLst/>
          </a:prstGeom>
          <a:noFill/>
        </p:spPr>
        <p:txBody>
          <a:bodyPr wrap="square"/>
          <a:lstStyle/>
          <a:p>
            <a:pPr algn="l"/>
            <a:r>
              <a:rPr sz="2960" b="1">
                <a:solidFill>
                  <a:srgbClr val="1A1A2E"/>
                </a:solidFill>
                <a:latin typeface="Calibri"/>
              </a:rPr>
              <a:t>Python Aggregator: Reading from C via Pipe</a:t>
            </a:r>
          </a:p>
        </p:txBody>
      </p:sp>
      <p:sp>
        <p:nvSpPr>
          <p:cNvPr id="6" name="TextBox 5"/>
          <p:cNvSpPr txBox="1"/>
          <p:nvPr/>
        </p:nvSpPr>
        <p:spPr>
          <a:xfrm>
            <a:off x="457200" y="1097280"/>
            <a:ext cx="8229240" cy="5028840"/>
          </a:xfrm>
          <a:prstGeom prst="rect">
            <a:avLst/>
          </a:prstGeom>
          <a:noFill/>
        </p:spPr>
        <p:txBody>
          <a:bodyPr wrap="square"/>
          <a:lstStyle/>
          <a:p>
            <a:pPr algn="l"/>
            <a:r>
              <a:rPr sz="1900" b="0">
                <a:solidFill>
                  <a:srgbClr val="1A1A2E"/>
                </a:solidFill>
                <a:latin typeface="Calibri"/>
              </a:rPr>
              <a:t/>
            </a:r>
          </a:p>
          <a:p>
            <a:pPr/>
            <a:r>
              <a:rPr sz="1900" b="0">
                <a:solidFill>
                  <a:srgbClr val="1A1A2E"/>
                </a:solidFill>
                <a:latin typeface="Calibri"/>
              </a:rPr>
              <a:t>Launch C driver as subprocess</a:t>
            </a:r>
          </a:p>
          <a:p>
            <a:pPr lvl="1"/>
            <a:r>
              <a:rPr sz="1900" b="0">
                <a:solidFill>
                  <a:srgbClr val="1A1A2E"/>
                </a:solidFill>
                <a:latin typeface="Calibri"/>
              </a:rPr>
              <a:t>  proc = subprocess.Popen(["./bme280"], stdout=subprocess.PIPE)</a:t>
            </a:r>
          </a:p>
          <a:p>
            <a:pPr/>
            <a:r>
              <a:rPr sz="1900" b="0">
                <a:solidFill>
                  <a:srgbClr val="1A1A2E"/>
                </a:solidFill>
                <a:latin typeface="Calibri"/>
              </a:rPr>
              <a:t/>
            </a:r>
          </a:p>
          <a:p>
            <a:pPr/>
            <a:r>
              <a:rPr sz="1900" b="0">
                <a:solidFill>
                  <a:srgbClr val="1A1A2E"/>
                </a:solidFill>
                <a:latin typeface="Calibri"/>
              </a:rPr>
              <a:t>Read JSON lines in a thread</a:t>
            </a:r>
          </a:p>
          <a:p>
            <a:pPr lvl="1"/>
            <a:r>
              <a:rPr sz="1900" b="0">
                <a:solidFill>
                  <a:srgbClr val="1A1A2E"/>
                </a:solidFill>
                <a:latin typeface="Calibri"/>
              </a:rPr>
              <a:t>  def reader():</a:t>
            </a:r>
          </a:p>
          <a:p>
            <a:pPr lvl="1"/>
            <a:r>
              <a:rPr sz="1900" b="0">
                <a:solidFill>
                  <a:srgbClr val="1A1A2E"/>
                </a:solidFill>
                <a:latin typeface="Calibri"/>
              </a:rPr>
              <a:t>    for line in proc.stdout:</a:t>
            </a:r>
          </a:p>
          <a:p>
            <a:pPr lvl="1"/>
            <a:r>
              <a:rPr sz="1900" b="0">
                <a:solidFill>
                  <a:srgbClr val="1A1A2E"/>
                </a:solidFill>
                <a:latin typeface="Calibri"/>
              </a:rPr>
              <a:t>      data = json.loads(line)</a:t>
            </a:r>
          </a:p>
          <a:p>
            <a:pPr lvl="1"/>
            <a:r>
              <a:rPr sz="1900" b="0">
                <a:solidFill>
                  <a:srgbClr val="1A1A2E"/>
                </a:solidFill>
                <a:latin typeface="Calibri"/>
              </a:rPr>
              <a:t>      buffer.append(data)</a:t>
            </a:r>
          </a:p>
          <a:p>
            <a:pPr/>
            <a:r>
              <a:rPr sz="1900" b="0">
                <a:solidFill>
                  <a:srgbClr val="1A1A2E"/>
                </a:solidFill>
                <a:latin typeface="Calibri"/>
              </a:rPr>
              <a:t/>
            </a:r>
          </a:p>
          <a:p>
            <a:pPr/>
            <a:r>
              <a:rPr sz="1900" b="0">
                <a:solidFill>
                  <a:srgbClr val="1A1A2E"/>
                </a:solidFill>
                <a:latin typeface="Calibri"/>
              </a:rPr>
              <a:t>Maintain a rolling window</a:t>
            </a:r>
          </a:p>
          <a:p>
            <a:pPr lvl="1"/>
            <a:r>
              <a:rPr sz="1900" b="0">
                <a:solidFill>
                  <a:srgbClr val="1A1A2E"/>
                </a:solidFill>
                <a:latin typeface="Calibri"/>
              </a:rPr>
              <a:t>  - Last N readings (e.g., 60 = 1 minute at 1 Hz)</a:t>
            </a:r>
          </a:p>
          <a:p>
            <a:pPr lvl="1"/>
            <a:r>
              <a:rPr sz="1900" b="0">
                <a:solidFill>
                  <a:srgbClr val="1A1A2E"/>
                </a:solidFill>
                <a:latin typeface="Calibri"/>
              </a:rPr>
              <a:t>  - Compute: min, max, avg, std deviation</a:t>
            </a:r>
          </a:p>
          <a:p>
            <a:pPr lvl="1"/>
            <a:r>
              <a:rPr sz="1900" b="0">
                <a:solidFill>
                  <a:srgbClr val="1A1A2E"/>
                </a:solidFill>
                <a:latin typeface="Calibri"/>
              </a:rPr>
              <a:t>  - Detect spikes: current &gt; avg + 3*stddev</a:t>
            </a:r>
          </a:p>
          <a:p>
            <a:pPr/>
            <a:r>
              <a:rPr sz="1900" b="0">
                <a:solidFill>
                  <a:srgbClr val="1A1A2E"/>
                </a:solidFill>
                <a:latin typeface="Calibri"/>
              </a:rPr>
              <a:t/>
            </a:r>
          </a:p>
          <a:p>
            <a:pPr/>
            <a:r>
              <a:rPr sz="1900" b="0">
                <a:solidFill>
                  <a:srgbClr val="1A1A2E"/>
                </a:solidFill>
                <a:latin typeface="Calibri"/>
              </a:rPr>
              <a:t>Thread-safe data sharing</a:t>
            </a:r>
          </a:p>
          <a:p>
            <a:pPr lvl="1"/>
            <a:r>
              <a:rPr sz="1900" b="0">
                <a:solidFill>
                  <a:srgbClr val="1A1A2E"/>
                </a:solidFill>
                <a:latin typeface="Calibri"/>
              </a:rPr>
              <a:t>  - threading.Lock protects the buffer</a:t>
            </a:r>
          </a:p>
          <a:p>
            <a:pPr lvl="1"/>
            <a:r>
              <a:rPr sz="1900" b="0">
                <a:solidFill>
                  <a:srgbClr val="1A1A2E"/>
                </a:solidFill>
                <a:latin typeface="Calibri"/>
              </a:rPr>
              <a:t>  - Reader thread writes, Flask thread reads</a:t>
            </a:r>
          </a:p>
        </p:txBody>
      </p:sp>
      <p:sp>
        <p:nvSpPr>
          <p:cNvPr id="7" name="TextBox 6"/>
          <p:cNvSpPr txBox="1"/>
          <p:nvPr/>
        </p:nvSpPr>
        <p:spPr>
          <a:xfrm>
            <a:off x="457200" y="6400800"/>
            <a:ext cx="2742840" cy="273960"/>
          </a:xfrm>
          <a:prstGeom prst="rect">
            <a:avLst/>
          </a:prstGeom>
          <a:noFill/>
        </p:spPr>
        <p:txBody>
          <a:bodyPr wrap="square"/>
          <a:lstStyle/>
          <a:p>
            <a:pPr algn="l"/>
            <a:r>
              <a:rPr sz="630" b="0">
                <a:solidFill>
                  <a:srgbClr val="808080"/>
                </a:solidFill>
                <a:latin typeface="Calibri"/>
              </a:rPr>
              <a:t>Build Path: AP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Picture Placeholder 2"/>
          <p:cNvSpPr>
            <a:spLocks noGrp="1"/>
          </p:cNvSpPr>
          <p:nvPr>
            <p:ph type="pic" idx="1"/>
          </p:nvPr>
        </p:nvSpPr>
        <p:spPr/>
      </p:sp>
      <p:sp>
        <p:nvSpPr>
          <p:cNvPr id="4" name="Text Placeholder 3"/>
          <p:cNvSpPr>
            <a:spLocks noGrp="1"/>
          </p:cNvSpPr>
          <p:nvPr>
            <p:ph type="body" idx="2" sz="half"/>
          </p:nvPr>
        </p:nvSpPr>
        <p:spPr/>
        <p:txBody>
          <a:bodyPr/>
          <a:lstStyle/>
          <a:p/>
        </p:txBody>
      </p:sp>
      <p:sp>
        <p:nvSpPr>
          <p:cNvPr id="5" name="TextBox 4"/>
          <p:cNvSpPr txBox="1"/>
          <p:nvPr/>
        </p:nvSpPr>
        <p:spPr>
          <a:xfrm>
            <a:off x="457200" y="274320"/>
            <a:ext cx="8229240" cy="731160"/>
          </a:xfrm>
          <a:prstGeom prst="rect">
            <a:avLst/>
          </a:prstGeom>
          <a:noFill/>
        </p:spPr>
        <p:txBody>
          <a:bodyPr wrap="square"/>
          <a:lstStyle/>
          <a:p>
            <a:pPr algn="l"/>
            <a:r>
              <a:rPr sz="2960" b="1">
                <a:solidFill>
                  <a:srgbClr val="1A1A2E"/>
                </a:solidFill>
                <a:latin typeface="Calibri"/>
              </a:rPr>
              <a:t>Flask API: Serving Sensor Data</a:t>
            </a:r>
          </a:p>
        </p:txBody>
      </p:sp>
      <p:sp>
        <p:nvSpPr>
          <p:cNvPr id="6" name="TextBox 5"/>
          <p:cNvSpPr txBox="1"/>
          <p:nvPr/>
        </p:nvSpPr>
        <p:spPr>
          <a:xfrm>
            <a:off x="457200" y="1097280"/>
            <a:ext cx="8229240" cy="5028840"/>
          </a:xfrm>
          <a:prstGeom prst="rect">
            <a:avLst/>
          </a:prstGeom>
          <a:noFill/>
        </p:spPr>
        <p:txBody>
          <a:bodyPr wrap="square"/>
          <a:lstStyle/>
          <a:p>
            <a:pPr algn="l"/>
            <a:r>
              <a:rPr sz="1900" b="0">
                <a:solidFill>
                  <a:srgbClr val="1A1A2E"/>
                </a:solidFill>
                <a:latin typeface="Calibri"/>
              </a:rPr>
              <a:t/>
            </a:r>
          </a:p>
          <a:p>
            <a:pPr/>
            <a:r>
              <a:rPr sz="1900" b="0">
                <a:solidFill>
                  <a:srgbClr val="1A1A2E"/>
                </a:solidFill>
                <a:latin typeface="Calibri"/>
              </a:rPr>
              <a:t>Minimal Flask application</a:t>
            </a:r>
          </a:p>
          <a:p>
            <a:pPr lvl="1"/>
            <a:r>
              <a:rPr sz="1900" b="0">
                <a:solidFill>
                  <a:srgbClr val="1A1A2E"/>
                </a:solidFill>
                <a:latin typeface="Calibri"/>
              </a:rPr>
              <a:t>  from flask import Flask, jsonify</a:t>
            </a:r>
          </a:p>
          <a:p>
            <a:pPr lvl="1"/>
            <a:r>
              <a:rPr sz="1900" b="0">
                <a:solidFill>
                  <a:srgbClr val="1A1A2E"/>
                </a:solidFill>
                <a:latin typeface="Calibri"/>
              </a:rPr>
              <a:t>  app = Flask(__name__)</a:t>
            </a:r>
          </a:p>
          <a:p>
            <a:pPr/>
            <a:r>
              <a:rPr sz="1900" b="0">
                <a:solidFill>
                  <a:srgbClr val="1A1A2E"/>
                </a:solidFill>
                <a:latin typeface="Calibri"/>
              </a:rPr>
              <a:t/>
            </a:r>
          </a:p>
          <a:p>
            <a:pPr/>
            <a:r>
              <a:rPr sz="1900" b="0">
                <a:solidFill>
                  <a:srgbClr val="1A1A2E"/>
                </a:solidFill>
                <a:latin typeface="Calibri"/>
              </a:rPr>
              <a:t>GET /sensors -- current readings + statistics</a:t>
            </a:r>
          </a:p>
          <a:p>
            <a:pPr lvl="1"/>
            <a:r>
              <a:rPr sz="1900" b="0">
                <a:solidFill>
                  <a:srgbClr val="1A1A2E"/>
                </a:solidFill>
                <a:latin typeface="Calibri"/>
              </a:rPr>
              <a:t>  Returns: { temp, humidity, pressure, min, max, avg, anomalies }</a:t>
            </a:r>
          </a:p>
          <a:p>
            <a:pPr/>
            <a:r>
              <a:rPr sz="1900" b="0">
                <a:solidFill>
                  <a:srgbClr val="1A1A2E"/>
                </a:solidFill>
                <a:latin typeface="Calibri"/>
              </a:rPr>
              <a:t/>
            </a:r>
          </a:p>
          <a:p>
            <a:pPr/>
            <a:r>
              <a:rPr sz="1900" b="0">
                <a:solidFill>
                  <a:srgbClr val="1A1A2E"/>
                </a:solidFill>
                <a:latin typeface="Calibri"/>
              </a:rPr>
              <a:t>GET /health -- service health check</a:t>
            </a:r>
          </a:p>
          <a:p>
            <a:pPr lvl="1"/>
            <a:r>
              <a:rPr sz="1900" b="0">
                <a:solidFill>
                  <a:srgbClr val="1A1A2E"/>
                </a:solidFill>
                <a:latin typeface="Calibri"/>
              </a:rPr>
              <a:t>  Returns: { status: "ok", uptime_seconds: N }</a:t>
            </a:r>
          </a:p>
          <a:p>
            <a:pPr/>
            <a:r>
              <a:rPr sz="1900" b="0">
                <a:solidFill>
                  <a:srgbClr val="1A1A2E"/>
                </a:solidFill>
                <a:latin typeface="Calibri"/>
              </a:rPr>
              <a:t/>
            </a:r>
          </a:p>
          <a:p>
            <a:pPr/>
            <a:r>
              <a:rPr sz="1900" b="0">
                <a:solidFill>
                  <a:srgbClr val="1A1A2E"/>
                </a:solidFill>
                <a:latin typeface="Calibri"/>
              </a:rPr>
              <a:t>Run on localhost:5000</a:t>
            </a:r>
          </a:p>
          <a:p>
            <a:pPr lvl="1"/>
            <a:r>
              <a:rPr sz="1900" b="0">
                <a:solidFill>
                  <a:srgbClr val="1A1A2E"/>
                </a:solidFill>
                <a:latin typeface="Calibri"/>
              </a:rPr>
              <a:t>  app.run(host="0.0.0.0", port=5000)</a:t>
            </a:r>
          </a:p>
          <a:p>
            <a:pPr/>
            <a:r>
              <a:rPr sz="1900" b="0">
                <a:solidFill>
                  <a:srgbClr val="1A1A2E"/>
                </a:solidFill>
                <a:latin typeface="Calibri"/>
              </a:rPr>
              <a:t/>
            </a:r>
          </a:p>
          <a:p>
            <a:pPr/>
            <a:r>
              <a:rPr sz="1900" b="0">
                <a:solidFill>
                  <a:srgbClr val="1A1A2E"/>
                </a:solidFill>
                <a:latin typeface="Calibri"/>
              </a:rPr>
              <a:t>Test with curl:</a:t>
            </a:r>
          </a:p>
          <a:p>
            <a:pPr lvl="1"/>
            <a:r>
              <a:rPr sz="1900" b="0">
                <a:solidFill>
                  <a:srgbClr val="1A1A2E"/>
                </a:solidFill>
                <a:latin typeface="Calibri"/>
              </a:rPr>
              <a:t>  $ curl http://localhost:5000/sensors</a:t>
            </a:r>
          </a:p>
          <a:p>
            <a:pPr lvl="1"/>
            <a:r>
              <a:rPr sz="1900" b="0">
                <a:solidFill>
                  <a:srgbClr val="1A1A2E"/>
                </a:solidFill>
                <a:latin typeface="Calibri"/>
              </a:rPr>
              <a:t>  {\"temp\": 23.45, \"humidity\": 55.2, \"pressure\": 1013.25}</a:t>
            </a:r>
          </a:p>
        </p:txBody>
      </p:sp>
      <p:sp>
        <p:nvSpPr>
          <p:cNvPr id="7" name="TextBox 6"/>
          <p:cNvSpPr txBox="1"/>
          <p:nvPr/>
        </p:nvSpPr>
        <p:spPr>
          <a:xfrm>
            <a:off x="457200" y="6400800"/>
            <a:ext cx="2742840" cy="273960"/>
          </a:xfrm>
          <a:prstGeom prst="rect">
            <a:avLst/>
          </a:prstGeom>
          <a:noFill/>
        </p:spPr>
        <p:txBody>
          <a:bodyPr wrap="square"/>
          <a:lstStyle/>
          <a:p>
            <a:pPr algn="l"/>
            <a:r>
              <a:rPr sz="630" b="0">
                <a:solidFill>
                  <a:srgbClr val="808080"/>
                </a:solidFill>
                <a:latin typeface="Calibri"/>
              </a:rPr>
              <a:t>Build Path: AP</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Picture Placeholder 2"/>
          <p:cNvSpPr>
            <a:spLocks noGrp="1"/>
          </p:cNvSpPr>
          <p:nvPr>
            <p:ph type="pic" idx="1"/>
          </p:nvPr>
        </p:nvSpPr>
        <p:spPr/>
      </p:sp>
      <p:sp>
        <p:nvSpPr>
          <p:cNvPr id="4" name="Text Placeholder 3"/>
          <p:cNvSpPr>
            <a:spLocks noGrp="1"/>
          </p:cNvSpPr>
          <p:nvPr>
            <p:ph type="body" idx="2" sz="half"/>
          </p:nvPr>
        </p:nvSpPr>
        <p:spPr/>
        <p:txBody>
          <a:bodyPr/>
          <a:lstStyle/>
          <a:p/>
        </p:txBody>
      </p:sp>
      <p:sp>
        <p:nvSpPr>
          <p:cNvPr id="5" name="TextBox 4"/>
          <p:cNvSpPr txBox="1"/>
          <p:nvPr/>
        </p:nvSpPr>
        <p:spPr>
          <a:xfrm>
            <a:off x="457200" y="274320"/>
            <a:ext cx="8229240" cy="731160"/>
          </a:xfrm>
          <a:prstGeom prst="rect">
            <a:avLst/>
          </a:prstGeom>
          <a:noFill/>
        </p:spPr>
        <p:txBody>
          <a:bodyPr wrap="square"/>
          <a:lstStyle/>
          <a:p>
            <a:pPr algn="l"/>
            <a:r>
              <a:rPr sz="2960" b="1">
                <a:solidFill>
                  <a:srgbClr val="1A1A2E"/>
                </a:solidFill>
                <a:latin typeface="Calibri"/>
              </a:rPr>
              <a:t>Cross-Compiling the C Driver</a:t>
            </a:r>
          </a:p>
        </p:txBody>
      </p:sp>
      <p:sp>
        <p:nvSpPr>
          <p:cNvPr id="6" name="TextBox 5"/>
          <p:cNvSpPr txBox="1"/>
          <p:nvPr/>
        </p:nvSpPr>
        <p:spPr>
          <a:xfrm>
            <a:off x="457200" y="1097280"/>
            <a:ext cx="8229240" cy="5028840"/>
          </a:xfrm>
          <a:prstGeom prst="rect">
            <a:avLst/>
          </a:prstGeom>
          <a:noFill/>
        </p:spPr>
        <p:txBody>
          <a:bodyPr wrap="square"/>
          <a:lstStyle/>
          <a:p>
            <a:pPr algn="l"/>
            <a:r>
              <a:rPr sz="1900" b="0">
                <a:solidFill>
                  <a:srgbClr val="1A1A2E"/>
                </a:solidFill>
                <a:latin typeface="Calibri"/>
              </a:rPr>
              <a:t/>
            </a:r>
          </a:p>
          <a:p>
            <a:pPr/>
            <a:r>
              <a:rPr sz="1900" b="0">
                <a:solidFill>
                  <a:srgbClr val="1A1A2E"/>
                </a:solidFill>
                <a:latin typeface="Calibri"/>
              </a:rPr>
              <a:t>Use the ARM toolchain from Session 2</a:t>
            </a:r>
          </a:p>
          <a:p>
            <a:pPr lvl="1"/>
            <a:r>
              <a:rPr sz="1900" b="0">
                <a:solidFill>
                  <a:srgbClr val="1A1A2E"/>
                </a:solidFill>
                <a:latin typeface="Calibri"/>
              </a:rPr>
              <a:t>  $ export PATH=$PATH:/path/to/toolchain/bin</a:t>
            </a:r>
          </a:p>
          <a:p>
            <a:pPr lvl="1"/>
            <a:r>
              <a:rPr sz="1900" b="0">
                <a:solidFill>
                  <a:srgbClr val="1A1A2E"/>
                </a:solidFill>
                <a:latin typeface="Calibri"/>
              </a:rPr>
              <a:t>  $ arm-linux-gcc -o bme280 bme280.c -static</a:t>
            </a:r>
          </a:p>
          <a:p>
            <a:pPr/>
            <a:r>
              <a:rPr sz="1900" b="0">
                <a:solidFill>
                  <a:srgbClr val="1A1A2E"/>
                </a:solidFill>
                <a:latin typeface="Calibri"/>
              </a:rPr>
              <a:t/>
            </a:r>
          </a:p>
          <a:p>
            <a:pPr/>
            <a:r>
              <a:rPr sz="1900" b="0">
                <a:solidFill>
                  <a:srgbClr val="1A1A2E"/>
                </a:solidFill>
                <a:latin typeface="Calibri"/>
              </a:rPr>
              <a:t>Static linking: no shared library dependencies</a:t>
            </a:r>
          </a:p>
          <a:p>
            <a:pPr lvl="1"/>
            <a:r>
              <a:rPr sz="1900" b="0">
                <a:solidFill>
                  <a:srgbClr val="1A1A2E"/>
                </a:solidFill>
                <a:latin typeface="Calibri"/>
              </a:rPr>
              <a:t>  - All code included in the binary</a:t>
            </a:r>
          </a:p>
          <a:p>
            <a:pPr lvl="1"/>
            <a:r>
              <a:rPr sz="1900" b="0">
                <a:solidFill>
                  <a:srgbClr val="1A1A2E"/>
                </a:solidFill>
                <a:latin typeface="Calibri"/>
              </a:rPr>
              <a:t>  - Larger file, but guaranteed to run on target</a:t>
            </a:r>
          </a:p>
          <a:p>
            <a:pPr lvl="1"/>
            <a:r>
              <a:rPr sz="1900" b="0">
                <a:solidFill>
                  <a:srgbClr val="1A1A2E"/>
                </a:solidFill>
                <a:latin typeface="Calibri"/>
              </a:rPr>
              <a:t>  - Check with: file bme280 -&gt; "ELF 32-bit LSB, ARM, statically linked"</a:t>
            </a:r>
          </a:p>
          <a:p>
            <a:pPr/>
            <a:r>
              <a:rPr sz="1900" b="0">
                <a:solidFill>
                  <a:srgbClr val="1A1A2E"/>
                </a:solidFill>
                <a:latin typeface="Calibri"/>
              </a:rPr>
              <a:t/>
            </a:r>
          </a:p>
          <a:p>
            <a:pPr/>
            <a:r>
              <a:rPr sz="1900" b="0">
                <a:solidFill>
                  <a:srgbClr val="1A1A2E"/>
                </a:solidFill>
                <a:latin typeface="Calibri"/>
              </a:rPr>
              <a:t>Copy to target rootfs</a:t>
            </a:r>
          </a:p>
          <a:p>
            <a:pPr lvl="1"/>
            <a:r>
              <a:rPr sz="1900" b="0">
                <a:solidFill>
                  <a:srgbClr val="1A1A2E"/>
                </a:solidFill>
                <a:latin typeface="Calibri"/>
              </a:rPr>
              <a:t>  $ scp bme280 root@192.168.1.100:/usr/bin/</a:t>
            </a:r>
          </a:p>
          <a:p>
            <a:pPr lvl="1"/>
            <a:r>
              <a:rPr sz="1900" b="0">
                <a:solidFill>
                  <a:srgbClr val="1A1A2E"/>
                </a:solidFill>
                <a:latin typeface="Calibri"/>
              </a:rPr>
              <a:t>  Or: add to Buildroot/Yocto rootfs image</a:t>
            </a:r>
          </a:p>
          <a:p>
            <a:pPr/>
            <a:r>
              <a:rPr sz="1900" b="0">
                <a:solidFill>
                  <a:srgbClr val="1A1A2E"/>
                </a:solidFill>
                <a:latin typeface="Calibri"/>
              </a:rPr>
              <a:t/>
            </a:r>
          </a:p>
          <a:p>
            <a:pPr/>
            <a:r>
              <a:rPr sz="1900" b="0">
                <a:solidFill>
                  <a:srgbClr val="1A1A2E"/>
                </a:solidFill>
                <a:latin typeface="Calibri"/>
              </a:rPr>
              <a:t>Test on target</a:t>
            </a:r>
          </a:p>
          <a:p>
            <a:pPr lvl="1"/>
            <a:r>
              <a:rPr sz="1900" b="0">
                <a:solidFill>
                  <a:srgbClr val="1A1A2E"/>
                </a:solidFill>
                <a:latin typeface="Calibri"/>
              </a:rPr>
              <a:t>  $ ./bme280</a:t>
            </a:r>
          </a:p>
          <a:p>
            <a:pPr lvl="1"/>
            <a:r>
              <a:rPr sz="1900" b="0">
                <a:solidFill>
                  <a:srgbClr val="1A1A2E"/>
                </a:solidFill>
                <a:latin typeface="Calibri"/>
              </a:rPr>
              <a:t>  -&gt; Should print JSON lines with sensor data</a:t>
            </a:r>
          </a:p>
        </p:txBody>
      </p:sp>
      <p:sp>
        <p:nvSpPr>
          <p:cNvPr id="7" name="TextBox 6"/>
          <p:cNvSpPr txBox="1"/>
          <p:nvPr/>
        </p:nvSpPr>
        <p:spPr>
          <a:xfrm>
            <a:off x="457200" y="6400800"/>
            <a:ext cx="2742840" cy="273960"/>
          </a:xfrm>
          <a:prstGeom prst="rect">
            <a:avLst/>
          </a:prstGeom>
          <a:noFill/>
        </p:spPr>
        <p:txBody>
          <a:bodyPr wrap="square"/>
          <a:lstStyle/>
          <a:p>
            <a:pPr algn="l"/>
            <a:r>
              <a:rPr sz="630" b="0">
                <a:solidFill>
                  <a:srgbClr val="808080"/>
                </a:solidFill>
                <a:latin typeface="Calibri"/>
              </a:rPr>
              <a:t>Build Path: AP</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Picture Placeholder 2"/>
          <p:cNvSpPr>
            <a:spLocks noGrp="1"/>
          </p:cNvSpPr>
          <p:nvPr>
            <p:ph type="pic" idx="1"/>
          </p:nvPr>
        </p:nvSpPr>
        <p:spPr/>
      </p:sp>
      <p:sp>
        <p:nvSpPr>
          <p:cNvPr id="4" name="Text Placeholder 3"/>
          <p:cNvSpPr>
            <a:spLocks noGrp="1"/>
          </p:cNvSpPr>
          <p:nvPr>
            <p:ph type="body" idx="2" sz="half"/>
          </p:nvPr>
        </p:nvSpPr>
        <p:spPr/>
        <p:txBody>
          <a:bodyPr/>
          <a:lstStyle/>
          <a:p/>
        </p:txBody>
      </p:sp>
      <p:sp>
        <p:nvSpPr>
          <p:cNvPr id="5" name="TextBox 4"/>
          <p:cNvSpPr txBox="1"/>
          <p:nvPr/>
        </p:nvSpPr>
        <p:spPr>
          <a:xfrm>
            <a:off x="457200" y="274320"/>
            <a:ext cx="8229240" cy="731160"/>
          </a:xfrm>
          <a:prstGeom prst="rect">
            <a:avLst/>
          </a:prstGeom>
          <a:noFill/>
        </p:spPr>
        <p:txBody>
          <a:bodyPr wrap="square"/>
          <a:lstStyle/>
          <a:p>
            <a:pPr algn="l"/>
            <a:r>
              <a:rPr sz="2960" b="1">
                <a:solidFill>
                  <a:srgbClr val="1A1A2E"/>
                </a:solidFill>
                <a:latin typeface="Calibri"/>
              </a:rPr>
              <a:t>Systemd Service: Auto-Start at Boot</a:t>
            </a:r>
          </a:p>
        </p:txBody>
      </p:sp>
      <p:sp>
        <p:nvSpPr>
          <p:cNvPr id="6" name="TextBox 5"/>
          <p:cNvSpPr txBox="1"/>
          <p:nvPr/>
        </p:nvSpPr>
        <p:spPr>
          <a:xfrm>
            <a:off x="457200" y="1097280"/>
            <a:ext cx="8229240" cy="5028840"/>
          </a:xfrm>
          <a:prstGeom prst="rect">
            <a:avLst/>
          </a:prstGeom>
          <a:noFill/>
        </p:spPr>
        <p:txBody>
          <a:bodyPr wrap="square"/>
          <a:lstStyle/>
          <a:p>
            <a:pPr algn="l"/>
            <a:r>
              <a:rPr sz="1900" b="0">
                <a:solidFill>
                  <a:srgbClr val="1A1A2E"/>
                </a:solidFill>
                <a:latin typeface="Calibri"/>
              </a:rPr>
              <a:t/>
            </a:r>
          </a:p>
          <a:p>
            <a:pPr/>
            <a:r>
              <a:rPr sz="1900" b="0">
                <a:solidFill>
                  <a:srgbClr val="1A1A2E"/>
                </a:solidFill>
                <a:latin typeface="Calibri"/>
              </a:rPr>
              <a:t>Create /etc/systemd/system/sensor-bridge.service</a:t>
            </a:r>
          </a:p>
          <a:p>
            <a:pPr/>
            <a:r>
              <a:rPr sz="1900" b="0">
                <a:solidFill>
                  <a:srgbClr val="1A1A2E"/>
                </a:solidFill>
                <a:latin typeface="Calibri"/>
              </a:rPr>
              <a:t/>
            </a:r>
          </a:p>
          <a:p>
            <a:pPr/>
            <a:r>
              <a:rPr sz="1900" b="0">
                <a:solidFill>
                  <a:srgbClr val="1A1A2E"/>
                </a:solidFill>
                <a:latin typeface="Calibri"/>
              </a:rPr>
              <a:t>[Unit]</a:t>
            </a:r>
          </a:p>
          <a:p>
            <a:pPr lvl="1"/>
            <a:r>
              <a:rPr sz="1900" b="0">
                <a:solidFill>
                  <a:srgbClr val="1A1A2E"/>
                </a:solidFill>
                <a:latin typeface="Calibri"/>
              </a:rPr>
              <a:t>Description=Smart Sensor Bridge</a:t>
            </a:r>
          </a:p>
          <a:p>
            <a:pPr lvl="1"/>
            <a:r>
              <a:rPr sz="1900" b="0">
                <a:solidFill>
                  <a:srgbClr val="1A1A2E"/>
                </a:solidFill>
                <a:latin typeface="Calibri"/>
              </a:rPr>
              <a:t>After=network.target</a:t>
            </a:r>
          </a:p>
          <a:p>
            <a:pPr/>
            <a:r>
              <a:rPr sz="1900" b="0">
                <a:solidFill>
                  <a:srgbClr val="1A1A2E"/>
                </a:solidFill>
                <a:latin typeface="Calibri"/>
              </a:rPr>
              <a:t/>
            </a:r>
          </a:p>
          <a:p>
            <a:pPr/>
            <a:r>
              <a:rPr sz="1900" b="0">
                <a:solidFill>
                  <a:srgbClr val="1A1A2E"/>
                </a:solidFill>
                <a:latin typeface="Calibri"/>
              </a:rPr>
              <a:t>[Service]</a:t>
            </a:r>
          </a:p>
          <a:p>
            <a:pPr lvl="1"/>
            <a:r>
              <a:rPr sz="1900" b="0">
                <a:solidFill>
                  <a:srgbClr val="1A1A2E"/>
                </a:solidFill>
                <a:latin typeface="Calibri"/>
              </a:rPr>
              <a:t>ExecStart=/usr/bin/sensor-bridge.sh</a:t>
            </a:r>
          </a:p>
          <a:p>
            <a:pPr lvl="1"/>
            <a:r>
              <a:rPr sz="1900" b="0">
                <a:solidFill>
                  <a:srgbClr val="1A1A2E"/>
                </a:solidFill>
                <a:latin typeface="Calibri"/>
              </a:rPr>
              <a:t>Restart=always</a:t>
            </a:r>
          </a:p>
          <a:p>
            <a:pPr lvl="1"/>
            <a:r>
              <a:rPr sz="1900" b="0">
                <a:solidFill>
                  <a:srgbClr val="1A1A2E"/>
                </a:solidFill>
                <a:latin typeface="Calibri"/>
              </a:rPr>
              <a:t>RestartSec=5</a:t>
            </a:r>
          </a:p>
          <a:p>
            <a:pPr lvl="1"/>
            <a:r>
              <a:rPr sz="1900" b="0">
                <a:solidFill>
                  <a:srgbClr val="1A1A2E"/>
                </a:solidFill>
                <a:latin typeface="Calibri"/>
              </a:rPr>
              <a:t>StandardOutput=journal</a:t>
            </a:r>
          </a:p>
          <a:p>
            <a:pPr lvl="1"/>
            <a:r>
              <a:rPr sz="1900" b="0">
                <a:solidFill>
                  <a:srgbClr val="1A1A2E"/>
                </a:solidFill>
                <a:latin typeface="Calibri"/>
              </a:rPr>
              <a:t>StandardError=journal</a:t>
            </a:r>
          </a:p>
          <a:p>
            <a:pPr/>
            <a:r>
              <a:rPr sz="1900" b="0">
                <a:solidFill>
                  <a:srgbClr val="1A1A2E"/>
                </a:solidFill>
                <a:latin typeface="Calibri"/>
              </a:rPr>
              <a:t/>
            </a:r>
          </a:p>
          <a:p>
            <a:pPr/>
            <a:r>
              <a:rPr sz="1900" b="0">
                <a:solidFill>
                  <a:srgbClr val="1A1A2E"/>
                </a:solidFill>
                <a:latin typeface="Calibri"/>
              </a:rPr>
              <a:t>[Install]</a:t>
            </a:r>
          </a:p>
          <a:p>
            <a:pPr lvl="1"/>
            <a:r>
              <a:rPr sz="1900" b="0">
                <a:solidFill>
                  <a:srgbClr val="1A1A2E"/>
                </a:solidFill>
                <a:latin typeface="Calibri"/>
              </a:rPr>
              <a:t>WantedBy=multi-user.target</a:t>
            </a:r>
          </a:p>
          <a:p>
            <a:pPr/>
            <a:r>
              <a:rPr sz="1900" b="0">
                <a:solidFill>
                  <a:srgbClr val="1A1A2E"/>
                </a:solidFill>
                <a:latin typeface="Calibri"/>
              </a:rPr>
              <a:t/>
            </a:r>
          </a:p>
          <a:p>
            <a:pPr/>
            <a:r>
              <a:rPr sz="1900" b="0">
                <a:solidFill>
                  <a:srgbClr val="1A1A2E"/>
                </a:solidFill>
                <a:latin typeface="Calibri"/>
              </a:rPr>
              <a:t>Enable and start:</a:t>
            </a:r>
          </a:p>
          <a:p>
            <a:pPr lvl="1"/>
            <a:r>
              <a:rPr sz="1900" b="0">
                <a:solidFill>
                  <a:srgbClr val="1A1A2E"/>
                </a:solidFill>
                <a:latin typeface="Calibri"/>
              </a:rPr>
              <a:t>  $ sudo systemctl enable sensor-bridge.service</a:t>
            </a:r>
          </a:p>
          <a:p>
            <a:pPr lvl="1"/>
            <a:r>
              <a:rPr sz="1900" b="0">
                <a:solidFill>
                  <a:srgbClr val="1A1A2E"/>
                </a:solidFill>
                <a:latin typeface="Calibri"/>
              </a:rPr>
              <a:t>  $ sudo systemctl start sensor-bridge.service</a:t>
            </a:r>
          </a:p>
        </p:txBody>
      </p:sp>
      <p:sp>
        <p:nvSpPr>
          <p:cNvPr id="7" name="TextBox 6"/>
          <p:cNvSpPr txBox="1"/>
          <p:nvPr/>
        </p:nvSpPr>
        <p:spPr>
          <a:xfrm>
            <a:off x="457200" y="6400800"/>
            <a:ext cx="2742840" cy="273960"/>
          </a:xfrm>
          <a:prstGeom prst="rect">
            <a:avLst/>
          </a:prstGeom>
          <a:noFill/>
        </p:spPr>
        <p:txBody>
          <a:bodyPr wrap="square"/>
          <a:lstStyle/>
          <a:p>
            <a:pPr algn="l"/>
            <a:r>
              <a:rPr sz="630" b="0">
                <a:solidFill>
                  <a:srgbClr val="808080"/>
                </a:solidFill>
                <a:latin typeface="Calibri"/>
              </a:rPr>
              <a:t>Build Path: AP</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Picture Placeholder 2"/>
          <p:cNvSpPr>
            <a:spLocks noGrp="1"/>
          </p:cNvSpPr>
          <p:nvPr>
            <p:ph type="pic" idx="1"/>
          </p:nvPr>
        </p:nvSpPr>
        <p:spPr/>
      </p:sp>
      <p:sp>
        <p:nvSpPr>
          <p:cNvPr id="4" name="Text Placeholder 3"/>
          <p:cNvSpPr>
            <a:spLocks noGrp="1"/>
          </p:cNvSpPr>
          <p:nvPr>
            <p:ph type="body" idx="2" sz="half"/>
          </p:nvPr>
        </p:nvSpPr>
        <p:spPr/>
        <p:txBody>
          <a:bodyPr/>
          <a:lstStyle/>
          <a:p/>
        </p:txBody>
      </p:sp>
      <p:sp>
        <p:nvSpPr>
          <p:cNvPr id="5" name="TextBox 4"/>
          <p:cNvSpPr txBox="1"/>
          <p:nvPr/>
        </p:nvSpPr>
        <p:spPr>
          <a:xfrm>
            <a:off x="457200" y="274320"/>
            <a:ext cx="8229240" cy="731160"/>
          </a:xfrm>
          <a:prstGeom prst="rect">
            <a:avLst/>
          </a:prstGeom>
          <a:noFill/>
        </p:spPr>
        <p:txBody>
          <a:bodyPr wrap="square"/>
          <a:lstStyle/>
          <a:p>
            <a:pPr algn="l"/>
            <a:r>
              <a:rPr sz="2960" b="1">
                <a:solidFill>
                  <a:srgbClr val="1A1A2E"/>
                </a:solidFill>
                <a:latin typeface="Calibri"/>
              </a:rPr>
              <a:t>Systemd: Logging and Debugging</a:t>
            </a:r>
          </a:p>
        </p:txBody>
      </p:sp>
      <p:sp>
        <p:nvSpPr>
          <p:cNvPr id="6" name="TextBox 5"/>
          <p:cNvSpPr txBox="1"/>
          <p:nvPr/>
        </p:nvSpPr>
        <p:spPr>
          <a:xfrm>
            <a:off x="457200" y="1097280"/>
            <a:ext cx="8229240" cy="5028840"/>
          </a:xfrm>
          <a:prstGeom prst="rect">
            <a:avLst/>
          </a:prstGeom>
          <a:noFill/>
        </p:spPr>
        <p:txBody>
          <a:bodyPr wrap="square"/>
          <a:lstStyle/>
          <a:p>
            <a:pPr algn="l"/>
            <a:r>
              <a:rPr sz="1900" b="0">
                <a:solidFill>
                  <a:srgbClr val="1A1A2E"/>
                </a:solidFill>
                <a:latin typeface="Calibri"/>
              </a:rPr>
              <a:t/>
            </a:r>
          </a:p>
          <a:p>
            <a:pPr/>
            <a:r>
              <a:rPr sz="1900" b="0">
                <a:solidFill>
                  <a:srgbClr val="1A1A2E"/>
                </a:solidFill>
                <a:latin typeface="Calibri"/>
              </a:rPr>
              <a:t>View service logs</a:t>
            </a:r>
          </a:p>
          <a:p>
            <a:pPr lvl="1"/>
            <a:r>
              <a:rPr sz="1900" b="0">
                <a:solidFill>
                  <a:srgbClr val="1A1A2E"/>
                </a:solidFill>
                <a:latin typeface="Calibri"/>
              </a:rPr>
              <a:t>  $ journalctl -u sensor-bridge.service</a:t>
            </a:r>
          </a:p>
          <a:p>
            <a:pPr lvl="1"/>
            <a:r>
              <a:rPr sz="1900" b="0">
                <a:solidFill>
                  <a:srgbClr val="1A1A2E"/>
                </a:solidFill>
                <a:latin typeface="Calibri"/>
              </a:rPr>
              <a:t>  $ journalctl -u sensor-bridge.service -f   # follow mode</a:t>
            </a:r>
          </a:p>
          <a:p>
            <a:pPr lvl="1"/>
            <a:r>
              <a:rPr sz="1900" b="0">
                <a:solidFill>
                  <a:srgbClr val="1A1A2E"/>
                </a:solidFill>
                <a:latin typeface="Calibri"/>
              </a:rPr>
              <a:t>  $ journalctl -u sensor-bridge.service --since "5 min ago"</a:t>
            </a:r>
          </a:p>
          <a:p>
            <a:pPr/>
            <a:r>
              <a:rPr sz="1900" b="0">
                <a:solidFill>
                  <a:srgbClr val="1A1A2E"/>
                </a:solidFill>
                <a:latin typeface="Calibri"/>
              </a:rPr>
              <a:t/>
            </a:r>
          </a:p>
          <a:p>
            <a:pPr/>
            <a:r>
              <a:rPr sz="1900" b="0">
                <a:solidFill>
                  <a:srgbClr val="1A1A2E"/>
                </a:solidFill>
                <a:latin typeface="Calibri"/>
              </a:rPr>
              <a:t>Check service status</a:t>
            </a:r>
          </a:p>
          <a:p>
            <a:pPr lvl="1"/>
            <a:r>
              <a:rPr sz="1900" b="0">
                <a:solidFill>
                  <a:srgbClr val="1A1A2E"/>
                </a:solidFill>
                <a:latin typeface="Calibri"/>
              </a:rPr>
              <a:t>  $ systemctl status sensor-bridge.service</a:t>
            </a:r>
          </a:p>
          <a:p>
            <a:pPr lvl="1"/>
            <a:r>
              <a:rPr sz="1900" b="0">
                <a:solidFill>
                  <a:srgbClr val="1A1A2E"/>
                </a:solidFill>
                <a:latin typeface="Calibri"/>
              </a:rPr>
              <a:t>  -&gt; Shows: active/inactive, PID, memory, recent log lines</a:t>
            </a:r>
          </a:p>
          <a:p>
            <a:pPr/>
            <a:r>
              <a:rPr sz="1900" b="0">
                <a:solidFill>
                  <a:srgbClr val="1A1A2E"/>
                </a:solidFill>
                <a:latin typeface="Calibri"/>
              </a:rPr>
              <a:t/>
            </a:r>
          </a:p>
          <a:p>
            <a:pPr/>
            <a:r>
              <a:rPr sz="1900" b="0">
                <a:solidFill>
                  <a:srgbClr val="1A1A2E"/>
                </a:solidFill>
                <a:latin typeface="Calibri"/>
              </a:rPr>
              <a:t>Common issues</a:t>
            </a:r>
          </a:p>
          <a:p>
            <a:pPr lvl="1"/>
            <a:r>
              <a:rPr sz="1900" b="0">
                <a:solidFill>
                  <a:srgbClr val="1A1A2E"/>
                </a:solidFill>
                <a:latin typeface="Calibri"/>
              </a:rPr>
              <a:t>  - Service fails immediately: check ExecStart path, permissions</a:t>
            </a:r>
          </a:p>
          <a:p>
            <a:pPr lvl="1"/>
            <a:r>
              <a:rPr sz="1900" b="0">
                <a:solidFill>
                  <a:srgbClr val="1A1A2E"/>
                </a:solidFill>
                <a:latin typeface="Calibri"/>
              </a:rPr>
              <a:t>  - Service starts but no data: check I2C device, sensor wiring</a:t>
            </a:r>
          </a:p>
          <a:p>
            <a:pPr lvl="1"/>
            <a:r>
              <a:rPr sz="1900" b="0">
                <a:solidFill>
                  <a:srgbClr val="1A1A2E"/>
                </a:solidFill>
                <a:latin typeface="Calibri"/>
              </a:rPr>
              <a:t>  - Service restarts repeatedly: check RestartSec, fix root cause</a:t>
            </a:r>
          </a:p>
          <a:p>
            <a:pPr/>
            <a:r>
              <a:rPr sz="1900" b="0">
                <a:solidFill>
                  <a:srgbClr val="1A1A2E"/>
                </a:solidFill>
                <a:latin typeface="Calibri"/>
              </a:rPr>
              <a:t/>
            </a:r>
          </a:p>
          <a:p>
            <a:pPr/>
            <a:r>
              <a:rPr sz="1900" b="0">
                <a:solidFill>
                  <a:srgbClr val="1A1A2E"/>
                </a:solidFill>
                <a:latin typeface="Calibri"/>
              </a:rPr>
              <a:t>Resource limits (optional)</a:t>
            </a:r>
          </a:p>
          <a:p>
            <a:pPr lvl="1"/>
            <a:r>
              <a:rPr sz="1900" b="0">
                <a:solidFill>
                  <a:srgbClr val="1A1A2E"/>
                </a:solidFill>
                <a:latin typeface="Calibri"/>
              </a:rPr>
              <a:t>  MemoryMax=50M -- kill if using too much RAM</a:t>
            </a:r>
          </a:p>
          <a:p>
            <a:pPr lvl="1"/>
            <a:r>
              <a:rPr sz="1900" b="0">
                <a:solidFill>
                  <a:srgbClr val="1A1A2E"/>
                </a:solidFill>
                <a:latin typeface="Calibri"/>
              </a:rPr>
              <a:t>  CPUQuota=20% -- limit CPU usage</a:t>
            </a:r>
          </a:p>
        </p:txBody>
      </p:sp>
      <p:sp>
        <p:nvSpPr>
          <p:cNvPr id="7" name="TextBox 6"/>
          <p:cNvSpPr txBox="1"/>
          <p:nvPr/>
        </p:nvSpPr>
        <p:spPr>
          <a:xfrm>
            <a:off x="457200" y="6400800"/>
            <a:ext cx="2742840" cy="273960"/>
          </a:xfrm>
          <a:prstGeom prst="rect">
            <a:avLst/>
          </a:prstGeom>
          <a:noFill/>
        </p:spPr>
        <p:txBody>
          <a:bodyPr wrap="square"/>
          <a:lstStyle/>
          <a:p>
            <a:pPr algn="l"/>
            <a:r>
              <a:rPr sz="630" b="0">
                <a:solidFill>
                  <a:srgbClr val="808080"/>
                </a:solidFill>
                <a:latin typeface="Calibri"/>
              </a:rPr>
              <a:t>Build Path: AP</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Picture Placeholder 2"/>
          <p:cNvSpPr>
            <a:spLocks noGrp="1"/>
          </p:cNvSpPr>
          <p:nvPr>
            <p:ph type="pic" idx="1"/>
          </p:nvPr>
        </p:nvSpPr>
        <p:spPr/>
      </p:sp>
      <p:sp>
        <p:nvSpPr>
          <p:cNvPr id="4" name="Text Placeholder 3"/>
          <p:cNvSpPr>
            <a:spLocks noGrp="1"/>
          </p:cNvSpPr>
          <p:nvPr>
            <p:ph type="body" idx="2" sz="half"/>
          </p:nvPr>
        </p:nvSpPr>
        <p:spPr/>
        <p:txBody>
          <a:bodyPr/>
          <a:lstStyle/>
          <a:p/>
        </p:txBody>
      </p:sp>
      <p:sp>
        <p:nvSpPr>
          <p:cNvPr id="5" name="TextBox 4"/>
          <p:cNvSpPr txBox="1"/>
          <p:nvPr/>
        </p:nvSpPr>
        <p:spPr>
          <a:xfrm>
            <a:off x="457200" y="274320"/>
            <a:ext cx="8229240" cy="731160"/>
          </a:xfrm>
          <a:prstGeom prst="rect">
            <a:avLst/>
          </a:prstGeom>
          <a:noFill/>
        </p:spPr>
        <p:txBody>
          <a:bodyPr wrap="square"/>
          <a:lstStyle/>
          <a:p>
            <a:pPr algn="l"/>
            <a:r>
              <a:rPr sz="2960" b="1">
                <a:solidFill>
                  <a:srgbClr val="1A1A2E"/>
                </a:solidFill>
                <a:latin typeface="Calibri"/>
              </a:rPr>
              <a:t>Lab 2: Deploy the Sensor Service</a:t>
            </a:r>
          </a:p>
        </p:txBody>
      </p:sp>
      <p:sp>
        <p:nvSpPr>
          <p:cNvPr id="6" name="TextBox 5"/>
          <p:cNvSpPr txBox="1"/>
          <p:nvPr/>
        </p:nvSpPr>
        <p:spPr>
          <a:xfrm>
            <a:off x="457200" y="1097280"/>
            <a:ext cx="8229240" cy="5028840"/>
          </a:xfrm>
          <a:prstGeom prst="rect">
            <a:avLst/>
          </a:prstGeom>
          <a:noFill/>
        </p:spPr>
        <p:txBody>
          <a:bodyPr wrap="square"/>
          <a:lstStyle/>
          <a:p>
            <a:pPr algn="l"/>
            <a:r>
              <a:rPr sz="1900" b="0">
                <a:solidFill>
                  <a:srgbClr val="1A1A2E"/>
                </a:solidFill>
                <a:latin typeface="Calibri"/>
              </a:rPr>
              <a:t/>
            </a:r>
          </a:p>
          <a:p>
            <a:pPr/>
            <a:r>
              <a:rPr sz="1900" b="0">
                <a:solidFill>
                  <a:srgbClr val="1A1A2E"/>
                </a:solidFill>
                <a:latin typeface="Calibri"/>
              </a:rPr>
              <a:t>Objective: full sensor service running on RPi4</a:t>
            </a:r>
          </a:p>
          <a:p>
            <a:pPr/>
            <a:r>
              <a:rPr sz="1900" b="0">
                <a:solidFill>
                  <a:srgbClr val="1A1A2E"/>
                </a:solidFill>
                <a:latin typeface="Calibri"/>
              </a:rPr>
              <a:t/>
            </a:r>
          </a:p>
          <a:p>
            <a:pPr/>
            <a:r>
              <a:rPr sz="1900" b="0">
                <a:solidFill>
                  <a:srgbClr val="1A1A2E"/>
                </a:solidFill>
                <a:latin typeface="Calibri"/>
              </a:rPr>
              <a:t>Step 1: Cross-compile bme280.c</a:t>
            </a:r>
          </a:p>
          <a:p>
            <a:pPr lvl="1"/>
            <a:r>
              <a:rPr sz="1900" b="0">
                <a:solidFill>
                  <a:srgbClr val="1A1A2E"/>
                </a:solidFill>
                <a:latin typeface="Calibri"/>
              </a:rPr>
              <a:t>  $ arm-linux-gcc -o bme280 bme280.c -static</a:t>
            </a:r>
          </a:p>
          <a:p>
            <a:pPr/>
            <a:r>
              <a:rPr sz="1900" b="0">
                <a:solidFill>
                  <a:srgbClr val="1A1A2E"/>
                </a:solidFill>
                <a:latin typeface="Calibri"/>
              </a:rPr>
              <a:t/>
            </a:r>
          </a:p>
          <a:p>
            <a:pPr/>
            <a:r>
              <a:rPr sz="1900" b="0">
                <a:solidFill>
                  <a:srgbClr val="1A1A2E"/>
                </a:solidFill>
                <a:latin typeface="Calibri"/>
              </a:rPr>
              <a:t>Step 2: Copy binaries to RPi4</a:t>
            </a:r>
          </a:p>
          <a:p>
            <a:pPr lvl="1"/>
            <a:r>
              <a:rPr sz="1900" b="0">
                <a:solidFill>
                  <a:srgbClr val="1A1A2E"/>
                </a:solidFill>
                <a:latin typeface="Calibri"/>
              </a:rPr>
              <a:t>  $ scp bme280 sensor-bridge.py sensor-bridge.sh root@rpi:/usr/bin/</a:t>
            </a:r>
          </a:p>
          <a:p>
            <a:pPr/>
            <a:r>
              <a:rPr sz="1900" b="0">
                <a:solidFill>
                  <a:srgbClr val="1A1A2E"/>
                </a:solidFill>
                <a:latin typeface="Calibri"/>
              </a:rPr>
              <a:t/>
            </a:r>
          </a:p>
          <a:p>
            <a:pPr/>
            <a:r>
              <a:rPr sz="1900" b="0">
                <a:solidFill>
                  <a:srgbClr val="1A1A2E"/>
                </a:solidFill>
                <a:latin typeface="Calibri"/>
              </a:rPr>
              <a:t>Step 3: Create systemd service file</a:t>
            </a:r>
          </a:p>
          <a:p>
            <a:pPr lvl="1"/>
            <a:r>
              <a:rPr sz="1900" b="0">
                <a:solidFill>
                  <a:srgbClr val="1A1A2E"/>
                </a:solidFill>
                <a:latin typeface="Calibri"/>
              </a:rPr>
              <a:t>  $ sudo nano /etc/systemd/system/sensor-bridge.service</a:t>
            </a:r>
          </a:p>
          <a:p>
            <a:pPr/>
            <a:r>
              <a:rPr sz="1900" b="0">
                <a:solidFill>
                  <a:srgbClr val="1A1A2E"/>
                </a:solidFill>
                <a:latin typeface="Calibri"/>
              </a:rPr>
              <a:t/>
            </a:r>
          </a:p>
          <a:p>
            <a:pPr/>
            <a:r>
              <a:rPr sz="1900" b="0">
                <a:solidFill>
                  <a:srgbClr val="1A1A2E"/>
                </a:solidFill>
                <a:latin typeface="Calibri"/>
              </a:rPr>
              <a:t>Step 4: Enable and start</a:t>
            </a:r>
          </a:p>
          <a:p>
            <a:pPr lvl="1"/>
            <a:r>
              <a:rPr sz="1900" b="0">
                <a:solidFill>
                  <a:srgbClr val="1A1A2E"/>
                </a:solidFill>
                <a:latin typeface="Calibri"/>
              </a:rPr>
              <a:t>  $ sudo systemctl daemon-reload</a:t>
            </a:r>
          </a:p>
          <a:p>
            <a:pPr lvl="1"/>
            <a:r>
              <a:rPr sz="1900" b="0">
                <a:solidFill>
                  <a:srgbClr val="1A1A2E"/>
                </a:solidFill>
                <a:latin typeface="Calibri"/>
              </a:rPr>
              <a:t>  $ sudo systemctl enable --now sensor-bridge.service</a:t>
            </a:r>
          </a:p>
          <a:p>
            <a:pPr/>
            <a:r>
              <a:rPr sz="1900" b="0">
                <a:solidFill>
                  <a:srgbClr val="1A1A2E"/>
                </a:solidFill>
                <a:latin typeface="Calibri"/>
              </a:rPr>
              <a:t/>
            </a:r>
          </a:p>
          <a:p>
            <a:pPr/>
            <a:r>
              <a:rPr sz="1900" b="0">
                <a:solidFill>
                  <a:srgbClr val="1A1A2E"/>
                </a:solidFill>
                <a:latin typeface="Calibri"/>
              </a:rPr>
              <a:t>Step 5: Verify</a:t>
            </a:r>
          </a:p>
          <a:p>
            <a:pPr lvl="1"/>
            <a:r>
              <a:rPr sz="1900" b="0">
                <a:solidFill>
                  <a:srgbClr val="1A1A2E"/>
                </a:solidFill>
                <a:latin typeface="Calibri"/>
              </a:rPr>
              <a:t>  $ curl http://localhost:5000/sensors</a:t>
            </a:r>
          </a:p>
          <a:p>
            <a:pPr lvl="1"/>
            <a:r>
              <a:rPr sz="1900" b="0">
                <a:solidFill>
                  <a:srgbClr val="1A1A2E"/>
                </a:solidFill>
                <a:latin typeface="Calibri"/>
              </a:rPr>
              <a:t>  $ journalctl -u sensor-bridge.service -f</a:t>
            </a:r>
          </a:p>
        </p:txBody>
      </p:sp>
      <p:sp>
        <p:nvSpPr>
          <p:cNvPr id="7" name="TextBox 6"/>
          <p:cNvSpPr txBox="1"/>
          <p:nvPr/>
        </p:nvSpPr>
        <p:spPr>
          <a:xfrm>
            <a:off x="457200" y="6400800"/>
            <a:ext cx="2742840" cy="273960"/>
          </a:xfrm>
          <a:prstGeom prst="rect">
            <a:avLst/>
          </a:prstGeom>
          <a:noFill/>
        </p:spPr>
        <p:txBody>
          <a:bodyPr wrap="square"/>
          <a:lstStyle/>
          <a:p>
            <a:pPr algn="l"/>
            <a:r>
              <a:rPr sz="630" b="0">
                <a:solidFill>
                  <a:srgbClr val="808080"/>
                </a:solidFill>
                <a:latin typeface="Calibri"/>
              </a:rPr>
              <a:t>Build Path: AP</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Picture Placeholder 2"/>
          <p:cNvSpPr>
            <a:spLocks noGrp="1"/>
          </p:cNvSpPr>
          <p:nvPr>
            <p:ph type="pic" idx="1"/>
          </p:nvPr>
        </p:nvSpPr>
        <p:spPr/>
      </p:sp>
      <p:sp>
        <p:nvSpPr>
          <p:cNvPr id="4" name="Text Placeholder 3"/>
          <p:cNvSpPr>
            <a:spLocks noGrp="1"/>
          </p:cNvSpPr>
          <p:nvPr>
            <p:ph type="body" idx="2" sz="half"/>
          </p:nvPr>
        </p:nvSpPr>
        <p:spPr/>
        <p:txBody>
          <a:bodyPr/>
          <a:lstStyle/>
          <a:p/>
        </p:txBody>
      </p:sp>
      <p:sp>
        <p:nvSpPr>
          <p:cNvPr id="5" name="TextBox 4"/>
          <p:cNvSpPr txBox="1"/>
          <p:nvPr/>
        </p:nvSpPr>
        <p:spPr>
          <a:xfrm>
            <a:off x="457200" y="274320"/>
            <a:ext cx="8229240" cy="731160"/>
          </a:xfrm>
          <a:prstGeom prst="rect">
            <a:avLst/>
          </a:prstGeom>
          <a:noFill/>
        </p:spPr>
        <p:txBody>
          <a:bodyPr wrap="square"/>
          <a:lstStyle/>
          <a:p>
            <a:pPr algn="l"/>
            <a:r>
              <a:rPr sz="2960" b="1">
                <a:solidFill>
                  <a:srgbClr val="1A1A2E"/>
                </a:solidFill>
                <a:latin typeface="Calibri"/>
              </a:rPr>
              <a:t>Part 3: Cloud AI Integration</a:t>
            </a:r>
          </a:p>
        </p:txBody>
      </p:sp>
      <p:sp>
        <p:nvSpPr>
          <p:cNvPr id="6" name="TextBox 5"/>
          <p:cNvSpPr txBox="1"/>
          <p:nvPr/>
        </p:nvSpPr>
        <p:spPr>
          <a:xfrm>
            <a:off x="457200" y="1097280"/>
            <a:ext cx="8229240" cy="5028840"/>
          </a:xfrm>
          <a:prstGeom prst="rect">
            <a:avLst/>
          </a:prstGeom>
          <a:noFill/>
        </p:spPr>
        <p:txBody>
          <a:bodyPr wrap="square"/>
          <a:lstStyle/>
          <a:p>
            <a:pPr algn="l"/>
            <a:r>
              <a:rPr sz="1900" b="0">
                <a:solidFill>
                  <a:srgbClr val="1A1A2E"/>
                </a:solidFill>
                <a:latin typeface="Calibri"/>
              </a:rPr>
              <a:t/>
            </a:r>
          </a:p>
          <a:p>
            <a:pPr/>
            <a:r>
              <a:rPr sz="1900" b="0">
                <a:solidFill>
                  <a:srgbClr val="1A1A2E"/>
                </a:solidFill>
                <a:latin typeface="Calibri"/>
              </a:rPr>
              <a:t>Architecture: Sensor -&gt; Local API -&gt; Cloud AI -&gt; Alert</a:t>
            </a:r>
          </a:p>
          <a:p>
            <a:pPr/>
            <a:r>
              <a:rPr sz="1900" b="0">
                <a:solidFill>
                  <a:srgbClr val="1A1A2E"/>
                </a:solidFill>
                <a:latin typeface="Calibri"/>
              </a:rPr>
              <a:t/>
            </a:r>
          </a:p>
          <a:p>
            <a:pPr/>
            <a:r>
              <a:rPr sz="1900" b="0">
                <a:solidFill>
                  <a:srgbClr val="1A1A2E"/>
                </a:solidFill>
                <a:latin typeface="Calibri"/>
              </a:rPr>
              <a:t>Why cloud AI instead of local inference?</a:t>
            </a:r>
          </a:p>
          <a:p>
            <a:pPr lvl="1"/>
            <a:r>
              <a:rPr sz="1900" b="0">
                <a:solidFill>
                  <a:srgbClr val="1A1A2E"/>
                </a:solidFill>
                <a:latin typeface="Calibri"/>
              </a:rPr>
              <a:t>  - Cloud AI: more powerful models, no local compute cost</a:t>
            </a:r>
          </a:p>
          <a:p>
            <a:pPr lvl="1"/>
            <a:r>
              <a:rPr sz="1900" b="0">
                <a:solidFill>
                  <a:srgbClr val="1A1A2E"/>
                </a:solidFill>
                <a:latin typeface="Calibri"/>
              </a:rPr>
              <a:t>  - Focus on the integration pattern, not the AI itself</a:t>
            </a:r>
          </a:p>
          <a:p>
            <a:pPr lvl="1"/>
            <a:r>
              <a:rPr sz="1900" b="0">
                <a:solidFill>
                  <a:srgbClr val="1A1A2E"/>
                </a:solidFill>
                <a:latin typeface="Calibri"/>
              </a:rPr>
              <a:t>  - Same pattern works for edge AI later</a:t>
            </a:r>
          </a:p>
          <a:p>
            <a:pPr/>
            <a:r>
              <a:rPr sz="1900" b="0">
                <a:solidFill>
                  <a:srgbClr val="1A1A2E"/>
                </a:solidFill>
                <a:latin typeface="Calibri"/>
              </a:rPr>
              <a:t/>
            </a:r>
          </a:p>
          <a:p>
            <a:pPr/>
            <a:r>
              <a:rPr sz="1900" b="0">
                <a:solidFill>
                  <a:srgbClr val="1A1A2E"/>
                </a:solidFill>
                <a:latin typeface="Calibri"/>
              </a:rPr>
              <a:t>What we will do:</a:t>
            </a:r>
          </a:p>
          <a:p>
            <a:pPr lvl="1"/>
            <a:r>
              <a:rPr sz="1900" b="0">
                <a:solidFill>
                  <a:srgbClr val="1A1A2E"/>
                </a:solidFill>
                <a:latin typeface="Calibri"/>
              </a:rPr>
              <a:t>  - Send sensor data to cloud AI via REST API</a:t>
            </a:r>
          </a:p>
          <a:p>
            <a:pPr lvl="1"/>
            <a:r>
              <a:rPr sz="1900" b="0">
                <a:solidFill>
                  <a:srgbClr val="1A1A2E"/>
                </a:solidFill>
                <a:latin typeface="Calibri"/>
              </a:rPr>
              <a:t>  - AI classifies: normal / warning / critical</a:t>
            </a:r>
          </a:p>
          <a:p>
            <a:pPr lvl="1"/>
            <a:r>
              <a:rPr sz="1900" b="0">
                <a:solidFill>
                  <a:srgbClr val="1A1A2E"/>
                </a:solidFill>
                <a:latin typeface="Calibri"/>
              </a:rPr>
              <a:t>  - On anomaly: log event, trigger local alert (LED/buzzer)</a:t>
            </a:r>
          </a:p>
          <a:p>
            <a:pPr/>
            <a:r>
              <a:rPr sz="1900" b="0">
                <a:solidFill>
                  <a:srgbClr val="1A1A2E"/>
                </a:solidFill>
                <a:latin typeface="Calibri"/>
              </a:rPr>
              <a:t/>
            </a:r>
          </a:p>
          <a:p>
            <a:pPr/>
            <a:r>
              <a:rPr sz="1900" b="0">
                <a:solidFill>
                  <a:srgbClr val="1A1A2E"/>
                </a:solidFill>
                <a:latin typeface="Calibri"/>
              </a:rPr>
              <a:t>This is the capstone assignment</a:t>
            </a:r>
          </a:p>
          <a:p>
            <a:pPr lvl="1"/>
            <a:r>
              <a:rPr sz="1900" b="0">
                <a:solidFill>
                  <a:srgbClr val="1A1A2E"/>
                </a:solidFill>
                <a:latin typeface="Calibri"/>
              </a:rPr>
              <a:t>  - Combines all previous sessions into one project</a:t>
            </a:r>
          </a:p>
        </p:txBody>
      </p:sp>
      <p:sp>
        <p:nvSpPr>
          <p:cNvPr id="7" name="TextBox 6"/>
          <p:cNvSpPr txBox="1"/>
          <p:nvPr/>
        </p:nvSpPr>
        <p:spPr>
          <a:xfrm>
            <a:off x="457200" y="6400800"/>
            <a:ext cx="2742840" cy="273960"/>
          </a:xfrm>
          <a:prstGeom prst="rect">
            <a:avLst/>
          </a:prstGeom>
          <a:noFill/>
        </p:spPr>
        <p:txBody>
          <a:bodyPr wrap="square"/>
          <a:lstStyle/>
          <a:p>
            <a:pPr algn="l"/>
            <a:r>
              <a:rPr sz="630" b="0">
                <a:solidFill>
                  <a:srgbClr val="808080"/>
                </a:solidFill>
                <a:latin typeface="Calibri"/>
              </a:rPr>
              <a:t>Build Path: AP</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Picture Placeholder 2"/>
          <p:cNvSpPr>
            <a:spLocks noGrp="1"/>
          </p:cNvSpPr>
          <p:nvPr>
            <p:ph type="pic" idx="1"/>
          </p:nvPr>
        </p:nvSpPr>
        <p:spPr/>
      </p:sp>
      <p:sp>
        <p:nvSpPr>
          <p:cNvPr id="4" name="Text Placeholder 3"/>
          <p:cNvSpPr>
            <a:spLocks noGrp="1"/>
          </p:cNvSpPr>
          <p:nvPr>
            <p:ph type="body" idx="2" sz="half"/>
          </p:nvPr>
        </p:nvSpPr>
        <p:spPr/>
        <p:txBody>
          <a:bodyPr/>
          <a:lstStyle/>
          <a:p/>
        </p:txBody>
      </p:sp>
      <p:sp>
        <p:nvSpPr>
          <p:cNvPr id="5" name="TextBox 4"/>
          <p:cNvSpPr txBox="1"/>
          <p:nvPr/>
        </p:nvSpPr>
        <p:spPr>
          <a:xfrm>
            <a:off x="457200" y="274320"/>
            <a:ext cx="8229240" cy="731160"/>
          </a:xfrm>
          <a:prstGeom prst="rect">
            <a:avLst/>
          </a:prstGeom>
          <a:noFill/>
        </p:spPr>
        <p:txBody>
          <a:bodyPr wrap="square"/>
          <a:lstStyle/>
          <a:p>
            <a:pPr algn="l"/>
            <a:r>
              <a:rPr sz="2960" b="1">
                <a:solidFill>
                  <a:srgbClr val="1A1A2E"/>
                </a:solidFill>
                <a:latin typeface="Calibri"/>
              </a:rPr>
              <a:t>Cloud AI Integration Pattern</a:t>
            </a:r>
          </a:p>
        </p:txBody>
      </p:sp>
      <p:sp>
        <p:nvSpPr>
          <p:cNvPr id="6" name="TextBox 5"/>
          <p:cNvSpPr txBox="1"/>
          <p:nvPr/>
        </p:nvSpPr>
        <p:spPr>
          <a:xfrm>
            <a:off x="457200" y="1097280"/>
            <a:ext cx="8229240" cy="5028840"/>
          </a:xfrm>
          <a:prstGeom prst="rect">
            <a:avLst/>
          </a:prstGeom>
          <a:noFill/>
        </p:spPr>
        <p:txBody>
          <a:bodyPr wrap="square"/>
          <a:lstStyle/>
          <a:p>
            <a:pPr algn="l"/>
            <a:r>
              <a:rPr sz="1900" b="0">
                <a:solidFill>
                  <a:srgbClr val="1A1A2E"/>
                </a:solidFill>
                <a:latin typeface="Calibri"/>
              </a:rPr>
              <a:t/>
            </a:r>
          </a:p>
          <a:p>
            <a:pPr/>
            <a:r>
              <a:rPr sz="1900" b="0">
                <a:solidFill>
                  <a:srgbClr val="1A1A2E"/>
                </a:solidFill>
                <a:latin typeface="Calibri"/>
              </a:rPr>
              <a:t>Periodic polling from embedded device</a:t>
            </a:r>
          </a:p>
          <a:p>
            <a:pPr lvl="1"/>
            <a:r>
              <a:rPr sz="1900" b="0">
                <a:solidFill>
                  <a:srgbClr val="1A1A2E"/>
                </a:solidFill>
                <a:latin typeface="Calibri"/>
              </a:rPr>
              <a:t>  - Every 30 seconds, read /sensors endpoint locally</a:t>
            </a:r>
          </a:p>
          <a:p>
            <a:pPr lvl="1"/>
            <a:r>
              <a:rPr sz="1900" b="0">
                <a:solidFill>
                  <a:srgbClr val="1A1A2E"/>
                </a:solidFill>
                <a:latin typeface="Calibri"/>
              </a:rPr>
              <a:t>  - Package data into JSON payload</a:t>
            </a:r>
          </a:p>
          <a:p>
            <a:pPr lvl="1"/>
            <a:r>
              <a:rPr sz="1900" b="0">
                <a:solidFill>
                  <a:srgbClr val="1A1A2E"/>
                </a:solidFill>
                <a:latin typeface="Calibri"/>
              </a:rPr>
              <a:t>  - POST to cloud AI endpoint</a:t>
            </a:r>
          </a:p>
          <a:p>
            <a:pPr/>
            <a:r>
              <a:rPr sz="1900" b="0">
                <a:solidFill>
                  <a:srgbClr val="1A1A2E"/>
                </a:solidFill>
                <a:latin typeface="Calibri"/>
              </a:rPr>
              <a:t/>
            </a:r>
          </a:p>
          <a:p>
            <a:pPr/>
            <a:r>
              <a:rPr sz="1900" b="0">
                <a:solidFill>
                  <a:srgbClr val="1A1A2E"/>
                </a:solidFill>
                <a:latin typeface="Calibri"/>
              </a:rPr>
              <a:t>Payload structure:</a:t>
            </a:r>
          </a:p>
          <a:p>
            <a:pPr lvl="1"/>
            <a:r>
              <a:rPr sz="1900" b="0">
                <a:solidFill>
                  <a:srgbClr val="1A1A2E"/>
                </a:solidFill>
                <a:latin typeface="Calibri"/>
              </a:rPr>
              <a:t>    "device_id": "rpi4-sensor-01",</a:t>
            </a:r>
          </a:p>
          <a:p>
            <a:pPr lvl="1"/>
            <a:r>
              <a:rPr sz="1900" b="0">
                <a:solidFill>
                  <a:srgbClr val="1A1A2E"/>
                </a:solidFill>
                <a:latin typeface="Calibri"/>
              </a:rPr>
              <a:t>    "timestamp": "2025-06-19T23:47:00Z",</a:t>
            </a:r>
          </a:p>
          <a:p>
            <a:pPr lvl="1"/>
            <a:r>
              <a:rPr sz="1900" b="0">
                <a:solidFill>
                  <a:srgbClr val="1A1A2E"/>
                </a:solidFill>
                <a:latin typeface="Calibri"/>
              </a:rPr>
              <a:t>    "readings": { "temp": 23.5, "humidity": 55.1, "pressure": 1013.2 },</a:t>
            </a:r>
          </a:p>
          <a:p>
            <a:pPr lvl="1"/>
            <a:r>
              <a:rPr sz="1900" b="0">
                <a:solidFill>
                  <a:srgbClr val="1A1A2E"/>
                </a:solidFill>
                <a:latin typeface="Calibri"/>
              </a:rPr>
              <a:t>    "history": [ ... last 10 readings ... ]</a:t>
            </a:r>
          </a:p>
          <a:p>
            <a:pPr/>
            <a:r>
              <a:rPr sz="1900" b="0">
                <a:solidFill>
                  <a:srgbClr val="1A1A2E"/>
                </a:solidFill>
                <a:latin typeface="Calibri"/>
              </a:rPr>
              <a:t/>
            </a:r>
          </a:p>
          <a:p>
            <a:pPr/>
            <a:r>
              <a:rPr sz="1900" b="0">
                <a:solidFill>
                  <a:srgbClr val="1A1A2E"/>
                </a:solidFill>
                <a:latin typeface="Calibri"/>
              </a:rPr>
              <a:t>Response handling:</a:t>
            </a:r>
          </a:p>
          <a:p>
            <a:pPr lvl="1"/>
            <a:r>
              <a:rPr sz="1900" b="0">
                <a:solidFill>
                  <a:srgbClr val="1A1A2E"/>
                </a:solidFill>
                <a:latin typeface="Calibri"/>
              </a:rPr>
              <a:t>  - 200 OK: parse classification from response</a:t>
            </a:r>
          </a:p>
          <a:p>
            <a:pPr lvl="1"/>
            <a:r>
              <a:rPr sz="1900" b="0">
                <a:solidFill>
                  <a:srgbClr val="1A1A2E"/>
                </a:solidFill>
                <a:latin typeface="Calibri"/>
              </a:rPr>
              <a:t>  - 429 Rate Limited: back off and retry</a:t>
            </a:r>
          </a:p>
          <a:p>
            <a:pPr lvl="1"/>
            <a:r>
              <a:rPr sz="1900" b="0">
                <a:solidFill>
                  <a:srgbClr val="1A1A2E"/>
                </a:solidFill>
                <a:latin typeface="Calibri"/>
              </a:rPr>
              <a:t>  - Network failure: queue and retry later</a:t>
            </a:r>
          </a:p>
        </p:txBody>
      </p:sp>
      <p:sp>
        <p:nvSpPr>
          <p:cNvPr id="7" name="TextBox 6"/>
          <p:cNvSpPr txBox="1"/>
          <p:nvPr/>
        </p:nvSpPr>
        <p:spPr>
          <a:xfrm>
            <a:off x="457200" y="6400800"/>
            <a:ext cx="2742840" cy="273960"/>
          </a:xfrm>
          <a:prstGeom prst="rect">
            <a:avLst/>
          </a:prstGeom>
          <a:noFill/>
        </p:spPr>
        <p:txBody>
          <a:bodyPr wrap="square"/>
          <a:lstStyle/>
          <a:p>
            <a:pPr algn="l"/>
            <a:r>
              <a:rPr sz="630" b="0">
                <a:solidFill>
                  <a:srgbClr val="808080"/>
                </a:solidFill>
                <a:latin typeface="Calibri"/>
              </a:rPr>
              <a:t>Build Path: AP</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Picture Placeholder 2"/>
          <p:cNvSpPr>
            <a:spLocks noGrp="1"/>
          </p:cNvSpPr>
          <p:nvPr>
            <p:ph type="pic" idx="1"/>
          </p:nvPr>
        </p:nvSpPr>
        <p:spPr/>
      </p:sp>
      <p:sp>
        <p:nvSpPr>
          <p:cNvPr id="4" name="Text Placeholder 3"/>
          <p:cNvSpPr>
            <a:spLocks noGrp="1"/>
          </p:cNvSpPr>
          <p:nvPr>
            <p:ph type="body" idx="2" sz="half"/>
          </p:nvPr>
        </p:nvSpPr>
        <p:spPr/>
        <p:txBody>
          <a:bodyPr/>
          <a:lstStyle/>
          <a:p/>
        </p:txBody>
      </p:sp>
      <p:sp>
        <p:nvSpPr>
          <p:cNvPr id="5" name="TextBox 4"/>
          <p:cNvSpPr txBox="1"/>
          <p:nvPr/>
        </p:nvSpPr>
        <p:spPr>
          <a:xfrm>
            <a:off x="457200" y="274320"/>
            <a:ext cx="8229240" cy="731160"/>
          </a:xfrm>
          <a:prstGeom prst="rect">
            <a:avLst/>
          </a:prstGeom>
          <a:noFill/>
        </p:spPr>
        <p:txBody>
          <a:bodyPr wrap="square"/>
          <a:lstStyle/>
          <a:p>
            <a:pPr algn="l"/>
            <a:r>
              <a:rPr sz="2960" b="1">
                <a:solidFill>
                  <a:srgbClr val="1A1A2E"/>
                </a:solidFill>
                <a:latin typeface="Calibri"/>
              </a:rPr>
              <a:t>Example: Cloud AI Classification Endpoint</a:t>
            </a:r>
          </a:p>
        </p:txBody>
      </p:sp>
      <p:sp>
        <p:nvSpPr>
          <p:cNvPr id="6" name="TextBox 5"/>
          <p:cNvSpPr txBox="1"/>
          <p:nvPr/>
        </p:nvSpPr>
        <p:spPr>
          <a:xfrm>
            <a:off x="457200" y="1097280"/>
            <a:ext cx="8229240" cy="5028840"/>
          </a:xfrm>
          <a:prstGeom prst="rect">
            <a:avLst/>
          </a:prstGeom>
          <a:noFill/>
        </p:spPr>
        <p:txBody>
          <a:bodyPr wrap="square"/>
          <a:lstStyle/>
          <a:p>
            <a:pPr algn="l"/>
            <a:r>
              <a:rPr sz="1900" b="0">
                <a:solidFill>
                  <a:srgbClr val="1A1A2E"/>
                </a:solidFill>
                <a:latin typeface="Calibri"/>
              </a:rPr>
              <a:t/>
            </a:r>
          </a:p>
          <a:p>
            <a:pPr/>
            <a:r>
              <a:rPr sz="1900" b="0">
                <a:solidFill>
                  <a:srgbClr val="1A1A2E"/>
                </a:solidFill>
                <a:latin typeface="Calibri"/>
              </a:rPr>
              <a:t>Simple Flask server on cloud VM (or localhost for testing)</a:t>
            </a:r>
          </a:p>
          <a:p>
            <a:pPr/>
            <a:r>
              <a:rPr sz="1900" b="0">
                <a:solidFill>
                  <a:srgbClr val="1A1A2E"/>
                </a:solidFill>
                <a:latin typeface="Calibri"/>
              </a:rPr>
              <a:t/>
            </a:r>
          </a:p>
          <a:p>
            <a:pPr/>
            <a:r>
              <a:rPr sz="1900" b="0">
                <a:solidFill>
                  <a:srgbClr val="1A1A2E"/>
                </a:solidFill>
                <a:latin typeface="Calibri"/>
              </a:rPr>
              <a:t>@app.route("/classify", methods=["POST"])</a:t>
            </a:r>
          </a:p>
          <a:p>
            <a:pPr lvl="1"/>
            <a:r>
              <a:rPr sz="1900" b="0">
                <a:solidFill>
                  <a:srgbClr val="1A1A2E"/>
                </a:solidFill>
                <a:latin typeface="Calibri"/>
              </a:rPr>
              <a:t>def classify():</a:t>
            </a:r>
          </a:p>
          <a:p>
            <a:pPr lvl="1"/>
            <a:r>
              <a:rPr sz="1900" b="0">
                <a:solidFill>
                  <a:srgbClr val="1A1A2E"/>
                </a:solidFill>
                <a:latin typeface="Calibri"/>
              </a:rPr>
              <a:t>    data = request.json</a:t>
            </a:r>
          </a:p>
          <a:p>
            <a:pPr lvl="1"/>
            <a:r>
              <a:rPr sz="1900" b="0">
                <a:solidFill>
                  <a:srgbClr val="1A1A2E"/>
                </a:solidFill>
                <a:latin typeface="Calibri"/>
              </a:rPr>
              <a:t>    temp = data["readings"]["temp"]</a:t>
            </a:r>
          </a:p>
          <a:p>
            <a:pPr lvl="1"/>
            <a:r>
              <a:rPr sz="1900" b="0">
                <a:solidFill>
                  <a:srgbClr val="1A1A2E"/>
                </a:solidFill>
                <a:latin typeface="Calibri"/>
              </a:rPr>
              <a:t>    humidity = data["readings"]["humidity"]</a:t>
            </a:r>
          </a:p>
          <a:p>
            <a:pPr/>
            <a:r>
              <a:rPr sz="1900" b="0">
                <a:solidFill>
                  <a:srgbClr val="1A1A2E"/>
                </a:solidFill>
                <a:latin typeface="Calibri"/>
              </a:rPr>
              <a:t/>
            </a:r>
          </a:p>
          <a:p>
            <a:pPr lvl="1"/>
            <a:r>
              <a:rPr sz="1900" b="0">
                <a:solidFill>
                  <a:srgbClr val="1A1A2E"/>
                </a:solidFill>
                <a:latin typeface="Calibri"/>
              </a:rPr>
              <a:t>    if temp &gt; 35 or humidity &gt; 80:</a:t>
            </a:r>
          </a:p>
          <a:p>
            <a:pPr lvl="1"/>
            <a:r>
              <a:rPr sz="1900" b="0">
                <a:solidFill>
                  <a:srgbClr val="1A1A2E"/>
                </a:solidFill>
                <a:latin typeface="Calibri"/>
              </a:rPr>
              <a:t>        return {"status": "critical", "reason": "threshold_exceeded"}</a:t>
            </a:r>
          </a:p>
          <a:p>
            <a:pPr lvl="1"/>
            <a:r>
              <a:rPr sz="1900" b="0">
                <a:solidFill>
                  <a:srgbClr val="1A1A2E"/>
                </a:solidFill>
                <a:latin typeface="Calibri"/>
              </a:rPr>
              <a:t>    elif temp &gt; 30 or humidity &gt; 70:</a:t>
            </a:r>
          </a:p>
          <a:p>
            <a:pPr lvl="1"/>
            <a:r>
              <a:rPr sz="1900" b="0">
                <a:solidFill>
                  <a:srgbClr val="1A1A2E"/>
                </a:solidFill>
                <a:latin typeface="Calibri"/>
              </a:rPr>
              <a:t>        return {"status": "warning", "reason": "elevated"}</a:t>
            </a:r>
          </a:p>
          <a:p>
            <a:pPr lvl="1"/>
            <a:r>
              <a:rPr sz="1900" b="0">
                <a:solidFill>
                  <a:srgbClr val="1A1A2E"/>
                </a:solidFill>
                <a:latin typeface="Calibri"/>
              </a:rPr>
              <a:t>    return {"status": "normal"}</a:t>
            </a:r>
          </a:p>
          <a:p>
            <a:pPr/>
            <a:r>
              <a:rPr sz="1900" b="0">
                <a:solidFill>
                  <a:srgbClr val="1A1A2E"/>
                </a:solidFill>
                <a:latin typeface="Calibri"/>
              </a:rPr>
              <a:t/>
            </a:r>
          </a:p>
          <a:p>
            <a:pPr/>
            <a:r>
              <a:rPr sz="1900" b="0">
                <a:solidFill>
                  <a:srgbClr val="1A1A2E"/>
                </a:solidFill>
                <a:latin typeface="Calibri"/>
              </a:rPr>
              <a:t>For real AI: replace thresholds with LLM prompt</a:t>
            </a:r>
          </a:p>
          <a:p>
            <a:pPr lvl="1"/>
            <a:r>
              <a:rPr sz="1900" b="0">
                <a:solidFill>
                  <a:srgbClr val="1A1A2E"/>
                </a:solidFill>
                <a:latin typeface="Calibri"/>
              </a:rPr>
              <a:t>  "Given these sensor readings, classify as normal/warning/critical"</a:t>
            </a:r>
          </a:p>
        </p:txBody>
      </p:sp>
      <p:sp>
        <p:nvSpPr>
          <p:cNvPr id="7" name="TextBox 6"/>
          <p:cNvSpPr txBox="1"/>
          <p:nvPr/>
        </p:nvSpPr>
        <p:spPr>
          <a:xfrm>
            <a:off x="457200" y="6400800"/>
            <a:ext cx="2742840" cy="273960"/>
          </a:xfrm>
          <a:prstGeom prst="rect">
            <a:avLst/>
          </a:prstGeom>
          <a:noFill/>
        </p:spPr>
        <p:txBody>
          <a:bodyPr wrap="square"/>
          <a:lstStyle/>
          <a:p>
            <a:pPr algn="l"/>
            <a:r>
              <a:rPr sz="630" b="0">
                <a:solidFill>
                  <a:srgbClr val="808080"/>
                </a:solidFill>
                <a:latin typeface="Calibri"/>
              </a:rPr>
              <a:t>Build Path: AP</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Picture Placeholder 2"/>
          <p:cNvSpPr>
            <a:spLocks noGrp="1"/>
          </p:cNvSpPr>
          <p:nvPr>
            <p:ph type="pic" idx="1"/>
          </p:nvPr>
        </p:nvSpPr>
        <p:spPr/>
      </p:sp>
      <p:sp>
        <p:nvSpPr>
          <p:cNvPr id="4" name="Text Placeholder 3"/>
          <p:cNvSpPr>
            <a:spLocks noGrp="1"/>
          </p:cNvSpPr>
          <p:nvPr>
            <p:ph type="body" idx="2" sz="half"/>
          </p:nvPr>
        </p:nvSpPr>
        <p:spPr/>
        <p:txBody>
          <a:bodyPr/>
          <a:lstStyle/>
          <a:p/>
        </p:txBody>
      </p:sp>
      <p:sp>
        <p:nvSpPr>
          <p:cNvPr id="5" name="TextBox 4"/>
          <p:cNvSpPr txBox="1"/>
          <p:nvPr/>
        </p:nvSpPr>
        <p:spPr>
          <a:xfrm>
            <a:off x="457200" y="274320"/>
            <a:ext cx="8229240" cy="731160"/>
          </a:xfrm>
          <a:prstGeom prst="rect">
            <a:avLst/>
          </a:prstGeom>
          <a:noFill/>
        </p:spPr>
        <p:txBody>
          <a:bodyPr wrap="square"/>
          <a:lstStyle/>
          <a:p>
            <a:pPr algn="l"/>
            <a:r>
              <a:rPr sz="2960" b="1">
                <a:solidFill>
                  <a:srgbClr val="1A1A2E"/>
                </a:solidFill>
                <a:latin typeface="Calibri"/>
              </a:rPr>
              <a:t>Python Cloud Client on RPi4</a:t>
            </a:r>
          </a:p>
        </p:txBody>
      </p:sp>
      <p:sp>
        <p:nvSpPr>
          <p:cNvPr id="6" name="TextBox 5"/>
          <p:cNvSpPr txBox="1"/>
          <p:nvPr/>
        </p:nvSpPr>
        <p:spPr>
          <a:xfrm>
            <a:off x="457200" y="1097280"/>
            <a:ext cx="8229240" cy="5028840"/>
          </a:xfrm>
          <a:prstGeom prst="rect">
            <a:avLst/>
          </a:prstGeom>
          <a:noFill/>
        </p:spPr>
        <p:txBody>
          <a:bodyPr wrap="square"/>
          <a:lstStyle/>
          <a:p>
            <a:pPr algn="l"/>
            <a:r>
              <a:rPr sz="1900" b="0">
                <a:solidFill>
                  <a:srgbClr val="1A1A2E"/>
                </a:solidFill>
                <a:latin typeface="Calibri"/>
              </a:rPr>
              <a:t/>
            </a:r>
          </a:p>
          <a:p>
            <a:pPr/>
            <a:r>
              <a:rPr sz="1900" b="0">
                <a:solidFill>
                  <a:srgbClr val="1A1A2E"/>
                </a:solidFill>
                <a:latin typeface="Calibri"/>
              </a:rPr>
              <a:t>Periodic sender script (runs alongside Flask API)</a:t>
            </a:r>
          </a:p>
          <a:p>
            <a:pPr/>
            <a:r>
              <a:rPr sz="1900" b="0">
                <a:solidFill>
                  <a:srgbClr val="1A1A2E"/>
                </a:solidFill>
                <a:latin typeface="Calibri"/>
              </a:rPr>
              <a:t/>
            </a:r>
          </a:p>
          <a:p>
            <a:pPr lvl="1"/>
            <a:r>
              <a:rPr sz="1900" b="0">
                <a:solidFill>
                  <a:srgbClr val="1A1A2E"/>
                </a:solidFill>
                <a:latin typeface="Calibri"/>
              </a:rPr>
              <a:t>while True:</a:t>
            </a:r>
          </a:p>
          <a:p>
            <a:pPr lvl="1"/>
            <a:r>
              <a:rPr sz="1900" b="0">
                <a:solidFill>
                  <a:srgbClr val="1A1A2E"/>
                </a:solidFill>
                <a:latin typeface="Calibri"/>
              </a:rPr>
              <a:t>    try:</a:t>
            </a:r>
          </a:p>
          <a:p>
            <a:pPr lvl="2"/>
            <a:r>
              <a:rPr sz="1900" b="0">
                <a:solidFill>
                  <a:srgbClr val="1A1A2E"/>
                </a:solidFill>
                <a:latin typeface="Calibri"/>
              </a:rPr>
              <a:t>        local = requests.get("http://localhost:5000/sensors").json()</a:t>
            </a:r>
          </a:p>
          <a:p>
            <a:pPr lvl="2"/>
            <a:r>
              <a:rPr sz="1900" b="0">
                <a:solidFill>
                  <a:srgbClr val="1A1A2E"/>
                </a:solidFill>
                <a:latin typeface="Calibri"/>
              </a:rPr>
              <a:t>        payload = build_payload(local)</a:t>
            </a:r>
          </a:p>
          <a:p>
            <a:pPr lvl="2"/>
            <a:r>
              <a:rPr sz="1900" b="0">
                <a:solidFill>
                  <a:srgbClr val="1A1A2E"/>
                </a:solidFill>
                <a:latin typeface="Calibri"/>
              </a:rPr>
              <a:t>        resp = requests.post(CLOUD_URL, json=payload, timeout=10)</a:t>
            </a:r>
          </a:p>
          <a:p>
            <a:pPr lvl="2"/>
            <a:r>
              <a:rPr sz="1900" b="0">
                <a:solidFill>
                  <a:srgbClr val="1A1A2E"/>
                </a:solidFill>
                <a:latin typeface="Calibri"/>
              </a:rPr>
              <a:t>        if resp.json()["status"] == "critical":</a:t>
            </a:r>
          </a:p>
          <a:p>
            <a:pPr lvl="2"/>
            <a:r>
              <a:rPr sz="1900" b="0">
                <a:solidFill>
                  <a:srgbClr val="1A1A2E"/>
                </a:solidFill>
                <a:latin typeface="Calibri"/>
              </a:rPr>
              <a:t>            trigger_alert()</a:t>
            </a:r>
          </a:p>
          <a:p>
            <a:pPr lvl="1"/>
            <a:r>
              <a:rPr sz="1900" b="0">
                <a:solidFill>
                  <a:srgbClr val="1A1A2E"/>
                </a:solidFill>
                <a:latin typeface="Calibri"/>
              </a:rPr>
              <a:t>    except requests.exceptions.RequestException as e:</a:t>
            </a:r>
          </a:p>
          <a:p>
            <a:pPr lvl="2"/>
            <a:r>
              <a:rPr sz="1900" b="0">
                <a:solidFill>
                  <a:srgbClr val="1A1A2E"/>
                </a:solidFill>
                <a:latin typeface="Calibri"/>
              </a:rPr>
              <a:t>        log_error(f"Cloud send failed: {e}")</a:t>
            </a:r>
          </a:p>
          <a:p>
            <a:pPr lvl="1"/>
            <a:r>
              <a:rPr sz="1900" b="0">
                <a:solidFill>
                  <a:srgbClr val="1A1A2E"/>
                </a:solidFill>
                <a:latin typeface="Calibri"/>
              </a:rPr>
              <a:t>    time.sleep(30)</a:t>
            </a:r>
          </a:p>
          <a:p>
            <a:pPr/>
            <a:r>
              <a:rPr sz="1900" b="0">
                <a:solidFill>
                  <a:srgbClr val="1A1A2E"/>
                </a:solidFill>
                <a:latin typeface="Calibri"/>
              </a:rPr>
              <a:t/>
            </a:r>
          </a:p>
          <a:p>
            <a:pPr/>
            <a:r>
              <a:rPr sz="1900" b="0">
                <a:solidFill>
                  <a:srgbClr val="1A1A2E"/>
                </a:solidFill>
                <a:latin typeface="Calibri"/>
              </a:rPr>
              <a:t>API key management:</a:t>
            </a:r>
          </a:p>
          <a:p>
            <a:pPr lvl="1"/>
            <a:r>
              <a:rPr sz="1900" b="0">
                <a:solidFill>
                  <a:srgbClr val="1A1A2E"/>
                </a:solidFill>
                <a:latin typeface="Calibri"/>
              </a:rPr>
              <a:t>  - Store in environment variable, not in source code</a:t>
            </a:r>
          </a:p>
          <a:p>
            <a:pPr lvl="1"/>
            <a:r>
              <a:rPr sz="1900" b="0">
                <a:solidFill>
                  <a:srgbClr val="1A1A2E"/>
                </a:solidFill>
                <a:latin typeface="Calibri"/>
              </a:rPr>
              <a:t>  - export CLOUD_API_KEY="sk-..."</a:t>
            </a:r>
          </a:p>
          <a:p>
            <a:pPr lvl="1"/>
            <a:r>
              <a:rPr sz="1900" b="0">
                <a:solidFill>
                  <a:srgbClr val="1A1A2E"/>
                </a:solidFill>
                <a:latin typeface="Calibri"/>
              </a:rPr>
              <a:t>  - Read with os.environ.get("CLOUD_API_KEY")</a:t>
            </a:r>
          </a:p>
        </p:txBody>
      </p:sp>
      <p:sp>
        <p:nvSpPr>
          <p:cNvPr id="7" name="TextBox 6"/>
          <p:cNvSpPr txBox="1"/>
          <p:nvPr/>
        </p:nvSpPr>
        <p:spPr>
          <a:xfrm>
            <a:off x="457200" y="6400800"/>
            <a:ext cx="2742840" cy="273960"/>
          </a:xfrm>
          <a:prstGeom prst="rect">
            <a:avLst/>
          </a:prstGeom>
          <a:noFill/>
        </p:spPr>
        <p:txBody>
          <a:bodyPr wrap="square"/>
          <a:lstStyle/>
          <a:p>
            <a:pPr algn="l"/>
            <a:r>
              <a:rPr sz="630" b="0">
                <a:solidFill>
                  <a:srgbClr val="808080"/>
                </a:solidFill>
                <a:latin typeface="Calibri"/>
              </a:rPr>
              <a:t>Build Path: AP</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Picture Placeholder 2"/>
          <p:cNvSpPr>
            <a:spLocks noGrp="1"/>
          </p:cNvSpPr>
          <p:nvPr>
            <p:ph type="pic" idx="1"/>
          </p:nvPr>
        </p:nvSpPr>
        <p:spPr/>
      </p:sp>
      <p:sp>
        <p:nvSpPr>
          <p:cNvPr id="4" name="Text Placeholder 3"/>
          <p:cNvSpPr>
            <a:spLocks noGrp="1"/>
          </p:cNvSpPr>
          <p:nvPr>
            <p:ph type="body" idx="2" sz="half"/>
          </p:nvPr>
        </p:nvSpPr>
        <p:spPr/>
        <p:txBody>
          <a:bodyPr/>
          <a:lstStyle/>
          <a:p/>
        </p:txBody>
      </p:sp>
      <p:sp>
        <p:nvSpPr>
          <p:cNvPr id="5" name="TextBox 4"/>
          <p:cNvSpPr txBox="1"/>
          <p:nvPr/>
        </p:nvSpPr>
        <p:spPr>
          <a:xfrm>
            <a:off x="457200" y="274320"/>
            <a:ext cx="8229240" cy="731160"/>
          </a:xfrm>
          <a:prstGeom prst="rect">
            <a:avLst/>
          </a:prstGeom>
          <a:noFill/>
        </p:spPr>
        <p:txBody>
          <a:bodyPr wrap="square"/>
          <a:lstStyle/>
          <a:p>
            <a:pPr algn="l"/>
            <a:r>
              <a:rPr sz="2960" b="1">
                <a:solidFill>
                  <a:srgbClr val="1A1A2E"/>
                </a:solidFill>
                <a:latin typeface="Calibri"/>
              </a:rPr>
              <a:t>Local Alert: Sense HAT LED Matrix</a:t>
            </a:r>
          </a:p>
        </p:txBody>
      </p:sp>
      <p:sp>
        <p:nvSpPr>
          <p:cNvPr id="6" name="TextBox 5"/>
          <p:cNvSpPr txBox="1"/>
          <p:nvPr/>
        </p:nvSpPr>
        <p:spPr>
          <a:xfrm>
            <a:off x="457200" y="1097280"/>
            <a:ext cx="8229240" cy="5028840"/>
          </a:xfrm>
          <a:prstGeom prst="rect">
            <a:avLst/>
          </a:prstGeom>
          <a:noFill/>
        </p:spPr>
        <p:txBody>
          <a:bodyPr wrap="square"/>
          <a:lstStyle/>
          <a:p>
            <a:pPr algn="l"/>
            <a:r>
              <a:rPr sz="1900" b="0">
                <a:solidFill>
                  <a:srgbClr val="1A1A2E"/>
                </a:solidFill>
                <a:latin typeface="Calibri"/>
              </a:rPr>
              <a:t/>
            </a:r>
          </a:p>
          <a:p>
            <a:pPr/>
            <a:r>
              <a:rPr sz="1900" b="0">
                <a:solidFill>
                  <a:srgbClr val="1A1A2E"/>
                </a:solidFill>
                <a:latin typeface="Calibri"/>
              </a:rPr>
              <a:t>Visual feedback on anomaly detection</a:t>
            </a:r>
          </a:p>
          <a:p>
            <a:pPr/>
            <a:r>
              <a:rPr sz="1900" b="0">
                <a:solidFill>
                  <a:srgbClr val="1A1A2E"/>
                </a:solidFill>
                <a:latin typeface="Calibri"/>
              </a:rPr>
              <a:t/>
            </a:r>
          </a:p>
          <a:p>
            <a:pPr lvl="1"/>
            <a:r>
              <a:rPr sz="1900" b="0">
                <a:solidFill>
                  <a:srgbClr val="1A1A2E"/>
                </a:solidFill>
                <a:latin typeface="Calibri"/>
              </a:rPr>
              <a:t>from sense_hat import SenseHat</a:t>
            </a:r>
          </a:p>
          <a:p>
            <a:pPr lvl="1"/>
            <a:r>
              <a:rPr sz="1900" b="0">
                <a:solidFill>
                  <a:srgbClr val="1A1A2E"/>
                </a:solidFill>
                <a:latin typeface="Calibri"/>
              </a:rPr>
              <a:t>sense = SenseHat()</a:t>
            </a:r>
          </a:p>
          <a:p>
            <a:pPr/>
            <a:r>
              <a:rPr sz="1900" b="0">
                <a:solidFill>
                  <a:srgbClr val="1A1A2E"/>
                </a:solidFill>
                <a:latin typeface="Calibri"/>
              </a:rPr>
              <a:t/>
            </a:r>
          </a:p>
          <a:p>
            <a:pPr lvl="1"/>
            <a:r>
              <a:rPr sz="1900" b="0">
                <a:solidFill>
                  <a:srgbClr val="1A1A2E"/>
                </a:solidFill>
                <a:latin typeface="Calibri"/>
              </a:rPr>
              <a:t>GREEN = (0, 255, 0)</a:t>
            </a:r>
          </a:p>
          <a:p>
            <a:pPr lvl="1"/>
            <a:r>
              <a:rPr sz="1900" b="0">
                <a:solidFill>
                  <a:srgbClr val="1A1A2E"/>
                </a:solidFill>
                <a:latin typeface="Calibri"/>
              </a:rPr>
              <a:t>RED = (255, 0, 0)</a:t>
            </a:r>
          </a:p>
          <a:p>
            <a:pPr/>
            <a:r>
              <a:rPr sz="1900" b="0">
                <a:solidFill>
                  <a:srgbClr val="1A1A2E"/>
                </a:solidFill>
                <a:latin typeface="Calibri"/>
              </a:rPr>
              <a:t/>
            </a:r>
          </a:p>
          <a:p>
            <a:pPr lvl="1"/>
            <a:r>
              <a:rPr sz="1900" b="0">
                <a:solidFill>
                  <a:srgbClr val="1A1A2E"/>
                </a:solidFill>
                <a:latin typeface="Calibri"/>
              </a:rPr>
              <a:t>def show_normal():</a:t>
            </a:r>
          </a:p>
          <a:p>
            <a:pPr lvl="1"/>
            <a:r>
              <a:rPr sz="1900" b="0">
                <a:solidFill>
                  <a:srgbClr val="1A1A2E"/>
                </a:solidFill>
                <a:latin typeface="Calibri"/>
              </a:rPr>
              <a:t>    sense.clear(GREEN)</a:t>
            </a:r>
          </a:p>
          <a:p>
            <a:pPr/>
            <a:r>
              <a:rPr sz="1900" b="0">
                <a:solidFill>
                  <a:srgbClr val="1A1A2E"/>
                </a:solidFill>
                <a:latin typeface="Calibri"/>
              </a:rPr>
              <a:t/>
            </a:r>
          </a:p>
          <a:p>
            <a:pPr lvl="1"/>
            <a:r>
              <a:rPr sz="1900" b="0">
                <a:solidFill>
                  <a:srgbClr val="1A1A2E"/>
                </a:solidFill>
                <a:latin typeface="Calibri"/>
              </a:rPr>
              <a:t>def show_alert():</a:t>
            </a:r>
          </a:p>
          <a:p>
            <a:pPr lvl="1"/>
            <a:r>
              <a:rPr sz="1900" b="0">
                <a:solidFill>
                  <a:srgbClr val="1A1A2E"/>
                </a:solidFill>
                <a:latin typeface="Calibri"/>
              </a:rPr>
              <a:t>    sense.clear(RED)</a:t>
            </a:r>
          </a:p>
          <a:p>
            <a:pPr lvl="1"/>
            <a:r>
              <a:rPr sz="1900" b="0">
                <a:solidFill>
                  <a:srgbClr val="1A1A2E"/>
                </a:solidFill>
                <a:latin typeface="Calibri"/>
              </a:rPr>
              <a:t>    time.sleep(2)</a:t>
            </a:r>
          </a:p>
          <a:p>
            <a:pPr lvl="1"/>
            <a:r>
              <a:rPr sz="1900" b="0">
                <a:solidFill>
                  <a:srgbClr val="1A1A2E"/>
                </a:solidFill>
                <a:latin typeface="Calibri"/>
              </a:rPr>
              <a:t>    sense.clear()</a:t>
            </a:r>
          </a:p>
          <a:p>
            <a:pPr/>
            <a:r>
              <a:rPr sz="1900" b="0">
                <a:solidFill>
                  <a:srgbClr val="1A1A2E"/>
                </a:solidFill>
                <a:latin typeface="Calibri"/>
              </a:rPr>
              <a:t/>
            </a:r>
          </a:p>
          <a:p>
            <a:pPr/>
            <a:r>
              <a:rPr sz="1900" b="0">
                <a:solidFill>
                  <a:srgbClr val="1A1A2E"/>
                </a:solidFill>
                <a:latin typeface="Calibri"/>
              </a:rPr>
              <a:t>BME280 users: use GPIO LED instead</a:t>
            </a:r>
          </a:p>
          <a:p>
            <a:pPr lvl="1"/>
            <a:r>
              <a:rPr sz="1900" b="0">
                <a:solidFill>
                  <a:srgbClr val="1A1A2E"/>
                </a:solidFill>
                <a:latin typeface="Calibri"/>
              </a:rPr>
              <a:t>  - LED on GPIO 17, buzzer on GPIO 27</a:t>
            </a:r>
          </a:p>
          <a:p>
            <a:pPr lvl="1"/>
            <a:r>
              <a:rPr sz="1900" b="0">
                <a:solidFill>
                  <a:srgbClr val="1A1A2E"/>
                </a:solidFill>
                <a:latin typeface="Calibri"/>
              </a:rPr>
              <a:t>  - Control via gpiozero library</a:t>
            </a:r>
          </a:p>
        </p:txBody>
      </p:sp>
      <p:sp>
        <p:nvSpPr>
          <p:cNvPr id="7" name="TextBox 6"/>
          <p:cNvSpPr txBox="1"/>
          <p:nvPr/>
        </p:nvSpPr>
        <p:spPr>
          <a:xfrm>
            <a:off x="457200" y="6400800"/>
            <a:ext cx="2742840" cy="273960"/>
          </a:xfrm>
          <a:prstGeom prst="rect">
            <a:avLst/>
          </a:prstGeom>
          <a:noFill/>
        </p:spPr>
        <p:txBody>
          <a:bodyPr wrap="square"/>
          <a:lstStyle/>
          <a:p>
            <a:pPr algn="l"/>
            <a:r>
              <a:rPr sz="630" b="0">
                <a:solidFill>
                  <a:srgbClr val="808080"/>
                </a:solidFill>
                <a:latin typeface="Calibri"/>
              </a:rPr>
              <a:t>Build Path: AP</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Picture Placeholder 2"/>
          <p:cNvSpPr>
            <a:spLocks noGrp="1"/>
          </p:cNvSpPr>
          <p:nvPr>
            <p:ph type="pic" idx="1"/>
          </p:nvPr>
        </p:nvSpPr>
        <p:spPr/>
      </p:sp>
      <p:sp>
        <p:nvSpPr>
          <p:cNvPr id="4" name="Text Placeholder 3"/>
          <p:cNvSpPr>
            <a:spLocks noGrp="1"/>
          </p:cNvSpPr>
          <p:nvPr>
            <p:ph type="body" idx="2" sz="half"/>
          </p:nvPr>
        </p:nvSpPr>
        <p:spPr/>
        <p:txBody>
          <a:bodyPr/>
          <a:lstStyle/>
          <a:p/>
        </p:txBody>
      </p:sp>
      <p:sp>
        <p:nvSpPr>
          <p:cNvPr id="5" name="TextBox 4"/>
          <p:cNvSpPr txBox="1"/>
          <p:nvPr/>
        </p:nvSpPr>
        <p:spPr>
          <a:xfrm>
            <a:off x="457200" y="274320"/>
            <a:ext cx="8229240" cy="731160"/>
          </a:xfrm>
          <a:prstGeom prst="rect">
            <a:avLst/>
          </a:prstGeom>
          <a:noFill/>
        </p:spPr>
        <p:txBody>
          <a:bodyPr wrap="square"/>
          <a:lstStyle/>
          <a:p>
            <a:pPr algn="l"/>
            <a:r>
              <a:rPr sz="2960" b="1">
                <a:solidFill>
                  <a:srgbClr val="1A1A2E"/>
                </a:solidFill>
                <a:latin typeface="Calibri"/>
              </a:rPr>
              <a:t>Network Considerations for Embedded IoT</a:t>
            </a:r>
          </a:p>
        </p:txBody>
      </p:sp>
      <p:sp>
        <p:nvSpPr>
          <p:cNvPr id="6" name="TextBox 5"/>
          <p:cNvSpPr txBox="1"/>
          <p:nvPr/>
        </p:nvSpPr>
        <p:spPr>
          <a:xfrm>
            <a:off x="457200" y="1097280"/>
            <a:ext cx="8229240" cy="5028840"/>
          </a:xfrm>
          <a:prstGeom prst="rect">
            <a:avLst/>
          </a:prstGeom>
          <a:noFill/>
        </p:spPr>
        <p:txBody>
          <a:bodyPr wrap="square"/>
          <a:lstStyle/>
          <a:p>
            <a:pPr algn="l"/>
            <a:r>
              <a:rPr sz="1900" b="0">
                <a:solidFill>
                  <a:srgbClr val="1A1A2E"/>
                </a:solidFill>
                <a:latin typeface="Calibri"/>
              </a:rPr>
              <a:t/>
            </a:r>
          </a:p>
          <a:p>
            <a:pPr/>
            <a:r>
              <a:rPr sz="1900" b="0">
                <a:solidFill>
                  <a:srgbClr val="1A1A2E"/>
                </a:solidFill>
                <a:latin typeface="Calibri"/>
              </a:rPr>
              <a:t>Bandwidth: minimize data sent to cloud</a:t>
            </a:r>
          </a:p>
          <a:p>
            <a:pPr lvl="1"/>
            <a:r>
              <a:rPr sz="1900" b="0">
                <a:solidFill>
                  <a:srgbClr val="1A1A2E"/>
                </a:solidFill>
                <a:latin typeface="Calibri"/>
              </a:rPr>
              <a:t>  - Send summaries, not raw samples</a:t>
            </a:r>
          </a:p>
          <a:p>
            <a:pPr lvl="1"/>
            <a:r>
              <a:rPr sz="1900" b="0">
                <a:solidFill>
                  <a:srgbClr val="1A1A2E"/>
                </a:solidFill>
                <a:latin typeface="Calibri"/>
              </a:rPr>
              <a:t>  - Compress payloads (gzip)</a:t>
            </a:r>
          </a:p>
          <a:p>
            <a:pPr lvl="1"/>
            <a:r>
              <a:rPr sz="1900" b="0">
                <a:solidFill>
                  <a:srgbClr val="1A1A2E"/>
                </a:solidFill>
                <a:latin typeface="Calibri"/>
              </a:rPr>
              <a:t>  - Batch multiple readings into one request</a:t>
            </a:r>
          </a:p>
          <a:p>
            <a:pPr/>
            <a:r>
              <a:rPr sz="1900" b="0">
                <a:solidFill>
                  <a:srgbClr val="1A1A2E"/>
                </a:solidFill>
                <a:latin typeface="Calibri"/>
              </a:rPr>
              <a:t/>
            </a:r>
          </a:p>
          <a:p>
            <a:pPr/>
            <a:r>
              <a:rPr sz="1900" b="0">
                <a:solidFill>
                  <a:srgbClr val="1A1A2E"/>
                </a:solidFill>
                <a:latin typeface="Calibri"/>
              </a:rPr>
              <a:t>Reliability: network will fail</a:t>
            </a:r>
          </a:p>
          <a:p>
            <a:pPr lvl="1"/>
            <a:r>
              <a:rPr sz="1900" b="0">
                <a:solidFill>
                  <a:srgbClr val="1A1A2E"/>
                </a:solidFill>
                <a:latin typeface="Calibri"/>
              </a:rPr>
              <a:t>  - Implement retry with exponential backoff</a:t>
            </a:r>
          </a:p>
          <a:p>
            <a:pPr lvl="1"/>
            <a:r>
              <a:rPr sz="1900" b="0">
                <a:solidFill>
                  <a:srgbClr val="1A1A2E"/>
                </a:solidFill>
                <a:latin typeface="Calibri"/>
              </a:rPr>
              <a:t>  - Queue data locally during outages (SQLite)</a:t>
            </a:r>
          </a:p>
          <a:p>
            <a:pPr lvl="1"/>
            <a:r>
              <a:rPr sz="1900" b="0">
                <a:solidFill>
                  <a:srgbClr val="1A1A2E"/>
                </a:solidFill>
                <a:latin typeface="Calibri"/>
              </a:rPr>
              <a:t>  - Never lose data due to transient network issues</a:t>
            </a:r>
          </a:p>
          <a:p>
            <a:pPr/>
            <a:r>
              <a:rPr sz="1900" b="0">
                <a:solidFill>
                  <a:srgbClr val="1A1A2E"/>
                </a:solidFill>
                <a:latin typeface="Calibri"/>
              </a:rPr>
              <a:t/>
            </a:r>
          </a:p>
          <a:p>
            <a:pPr/>
            <a:r>
              <a:rPr sz="1900" b="0">
                <a:solidFill>
                  <a:srgbClr val="1A1A2E"/>
                </a:solidFill>
                <a:latin typeface="Calibri"/>
              </a:rPr>
              <a:t>Security: protect API keys and data</a:t>
            </a:r>
          </a:p>
          <a:p>
            <a:pPr lvl="1"/>
            <a:r>
              <a:rPr sz="1900" b="0">
                <a:solidFill>
                  <a:srgbClr val="1A1A2E"/>
                </a:solidFill>
                <a:latin typeface="Calibri"/>
              </a:rPr>
              <a:t>  - HTTPS for all cloud communication</a:t>
            </a:r>
          </a:p>
          <a:p>
            <a:pPr lvl="1"/>
            <a:r>
              <a:rPr sz="1900" b="0">
                <a:solidFill>
                  <a:srgbClr val="1A1A2E"/>
                </a:solidFill>
                <a:latin typeface="Calibri"/>
              </a:rPr>
              <a:t>  - API keys in environment variables, not code</a:t>
            </a:r>
          </a:p>
          <a:p>
            <a:pPr lvl="1"/>
            <a:r>
              <a:rPr sz="1900" b="0">
                <a:solidFill>
                  <a:srgbClr val="1A1A2E"/>
                </a:solidFill>
                <a:latin typeface="Calibri"/>
              </a:rPr>
              <a:t>  - Device authentication (client certificates)</a:t>
            </a:r>
          </a:p>
          <a:p>
            <a:pPr/>
            <a:r>
              <a:rPr sz="1900" b="0">
                <a:solidFill>
                  <a:srgbClr val="1A1A2E"/>
                </a:solidFill>
                <a:latin typeface="Calibri"/>
              </a:rPr>
              <a:t/>
            </a:r>
          </a:p>
          <a:p>
            <a:pPr/>
            <a:r>
              <a:rPr sz="1900" b="0">
                <a:solidFill>
                  <a:srgbClr val="1A1A2E"/>
                </a:solidFill>
                <a:latin typeface="Calibri"/>
              </a:rPr>
              <a:t>Power: network is the biggest power consumer</a:t>
            </a:r>
          </a:p>
          <a:p>
            <a:pPr lvl="1"/>
            <a:r>
              <a:rPr sz="1900" b="0">
                <a:solidFill>
                  <a:srgbClr val="1A1A2E"/>
                </a:solidFill>
                <a:latin typeface="Calibri"/>
              </a:rPr>
              <a:t>  - WiFi: ~200mW active, batch uploads to minimize radio-on time</a:t>
            </a:r>
          </a:p>
        </p:txBody>
      </p:sp>
      <p:sp>
        <p:nvSpPr>
          <p:cNvPr id="7" name="TextBox 6"/>
          <p:cNvSpPr txBox="1"/>
          <p:nvPr/>
        </p:nvSpPr>
        <p:spPr>
          <a:xfrm>
            <a:off x="457200" y="6400800"/>
            <a:ext cx="2742840" cy="273960"/>
          </a:xfrm>
          <a:prstGeom prst="rect">
            <a:avLst/>
          </a:prstGeom>
          <a:noFill/>
        </p:spPr>
        <p:txBody>
          <a:bodyPr wrap="square"/>
          <a:lstStyle/>
          <a:p>
            <a:pPr algn="l"/>
            <a:r>
              <a:rPr sz="630" b="0">
                <a:solidFill>
                  <a:srgbClr val="808080"/>
                </a:solidFill>
                <a:latin typeface="Calibri"/>
              </a:rPr>
              <a:t>Build Path: AP</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Picture Placeholder 2"/>
          <p:cNvSpPr>
            <a:spLocks noGrp="1"/>
          </p:cNvSpPr>
          <p:nvPr>
            <p:ph type="pic" idx="1"/>
          </p:nvPr>
        </p:nvSpPr>
        <p:spPr/>
      </p:sp>
      <p:sp>
        <p:nvSpPr>
          <p:cNvPr id="4" name="Text Placeholder 3"/>
          <p:cNvSpPr>
            <a:spLocks noGrp="1"/>
          </p:cNvSpPr>
          <p:nvPr>
            <p:ph type="body" idx="2" sz="half"/>
          </p:nvPr>
        </p:nvSpPr>
        <p:spPr/>
        <p:txBody>
          <a:bodyPr/>
          <a:lstStyle/>
          <a:p/>
        </p:txBody>
      </p:sp>
      <p:sp>
        <p:nvSpPr>
          <p:cNvPr id="5" name="TextBox 4"/>
          <p:cNvSpPr txBox="1"/>
          <p:nvPr/>
        </p:nvSpPr>
        <p:spPr>
          <a:xfrm>
            <a:off x="457200" y="274320"/>
            <a:ext cx="8229240" cy="731160"/>
          </a:xfrm>
          <a:prstGeom prst="rect">
            <a:avLst/>
          </a:prstGeom>
          <a:noFill/>
        </p:spPr>
        <p:txBody>
          <a:bodyPr wrap="square"/>
          <a:lstStyle/>
          <a:p>
            <a:pPr algn="l"/>
            <a:r>
              <a:rPr sz="2960" b="1">
                <a:solidFill>
                  <a:srgbClr val="1A1A2E"/>
                </a:solidFill>
                <a:latin typeface="Calibri"/>
              </a:rPr>
              <a:t>Lab 3: Connect to Cloud AI</a:t>
            </a:r>
          </a:p>
        </p:txBody>
      </p:sp>
      <p:sp>
        <p:nvSpPr>
          <p:cNvPr id="6" name="TextBox 5"/>
          <p:cNvSpPr txBox="1"/>
          <p:nvPr/>
        </p:nvSpPr>
        <p:spPr>
          <a:xfrm>
            <a:off x="457200" y="1097280"/>
            <a:ext cx="8229240" cy="5028840"/>
          </a:xfrm>
          <a:prstGeom prst="rect">
            <a:avLst/>
          </a:prstGeom>
          <a:noFill/>
        </p:spPr>
        <p:txBody>
          <a:bodyPr wrap="square"/>
          <a:lstStyle/>
          <a:p>
            <a:pPr algn="l"/>
            <a:r>
              <a:rPr sz="1900" b="0">
                <a:solidFill>
                  <a:srgbClr val="1A1A2E"/>
                </a:solidFill>
                <a:latin typeface="Calibri"/>
              </a:rPr>
              <a:t/>
            </a:r>
          </a:p>
          <a:p>
            <a:pPr/>
            <a:r>
              <a:rPr sz="1900" b="0">
                <a:solidFill>
                  <a:srgbClr val="1A1A2E"/>
                </a:solidFill>
                <a:latin typeface="Calibri"/>
              </a:rPr>
              <a:t>Objective: full sensor-to-cloud pipeline</a:t>
            </a:r>
          </a:p>
          <a:p>
            <a:pPr/>
            <a:r>
              <a:rPr sz="1900" b="0">
                <a:solidFill>
                  <a:srgbClr val="1A1A2E"/>
                </a:solidFill>
                <a:latin typeface="Calibri"/>
              </a:rPr>
              <a:t/>
            </a:r>
          </a:p>
          <a:p>
            <a:pPr/>
            <a:r>
              <a:rPr sz="1900" b="0">
                <a:solidFill>
                  <a:srgbClr val="1A1A2E"/>
                </a:solidFill>
                <a:latin typeface="Calibri"/>
              </a:rPr>
              <a:t>Step 1: Deploy cloud endpoint</a:t>
            </a:r>
          </a:p>
          <a:p>
            <a:pPr lvl="1"/>
            <a:r>
              <a:rPr sz="1900" b="0">
                <a:solidFill>
                  <a:srgbClr val="1A1A2E"/>
                </a:solidFill>
                <a:latin typeface="Calibri"/>
              </a:rPr>
              <a:t>  - Deploy classify.py to cloud VM, or run locally for testing</a:t>
            </a:r>
          </a:p>
          <a:p>
            <a:pPr/>
            <a:r>
              <a:rPr sz="1900" b="0">
                <a:solidFill>
                  <a:srgbClr val="1A1A2E"/>
                </a:solidFill>
                <a:latin typeface="Calibri"/>
              </a:rPr>
              <a:t/>
            </a:r>
          </a:p>
          <a:p>
            <a:pPr/>
            <a:r>
              <a:rPr sz="1900" b="0">
                <a:solidFill>
                  <a:srgbClr val="1A1A2E"/>
                </a:solidFill>
                <a:latin typeface="Calibri"/>
              </a:rPr>
              <a:t>Step 2: Configure cloud client on RPi4</a:t>
            </a:r>
          </a:p>
          <a:p>
            <a:pPr lvl="1"/>
            <a:r>
              <a:rPr sz="1900" b="0">
                <a:solidFill>
                  <a:srgbClr val="1A1A2E"/>
                </a:solidFill>
                <a:latin typeface="Calibri"/>
              </a:rPr>
              <a:t>  $ export CLOUD_URL="http://your-server:5001/classify"</a:t>
            </a:r>
          </a:p>
          <a:p>
            <a:pPr lvl="1"/>
            <a:r>
              <a:rPr sz="1900" b="0">
                <a:solidFill>
                  <a:srgbClr val="1A1A2E"/>
                </a:solidFill>
                <a:latin typeface="Calibri"/>
              </a:rPr>
              <a:t>  $ export CLOUD_API_KEY="your-key-here"</a:t>
            </a:r>
          </a:p>
          <a:p>
            <a:pPr/>
            <a:r>
              <a:rPr sz="1900" b="0">
                <a:solidFill>
                  <a:srgbClr val="1A1A2E"/>
                </a:solidFill>
                <a:latin typeface="Calibri"/>
              </a:rPr>
              <a:t/>
            </a:r>
          </a:p>
          <a:p>
            <a:pPr/>
            <a:r>
              <a:rPr sz="1900" b="0">
                <a:solidFill>
                  <a:srgbClr val="1A1A2E"/>
                </a:solidFill>
                <a:latin typeface="Calibri"/>
              </a:rPr>
              <a:t>Step 3: Start cloud client</a:t>
            </a:r>
          </a:p>
          <a:p>
            <a:pPr lvl="1"/>
            <a:r>
              <a:rPr sz="1900" b="0">
                <a:solidFill>
                  <a:srgbClr val="1A1A2E"/>
                </a:solidFill>
                <a:latin typeface="Calibri"/>
              </a:rPr>
              <a:t>  $ python3 cloud-client.py &amp;</a:t>
            </a:r>
          </a:p>
          <a:p>
            <a:pPr/>
            <a:r>
              <a:rPr sz="1900" b="0">
                <a:solidFill>
                  <a:srgbClr val="1A1A2E"/>
                </a:solidFill>
                <a:latin typeface="Calibri"/>
              </a:rPr>
              <a:t/>
            </a:r>
          </a:p>
          <a:p>
            <a:pPr/>
            <a:r>
              <a:rPr sz="1900" b="0">
                <a:solidFill>
                  <a:srgbClr val="1A1A2E"/>
                </a:solidFill>
                <a:latin typeface="Calibri"/>
              </a:rPr>
              <a:t>Step 4: Generate test anomaly</a:t>
            </a:r>
          </a:p>
          <a:p>
            <a:pPr lvl="1"/>
            <a:r>
              <a:rPr sz="1900" b="0">
                <a:solidFill>
                  <a:srgbClr val="1A1A2E"/>
                </a:solidFill>
                <a:latin typeface="Calibri"/>
              </a:rPr>
              <a:t>  - Hold the sensor in your hand (temperature rises)</a:t>
            </a:r>
          </a:p>
          <a:p>
            <a:pPr lvl="1"/>
            <a:r>
              <a:rPr sz="1900" b="0">
                <a:solidFill>
                  <a:srgbClr val="1A1A2E"/>
                </a:solidFill>
                <a:latin typeface="Calibri"/>
              </a:rPr>
              <a:t>  - Breathe on it (humidity rises)</a:t>
            </a:r>
          </a:p>
          <a:p>
            <a:pPr lvl="1"/>
            <a:r>
              <a:rPr sz="1900" b="0">
                <a:solidFill>
                  <a:srgbClr val="1A1A2E"/>
                </a:solidFill>
                <a:latin typeface="Calibri"/>
              </a:rPr>
              <a:t>  - Watch for alert on Sense HAT LED or GPIO LED</a:t>
            </a:r>
          </a:p>
          <a:p>
            <a:pPr/>
            <a:r>
              <a:rPr sz="1900" b="0">
                <a:solidFill>
                  <a:srgbClr val="1A1A2E"/>
                </a:solidFill>
                <a:latin typeface="Calibri"/>
              </a:rPr>
              <a:t/>
            </a:r>
          </a:p>
          <a:p>
            <a:pPr/>
            <a:r>
              <a:rPr sz="1900" b="0">
                <a:solidFill>
                  <a:srgbClr val="1A1A2E"/>
                </a:solidFill>
                <a:latin typeface="Calibri"/>
              </a:rPr>
              <a:t>Step 5: Verify end-to-end</a:t>
            </a:r>
          </a:p>
          <a:p>
            <a:pPr lvl="1"/>
            <a:r>
              <a:rPr sz="1900" b="0">
                <a:solidFill>
                  <a:srgbClr val="1A1A2E"/>
                </a:solidFill>
                <a:latin typeface="Calibri"/>
              </a:rPr>
              <a:t>  $ journalctl -u sensor-bridge.service -f</a:t>
            </a:r>
          </a:p>
          <a:p>
            <a:pPr lvl="1"/>
            <a:r>
              <a:rPr sz="1900" b="0">
                <a:solidFill>
                  <a:srgbClr val="1A1A2E"/>
                </a:solidFill>
                <a:latin typeface="Calibri"/>
              </a:rPr>
              <a:t>  $ tail -f /var/log/cloud-client.log</a:t>
            </a:r>
          </a:p>
        </p:txBody>
      </p:sp>
      <p:sp>
        <p:nvSpPr>
          <p:cNvPr id="7" name="TextBox 6"/>
          <p:cNvSpPr txBox="1"/>
          <p:nvPr/>
        </p:nvSpPr>
        <p:spPr>
          <a:xfrm>
            <a:off x="457200" y="6400800"/>
            <a:ext cx="2742840" cy="273960"/>
          </a:xfrm>
          <a:prstGeom prst="rect">
            <a:avLst/>
          </a:prstGeom>
          <a:noFill/>
        </p:spPr>
        <p:txBody>
          <a:bodyPr wrap="square"/>
          <a:lstStyle/>
          <a:p>
            <a:pPr algn="l"/>
            <a:r>
              <a:rPr sz="630" b="0">
                <a:solidFill>
                  <a:srgbClr val="808080"/>
                </a:solidFill>
                <a:latin typeface="Calibri"/>
              </a:rPr>
              <a:t>Build Path: AP</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Picture Placeholder 2"/>
          <p:cNvSpPr>
            <a:spLocks noGrp="1"/>
          </p:cNvSpPr>
          <p:nvPr>
            <p:ph type="pic" idx="1"/>
          </p:nvPr>
        </p:nvSpPr>
        <p:spPr/>
      </p:sp>
      <p:sp>
        <p:nvSpPr>
          <p:cNvPr id="4" name="Text Placeholder 3"/>
          <p:cNvSpPr>
            <a:spLocks noGrp="1"/>
          </p:cNvSpPr>
          <p:nvPr>
            <p:ph type="body" idx="2" sz="half"/>
          </p:nvPr>
        </p:nvSpPr>
        <p:spPr/>
        <p:txBody>
          <a:bodyPr/>
          <a:lstStyle/>
          <a:p/>
        </p:txBody>
      </p:sp>
      <p:sp>
        <p:nvSpPr>
          <p:cNvPr id="5" name="TextBox 4"/>
          <p:cNvSpPr txBox="1"/>
          <p:nvPr/>
        </p:nvSpPr>
        <p:spPr>
          <a:xfrm>
            <a:off x="457200" y="274320"/>
            <a:ext cx="8229240" cy="731160"/>
          </a:xfrm>
          <a:prstGeom prst="rect">
            <a:avLst/>
          </a:prstGeom>
          <a:noFill/>
        </p:spPr>
        <p:txBody>
          <a:bodyPr wrap="square"/>
          <a:lstStyle/>
          <a:p>
            <a:pPr algn="l"/>
            <a:r>
              <a:rPr sz="2960" b="1">
                <a:solidFill>
                  <a:srgbClr val="1A1A2E"/>
                </a:solidFill>
                <a:latin typeface="Calibri"/>
              </a:rPr>
              <a:t>Complete System Architecture</a:t>
            </a:r>
          </a:p>
        </p:txBody>
      </p:sp>
      <p:sp>
        <p:nvSpPr>
          <p:cNvPr id="6" name="TextBox 5"/>
          <p:cNvSpPr txBox="1"/>
          <p:nvPr/>
        </p:nvSpPr>
        <p:spPr>
          <a:xfrm>
            <a:off x="457200" y="1097280"/>
            <a:ext cx="8229240" cy="5028840"/>
          </a:xfrm>
          <a:prstGeom prst="rect">
            <a:avLst/>
          </a:prstGeom>
          <a:noFill/>
        </p:spPr>
        <p:txBody>
          <a:bodyPr wrap="square"/>
          <a:lstStyle/>
          <a:p>
            <a:pPr algn="l"/>
            <a:r>
              <a:rPr sz="1900" b="0">
                <a:solidFill>
                  <a:srgbClr val="1A1A2E"/>
                </a:solidFill>
                <a:latin typeface="Calibri"/>
              </a:rPr>
              <a:t/>
            </a:r>
          </a:p>
          <a:p>
            <a:pPr/>
            <a:r>
              <a:rPr sz="1900" b="0">
                <a:solidFill>
                  <a:srgbClr val="1A1A2E"/>
                </a:solidFill>
                <a:latin typeface="Calibri"/>
              </a:rPr>
              <a:t>Hardware Layer</a:t>
            </a:r>
          </a:p>
          <a:p>
            <a:pPr lvl="1"/>
            <a:r>
              <a:rPr sz="1900" b="0">
                <a:solidFill>
                  <a:srgbClr val="1A1A2E"/>
                </a:solidFill>
                <a:latin typeface="Calibri"/>
              </a:rPr>
              <a:t>  RPi4 + BME280 (I2C) or Sense HAT (I2C + GPIO)</a:t>
            </a:r>
          </a:p>
          <a:p>
            <a:pPr/>
            <a:r>
              <a:rPr sz="1900" b="0">
                <a:solidFill>
                  <a:srgbClr val="1A1A2E"/>
                </a:solidFill>
                <a:latin typeface="Calibri"/>
              </a:rPr>
              <a:t/>
            </a:r>
          </a:p>
          <a:p>
            <a:pPr/>
            <a:r>
              <a:rPr sz="1900" b="0">
                <a:solidFill>
                  <a:srgbClr val="1A1A2E"/>
                </a:solidFill>
                <a:latin typeface="Calibri"/>
              </a:rPr>
              <a:t>Kernel Layer</a:t>
            </a:r>
          </a:p>
          <a:p>
            <a:pPr lvl="1"/>
            <a:r>
              <a:rPr sz="1900" b="0">
                <a:solidFill>
                  <a:srgbClr val="1A1A2E"/>
                </a:solidFill>
                <a:latin typeface="Calibri"/>
              </a:rPr>
              <a:t>  i2c-dev driver, sysfs, device tree (from Sessions 5-6)</a:t>
            </a:r>
          </a:p>
          <a:p>
            <a:pPr/>
            <a:r>
              <a:rPr sz="1900" b="0">
                <a:solidFill>
                  <a:srgbClr val="1A1A2E"/>
                </a:solidFill>
                <a:latin typeface="Calibri"/>
              </a:rPr>
              <a:t/>
            </a:r>
          </a:p>
          <a:p>
            <a:pPr/>
            <a:r>
              <a:rPr sz="1900" b="0">
                <a:solidFill>
                  <a:srgbClr val="1A1A2E"/>
                </a:solidFill>
                <a:latin typeface="Calibri"/>
              </a:rPr>
              <a:t>Application Layer</a:t>
            </a:r>
          </a:p>
          <a:p>
            <a:pPr lvl="1"/>
            <a:r>
              <a:rPr sz="1900" b="0">
                <a:solidFill>
                  <a:srgbClr val="1A1A2E"/>
                </a:solidFill>
                <a:latin typeface="Calibri"/>
              </a:rPr>
              <a:t>  C sensor driver -&gt; pipe -&gt; Python aggregator -&gt; Flask API</a:t>
            </a:r>
          </a:p>
          <a:p>
            <a:pPr/>
            <a:r>
              <a:rPr sz="1900" b="0">
                <a:solidFill>
                  <a:srgbClr val="1A1A2E"/>
                </a:solidFill>
                <a:latin typeface="Calibri"/>
              </a:rPr>
              <a:t/>
            </a:r>
          </a:p>
          <a:p>
            <a:pPr/>
            <a:r>
              <a:rPr sz="1900" b="0">
                <a:solidFill>
                  <a:srgbClr val="1A1A2E"/>
                </a:solidFill>
                <a:latin typeface="Calibri"/>
              </a:rPr>
              <a:t>Service Layer</a:t>
            </a:r>
          </a:p>
          <a:p>
            <a:pPr lvl="1"/>
            <a:r>
              <a:rPr sz="1900" b="0">
                <a:solidFill>
                  <a:srgbClr val="1A1A2E"/>
                </a:solidFill>
                <a:latin typeface="Calibri"/>
              </a:rPr>
              <a:t>  systemd: auto-start, restart on failure, journald logging</a:t>
            </a:r>
          </a:p>
          <a:p>
            <a:pPr/>
            <a:r>
              <a:rPr sz="1900" b="0">
                <a:solidFill>
                  <a:srgbClr val="1A1A2E"/>
                </a:solidFill>
                <a:latin typeface="Calibri"/>
              </a:rPr>
              <a:t/>
            </a:r>
          </a:p>
          <a:p>
            <a:pPr/>
            <a:r>
              <a:rPr sz="1900" b="0">
                <a:solidFill>
                  <a:srgbClr val="1A1A2E"/>
                </a:solidFill>
                <a:latin typeface="Calibri"/>
              </a:rPr>
              <a:t>Cloud Layer</a:t>
            </a:r>
          </a:p>
          <a:p>
            <a:pPr lvl="1"/>
            <a:r>
              <a:rPr sz="1900" b="0">
                <a:solidFill>
                  <a:srgbClr val="1A1A2E"/>
                </a:solidFill>
                <a:latin typeface="Calibri"/>
              </a:rPr>
              <a:t>  HTTPS POST -&gt; Cloud AI -&gt; classification -&gt; local alert</a:t>
            </a:r>
          </a:p>
          <a:p>
            <a:pPr/>
            <a:r>
              <a:rPr sz="1900" b="0">
                <a:solidFill>
                  <a:srgbClr val="1A1A2E"/>
                </a:solidFill>
                <a:latin typeface="Calibri"/>
              </a:rPr>
              <a:t/>
            </a:r>
          </a:p>
          <a:p>
            <a:pPr/>
            <a:r>
              <a:rPr sz="1900" b="0">
                <a:solidFill>
                  <a:srgbClr val="1A1A2E"/>
                </a:solidFill>
                <a:latin typeface="Calibri"/>
              </a:rPr>
              <a:t>This is the full embedded Linux stack in one project</a:t>
            </a:r>
          </a:p>
        </p:txBody>
      </p:sp>
      <p:sp>
        <p:nvSpPr>
          <p:cNvPr id="7" name="TextBox 6"/>
          <p:cNvSpPr txBox="1"/>
          <p:nvPr/>
        </p:nvSpPr>
        <p:spPr>
          <a:xfrm>
            <a:off x="457200" y="6400800"/>
            <a:ext cx="2742840" cy="273960"/>
          </a:xfrm>
          <a:prstGeom prst="rect">
            <a:avLst/>
          </a:prstGeom>
          <a:noFill/>
        </p:spPr>
        <p:txBody>
          <a:bodyPr wrap="square"/>
          <a:lstStyle/>
          <a:p>
            <a:pPr algn="l"/>
            <a:r>
              <a:rPr sz="630" b="0">
                <a:solidFill>
                  <a:srgbClr val="808080"/>
                </a:solidFill>
                <a:latin typeface="Calibri"/>
              </a:rPr>
              <a:t>Build Path: AP</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Picture Placeholder 2"/>
          <p:cNvSpPr>
            <a:spLocks noGrp="1"/>
          </p:cNvSpPr>
          <p:nvPr>
            <p:ph type="pic" idx="1"/>
          </p:nvPr>
        </p:nvSpPr>
        <p:spPr/>
      </p:sp>
      <p:sp>
        <p:nvSpPr>
          <p:cNvPr id="4" name="Text Placeholder 3"/>
          <p:cNvSpPr>
            <a:spLocks noGrp="1"/>
          </p:cNvSpPr>
          <p:nvPr>
            <p:ph type="body" idx="2" sz="half"/>
          </p:nvPr>
        </p:nvSpPr>
        <p:spPr/>
        <p:txBody>
          <a:bodyPr/>
          <a:lstStyle/>
          <a:p/>
        </p:txBody>
      </p:sp>
      <p:sp>
        <p:nvSpPr>
          <p:cNvPr id="5" name="TextBox 4"/>
          <p:cNvSpPr txBox="1"/>
          <p:nvPr/>
        </p:nvSpPr>
        <p:spPr>
          <a:xfrm>
            <a:off x="457200" y="274320"/>
            <a:ext cx="8229240" cy="731160"/>
          </a:xfrm>
          <a:prstGeom prst="rect">
            <a:avLst/>
          </a:prstGeom>
          <a:noFill/>
        </p:spPr>
        <p:txBody>
          <a:bodyPr wrap="square"/>
          <a:lstStyle/>
          <a:p>
            <a:pPr algn="l"/>
            <a:r>
              <a:rPr sz="2960" b="1">
                <a:solidFill>
                  <a:srgbClr val="1A1A2E"/>
                </a:solidFill>
                <a:latin typeface="Calibri"/>
              </a:rPr>
              <a:t>Error Handling and Watchdog</a:t>
            </a:r>
          </a:p>
        </p:txBody>
      </p:sp>
      <p:sp>
        <p:nvSpPr>
          <p:cNvPr id="6" name="TextBox 5"/>
          <p:cNvSpPr txBox="1"/>
          <p:nvPr/>
        </p:nvSpPr>
        <p:spPr>
          <a:xfrm>
            <a:off x="457200" y="1097280"/>
            <a:ext cx="8229240" cy="5028840"/>
          </a:xfrm>
          <a:prstGeom prst="rect">
            <a:avLst/>
          </a:prstGeom>
          <a:noFill/>
        </p:spPr>
        <p:txBody>
          <a:bodyPr wrap="square"/>
          <a:lstStyle/>
          <a:p>
            <a:pPr algn="l"/>
            <a:r>
              <a:rPr sz="1900" b="0">
                <a:solidFill>
                  <a:srgbClr val="1A1A2E"/>
                </a:solidFill>
                <a:latin typeface="Calibri"/>
              </a:rPr>
              <a:t/>
            </a:r>
          </a:p>
          <a:p>
            <a:pPr/>
            <a:r>
              <a:rPr sz="1900" b="0">
                <a:solidFill>
                  <a:srgbClr val="1A1A2E"/>
                </a:solidFill>
                <a:latin typeface="Calibri"/>
              </a:rPr>
              <a:t>Application-level error handling</a:t>
            </a:r>
          </a:p>
          <a:p>
            <a:pPr lvl="1"/>
            <a:r>
              <a:rPr sz="1900" b="0">
                <a:solidFill>
                  <a:srgbClr val="1A1A2E"/>
                </a:solidFill>
                <a:latin typeface="Calibri"/>
              </a:rPr>
              <a:t>  - Sensor read failure: retry 3 times, then report error</a:t>
            </a:r>
          </a:p>
          <a:p>
            <a:pPr lvl="1"/>
            <a:r>
              <a:rPr sz="1900" b="0">
                <a:solidFill>
                  <a:srgbClr val="1A1A2E"/>
                </a:solidFill>
                <a:latin typeface="Calibri"/>
              </a:rPr>
              <a:t>  - I2C bus error: re-initialize the bus</a:t>
            </a:r>
          </a:p>
          <a:p>
            <a:pPr lvl="1"/>
            <a:r>
              <a:rPr sz="1900" b="0">
                <a:solidFill>
                  <a:srgbClr val="1A1A2E"/>
                </a:solidFill>
                <a:latin typeface="Calibri"/>
              </a:rPr>
              <a:t>  - Cloud API failure: queue data, retry with backoff</a:t>
            </a:r>
          </a:p>
          <a:p>
            <a:pPr/>
            <a:r>
              <a:rPr sz="1900" b="0">
                <a:solidFill>
                  <a:srgbClr val="1A1A2E"/>
                </a:solidFill>
                <a:latin typeface="Calibri"/>
              </a:rPr>
              <a:t/>
            </a:r>
          </a:p>
          <a:p>
            <a:pPr/>
            <a:r>
              <a:rPr sz="1900" b="0">
                <a:solidFill>
                  <a:srgbClr val="1A1A2E"/>
                </a:solidFill>
                <a:latin typeface="Calibri"/>
              </a:rPr>
              <a:t>Hardware watchdog timer (RPi4 has one)</a:t>
            </a:r>
          </a:p>
          <a:p>
            <a:pPr lvl="1"/>
            <a:r>
              <a:rPr sz="1900" b="0">
                <a:solidFill>
                  <a:srgbClr val="1A1A2E"/>
                </a:solidFill>
                <a:latin typeface="Calibri"/>
              </a:rPr>
              <a:t>  /dev/watchdog -- kernel will reboot if not pinged</a:t>
            </a:r>
          </a:p>
          <a:p>
            <a:pPr lvl="1"/>
            <a:r>
              <a:rPr sz="1900" b="0">
                <a:solidFill>
                  <a:srgbClr val="1A1A2E"/>
                </a:solidFill>
                <a:latin typeface="Calibri"/>
              </a:rPr>
              <a:t>  $ sudo apt install watchdog</a:t>
            </a:r>
          </a:p>
          <a:p>
            <a:pPr lvl="1"/>
            <a:r>
              <a:rPr sz="1900" b="0">
                <a:solidFill>
                  <a:srgbClr val="1A1A2E"/>
                </a:solidFill>
                <a:latin typeface="Calibri"/>
              </a:rPr>
              <a:t>  $ systemctl enable watchdog</a:t>
            </a:r>
          </a:p>
          <a:p>
            <a:pPr/>
            <a:r>
              <a:rPr sz="1900" b="0">
                <a:solidFill>
                  <a:srgbClr val="1A1A2E"/>
                </a:solidFill>
                <a:latin typeface="Calibri"/>
              </a:rPr>
              <a:t/>
            </a:r>
          </a:p>
          <a:p>
            <a:pPr/>
            <a:r>
              <a:rPr sz="1900" b="0">
                <a:solidFill>
                  <a:srgbClr val="1A1A2E"/>
                </a:solidFill>
                <a:latin typeface="Calibri"/>
              </a:rPr>
              <a:t>Watchdog in application</a:t>
            </a:r>
          </a:p>
          <a:p>
            <a:pPr lvl="1"/>
            <a:r>
              <a:rPr sz="1900" b="0">
                <a:solidFill>
                  <a:srgbClr val="1A1A2E"/>
                </a:solidFill>
                <a:latin typeface="Calibri"/>
              </a:rPr>
              <a:t>  wd = open('/dev/watchdog', O_WRONLY)</a:t>
            </a:r>
          </a:p>
          <a:p>
            <a:pPr lvl="1"/>
            <a:r>
              <a:rPr sz="1900" b="0">
                <a:solidFill>
                  <a:srgbClr val="1A1A2E"/>
                </a:solidFill>
                <a:latin typeface="Calibri"/>
              </a:rPr>
              <a:t>  while running:</a:t>
            </a:r>
          </a:p>
          <a:p>
            <a:pPr lvl="2"/>
            <a:r>
              <a:rPr sz="1900" b="0">
                <a:solidFill>
                  <a:srgbClr val="1A1A2E"/>
                </a:solidFill>
                <a:latin typeface="Calibri"/>
              </a:rPr>
              <a:t>    do_work()</a:t>
            </a:r>
          </a:p>
          <a:p>
            <a:pPr lvl="2"/>
            <a:r>
              <a:rPr sz="1900" b="0">
                <a:solidFill>
                  <a:srgbClr val="1A1A2E"/>
                </a:solidFill>
                <a:latin typeface="Calibri"/>
              </a:rPr>
              <a:t>    wd.write('1')  # ping the watchdog</a:t>
            </a:r>
          </a:p>
          <a:p>
            <a:pPr/>
            <a:r>
              <a:rPr sz="1900" b="0">
                <a:solidFill>
                  <a:srgbClr val="1A1A2E"/>
                </a:solidFill>
                <a:latin typeface="Calibri"/>
              </a:rPr>
              <a:t/>
            </a:r>
          </a:p>
          <a:p>
            <a:pPr/>
            <a:r>
              <a:rPr sz="1900" b="0">
                <a:solidFill>
                  <a:srgbClr val="1A1A2E"/>
                </a:solidFill>
                <a:latin typeface="Calibri"/>
              </a:rPr>
              <a:t>Without watchdog: system can hang indefinitely</a:t>
            </a:r>
          </a:p>
        </p:txBody>
      </p:sp>
      <p:sp>
        <p:nvSpPr>
          <p:cNvPr id="7" name="TextBox 6"/>
          <p:cNvSpPr txBox="1"/>
          <p:nvPr/>
        </p:nvSpPr>
        <p:spPr>
          <a:xfrm>
            <a:off x="457200" y="6400800"/>
            <a:ext cx="2742840" cy="273960"/>
          </a:xfrm>
          <a:prstGeom prst="rect">
            <a:avLst/>
          </a:prstGeom>
          <a:noFill/>
        </p:spPr>
        <p:txBody>
          <a:bodyPr wrap="square"/>
          <a:lstStyle/>
          <a:p>
            <a:pPr algn="l"/>
            <a:r>
              <a:rPr sz="630" b="0">
                <a:solidFill>
                  <a:srgbClr val="808080"/>
                </a:solidFill>
                <a:latin typeface="Calibri"/>
              </a:rPr>
              <a:t>Build Path: AP</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Picture Placeholder 2"/>
          <p:cNvSpPr>
            <a:spLocks noGrp="1"/>
          </p:cNvSpPr>
          <p:nvPr>
            <p:ph type="pic" idx="1"/>
          </p:nvPr>
        </p:nvSpPr>
        <p:spPr/>
      </p:sp>
      <p:sp>
        <p:nvSpPr>
          <p:cNvPr id="4" name="Text Placeholder 3"/>
          <p:cNvSpPr>
            <a:spLocks noGrp="1"/>
          </p:cNvSpPr>
          <p:nvPr>
            <p:ph type="body" idx="2" sz="half"/>
          </p:nvPr>
        </p:nvSpPr>
        <p:spPr/>
        <p:txBody>
          <a:bodyPr/>
          <a:lstStyle/>
          <a:p/>
        </p:txBody>
      </p:sp>
      <p:sp>
        <p:nvSpPr>
          <p:cNvPr id="5" name="TextBox 4"/>
          <p:cNvSpPr txBox="1"/>
          <p:nvPr/>
        </p:nvSpPr>
        <p:spPr>
          <a:xfrm>
            <a:off x="457200" y="274320"/>
            <a:ext cx="8229240" cy="731160"/>
          </a:xfrm>
          <a:prstGeom prst="rect">
            <a:avLst/>
          </a:prstGeom>
          <a:noFill/>
        </p:spPr>
        <p:txBody>
          <a:bodyPr wrap="square"/>
          <a:lstStyle/>
          <a:p>
            <a:pPr algn="l"/>
            <a:r>
              <a:rPr sz="2960" b="1">
                <a:solidFill>
                  <a:srgbClr val="1A1A2E"/>
                </a:solidFill>
                <a:latin typeface="Calibri"/>
              </a:rPr>
              <a:t>Performance Monitoring</a:t>
            </a:r>
          </a:p>
        </p:txBody>
      </p:sp>
      <p:sp>
        <p:nvSpPr>
          <p:cNvPr id="6" name="TextBox 5"/>
          <p:cNvSpPr txBox="1"/>
          <p:nvPr/>
        </p:nvSpPr>
        <p:spPr>
          <a:xfrm>
            <a:off x="457200" y="1097280"/>
            <a:ext cx="8229240" cy="5028840"/>
          </a:xfrm>
          <a:prstGeom prst="rect">
            <a:avLst/>
          </a:prstGeom>
          <a:noFill/>
        </p:spPr>
        <p:txBody>
          <a:bodyPr wrap="square"/>
          <a:lstStyle/>
          <a:p>
            <a:pPr algn="l"/>
            <a:r>
              <a:rPr sz="1900" b="0">
                <a:solidFill>
                  <a:srgbClr val="1A1A2E"/>
                </a:solidFill>
                <a:latin typeface="Calibri"/>
              </a:rPr>
              <a:t/>
            </a:r>
          </a:p>
          <a:p>
            <a:pPr/>
            <a:r>
              <a:rPr sz="1900" b="0">
                <a:solidFill>
                  <a:srgbClr val="1A1A2E"/>
                </a:solidFill>
                <a:latin typeface="Calibri"/>
              </a:rPr>
              <a:t>Monitor resource usage on RPi4</a:t>
            </a:r>
          </a:p>
          <a:p>
            <a:pPr lvl="1"/>
            <a:r>
              <a:rPr sz="1900" b="0">
                <a:solidFill>
                  <a:srgbClr val="1A1A2E"/>
                </a:solidFill>
                <a:latin typeface="Calibri"/>
              </a:rPr>
              <a:t>  $ top -- real-time CPU and memory</a:t>
            </a:r>
          </a:p>
          <a:p>
            <a:pPr lvl="1"/>
            <a:r>
              <a:rPr sz="1900" b="0">
                <a:solidFill>
                  <a:srgbClr val="1A1A2E"/>
                </a:solidFill>
                <a:latin typeface="Calibri"/>
              </a:rPr>
              <a:t>  $ free -h -- memory usage</a:t>
            </a:r>
          </a:p>
          <a:p>
            <a:pPr lvl="1"/>
            <a:r>
              <a:rPr sz="1900" b="0">
                <a:solidFill>
                  <a:srgbClr val="1A1A2E"/>
                </a:solidFill>
                <a:latin typeface="Calibri"/>
              </a:rPr>
              <a:t>  $ df -h -- disk usage</a:t>
            </a:r>
          </a:p>
          <a:p>
            <a:pPr/>
            <a:r>
              <a:rPr sz="1900" b="0">
                <a:solidFill>
                  <a:srgbClr val="1A1A2E"/>
                </a:solidFill>
                <a:latin typeface="Calibri"/>
              </a:rPr>
              <a:t/>
            </a:r>
          </a:p>
          <a:p>
            <a:pPr/>
            <a:r>
              <a:rPr sz="1900" b="0">
                <a:solidFill>
                  <a:srgbClr val="1A1A2E"/>
                </a:solidFill>
                <a:latin typeface="Calibri"/>
              </a:rPr>
              <a:t>Measure sensor read latency</a:t>
            </a:r>
          </a:p>
          <a:p>
            <a:pPr lvl="1"/>
            <a:r>
              <a:rPr sz="1900" b="0">
                <a:solidFill>
                  <a:srgbClr val="1A1A2E"/>
                </a:solidFill>
                <a:latin typeface="Calibri"/>
              </a:rPr>
              <a:t>  $ time ./bme280 --count 100</a:t>
            </a:r>
          </a:p>
          <a:p>
            <a:pPr lvl="1"/>
            <a:r>
              <a:rPr sz="1900" b="0">
                <a:solidFill>
                  <a:srgbClr val="1A1A2E"/>
                </a:solidFill>
                <a:latin typeface="Calibri"/>
              </a:rPr>
              <a:t>  -&gt; Should complete 100 reads in ~100 seconds (1 Hz)</a:t>
            </a:r>
          </a:p>
          <a:p>
            <a:pPr/>
            <a:r>
              <a:rPr sz="1900" b="0">
                <a:solidFill>
                  <a:srgbClr val="1A1A2E"/>
                </a:solidFill>
                <a:latin typeface="Calibri"/>
              </a:rPr>
              <a:t/>
            </a:r>
          </a:p>
          <a:p>
            <a:pPr/>
            <a:r>
              <a:rPr sz="1900" b="0">
                <a:solidFill>
                  <a:srgbClr val="1A1A2E"/>
                </a:solidFill>
                <a:latin typeface="Calibri"/>
              </a:rPr>
              <a:t>Profile Python service</a:t>
            </a:r>
          </a:p>
          <a:p>
            <a:pPr lvl="1"/>
            <a:r>
              <a:rPr sz="1900" b="0">
                <a:solidFill>
                  <a:srgbClr val="1A1A2E"/>
                </a:solidFill>
                <a:latin typeface="Calibri"/>
              </a:rPr>
              <a:t>  python3 -m cProfile -s cumulative sensor-bridge.py</a:t>
            </a:r>
          </a:p>
          <a:p>
            <a:pPr lvl="1"/>
            <a:r>
              <a:rPr sz="1900" b="0">
                <a:solidFill>
                  <a:srgbClr val="1A1A2E"/>
                </a:solidFill>
                <a:latin typeface="Calibri"/>
              </a:rPr>
              <a:t>  -&gt; Shows which functions consume the most time</a:t>
            </a:r>
          </a:p>
          <a:p>
            <a:pPr/>
            <a:r>
              <a:rPr sz="1900" b="0">
                <a:solidFill>
                  <a:srgbClr val="1A1A2E"/>
                </a:solidFill>
                <a:latin typeface="Calibri"/>
              </a:rPr>
              <a:t/>
            </a:r>
          </a:p>
          <a:p>
            <a:pPr/>
            <a:r>
              <a:rPr sz="1900" b="0">
                <a:solidFill>
                  <a:srgbClr val="1A1A2E"/>
                </a:solidFill>
                <a:latin typeface="Calibri"/>
              </a:rPr>
              <a:t>Systemd resource accounting</a:t>
            </a:r>
          </a:p>
          <a:p>
            <a:pPr lvl="1"/>
            <a:r>
              <a:rPr sz="1900" b="0">
                <a:solidFill>
                  <a:srgbClr val="1A1A2E"/>
                </a:solidFill>
                <a:latin typeface="Calibri"/>
              </a:rPr>
              <a:t>  $ systemctl show sensor-bridge.service | grep -i memory</a:t>
            </a:r>
          </a:p>
          <a:p>
            <a:pPr lvl="1"/>
            <a:r>
              <a:rPr sz="1900" b="0">
                <a:solidFill>
                  <a:srgbClr val="1A1A2E"/>
                </a:solidFill>
                <a:latin typeface="Calibri"/>
              </a:rPr>
              <a:t>  -&gt; MemoryCurrent, MemoryPeak, CPUUsageNSec</a:t>
            </a:r>
          </a:p>
        </p:txBody>
      </p:sp>
      <p:sp>
        <p:nvSpPr>
          <p:cNvPr id="7" name="TextBox 6"/>
          <p:cNvSpPr txBox="1"/>
          <p:nvPr/>
        </p:nvSpPr>
        <p:spPr>
          <a:xfrm>
            <a:off x="457200" y="6400800"/>
            <a:ext cx="2742840" cy="273960"/>
          </a:xfrm>
          <a:prstGeom prst="rect">
            <a:avLst/>
          </a:prstGeom>
          <a:noFill/>
        </p:spPr>
        <p:txBody>
          <a:bodyPr wrap="square"/>
          <a:lstStyle/>
          <a:p>
            <a:pPr algn="l"/>
            <a:r>
              <a:rPr sz="630" b="0">
                <a:solidFill>
                  <a:srgbClr val="808080"/>
                </a:solidFill>
                <a:latin typeface="Calibri"/>
              </a:rPr>
              <a:t>Build Path: AP</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Picture Placeholder 2"/>
          <p:cNvSpPr>
            <a:spLocks noGrp="1"/>
          </p:cNvSpPr>
          <p:nvPr>
            <p:ph type="pic" idx="1"/>
          </p:nvPr>
        </p:nvSpPr>
        <p:spPr/>
      </p:sp>
      <p:sp>
        <p:nvSpPr>
          <p:cNvPr id="4" name="Text Placeholder 3"/>
          <p:cNvSpPr>
            <a:spLocks noGrp="1"/>
          </p:cNvSpPr>
          <p:nvPr>
            <p:ph type="body" idx="2" sz="half"/>
          </p:nvPr>
        </p:nvSpPr>
        <p:spPr/>
        <p:txBody>
          <a:bodyPr/>
          <a:lstStyle/>
          <a:p/>
        </p:txBody>
      </p:sp>
      <p:sp>
        <p:nvSpPr>
          <p:cNvPr id="5" name="TextBox 4"/>
          <p:cNvSpPr txBox="1"/>
          <p:nvPr/>
        </p:nvSpPr>
        <p:spPr>
          <a:xfrm>
            <a:off x="457200" y="274320"/>
            <a:ext cx="8229240" cy="731160"/>
          </a:xfrm>
          <a:prstGeom prst="rect">
            <a:avLst/>
          </a:prstGeom>
          <a:noFill/>
        </p:spPr>
        <p:txBody>
          <a:bodyPr wrap="square"/>
          <a:lstStyle/>
          <a:p>
            <a:pPr algn="l"/>
            <a:r>
              <a:rPr sz="2960" b="1">
                <a:solidFill>
                  <a:srgbClr val="1A1A2E"/>
                </a:solidFill>
                <a:latin typeface="Calibri"/>
              </a:rPr>
              <a:t>Security Best Practices</a:t>
            </a:r>
          </a:p>
        </p:txBody>
      </p:sp>
      <p:sp>
        <p:nvSpPr>
          <p:cNvPr id="6" name="TextBox 5"/>
          <p:cNvSpPr txBox="1"/>
          <p:nvPr/>
        </p:nvSpPr>
        <p:spPr>
          <a:xfrm>
            <a:off x="457200" y="1097280"/>
            <a:ext cx="8229240" cy="5028840"/>
          </a:xfrm>
          <a:prstGeom prst="rect">
            <a:avLst/>
          </a:prstGeom>
          <a:noFill/>
        </p:spPr>
        <p:txBody>
          <a:bodyPr wrap="square"/>
          <a:lstStyle/>
          <a:p>
            <a:pPr algn="l"/>
            <a:r>
              <a:rPr sz="1900" b="0">
                <a:solidFill>
                  <a:srgbClr val="1A1A2E"/>
                </a:solidFill>
                <a:latin typeface="Calibri"/>
              </a:rPr>
              <a:t/>
            </a:r>
          </a:p>
          <a:p>
            <a:pPr/>
            <a:r>
              <a:rPr sz="1900" b="0">
                <a:solidFill>
                  <a:srgbClr val="1A1A2E"/>
                </a:solidFill>
                <a:latin typeface="Calibri"/>
              </a:rPr>
              <a:t>Principle of least privilege</a:t>
            </a:r>
          </a:p>
          <a:p>
            <a:pPr lvl="1"/>
            <a:r>
              <a:rPr sz="1900" b="0">
                <a:solidFill>
                  <a:srgbClr val="1A1A2E"/>
                </a:solidFill>
                <a:latin typeface="Calibri"/>
              </a:rPr>
              <a:t>  - Run services as non-root user</a:t>
            </a:r>
          </a:p>
          <a:p>
            <a:pPr lvl="1"/>
            <a:r>
              <a:rPr sz="1900" b="0">
                <a:solidFill>
                  <a:srgbClr val="1A1A2E"/>
                </a:solidFill>
                <a:latin typeface="Calibri"/>
              </a:rPr>
              <a:t>  - sensor-bridge user: only i2c group membership</a:t>
            </a:r>
          </a:p>
          <a:p>
            <a:pPr lvl="1"/>
            <a:r>
              <a:rPr sz="1900" b="0">
                <a:solidFill>
                  <a:srgbClr val="1A1A2E"/>
                </a:solidFill>
                <a:latin typeface="Calibri"/>
              </a:rPr>
              <a:t>  $ useradd -r -s /bin/false -G i2c sensor-bridge</a:t>
            </a:r>
          </a:p>
          <a:p>
            <a:pPr/>
            <a:r>
              <a:rPr sz="1900" b="0">
                <a:solidFill>
                  <a:srgbClr val="1A1A2E"/>
                </a:solidFill>
                <a:latin typeface="Calibri"/>
              </a:rPr>
              <a:t/>
            </a:r>
          </a:p>
          <a:p>
            <a:pPr/>
            <a:r>
              <a:rPr sz="1900" b="0">
                <a:solidFill>
                  <a:srgbClr val="1A1A2E"/>
                </a:solidFill>
                <a:latin typeface="Calibri"/>
              </a:rPr>
              <a:t>Secure API key storage</a:t>
            </a:r>
          </a:p>
          <a:p>
            <a:pPr lvl="1"/>
            <a:r>
              <a:rPr sz="1900" b="0">
                <a:solidFill>
                  <a:srgbClr val="1A1A2E"/>
                </a:solidFill>
                <a:latin typeface="Calibri"/>
              </a:rPr>
              <a:t>  - Environment variables (not in source code)</a:t>
            </a:r>
          </a:p>
          <a:p>
            <a:pPr lvl="1"/>
            <a:r>
              <a:rPr sz="1900" b="0">
                <a:solidFill>
                  <a:srgbClr val="1A1A2E"/>
                </a:solidFill>
                <a:latin typeface="Calibri"/>
              </a:rPr>
              <a:t>  - systemd: EnvironmentFile=/etc/sensor-bridge/env</a:t>
            </a:r>
          </a:p>
          <a:p>
            <a:pPr lvl="1"/>
            <a:r>
              <a:rPr sz="1900" b="0">
                <a:solidFill>
                  <a:srgbClr val="1A1A2E"/>
                </a:solidFill>
                <a:latin typeface="Calibri"/>
              </a:rPr>
              <a:t>  - File permissions: chmod 600, owned by root</a:t>
            </a:r>
          </a:p>
          <a:p>
            <a:pPr/>
            <a:r>
              <a:rPr sz="1900" b="0">
                <a:solidFill>
                  <a:srgbClr val="1A1A2E"/>
                </a:solidFill>
                <a:latin typeface="Calibri"/>
              </a:rPr>
              <a:t/>
            </a:r>
          </a:p>
          <a:p>
            <a:pPr/>
            <a:r>
              <a:rPr sz="1900" b="0">
                <a:solidFill>
                  <a:srgbClr val="1A1A2E"/>
                </a:solidFill>
                <a:latin typeface="Calibri"/>
              </a:rPr>
              <a:t>Network security</a:t>
            </a:r>
          </a:p>
          <a:p>
            <a:pPr lvl="1"/>
            <a:r>
              <a:rPr sz="1900" b="0">
                <a:solidFill>
                  <a:srgbClr val="1A1A2E"/>
                </a:solidFill>
                <a:latin typeface="Calibri"/>
              </a:rPr>
              <a:t>  - Firewall: ufw allow 5000/tcp from 192.168.1.0/24</a:t>
            </a:r>
          </a:p>
          <a:p>
            <a:pPr lvl="1"/>
            <a:r>
              <a:rPr sz="1900" b="0">
                <a:solidFill>
                  <a:srgbClr val="1A1A2E"/>
                </a:solidFill>
                <a:latin typeface="Calibri"/>
              </a:rPr>
              <a:t>  - HTTPS for cloud communication (TLS 1.2+)</a:t>
            </a:r>
          </a:p>
          <a:p>
            <a:pPr lvl="1"/>
            <a:r>
              <a:rPr sz="1900" b="0">
                <a:solidFill>
                  <a:srgbClr val="1A1A2E"/>
                </a:solidFill>
                <a:latin typeface="Calibri"/>
              </a:rPr>
              <a:t>  - Disable SSH password auth, use keys only</a:t>
            </a:r>
          </a:p>
          <a:p>
            <a:pPr/>
            <a:r>
              <a:rPr sz="1900" b="0">
                <a:solidFill>
                  <a:srgbClr val="1A1A2E"/>
                </a:solidFill>
                <a:latin typeface="Calibri"/>
              </a:rPr>
              <a:t/>
            </a:r>
          </a:p>
          <a:p>
            <a:pPr/>
            <a:r>
              <a:rPr sz="1900" b="0">
                <a:solidFill>
                  <a:srgbClr val="1A1A2E"/>
                </a:solidFill>
                <a:latin typeface="Calibri"/>
              </a:rPr>
              <a:t>Software updates</a:t>
            </a:r>
          </a:p>
          <a:p>
            <a:pPr lvl="1"/>
            <a:r>
              <a:rPr sz="1900" b="0">
                <a:solidFill>
                  <a:srgbClr val="1A1A2E"/>
                </a:solidFill>
                <a:latin typeface="Calibri"/>
              </a:rPr>
              <a:t>  - Buildroot/Yocto: rebuild rootfs with updated packages</a:t>
            </a:r>
          </a:p>
          <a:p>
            <a:pPr lvl="1"/>
            <a:r>
              <a:rPr sz="1900" b="0">
                <a:solidFill>
                  <a:srgbClr val="1A1A2E"/>
                </a:solidFill>
                <a:latin typeface="Calibri"/>
              </a:rPr>
              <a:t>  - apt update &amp;&amp; apt upgrade (for RPi4 with Raspbian)</a:t>
            </a:r>
          </a:p>
        </p:txBody>
      </p:sp>
      <p:sp>
        <p:nvSpPr>
          <p:cNvPr id="7" name="TextBox 6"/>
          <p:cNvSpPr txBox="1"/>
          <p:nvPr/>
        </p:nvSpPr>
        <p:spPr>
          <a:xfrm>
            <a:off x="457200" y="6400800"/>
            <a:ext cx="2742840" cy="273960"/>
          </a:xfrm>
          <a:prstGeom prst="rect">
            <a:avLst/>
          </a:prstGeom>
          <a:noFill/>
        </p:spPr>
        <p:txBody>
          <a:bodyPr wrap="square"/>
          <a:lstStyle/>
          <a:p>
            <a:pPr algn="l"/>
            <a:r>
              <a:rPr sz="630" b="0">
                <a:solidFill>
                  <a:srgbClr val="808080"/>
                </a:solidFill>
                <a:latin typeface="Calibri"/>
              </a:rPr>
              <a:t>Build Path: AP</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Picture Placeholder 2"/>
          <p:cNvSpPr>
            <a:spLocks noGrp="1"/>
          </p:cNvSpPr>
          <p:nvPr>
            <p:ph type="pic" idx="1"/>
          </p:nvPr>
        </p:nvSpPr>
        <p:spPr/>
      </p:sp>
      <p:sp>
        <p:nvSpPr>
          <p:cNvPr id="4" name="Text Placeholder 3"/>
          <p:cNvSpPr>
            <a:spLocks noGrp="1"/>
          </p:cNvSpPr>
          <p:nvPr>
            <p:ph type="body" idx="2" sz="half"/>
          </p:nvPr>
        </p:nvSpPr>
        <p:spPr/>
        <p:txBody>
          <a:bodyPr/>
          <a:lstStyle/>
          <a:p/>
        </p:txBody>
      </p:sp>
      <p:sp>
        <p:nvSpPr>
          <p:cNvPr id="5" name="TextBox 4"/>
          <p:cNvSpPr txBox="1"/>
          <p:nvPr/>
        </p:nvSpPr>
        <p:spPr>
          <a:xfrm>
            <a:off x="457200" y="274320"/>
            <a:ext cx="8229240" cy="731160"/>
          </a:xfrm>
          <a:prstGeom prst="rect">
            <a:avLst/>
          </a:prstGeom>
          <a:noFill/>
        </p:spPr>
        <p:txBody>
          <a:bodyPr wrap="square"/>
          <a:lstStyle/>
          <a:p>
            <a:pPr algn="l"/>
            <a:r>
              <a:rPr sz="2960" b="1">
                <a:solidFill>
                  <a:srgbClr val="1A1A2E"/>
                </a:solidFill>
                <a:latin typeface="Calibri"/>
              </a:rPr>
              <a:t>Testing Strategies for Embedded Applications</a:t>
            </a:r>
          </a:p>
        </p:txBody>
      </p:sp>
      <p:sp>
        <p:nvSpPr>
          <p:cNvPr id="6" name="TextBox 5"/>
          <p:cNvSpPr txBox="1"/>
          <p:nvPr/>
        </p:nvSpPr>
        <p:spPr>
          <a:xfrm>
            <a:off x="457200" y="1097280"/>
            <a:ext cx="8229240" cy="5028840"/>
          </a:xfrm>
          <a:prstGeom prst="rect">
            <a:avLst/>
          </a:prstGeom>
          <a:noFill/>
        </p:spPr>
        <p:txBody>
          <a:bodyPr wrap="square"/>
          <a:lstStyle/>
          <a:p>
            <a:pPr algn="l"/>
            <a:r>
              <a:rPr sz="1900" b="0">
                <a:solidFill>
                  <a:srgbClr val="1A1A2E"/>
                </a:solidFill>
                <a:latin typeface="Calibri"/>
              </a:rPr>
              <a:t/>
            </a:r>
          </a:p>
          <a:p>
            <a:pPr/>
            <a:r>
              <a:rPr sz="1900" b="0">
                <a:solidFill>
                  <a:srgbClr val="1A1A2E"/>
                </a:solidFill>
                <a:latin typeface="Calibri"/>
              </a:rPr>
              <a:t>Unit testing on host (x86)</a:t>
            </a:r>
          </a:p>
          <a:p>
            <a:pPr lvl="1"/>
            <a:r>
              <a:rPr sz="1900" b="0">
                <a:solidFill>
                  <a:srgbClr val="1A1A2E"/>
                </a:solidFill>
                <a:latin typeface="Calibri"/>
              </a:rPr>
              <a:t>  - Test compensation formulas with known inputs</a:t>
            </a:r>
          </a:p>
          <a:p>
            <a:pPr lvl="1"/>
            <a:r>
              <a:rPr sz="1900" b="0">
                <a:solidFill>
                  <a:srgbClr val="1A1A2E"/>
                </a:solidFill>
                <a:latin typeface="Calibri"/>
              </a:rPr>
              <a:t>  - Mock I2C reads with test data</a:t>
            </a:r>
          </a:p>
          <a:p>
            <a:pPr lvl="1"/>
            <a:r>
              <a:rPr sz="1900" b="0">
                <a:solidFill>
                  <a:srgbClr val="1A1A2E"/>
                </a:solidFill>
                <a:latin typeface="Calibri"/>
              </a:rPr>
              <a:t>  - Use pytest for Python components</a:t>
            </a:r>
          </a:p>
          <a:p>
            <a:pPr/>
            <a:r>
              <a:rPr sz="1900" b="0">
                <a:solidFill>
                  <a:srgbClr val="1A1A2E"/>
                </a:solidFill>
                <a:latin typeface="Calibri"/>
              </a:rPr>
              <a:t/>
            </a:r>
          </a:p>
          <a:p>
            <a:pPr/>
            <a:r>
              <a:rPr sz="1900" b="0">
                <a:solidFill>
                  <a:srgbClr val="1A1A2E"/>
                </a:solidFill>
                <a:latin typeface="Calibri"/>
              </a:rPr>
              <a:t>Integration testing on target</a:t>
            </a:r>
          </a:p>
          <a:p>
            <a:pPr lvl="1"/>
            <a:r>
              <a:rPr sz="1900" b="0">
                <a:solidFill>
                  <a:srgbClr val="1A1A2E"/>
                </a:solidFill>
                <a:latin typeface="Calibri"/>
              </a:rPr>
              <a:t>  - Test with real sensor connected</a:t>
            </a:r>
          </a:p>
          <a:p>
            <a:pPr lvl="1"/>
            <a:r>
              <a:rPr sz="1900" b="0">
                <a:solidFill>
                  <a:srgbClr val="1A1A2E"/>
                </a:solidFill>
                <a:latin typeface="Calibri"/>
              </a:rPr>
              <a:t>  - Verify end-to-end: sensor -&gt; API -&gt; cloud -&gt; alert</a:t>
            </a:r>
          </a:p>
          <a:p>
            <a:pPr lvl="1"/>
            <a:r>
              <a:rPr sz="1900" b="0">
                <a:solidFill>
                  <a:srgbClr val="1A1A2E"/>
                </a:solidFill>
                <a:latin typeface="Calibri"/>
              </a:rPr>
              <a:t>  - Use stress-ng to simulate load</a:t>
            </a:r>
          </a:p>
          <a:p>
            <a:pPr/>
            <a:r>
              <a:rPr sz="1900" b="0">
                <a:solidFill>
                  <a:srgbClr val="1A1A2E"/>
                </a:solidFill>
                <a:latin typeface="Calibri"/>
              </a:rPr>
              <a:t/>
            </a:r>
          </a:p>
          <a:p>
            <a:pPr/>
            <a:r>
              <a:rPr sz="1900" b="0">
                <a:solidFill>
                  <a:srgbClr val="1A1A2E"/>
                </a:solidFill>
                <a:latin typeface="Calibri"/>
              </a:rPr>
              <a:t>Hardware-in-the-loop testing</a:t>
            </a:r>
          </a:p>
          <a:p>
            <a:pPr lvl="1"/>
            <a:r>
              <a:rPr sz="1900" b="0">
                <a:solidFill>
                  <a:srgbClr val="1A1A2E"/>
                </a:solidFill>
                <a:latin typeface="Calibri"/>
              </a:rPr>
              <a:t>  - Simulate sensor with Arduino (I2C slave)</a:t>
            </a:r>
          </a:p>
          <a:p>
            <a:pPr lvl="1"/>
            <a:r>
              <a:rPr sz="1900" b="0">
                <a:solidFill>
                  <a:srgbClr val="1A1A2E"/>
                </a:solidFill>
                <a:latin typeface="Calibri"/>
              </a:rPr>
              <a:t>  - Inject known values, verify application response</a:t>
            </a:r>
          </a:p>
          <a:p>
            <a:pPr lvl="1"/>
            <a:r>
              <a:rPr sz="1900" b="0">
                <a:solidFill>
                  <a:srgbClr val="1A1A2E"/>
                </a:solidFill>
                <a:latin typeface="Calibri"/>
              </a:rPr>
              <a:t>  - Test edge cases: sensor disconnect, bus error</a:t>
            </a:r>
          </a:p>
          <a:p>
            <a:pPr/>
            <a:r>
              <a:rPr sz="1900" b="0">
                <a:solidFill>
                  <a:srgbClr val="1A1A2E"/>
                </a:solidFill>
                <a:latin typeface="Calibri"/>
              </a:rPr>
              <a:t/>
            </a:r>
          </a:p>
          <a:p>
            <a:pPr/>
            <a:r>
              <a:rPr sz="1900" b="0">
                <a:solidFill>
                  <a:srgbClr val="1A1A2E"/>
                </a:solidFill>
                <a:latin typeface="Calibri"/>
              </a:rPr>
              <a:t>Continuous integration (advanced)</a:t>
            </a:r>
          </a:p>
          <a:p>
            <a:pPr lvl="1"/>
            <a:r>
              <a:rPr sz="1900" b="0">
                <a:solidFill>
                  <a:srgbClr val="1A1A2E"/>
                </a:solidFill>
                <a:latin typeface="Calibri"/>
              </a:rPr>
              <a:t>  - GitHub Actions: build ARM binary on every commit</a:t>
            </a:r>
          </a:p>
          <a:p>
            <a:pPr lvl="1"/>
            <a:r>
              <a:rPr sz="1900" b="0">
                <a:solidFill>
                  <a:srgbClr val="1A1A2E"/>
                </a:solidFill>
                <a:latin typeface="Calibri"/>
              </a:rPr>
              <a:t>  - QEMU: run ARM binary in emulation for basic tests</a:t>
            </a:r>
          </a:p>
        </p:txBody>
      </p:sp>
      <p:sp>
        <p:nvSpPr>
          <p:cNvPr id="7" name="TextBox 6"/>
          <p:cNvSpPr txBox="1"/>
          <p:nvPr/>
        </p:nvSpPr>
        <p:spPr>
          <a:xfrm>
            <a:off x="457200" y="6400800"/>
            <a:ext cx="2742840" cy="273960"/>
          </a:xfrm>
          <a:prstGeom prst="rect">
            <a:avLst/>
          </a:prstGeom>
          <a:noFill/>
        </p:spPr>
        <p:txBody>
          <a:bodyPr wrap="square"/>
          <a:lstStyle/>
          <a:p>
            <a:pPr algn="l"/>
            <a:r>
              <a:rPr sz="630" b="0">
                <a:solidFill>
                  <a:srgbClr val="808080"/>
                </a:solidFill>
                <a:latin typeface="Calibri"/>
              </a:rPr>
              <a:t>Build Path: AP</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Picture Placeholder 2"/>
          <p:cNvSpPr>
            <a:spLocks noGrp="1"/>
          </p:cNvSpPr>
          <p:nvPr>
            <p:ph type="pic" idx="1"/>
          </p:nvPr>
        </p:nvSpPr>
        <p:spPr/>
      </p:sp>
      <p:sp>
        <p:nvSpPr>
          <p:cNvPr id="4" name="Text Placeholder 3"/>
          <p:cNvSpPr>
            <a:spLocks noGrp="1"/>
          </p:cNvSpPr>
          <p:nvPr>
            <p:ph type="body" idx="2" sz="half"/>
          </p:nvPr>
        </p:nvSpPr>
        <p:spPr/>
        <p:txBody>
          <a:bodyPr/>
          <a:lstStyle/>
          <a:p/>
        </p:txBody>
      </p:sp>
      <p:sp>
        <p:nvSpPr>
          <p:cNvPr id="5" name="TextBox 4"/>
          <p:cNvSpPr txBox="1"/>
          <p:nvPr/>
        </p:nvSpPr>
        <p:spPr>
          <a:xfrm>
            <a:off x="457200" y="274320"/>
            <a:ext cx="8229240" cy="731160"/>
          </a:xfrm>
          <a:prstGeom prst="rect">
            <a:avLst/>
          </a:prstGeom>
          <a:noFill/>
        </p:spPr>
        <p:txBody>
          <a:bodyPr wrap="square"/>
          <a:lstStyle/>
          <a:p>
            <a:pPr algn="l"/>
            <a:r>
              <a:rPr sz="2960" b="1">
                <a:solidFill>
                  <a:srgbClr val="1A1A2E"/>
                </a:solidFill>
                <a:latin typeface="Calibri"/>
              </a:rPr>
              <a:t>Debugging Tools for Embedded Applications</a:t>
            </a:r>
          </a:p>
        </p:txBody>
      </p:sp>
      <p:sp>
        <p:nvSpPr>
          <p:cNvPr id="6" name="TextBox 5"/>
          <p:cNvSpPr txBox="1"/>
          <p:nvPr/>
        </p:nvSpPr>
        <p:spPr>
          <a:xfrm>
            <a:off x="457200" y="1097280"/>
            <a:ext cx="8229240" cy="5028840"/>
          </a:xfrm>
          <a:prstGeom prst="rect">
            <a:avLst/>
          </a:prstGeom>
          <a:noFill/>
        </p:spPr>
        <p:txBody>
          <a:bodyPr wrap="square"/>
          <a:lstStyle/>
          <a:p>
            <a:pPr algn="l"/>
            <a:r>
              <a:rPr sz="1900" b="0">
                <a:solidFill>
                  <a:srgbClr val="1A1A2E"/>
                </a:solidFill>
                <a:latin typeface="Calibri"/>
              </a:rPr>
              <a:t/>
            </a:r>
          </a:p>
          <a:p>
            <a:pPr/>
            <a:r>
              <a:rPr sz="1900" b="0">
                <a:solidFill>
                  <a:srgbClr val="1A1A2E"/>
                </a:solidFill>
                <a:latin typeface="Calibri"/>
              </a:rPr>
              <a:t>strace: trace system calls</a:t>
            </a:r>
          </a:p>
          <a:p>
            <a:pPr lvl="1"/>
            <a:r>
              <a:rPr sz="1900" b="0">
                <a:solidFill>
                  <a:srgbClr val="1A1A2E"/>
                </a:solidFill>
                <a:latin typeface="Calibri"/>
              </a:rPr>
              <a:t>  $ strace -e read,write,ioctl ./bme280</a:t>
            </a:r>
          </a:p>
          <a:p>
            <a:pPr lvl="1"/>
            <a:r>
              <a:rPr sz="1900" b="0">
                <a:solidFill>
                  <a:srgbClr val="1A1A2E"/>
                </a:solidFill>
                <a:latin typeface="Calibri"/>
              </a:rPr>
              <a:t>  -&gt; Shows every I2C read/write operation</a:t>
            </a:r>
          </a:p>
          <a:p>
            <a:pPr/>
            <a:r>
              <a:rPr sz="1900" b="0">
                <a:solidFill>
                  <a:srgbClr val="1A1A2E"/>
                </a:solidFill>
                <a:latin typeface="Calibri"/>
              </a:rPr>
              <a:t/>
            </a:r>
          </a:p>
          <a:p>
            <a:pPr/>
            <a:r>
              <a:rPr sz="1900" b="0">
                <a:solidFill>
                  <a:srgbClr val="1A1A2E"/>
                </a:solidFill>
                <a:latin typeface="Calibri"/>
              </a:rPr>
              <a:t>gdb: debug C driver</a:t>
            </a:r>
          </a:p>
          <a:p>
            <a:pPr lvl="1"/>
            <a:r>
              <a:rPr sz="1900" b="0">
                <a:solidFill>
                  <a:srgbClr val="1A1A2E"/>
                </a:solidFill>
                <a:latin typeface="Calibri"/>
              </a:rPr>
              <a:t>  $ gdb ./bme280</a:t>
            </a:r>
          </a:p>
          <a:p>
            <a:pPr lvl="1"/>
            <a:r>
              <a:rPr sz="1900" b="0">
                <a:solidFill>
                  <a:srgbClr val="1A1A2E"/>
                </a:solidFill>
                <a:latin typeface="Calibri"/>
              </a:rPr>
              <a:t>  (gdb) break main</a:t>
            </a:r>
          </a:p>
          <a:p>
            <a:pPr lvl="1"/>
            <a:r>
              <a:rPr sz="1900" b="0">
                <a:solidFill>
                  <a:srgbClr val="1A1A2E"/>
                </a:solidFill>
                <a:latin typeface="Calibri"/>
              </a:rPr>
              <a:t>  (gdb) print temperature</a:t>
            </a:r>
          </a:p>
          <a:p>
            <a:pPr/>
            <a:r>
              <a:rPr sz="1900" b="0">
                <a:solidFill>
                  <a:srgbClr val="1A1A2E"/>
                </a:solidFill>
                <a:latin typeface="Calibri"/>
              </a:rPr>
              <a:t/>
            </a:r>
          </a:p>
          <a:p>
            <a:pPr/>
            <a:r>
              <a:rPr sz="1900" b="0">
                <a:solidFill>
                  <a:srgbClr val="1A1A2E"/>
                </a:solidFill>
                <a:latin typeface="Calibri"/>
              </a:rPr>
              <a:t>pdb: debug Python service</a:t>
            </a:r>
          </a:p>
          <a:p>
            <a:pPr lvl="1"/>
            <a:r>
              <a:rPr sz="1900" b="0">
                <a:solidFill>
                  <a:srgbClr val="1A1A2E"/>
                </a:solidFill>
                <a:latin typeface="Calibri"/>
              </a:rPr>
              <a:t>  import pdb; pdb.set_trace()</a:t>
            </a:r>
          </a:p>
          <a:p>
            <a:pPr lvl="1"/>
            <a:r>
              <a:rPr sz="1900" b="0">
                <a:solidFill>
                  <a:srgbClr val="1A1A2E"/>
                </a:solidFill>
                <a:latin typeface="Calibri"/>
              </a:rPr>
              <a:t>  -&gt; Interactive debugger in terminal</a:t>
            </a:r>
          </a:p>
          <a:p>
            <a:pPr/>
            <a:r>
              <a:rPr sz="1900" b="0">
                <a:solidFill>
                  <a:srgbClr val="1A1A2E"/>
                </a:solidFill>
                <a:latin typeface="Calibri"/>
              </a:rPr>
              <a:t/>
            </a:r>
          </a:p>
          <a:p>
            <a:pPr/>
            <a:r>
              <a:rPr sz="1900" b="0">
                <a:solidFill>
                  <a:srgbClr val="1A1A2E"/>
                </a:solidFill>
                <a:latin typeface="Calibri"/>
              </a:rPr>
              <a:t>tcpdump: debug network traffic</a:t>
            </a:r>
          </a:p>
          <a:p>
            <a:pPr lvl="1"/>
            <a:r>
              <a:rPr sz="1900" b="0">
                <a:solidFill>
                  <a:srgbClr val="1A1A2E"/>
                </a:solidFill>
                <a:latin typeface="Calibri"/>
              </a:rPr>
              <a:t>  $ tcpdump -i eth0 port 5000 -A</a:t>
            </a:r>
          </a:p>
          <a:p>
            <a:pPr lvl="1"/>
            <a:r>
              <a:rPr sz="1900" b="0">
                <a:solidFill>
                  <a:srgbClr val="1A1A2E"/>
                </a:solidFill>
                <a:latin typeface="Calibri"/>
              </a:rPr>
              <a:t>  -&gt; Shows HTTP requests and responses</a:t>
            </a:r>
          </a:p>
          <a:p>
            <a:pPr/>
            <a:r>
              <a:rPr sz="1900" b="0">
                <a:solidFill>
                  <a:srgbClr val="1A1A2E"/>
                </a:solidFill>
                <a:latin typeface="Calibri"/>
              </a:rPr>
              <a:t/>
            </a:r>
          </a:p>
          <a:p>
            <a:pPr/>
            <a:r>
              <a:rPr sz="1900" b="0">
                <a:solidFill>
                  <a:srgbClr val="1A1A2E"/>
                </a:solidFill>
                <a:latin typeface="Calibri"/>
              </a:rPr>
              <a:t>I2C debugging</a:t>
            </a:r>
          </a:p>
          <a:p>
            <a:pPr lvl="1"/>
            <a:r>
              <a:rPr sz="1900" b="0">
                <a:solidFill>
                  <a:srgbClr val="1A1A2E"/>
                </a:solidFill>
                <a:latin typeface="Calibri"/>
              </a:rPr>
              <a:t>  $ i2cdetect -y 1  (scan bus)</a:t>
            </a:r>
          </a:p>
          <a:p>
            <a:pPr lvl="1"/>
            <a:r>
              <a:rPr sz="1900" b="0">
                <a:solidFill>
                  <a:srgbClr val="1A1A2E"/>
                </a:solidFill>
                <a:latin typeface="Calibri"/>
              </a:rPr>
              <a:t>  $ i2cdump -y 1 0x76  (dump all registers)</a:t>
            </a:r>
          </a:p>
        </p:txBody>
      </p:sp>
      <p:sp>
        <p:nvSpPr>
          <p:cNvPr id="7" name="TextBox 6"/>
          <p:cNvSpPr txBox="1"/>
          <p:nvPr/>
        </p:nvSpPr>
        <p:spPr>
          <a:xfrm>
            <a:off x="457200" y="6400800"/>
            <a:ext cx="2742840" cy="273960"/>
          </a:xfrm>
          <a:prstGeom prst="rect">
            <a:avLst/>
          </a:prstGeom>
          <a:noFill/>
        </p:spPr>
        <p:txBody>
          <a:bodyPr wrap="square"/>
          <a:lstStyle/>
          <a:p>
            <a:pPr algn="l"/>
            <a:r>
              <a:rPr sz="630" b="0">
                <a:solidFill>
                  <a:srgbClr val="808080"/>
                </a:solidFill>
                <a:latin typeface="Calibri"/>
              </a:rPr>
              <a:t>Build Path: AP</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Picture Placeholder 2"/>
          <p:cNvSpPr>
            <a:spLocks noGrp="1"/>
          </p:cNvSpPr>
          <p:nvPr>
            <p:ph type="pic" idx="1"/>
          </p:nvPr>
        </p:nvSpPr>
        <p:spPr/>
      </p:sp>
      <p:sp>
        <p:nvSpPr>
          <p:cNvPr id="4" name="Text Placeholder 3"/>
          <p:cNvSpPr>
            <a:spLocks noGrp="1"/>
          </p:cNvSpPr>
          <p:nvPr>
            <p:ph type="body" idx="2" sz="half"/>
          </p:nvPr>
        </p:nvSpPr>
        <p:spPr/>
        <p:txBody>
          <a:bodyPr/>
          <a:lstStyle/>
          <a:p/>
        </p:txBody>
      </p:sp>
      <p:sp>
        <p:nvSpPr>
          <p:cNvPr id="5" name="TextBox 4"/>
          <p:cNvSpPr txBox="1"/>
          <p:nvPr/>
        </p:nvSpPr>
        <p:spPr>
          <a:xfrm>
            <a:off x="457200" y="274320"/>
            <a:ext cx="8229240" cy="731160"/>
          </a:xfrm>
          <a:prstGeom prst="rect">
            <a:avLst/>
          </a:prstGeom>
          <a:noFill/>
        </p:spPr>
        <p:txBody>
          <a:bodyPr wrap="square"/>
          <a:lstStyle/>
          <a:p>
            <a:pPr algn="l"/>
            <a:r>
              <a:rPr sz="2960" b="1">
                <a:solidFill>
                  <a:srgbClr val="1A1A2E"/>
                </a:solidFill>
                <a:latin typeface="Calibri"/>
              </a:rPr>
              <a:t>Capstone Assignment: Smart Sensor Bridge</a:t>
            </a:r>
          </a:p>
        </p:txBody>
      </p:sp>
      <p:sp>
        <p:nvSpPr>
          <p:cNvPr id="6" name="TextBox 5"/>
          <p:cNvSpPr txBox="1"/>
          <p:nvPr/>
        </p:nvSpPr>
        <p:spPr>
          <a:xfrm>
            <a:off x="457200" y="1097280"/>
            <a:ext cx="8229240" cy="5028840"/>
          </a:xfrm>
          <a:prstGeom prst="rect">
            <a:avLst/>
          </a:prstGeom>
          <a:noFill/>
        </p:spPr>
        <p:txBody>
          <a:bodyPr wrap="square"/>
          <a:lstStyle/>
          <a:p>
            <a:pPr algn="l"/>
            <a:r>
              <a:rPr sz="1900" b="0">
                <a:solidFill>
                  <a:srgbClr val="1A1A2E"/>
                </a:solidFill>
                <a:latin typeface="Calibri"/>
              </a:rPr>
              <a:t/>
            </a:r>
          </a:p>
          <a:p>
            <a:pPr/>
            <a:r>
              <a:rPr sz="1900" b="0">
                <a:solidFill>
                  <a:srgbClr val="1A1A2E"/>
                </a:solidFill>
                <a:latin typeface="Calibri"/>
              </a:rPr>
              <a:t>Build a complete sensor-to-cloud pipeline on RPi4</a:t>
            </a:r>
          </a:p>
          <a:p>
            <a:pPr/>
            <a:r>
              <a:rPr sz="1900" b="0">
                <a:solidFill>
                  <a:srgbClr val="1A1A2E"/>
                </a:solidFill>
                <a:latin typeface="Calibri"/>
              </a:rPr>
              <a:t/>
            </a:r>
          </a:p>
          <a:p>
            <a:pPr/>
            <a:r>
              <a:rPr sz="1900" b="0">
                <a:solidFill>
                  <a:srgbClr val="1A1A2E"/>
                </a:solidFill>
                <a:latin typeface="Calibri"/>
              </a:rPr>
              <a:t>Required components:</a:t>
            </a:r>
          </a:p>
          <a:p>
            <a:pPr lvl="1"/>
            <a:r>
              <a:rPr sz="1900" b="0">
                <a:solidFill>
                  <a:srgbClr val="1A1A2E"/>
                </a:solidFill>
                <a:latin typeface="Calibri"/>
              </a:rPr>
              <a:t>  1. C sensor driver (BME280 or Sense HAT)</a:t>
            </a:r>
          </a:p>
          <a:p>
            <a:pPr lvl="1"/>
            <a:r>
              <a:rPr sz="1900" b="0">
                <a:solidFill>
                  <a:srgbClr val="1A1A2E"/>
                </a:solidFill>
                <a:latin typeface="Calibri"/>
              </a:rPr>
              <a:t>  2. Python aggregator with Flask API</a:t>
            </a:r>
          </a:p>
          <a:p>
            <a:pPr lvl="1"/>
            <a:r>
              <a:rPr sz="1900" b="0">
                <a:solidFill>
                  <a:srgbClr val="1A1A2E"/>
                </a:solidFill>
                <a:latin typeface="Calibri"/>
              </a:rPr>
              <a:t>  3. Systemd service for auto-start</a:t>
            </a:r>
          </a:p>
          <a:p>
            <a:pPr lvl="1"/>
            <a:r>
              <a:rPr sz="1900" b="0">
                <a:solidFill>
                  <a:srgbClr val="1A1A2E"/>
                </a:solidFill>
                <a:latin typeface="Calibri"/>
              </a:rPr>
              <a:t>  4. Cloud AI client with anomaly detection</a:t>
            </a:r>
          </a:p>
          <a:p>
            <a:pPr/>
            <a:r>
              <a:rPr sz="1900" b="0">
                <a:solidFill>
                  <a:srgbClr val="1A1A2E"/>
                </a:solidFill>
                <a:latin typeface="Calibri"/>
              </a:rPr>
              <a:t/>
            </a:r>
          </a:p>
          <a:p>
            <a:pPr/>
            <a:r>
              <a:rPr sz="1900" b="0">
                <a:solidFill>
                  <a:srgbClr val="1A1A2E"/>
                </a:solidFill>
                <a:latin typeface="Calibri"/>
              </a:rPr>
              <a:t>Deliverables:</a:t>
            </a:r>
          </a:p>
          <a:p>
            <a:pPr lvl="1"/>
            <a:r>
              <a:rPr sz="1900" b="0">
                <a:solidFill>
                  <a:srgbClr val="1A1A2E"/>
                </a:solidFill>
                <a:latin typeface="Calibri"/>
              </a:rPr>
              <a:t>  - Source code (GitHub repository)</a:t>
            </a:r>
          </a:p>
          <a:p>
            <a:pPr lvl="1"/>
            <a:r>
              <a:rPr sz="1900" b="0">
                <a:solidFill>
                  <a:srgbClr val="1A1A2E"/>
                </a:solidFill>
                <a:latin typeface="Calibri"/>
              </a:rPr>
              <a:t>  - Screenshot of curl /sensors output (live data)</a:t>
            </a:r>
          </a:p>
          <a:p>
            <a:pPr lvl="1"/>
            <a:r>
              <a:rPr sz="1900" b="0">
                <a:solidFill>
                  <a:srgbClr val="1A1A2E"/>
                </a:solidFill>
                <a:latin typeface="Calibri"/>
              </a:rPr>
              <a:t>  - Screenshot of systemd service status (active)</a:t>
            </a:r>
          </a:p>
          <a:p>
            <a:pPr lvl="1"/>
            <a:r>
              <a:rPr sz="1900" b="0">
                <a:solidFill>
                  <a:srgbClr val="1A1A2E"/>
                </a:solidFill>
                <a:latin typeface="Calibri"/>
              </a:rPr>
              <a:t>  - Screenshot of cloud AI classification response</a:t>
            </a:r>
          </a:p>
          <a:p>
            <a:pPr lvl="1"/>
            <a:r>
              <a:rPr sz="1900" b="0">
                <a:solidFill>
                  <a:srgbClr val="1A1A2E"/>
                </a:solidFill>
                <a:latin typeface="Calibri"/>
              </a:rPr>
              <a:t>  - Demo video (2-3 min): full pipeline in action</a:t>
            </a:r>
          </a:p>
          <a:p>
            <a:pPr/>
            <a:r>
              <a:rPr sz="1900" b="0">
                <a:solidFill>
                  <a:srgbClr val="1A1A2E"/>
                </a:solidFill>
                <a:latin typeface="Calibri"/>
              </a:rPr>
              <a:t/>
            </a:r>
          </a:p>
          <a:p>
            <a:pPr/>
            <a:r>
              <a:rPr sz="1900" b="0">
                <a:solidFill>
                  <a:srgbClr val="1A1A2E"/>
                </a:solidFill>
                <a:latin typeface="Calibri"/>
              </a:rPr>
              <a:t>Due: end of course (Session 10)</a:t>
            </a:r>
          </a:p>
        </p:txBody>
      </p:sp>
      <p:sp>
        <p:nvSpPr>
          <p:cNvPr id="7" name="TextBox 6"/>
          <p:cNvSpPr txBox="1"/>
          <p:nvPr/>
        </p:nvSpPr>
        <p:spPr>
          <a:xfrm>
            <a:off x="457200" y="6400800"/>
            <a:ext cx="2742840" cy="273960"/>
          </a:xfrm>
          <a:prstGeom prst="rect">
            <a:avLst/>
          </a:prstGeom>
          <a:noFill/>
        </p:spPr>
        <p:txBody>
          <a:bodyPr wrap="square"/>
          <a:lstStyle/>
          <a:p>
            <a:pPr algn="l"/>
            <a:r>
              <a:rPr sz="630" b="0">
                <a:solidFill>
                  <a:srgbClr val="808080"/>
                </a:solidFill>
                <a:latin typeface="Calibri"/>
              </a:rPr>
              <a:t>Build Path: AP</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Picture Placeholder 2"/>
          <p:cNvSpPr>
            <a:spLocks noGrp="1"/>
          </p:cNvSpPr>
          <p:nvPr>
            <p:ph type="pic" idx="1"/>
          </p:nvPr>
        </p:nvSpPr>
        <p:spPr/>
      </p:sp>
      <p:sp>
        <p:nvSpPr>
          <p:cNvPr id="4" name="Text Placeholder 3"/>
          <p:cNvSpPr>
            <a:spLocks noGrp="1"/>
          </p:cNvSpPr>
          <p:nvPr>
            <p:ph type="body" idx="2" sz="half"/>
          </p:nvPr>
        </p:nvSpPr>
        <p:spPr/>
        <p:txBody>
          <a:bodyPr/>
          <a:lstStyle/>
          <a:p/>
        </p:txBody>
      </p:sp>
      <p:sp>
        <p:nvSpPr>
          <p:cNvPr id="5" name="TextBox 4"/>
          <p:cNvSpPr txBox="1"/>
          <p:nvPr/>
        </p:nvSpPr>
        <p:spPr>
          <a:xfrm>
            <a:off x="457200" y="274320"/>
            <a:ext cx="8229240" cy="731160"/>
          </a:xfrm>
          <a:prstGeom prst="rect">
            <a:avLst/>
          </a:prstGeom>
          <a:noFill/>
        </p:spPr>
        <p:txBody>
          <a:bodyPr wrap="square"/>
          <a:lstStyle/>
          <a:p>
            <a:pPr algn="l"/>
            <a:r>
              <a:rPr sz="2960" b="1">
                <a:solidFill>
                  <a:srgbClr val="1A1A2E"/>
                </a:solidFill>
                <a:latin typeface="Calibri"/>
              </a:rPr>
              <a:t>Assignment: Extra Credit Options</a:t>
            </a:r>
          </a:p>
        </p:txBody>
      </p:sp>
      <p:sp>
        <p:nvSpPr>
          <p:cNvPr id="6" name="TextBox 5"/>
          <p:cNvSpPr txBox="1"/>
          <p:nvPr/>
        </p:nvSpPr>
        <p:spPr>
          <a:xfrm>
            <a:off x="457200" y="1097280"/>
            <a:ext cx="8229240" cy="5028840"/>
          </a:xfrm>
          <a:prstGeom prst="rect">
            <a:avLst/>
          </a:prstGeom>
          <a:noFill/>
        </p:spPr>
        <p:txBody>
          <a:bodyPr wrap="square"/>
          <a:lstStyle/>
          <a:p>
            <a:pPr algn="l"/>
            <a:r>
              <a:rPr sz="1900" b="0">
                <a:solidFill>
                  <a:srgbClr val="1A1A2E"/>
                </a:solidFill>
                <a:latin typeface="Calibri"/>
              </a:rPr>
              <a:t/>
            </a:r>
          </a:p>
          <a:p>
            <a:pPr/>
            <a:r>
              <a:rPr sz="1900" b="0">
                <a:solidFill>
                  <a:srgbClr val="1A1A2E"/>
                </a:solidFill>
                <a:latin typeface="Calibri"/>
              </a:rPr>
              <a:t>Sense HAT LED matrix status display</a:t>
            </a:r>
          </a:p>
          <a:p>
            <a:pPr lvl="1"/>
            <a:r>
              <a:rPr sz="1900" b="0">
                <a:solidFill>
                  <a:srgbClr val="1A1A2E"/>
                </a:solidFill>
                <a:latin typeface="Calibri"/>
              </a:rPr>
              <a:t>  - Green: normal, Yellow: warning, Red: critical</a:t>
            </a:r>
          </a:p>
          <a:p>
            <a:pPr lvl="1"/>
            <a:r>
              <a:rPr sz="1900" b="0">
                <a:solidFill>
                  <a:srgbClr val="1A1A2E"/>
                </a:solidFill>
                <a:latin typeface="Calibri"/>
              </a:rPr>
              <a:t>  - Scrolling text with current temperature</a:t>
            </a:r>
          </a:p>
          <a:p>
            <a:pPr/>
            <a:r>
              <a:rPr sz="1900" b="0">
                <a:solidFill>
                  <a:srgbClr val="1A1A2E"/>
                </a:solidFill>
                <a:latin typeface="Calibri"/>
              </a:rPr>
              <a:t/>
            </a:r>
          </a:p>
          <a:p>
            <a:pPr/>
            <a:r>
              <a:rPr sz="1900" b="0">
                <a:solidFill>
                  <a:srgbClr val="1A1A2E"/>
                </a:solidFill>
                <a:latin typeface="Calibri"/>
              </a:rPr>
              <a:t>Local SQLite queue for cloud outages</a:t>
            </a:r>
          </a:p>
          <a:p>
            <a:pPr lvl="1"/>
            <a:r>
              <a:rPr sz="1900" b="0">
                <a:solidFill>
                  <a:srgbClr val="1A1A2E"/>
                </a:solidFill>
                <a:latin typeface="Calibri"/>
              </a:rPr>
              <a:t>  - Store readings during network outage</a:t>
            </a:r>
          </a:p>
          <a:p>
            <a:pPr lvl="1"/>
            <a:r>
              <a:rPr sz="1900" b="0">
                <a:solidFill>
                  <a:srgbClr val="1A1A2E"/>
                </a:solidFill>
                <a:latin typeface="Calibri"/>
              </a:rPr>
              <a:t>  - Flush queue when connection returns</a:t>
            </a:r>
          </a:p>
          <a:p>
            <a:pPr/>
            <a:r>
              <a:rPr sz="1900" b="0">
                <a:solidFill>
                  <a:srgbClr val="1A1A2E"/>
                </a:solidFill>
                <a:latin typeface="Calibri"/>
              </a:rPr>
              <a:t/>
            </a:r>
          </a:p>
          <a:p>
            <a:pPr/>
            <a:r>
              <a:rPr sz="1900" b="0">
                <a:solidFill>
                  <a:srgbClr val="1A1A2E"/>
                </a:solidFill>
                <a:latin typeface="Calibri"/>
              </a:rPr>
              <a:t>Hardware watchdog integration</a:t>
            </a:r>
          </a:p>
          <a:p>
            <a:pPr lvl="1"/>
            <a:r>
              <a:rPr sz="1900" b="0">
                <a:solidFill>
                  <a:srgbClr val="1A1A2E"/>
                </a:solidFill>
                <a:latin typeface="Calibri"/>
              </a:rPr>
              <a:t>  - Configure /dev/watchdog in C driver</a:t>
            </a:r>
          </a:p>
          <a:p>
            <a:pPr lvl="1"/>
            <a:r>
              <a:rPr sz="1900" b="0">
                <a:solidFill>
                  <a:srgbClr val="1A1A2E"/>
                </a:solidFill>
                <a:latin typeface="Calibri"/>
              </a:rPr>
              <a:t>  - System reboots if application hangs</a:t>
            </a:r>
          </a:p>
          <a:p>
            <a:pPr/>
            <a:r>
              <a:rPr sz="1900" b="0">
                <a:solidFill>
                  <a:srgbClr val="1A1A2E"/>
                </a:solidFill>
                <a:latin typeface="Calibri"/>
              </a:rPr>
              <a:t/>
            </a:r>
          </a:p>
          <a:p>
            <a:pPr/>
            <a:r>
              <a:rPr sz="1900" b="0">
                <a:solidFill>
                  <a:srgbClr val="1A1A2E"/>
                </a:solidFill>
                <a:latin typeface="Calibri"/>
              </a:rPr>
              <a:t>Real LLM classification (OpenAI, Anthropic, etc.)</a:t>
            </a:r>
          </a:p>
          <a:p>
            <a:pPr lvl="1"/>
            <a:r>
              <a:rPr sz="1900" b="0">
                <a:solidFill>
                  <a:srgbClr val="1A1A2E"/>
                </a:solidFill>
                <a:latin typeface="Calibri"/>
              </a:rPr>
              <a:t>  - Send sensor data as prompt to GPT</a:t>
            </a:r>
          </a:p>
          <a:p>
            <a:pPr lvl="1"/>
            <a:r>
              <a:rPr sz="1900" b="0">
                <a:solidFill>
                  <a:srgbClr val="1A1A2E"/>
                </a:solidFill>
                <a:latin typeface="Calibri"/>
              </a:rPr>
              <a:t>  - Parse classification from response</a:t>
            </a:r>
          </a:p>
          <a:p>
            <a:pPr/>
            <a:r>
              <a:rPr sz="1900" b="0">
                <a:solidFill>
                  <a:srgbClr val="1A1A2E"/>
                </a:solidFill>
                <a:latin typeface="Calibri"/>
              </a:rPr>
              <a:t/>
            </a:r>
          </a:p>
          <a:p>
            <a:pPr/>
            <a:r>
              <a:rPr sz="1900" b="0">
                <a:solidFill>
                  <a:srgbClr val="1A1A2E"/>
                </a:solidFill>
                <a:latin typeface="Calibri"/>
              </a:rPr>
              <a:t>Web dashboard (Grafana or custom)</a:t>
            </a:r>
          </a:p>
          <a:p>
            <a:pPr lvl="1"/>
            <a:r>
              <a:rPr sz="1900" b="0">
                <a:solidFill>
                  <a:srgbClr val="1A1A2E"/>
                </a:solidFill>
                <a:latin typeface="Calibri"/>
              </a:rPr>
              <a:t>  - Real-time graphs of sensor data</a:t>
            </a:r>
          </a:p>
          <a:p>
            <a:pPr lvl="1"/>
            <a:r>
              <a:rPr sz="1900" b="0">
                <a:solidFill>
                  <a:srgbClr val="1A1A2E"/>
                </a:solidFill>
                <a:latin typeface="Calibri"/>
              </a:rPr>
              <a:t>  - Historical trends and anomaly markers</a:t>
            </a:r>
          </a:p>
        </p:txBody>
      </p:sp>
      <p:sp>
        <p:nvSpPr>
          <p:cNvPr id="7" name="TextBox 6"/>
          <p:cNvSpPr txBox="1"/>
          <p:nvPr/>
        </p:nvSpPr>
        <p:spPr>
          <a:xfrm>
            <a:off x="457200" y="6400800"/>
            <a:ext cx="2742840" cy="273960"/>
          </a:xfrm>
          <a:prstGeom prst="rect">
            <a:avLst/>
          </a:prstGeom>
          <a:noFill/>
        </p:spPr>
        <p:txBody>
          <a:bodyPr wrap="square"/>
          <a:lstStyle/>
          <a:p>
            <a:pPr algn="l"/>
            <a:r>
              <a:rPr sz="630" b="0">
                <a:solidFill>
                  <a:srgbClr val="808080"/>
                </a:solidFill>
                <a:latin typeface="Calibri"/>
              </a:rPr>
              <a:t>Build Path: AP</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Picture Placeholder 2"/>
          <p:cNvSpPr>
            <a:spLocks noGrp="1"/>
          </p:cNvSpPr>
          <p:nvPr>
            <p:ph type="pic" idx="1"/>
          </p:nvPr>
        </p:nvSpPr>
        <p:spPr/>
      </p:sp>
      <p:sp>
        <p:nvSpPr>
          <p:cNvPr id="4" name="Text Placeholder 3"/>
          <p:cNvSpPr>
            <a:spLocks noGrp="1"/>
          </p:cNvSpPr>
          <p:nvPr>
            <p:ph type="body" idx="2" sz="half"/>
          </p:nvPr>
        </p:nvSpPr>
        <p:spPr/>
        <p:txBody>
          <a:bodyPr/>
          <a:lstStyle/>
          <a:p/>
        </p:txBody>
      </p:sp>
      <p:sp>
        <p:nvSpPr>
          <p:cNvPr id="5" name="TextBox 4"/>
          <p:cNvSpPr txBox="1"/>
          <p:nvPr/>
        </p:nvSpPr>
        <p:spPr>
          <a:xfrm>
            <a:off x="457200" y="274320"/>
            <a:ext cx="8229240" cy="731160"/>
          </a:xfrm>
          <a:prstGeom prst="rect">
            <a:avLst/>
          </a:prstGeom>
          <a:noFill/>
        </p:spPr>
        <p:txBody>
          <a:bodyPr wrap="square"/>
          <a:lstStyle/>
          <a:p>
            <a:pPr algn="l"/>
            <a:r>
              <a:rPr sz="2960" b="1">
                <a:solidFill>
                  <a:srgbClr val="1A1A2E"/>
                </a:solidFill>
                <a:latin typeface="Calibri"/>
              </a:rPr>
              <a:t>Troubleshooting Guide</a:t>
            </a:r>
          </a:p>
        </p:txBody>
      </p:sp>
      <p:sp>
        <p:nvSpPr>
          <p:cNvPr id="6" name="TextBox 5"/>
          <p:cNvSpPr txBox="1"/>
          <p:nvPr/>
        </p:nvSpPr>
        <p:spPr>
          <a:xfrm>
            <a:off x="457200" y="1097280"/>
            <a:ext cx="8229240" cy="5028840"/>
          </a:xfrm>
          <a:prstGeom prst="rect">
            <a:avLst/>
          </a:prstGeom>
          <a:noFill/>
        </p:spPr>
        <p:txBody>
          <a:bodyPr wrap="square"/>
          <a:lstStyle/>
          <a:p>
            <a:pPr algn="l"/>
            <a:r>
              <a:rPr sz="1900" b="0">
                <a:solidFill>
                  <a:srgbClr val="1A1A2E"/>
                </a:solidFill>
                <a:latin typeface="Calibri"/>
              </a:rPr>
              <a:t/>
            </a:r>
          </a:p>
          <a:p>
            <a:pPr/>
            <a:r>
              <a:rPr sz="1900" b="0">
                <a:solidFill>
                  <a:srgbClr val="1A1A2E"/>
                </a:solidFill>
                <a:latin typeface="Calibri"/>
              </a:rPr>
              <a:t>Problem: i2cdetect shows no devices</a:t>
            </a:r>
          </a:p>
          <a:p>
            <a:pPr lvl="1"/>
            <a:r>
              <a:rPr sz="1900" b="0">
                <a:solidFill>
                  <a:srgbClr val="1A1A2E"/>
                </a:solidFill>
                <a:latin typeface="Calibri"/>
              </a:rPr>
              <a:t>  -&gt; Check wiring: SDA=GPIO3(pin5), SCL=GPIO5(pin7)</a:t>
            </a:r>
          </a:p>
          <a:p>
            <a:pPr lvl="1"/>
            <a:r>
              <a:rPr sz="1900" b="0">
                <a:solidFill>
                  <a:srgbClr val="1A1A2E"/>
                </a:solidFill>
                <a:latin typeface="Calibri"/>
              </a:rPr>
              <a:t>  -&gt; Verify pull-up resistors (4.7k to 3.3V)</a:t>
            </a:r>
          </a:p>
          <a:p>
            <a:pPr lvl="1"/>
            <a:r>
              <a:rPr sz="1900" b="0">
                <a:solidFill>
                  <a:srgbClr val="1A1A2E"/>
                </a:solidFill>
                <a:latin typeface="Calibri"/>
              </a:rPr>
              <a:t>  -&gt; Check: dtparam=i2c_arm=on in config.txt</a:t>
            </a:r>
          </a:p>
          <a:p>
            <a:pPr/>
            <a:r>
              <a:rPr sz="1900" b="0">
                <a:solidFill>
                  <a:srgbClr val="1A1A2E"/>
                </a:solidFill>
                <a:latin typeface="Calibri"/>
              </a:rPr>
              <a:t/>
            </a:r>
          </a:p>
          <a:p>
            <a:pPr/>
            <a:r>
              <a:rPr sz="1900" b="0">
                <a:solidFill>
                  <a:srgbClr val="1A1A2E"/>
                </a:solidFill>
                <a:latin typeface="Calibri"/>
              </a:rPr>
              <a:t>Problem: C driver runs but outputs zeros</a:t>
            </a:r>
          </a:p>
          <a:p>
            <a:pPr lvl="1"/>
            <a:r>
              <a:rPr sz="1900" b="0">
                <a:solidFill>
                  <a:srgbClr val="1A1A2E"/>
                </a:solidFill>
                <a:latin typeface="Calibri"/>
              </a:rPr>
              <a:t>  -&gt; Wrong I2C address (try 0x77 instead of 0x76)</a:t>
            </a:r>
          </a:p>
          <a:p>
            <a:pPr lvl="1"/>
            <a:r>
              <a:rPr sz="1900" b="0">
                <a:solidFill>
                  <a:srgbClr val="1A1A2E"/>
                </a:solidFill>
                <a:latin typeface="Calibri"/>
              </a:rPr>
              <a:t>  -&gt; Sensor not initialized (check ctrl_meas register)</a:t>
            </a:r>
          </a:p>
          <a:p>
            <a:pPr lvl="1"/>
            <a:r>
              <a:rPr sz="1900" b="0">
                <a:solidFill>
                  <a:srgbClr val="1A1A2E"/>
                </a:solidFill>
                <a:latin typeface="Calibri"/>
              </a:rPr>
              <a:t>  -&gt; Calibration data not read (check register 0x88)</a:t>
            </a:r>
          </a:p>
          <a:p>
            <a:pPr/>
            <a:r>
              <a:rPr sz="1900" b="0">
                <a:solidFill>
                  <a:srgbClr val="1A1A2E"/>
                </a:solidFill>
                <a:latin typeface="Calibri"/>
              </a:rPr>
              <a:t/>
            </a:r>
          </a:p>
          <a:p>
            <a:pPr/>
            <a:r>
              <a:rPr sz="1900" b="0">
                <a:solidFill>
                  <a:srgbClr val="1A1A2E"/>
                </a:solidFill>
                <a:latin typeface="Calibri"/>
              </a:rPr>
              <a:t>Problem: Flask API returns connection refused</a:t>
            </a:r>
          </a:p>
          <a:p>
            <a:pPr lvl="1"/>
            <a:r>
              <a:rPr sz="1900" b="0">
                <a:solidFill>
                  <a:srgbClr val="1A1A2E"/>
                </a:solidFill>
                <a:latin typeface="Calibri"/>
              </a:rPr>
              <a:t>  -&gt; Flask not running: check systemctl status</a:t>
            </a:r>
          </a:p>
          <a:p>
            <a:pPr lvl="1"/>
            <a:r>
              <a:rPr sz="1900" b="0">
                <a:solidFill>
                  <a:srgbClr val="1A1A2E"/>
                </a:solidFill>
                <a:latin typeface="Calibri"/>
              </a:rPr>
              <a:t>  -&gt; Missing Flask module: pip install flask</a:t>
            </a:r>
          </a:p>
          <a:p>
            <a:pPr lvl="1"/>
            <a:r>
              <a:rPr sz="1900" b="0">
                <a:solidFill>
                  <a:srgbClr val="1A1A2E"/>
                </a:solidFill>
                <a:latin typeface="Calibri"/>
              </a:rPr>
              <a:t>  -&gt; Firewall: ufw allow 5000/tcp</a:t>
            </a:r>
          </a:p>
          <a:p>
            <a:pPr/>
            <a:r>
              <a:rPr sz="1900" b="0">
                <a:solidFill>
                  <a:srgbClr val="1A1A2E"/>
                </a:solidFill>
                <a:latin typeface="Calibri"/>
              </a:rPr>
              <a:t/>
            </a:r>
          </a:p>
          <a:p>
            <a:pPr/>
            <a:r>
              <a:rPr sz="1900" b="0">
                <a:solidFill>
                  <a:srgbClr val="1A1A2E"/>
                </a:solidFill>
                <a:latin typeface="Calibri"/>
              </a:rPr>
              <a:t>Problem: Cloud client gets 401 Unauthorized</a:t>
            </a:r>
          </a:p>
          <a:p>
            <a:pPr lvl="1"/>
            <a:r>
              <a:rPr sz="1900" b="0">
                <a:solidFill>
                  <a:srgbClr val="1A1A2E"/>
                </a:solidFill>
                <a:latin typeface="Calibri"/>
              </a:rPr>
              <a:t>  -&gt; API key not set: echo $CLOUD_API_KEY</a:t>
            </a:r>
          </a:p>
          <a:p>
            <a:pPr lvl="1"/>
            <a:r>
              <a:rPr sz="1900" b="0">
                <a:solidFill>
                  <a:srgbClr val="1A1A2E"/>
                </a:solidFill>
                <a:latin typeface="Calibri"/>
              </a:rPr>
              <a:t>  -&gt; Key expired: generate new key</a:t>
            </a:r>
          </a:p>
        </p:txBody>
      </p:sp>
      <p:sp>
        <p:nvSpPr>
          <p:cNvPr id="7" name="TextBox 6"/>
          <p:cNvSpPr txBox="1"/>
          <p:nvPr/>
        </p:nvSpPr>
        <p:spPr>
          <a:xfrm>
            <a:off x="457200" y="6400800"/>
            <a:ext cx="2742840" cy="273960"/>
          </a:xfrm>
          <a:prstGeom prst="rect">
            <a:avLst/>
          </a:prstGeom>
          <a:noFill/>
        </p:spPr>
        <p:txBody>
          <a:bodyPr wrap="square"/>
          <a:lstStyle/>
          <a:p>
            <a:pPr algn="l"/>
            <a:r>
              <a:rPr sz="630" b="0">
                <a:solidFill>
                  <a:srgbClr val="808080"/>
                </a:solidFill>
                <a:latin typeface="Calibri"/>
              </a:rPr>
              <a:t>Build Path: AP</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Picture Placeholder 2"/>
          <p:cNvSpPr>
            <a:spLocks noGrp="1"/>
          </p:cNvSpPr>
          <p:nvPr>
            <p:ph type="pic" idx="1"/>
          </p:nvPr>
        </p:nvSpPr>
        <p:spPr/>
      </p:sp>
      <p:sp>
        <p:nvSpPr>
          <p:cNvPr id="4" name="Text Placeholder 3"/>
          <p:cNvSpPr>
            <a:spLocks noGrp="1"/>
          </p:cNvSpPr>
          <p:nvPr>
            <p:ph type="body" idx="2" sz="half"/>
          </p:nvPr>
        </p:nvSpPr>
        <p:spPr/>
        <p:txBody>
          <a:bodyPr/>
          <a:lstStyle/>
          <a:p/>
        </p:txBody>
      </p:sp>
      <p:sp>
        <p:nvSpPr>
          <p:cNvPr id="5" name="TextBox 4"/>
          <p:cNvSpPr txBox="1"/>
          <p:nvPr/>
        </p:nvSpPr>
        <p:spPr>
          <a:xfrm>
            <a:off x="457200" y="274320"/>
            <a:ext cx="8229240" cy="731160"/>
          </a:xfrm>
          <a:prstGeom prst="rect">
            <a:avLst/>
          </a:prstGeom>
          <a:noFill/>
        </p:spPr>
        <p:txBody>
          <a:bodyPr wrap="square"/>
          <a:lstStyle/>
          <a:p>
            <a:pPr algn="l"/>
            <a:r>
              <a:rPr sz="2960" b="1">
                <a:solidFill>
                  <a:srgbClr val="1A1A2E"/>
                </a:solidFill>
                <a:latin typeface="Calibri"/>
              </a:rPr>
              <a:t>Session Summary</a:t>
            </a:r>
          </a:p>
        </p:txBody>
      </p:sp>
      <p:sp>
        <p:nvSpPr>
          <p:cNvPr id="6" name="TextBox 5"/>
          <p:cNvSpPr txBox="1"/>
          <p:nvPr/>
        </p:nvSpPr>
        <p:spPr>
          <a:xfrm>
            <a:off x="457200" y="1097280"/>
            <a:ext cx="8229240" cy="5028840"/>
          </a:xfrm>
          <a:prstGeom prst="rect">
            <a:avLst/>
          </a:prstGeom>
          <a:noFill/>
        </p:spPr>
        <p:txBody>
          <a:bodyPr wrap="square"/>
          <a:lstStyle/>
          <a:p>
            <a:pPr algn="l"/>
            <a:r>
              <a:rPr sz="1900" b="0">
                <a:solidFill>
                  <a:srgbClr val="1A1A2E"/>
                </a:solidFill>
                <a:latin typeface="Calibri"/>
              </a:rPr>
              <a:t/>
            </a:r>
          </a:p>
          <a:p>
            <a:pPr/>
            <a:r>
              <a:rPr sz="1900" b="0">
                <a:solidFill>
                  <a:srgbClr val="1A1A2E"/>
                </a:solidFill>
                <a:latin typeface="Calibri"/>
              </a:rPr>
              <a:t>Embedded applications differ from desktop/server</a:t>
            </a:r>
          </a:p>
          <a:p>
            <a:pPr lvl="1"/>
            <a:r>
              <a:rPr sz="1900" b="0">
                <a:solidFill>
                  <a:srgbClr val="1A1A2E"/>
                </a:solidFill>
                <a:latin typeface="Calibri"/>
              </a:rPr>
              <a:t>  - Resource constraints, hardware interaction, reliability</a:t>
            </a:r>
          </a:p>
          <a:p>
            <a:pPr/>
            <a:r>
              <a:rPr sz="1900" b="0">
                <a:solidFill>
                  <a:srgbClr val="1A1A2E"/>
                </a:solidFill>
                <a:latin typeface="Calibri"/>
              </a:rPr>
              <a:t/>
            </a:r>
          </a:p>
          <a:p>
            <a:pPr/>
            <a:r>
              <a:rPr sz="1900" b="0">
                <a:solidFill>
                  <a:srgbClr val="1A1A2E"/>
                </a:solidFill>
                <a:latin typeface="Calibri"/>
              </a:rPr>
              <a:t>Hardware-software interface through kernel</a:t>
            </a:r>
          </a:p>
          <a:p>
            <a:pPr lvl="1"/>
            <a:r>
              <a:rPr sz="1900" b="0">
                <a:solidFill>
                  <a:srgbClr val="1A1A2E"/>
                </a:solidFill>
                <a:latin typeface="Calibri"/>
              </a:rPr>
              <a:t>  - I2C from userspace via /dev/i2c-N</a:t>
            </a:r>
          </a:p>
          <a:p>
            <a:pPr lvl="1"/>
            <a:r>
              <a:rPr sz="1900" b="0">
                <a:solidFill>
                  <a:srgbClr val="1A1A2E"/>
                </a:solidFill>
                <a:latin typeface="Calibri"/>
              </a:rPr>
              <a:t>  - Device tree describes hardware</a:t>
            </a:r>
          </a:p>
          <a:p>
            <a:pPr/>
            <a:r>
              <a:rPr sz="1900" b="0">
                <a:solidFill>
                  <a:srgbClr val="1A1A2E"/>
                </a:solidFill>
                <a:latin typeface="Calibri"/>
              </a:rPr>
              <a:t/>
            </a:r>
          </a:p>
          <a:p>
            <a:pPr/>
            <a:r>
              <a:rPr sz="1900" b="0">
                <a:solidFill>
                  <a:srgbClr val="1A1A2E"/>
                </a:solidFill>
                <a:latin typeface="Calibri"/>
              </a:rPr>
              <a:t>Multi-language architecture</a:t>
            </a:r>
          </a:p>
          <a:p>
            <a:pPr lvl="1"/>
            <a:r>
              <a:rPr sz="1900" b="0">
                <a:solidFill>
                  <a:srgbClr val="1A1A2E"/>
                </a:solidFill>
                <a:latin typeface="Calibri"/>
              </a:rPr>
              <a:t>  - C for hardware, Python for networking</a:t>
            </a:r>
          </a:p>
          <a:p>
            <a:pPr lvl="1"/>
            <a:r>
              <a:rPr sz="1900" b="0">
                <a:solidFill>
                  <a:srgbClr val="1A1A2E"/>
                </a:solidFill>
                <a:latin typeface="Calibri"/>
              </a:rPr>
              <a:t>  - Pipe for inter-process communication</a:t>
            </a:r>
          </a:p>
          <a:p>
            <a:pPr/>
            <a:r>
              <a:rPr sz="1900" b="0">
                <a:solidFill>
                  <a:srgbClr val="1A1A2E"/>
                </a:solidFill>
                <a:latin typeface="Calibri"/>
              </a:rPr>
              <a:t/>
            </a:r>
          </a:p>
          <a:p>
            <a:pPr/>
            <a:r>
              <a:rPr sz="1900" b="0">
                <a:solidFill>
                  <a:srgbClr val="1A1A2E"/>
                </a:solidFill>
                <a:latin typeface="Calibri"/>
              </a:rPr>
              <a:t>Production deployment with systemd</a:t>
            </a:r>
          </a:p>
          <a:p>
            <a:pPr lvl="1"/>
            <a:r>
              <a:rPr sz="1900" b="0">
                <a:solidFill>
                  <a:srgbClr val="1A1A2E"/>
                </a:solidFill>
                <a:latin typeface="Calibri"/>
              </a:rPr>
              <a:t>  - Auto-start, restart on failure, journald logging</a:t>
            </a:r>
          </a:p>
          <a:p>
            <a:pPr/>
            <a:r>
              <a:rPr sz="1900" b="0">
                <a:solidFill>
                  <a:srgbClr val="1A1A2E"/>
                </a:solidFill>
                <a:latin typeface="Calibri"/>
              </a:rPr>
              <a:t/>
            </a:r>
          </a:p>
          <a:p>
            <a:pPr/>
            <a:r>
              <a:rPr sz="1900" b="0">
                <a:solidFill>
                  <a:srgbClr val="1A1A2E"/>
                </a:solidFill>
                <a:latin typeface="Calibri"/>
              </a:rPr>
              <a:t>Cloud AI integration via REST API</a:t>
            </a:r>
          </a:p>
          <a:p>
            <a:pPr lvl="1"/>
            <a:r>
              <a:rPr sz="1900" b="0">
                <a:solidFill>
                  <a:srgbClr val="1A1A2E"/>
                </a:solidFill>
                <a:latin typeface="Calibri"/>
              </a:rPr>
              <a:t>  - HTTPS POST, JSON payload, classification response</a:t>
            </a:r>
          </a:p>
          <a:p>
            <a:pPr/>
            <a:r>
              <a:rPr sz="1900" b="0">
                <a:solidFill>
                  <a:srgbClr val="1A1A2E"/>
                </a:solidFill>
                <a:latin typeface="Calibri"/>
              </a:rPr>
              <a:t/>
            </a:r>
          </a:p>
          <a:p>
            <a:pPr/>
            <a:r>
              <a:rPr sz="1900" b="0">
                <a:solidFill>
                  <a:srgbClr val="1A1A2E"/>
                </a:solidFill>
                <a:latin typeface="Calibri"/>
              </a:rPr>
              <a:t>Capstone assignment: Smart Sensor Bridge</a:t>
            </a:r>
          </a:p>
        </p:txBody>
      </p:sp>
      <p:sp>
        <p:nvSpPr>
          <p:cNvPr id="7" name="TextBox 6"/>
          <p:cNvSpPr txBox="1"/>
          <p:nvPr/>
        </p:nvSpPr>
        <p:spPr>
          <a:xfrm>
            <a:off x="457200" y="6400800"/>
            <a:ext cx="2742840" cy="273960"/>
          </a:xfrm>
          <a:prstGeom prst="rect">
            <a:avLst/>
          </a:prstGeom>
          <a:noFill/>
        </p:spPr>
        <p:txBody>
          <a:bodyPr wrap="square"/>
          <a:lstStyle/>
          <a:p>
            <a:pPr algn="l"/>
            <a:r>
              <a:rPr sz="630" b="0">
                <a:solidFill>
                  <a:srgbClr val="808080"/>
                </a:solidFill>
                <a:latin typeface="Calibri"/>
              </a:rPr>
              <a:t>Build Path: AP</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Picture Placeholder 2"/>
          <p:cNvSpPr>
            <a:spLocks noGrp="1"/>
          </p:cNvSpPr>
          <p:nvPr>
            <p:ph type="pic" idx="1"/>
          </p:nvPr>
        </p:nvSpPr>
        <p:spPr/>
      </p:sp>
      <p:sp>
        <p:nvSpPr>
          <p:cNvPr id="4" name="Text Placeholder 3"/>
          <p:cNvSpPr>
            <a:spLocks noGrp="1"/>
          </p:cNvSpPr>
          <p:nvPr>
            <p:ph type="body" idx="2" sz="half"/>
          </p:nvPr>
        </p:nvSpPr>
        <p:spPr/>
        <p:txBody>
          <a:bodyPr/>
          <a:lstStyle/>
          <a:p/>
        </p:txBody>
      </p:sp>
      <p:sp>
        <p:nvSpPr>
          <p:cNvPr id="5" name="TextBox 4"/>
          <p:cNvSpPr txBox="1"/>
          <p:nvPr/>
        </p:nvSpPr>
        <p:spPr>
          <a:xfrm>
            <a:off x="457200" y="274320"/>
            <a:ext cx="8229240" cy="731160"/>
          </a:xfrm>
          <a:prstGeom prst="rect">
            <a:avLst/>
          </a:prstGeom>
          <a:noFill/>
        </p:spPr>
        <p:txBody>
          <a:bodyPr wrap="square"/>
          <a:lstStyle/>
          <a:p>
            <a:pPr algn="l"/>
            <a:r>
              <a:rPr sz="2960" b="1">
                <a:solidFill>
                  <a:srgbClr val="1A1A2E"/>
                </a:solidFill>
                <a:latin typeface="Calibri"/>
              </a:rPr>
              <a:t>What is Next</a:t>
            </a:r>
          </a:p>
        </p:txBody>
      </p:sp>
      <p:sp>
        <p:nvSpPr>
          <p:cNvPr id="6" name="TextBox 5"/>
          <p:cNvSpPr txBox="1"/>
          <p:nvPr/>
        </p:nvSpPr>
        <p:spPr>
          <a:xfrm>
            <a:off x="457200" y="1097280"/>
            <a:ext cx="8229240" cy="5028840"/>
          </a:xfrm>
          <a:prstGeom prst="rect">
            <a:avLst/>
          </a:prstGeom>
          <a:noFill/>
        </p:spPr>
        <p:txBody>
          <a:bodyPr wrap="square"/>
          <a:lstStyle/>
          <a:p>
            <a:pPr algn="l"/>
            <a:r>
              <a:rPr sz="1900" b="0">
                <a:solidFill>
                  <a:srgbClr val="1A1A2E"/>
                </a:solidFill>
                <a:latin typeface="Calibri"/>
              </a:rPr>
              <a:t/>
            </a:r>
          </a:p>
          <a:p>
            <a:pPr/>
            <a:r>
              <a:rPr sz="1900" b="0">
                <a:solidFill>
                  <a:srgbClr val="1A1A2E"/>
                </a:solidFill>
                <a:latin typeface="Calibri"/>
              </a:rPr>
              <a:t>Session 9: Debug Methods and Profiling</a:t>
            </a:r>
          </a:p>
          <a:p>
            <a:pPr lvl="1"/>
            <a:r>
              <a:rPr sz="1900" b="0">
                <a:solidFill>
                  <a:srgbClr val="1A1A2E"/>
                </a:solidFill>
                <a:latin typeface="Calibri"/>
              </a:rPr>
              <a:t>  - GDB remote debugging on RPi4</a:t>
            </a:r>
          </a:p>
          <a:p>
            <a:pPr lvl="1"/>
            <a:r>
              <a:rPr sz="1900" b="0">
                <a:solidFill>
                  <a:srgbClr val="1A1A2E"/>
                </a:solidFill>
                <a:latin typeface="Calibri"/>
              </a:rPr>
              <a:t>  - strace, ltrace for system call tracing</a:t>
            </a:r>
          </a:p>
          <a:p>
            <a:pPr lvl="1"/>
            <a:r>
              <a:rPr sz="1900" b="0">
                <a:solidFill>
                  <a:srgbClr val="1A1A2E"/>
                </a:solidFill>
                <a:latin typeface="Calibri"/>
              </a:rPr>
              <a:t>  - perf for performance profiling</a:t>
            </a:r>
          </a:p>
          <a:p>
            <a:pPr lvl="1"/>
            <a:r>
              <a:rPr sz="1900" b="0">
                <a:solidFill>
                  <a:srgbClr val="1A1A2E"/>
                </a:solidFill>
                <a:latin typeface="Calibri"/>
              </a:rPr>
              <a:t>  - ftrace for kernel-level tracing</a:t>
            </a:r>
          </a:p>
          <a:p>
            <a:pPr/>
            <a:r>
              <a:rPr sz="1900" b="0">
                <a:solidFill>
                  <a:srgbClr val="1A1A2E"/>
                </a:solidFill>
                <a:latin typeface="Calibri"/>
              </a:rPr>
              <a:t/>
            </a:r>
          </a:p>
          <a:p>
            <a:pPr/>
            <a:r>
              <a:rPr sz="1900" b="0">
                <a:solidFill>
                  <a:srgbClr val="1A1A2E"/>
                </a:solidFill>
                <a:latin typeface="Calibri"/>
              </a:rPr>
              <a:t>Session 10: Realtime Systems</a:t>
            </a:r>
          </a:p>
          <a:p>
            <a:pPr lvl="1"/>
            <a:r>
              <a:rPr sz="1900" b="0">
                <a:solidFill>
                  <a:srgbClr val="1A1A2E"/>
                </a:solidFill>
                <a:latin typeface="Calibri"/>
              </a:rPr>
              <a:t>  - PREEMPT_RT patch and scheduling classes</a:t>
            </a:r>
          </a:p>
          <a:p>
            <a:pPr lvl="1"/>
            <a:r>
              <a:rPr sz="1900" b="0">
                <a:solidFill>
                  <a:srgbClr val="1A1A2E"/>
                </a:solidFill>
                <a:latin typeface="Calibri"/>
              </a:rPr>
              <a:t>  - cyclictest for latency measurement</a:t>
            </a:r>
          </a:p>
          <a:p>
            <a:pPr lvl="1"/>
            <a:r>
              <a:rPr sz="1900" b="0">
                <a:solidFill>
                  <a:srgbClr val="1A1A2E"/>
                </a:solidFill>
                <a:latin typeface="Calibri"/>
              </a:rPr>
              <a:t>  - Priority inheritance and rt-mutexes</a:t>
            </a:r>
          </a:p>
          <a:p>
            <a:pPr/>
            <a:r>
              <a:rPr sz="1900" b="0">
                <a:solidFill>
                  <a:srgbClr val="1A1A2E"/>
                </a:solidFill>
                <a:latin typeface="Calibri"/>
              </a:rPr>
              <a:t/>
            </a:r>
          </a:p>
          <a:p>
            <a:pPr/>
            <a:r>
              <a:rPr sz="1900" b="0">
                <a:solidFill>
                  <a:srgbClr val="1A1A2E"/>
                </a:solidFill>
                <a:latin typeface="Calibri"/>
              </a:rPr>
              <a:t>Capstone assignment due at end of Session 10</a:t>
            </a:r>
          </a:p>
          <a:p>
            <a:pPr lvl="1"/>
            <a:r>
              <a:rPr sz="1900" b="0">
                <a:solidFill>
                  <a:srgbClr val="1A1A2E"/>
                </a:solidFill>
                <a:latin typeface="Calibri"/>
              </a:rPr>
              <a:t>  - Start now, iterate over remaining sessions</a:t>
            </a:r>
          </a:p>
          <a:p>
            <a:pPr lvl="1"/>
            <a:r>
              <a:rPr sz="1900" b="0">
                <a:solidFill>
                  <a:srgbClr val="1A1A2E"/>
                </a:solidFill>
                <a:latin typeface="Calibri"/>
              </a:rPr>
              <a:t>  - Session 9-10 tools can improve your project</a:t>
            </a:r>
          </a:p>
        </p:txBody>
      </p:sp>
      <p:sp>
        <p:nvSpPr>
          <p:cNvPr id="7" name="TextBox 6"/>
          <p:cNvSpPr txBox="1"/>
          <p:nvPr/>
        </p:nvSpPr>
        <p:spPr>
          <a:xfrm>
            <a:off x="457200" y="6400800"/>
            <a:ext cx="2742840" cy="273960"/>
          </a:xfrm>
          <a:prstGeom prst="rect">
            <a:avLst/>
          </a:prstGeom>
          <a:noFill/>
        </p:spPr>
        <p:txBody>
          <a:bodyPr wrap="square"/>
          <a:lstStyle/>
          <a:p>
            <a:pPr algn="l"/>
            <a:r>
              <a:rPr sz="630" b="0">
                <a:solidFill>
                  <a:srgbClr val="808080"/>
                </a:solidFill>
                <a:latin typeface="Calibri"/>
              </a:rPr>
              <a:t>Build Path: AP</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Picture Placeholder 2"/>
          <p:cNvSpPr>
            <a:spLocks noGrp="1"/>
          </p:cNvSpPr>
          <p:nvPr>
            <p:ph type="pic" idx="1"/>
          </p:nvPr>
        </p:nvSpPr>
        <p:spPr/>
      </p:sp>
      <p:sp>
        <p:nvSpPr>
          <p:cNvPr id="4" name="Text Placeholder 3"/>
          <p:cNvSpPr>
            <a:spLocks noGrp="1"/>
          </p:cNvSpPr>
          <p:nvPr>
            <p:ph type="body" idx="2" sz="half"/>
          </p:nvPr>
        </p:nvSpPr>
        <p:spPr/>
        <p:txBody>
          <a:bodyPr/>
          <a:lstStyle/>
          <a:p/>
        </p:txBody>
      </p:sp>
      <p:sp>
        <p:nvSpPr>
          <p:cNvPr id="5" name="TextBox 4"/>
          <p:cNvSpPr txBox="1"/>
          <p:nvPr/>
        </p:nvSpPr>
        <p:spPr>
          <a:xfrm>
            <a:off x="457200" y="274320"/>
            <a:ext cx="8229240" cy="731160"/>
          </a:xfrm>
          <a:prstGeom prst="rect">
            <a:avLst/>
          </a:prstGeom>
          <a:noFill/>
        </p:spPr>
        <p:txBody>
          <a:bodyPr wrap="square"/>
          <a:lstStyle/>
          <a:p>
            <a:pPr algn="l"/>
            <a:r>
              <a:rPr sz="2960" b="1">
                <a:solidFill>
                  <a:srgbClr val="1A1A2E"/>
                </a:solidFill>
                <a:latin typeface="Calibri"/>
              </a:rPr>
              <a:t>References and Resources</a:t>
            </a:r>
          </a:p>
        </p:txBody>
      </p:sp>
      <p:sp>
        <p:nvSpPr>
          <p:cNvPr id="6" name="TextBox 5"/>
          <p:cNvSpPr txBox="1"/>
          <p:nvPr/>
        </p:nvSpPr>
        <p:spPr>
          <a:xfrm>
            <a:off x="457200" y="1097280"/>
            <a:ext cx="8229240" cy="5028840"/>
          </a:xfrm>
          <a:prstGeom prst="rect">
            <a:avLst/>
          </a:prstGeom>
          <a:noFill/>
        </p:spPr>
        <p:txBody>
          <a:bodyPr wrap="square"/>
          <a:lstStyle/>
          <a:p>
            <a:pPr algn="l"/>
            <a:r>
              <a:rPr sz="1900" b="0">
                <a:solidFill>
                  <a:srgbClr val="1A1A2E"/>
                </a:solidFill>
                <a:latin typeface="Calibri"/>
              </a:rPr>
              <a:t/>
            </a:r>
          </a:p>
          <a:p>
            <a:pPr/>
            <a:r>
              <a:rPr sz="1900" b="0">
                <a:solidFill>
                  <a:srgbClr val="1A1A2E"/>
                </a:solidFill>
                <a:latin typeface="Calibri"/>
              </a:rPr>
              <a:t>BME280 Datasheet (Bosch)</a:t>
            </a:r>
          </a:p>
          <a:p>
            <a:pPr lvl="1"/>
            <a:r>
              <a:rPr sz="1900" b="0">
                <a:solidFill>
                  <a:srgbClr val="1A1A2E"/>
                </a:solidFill>
                <a:latin typeface="Calibri"/>
              </a:rPr>
              <a:t>  https://www.bosch-sensortec.com/products/environmental-sensors/bme280/</a:t>
            </a:r>
          </a:p>
          <a:p>
            <a:pPr/>
            <a:r>
              <a:rPr sz="1900" b="0">
                <a:solidFill>
                  <a:srgbClr val="1A1A2E"/>
                </a:solidFill>
                <a:latin typeface="Calibri"/>
              </a:rPr>
              <a:t/>
            </a:r>
          </a:p>
          <a:p>
            <a:pPr/>
            <a:r>
              <a:rPr sz="1900" b="0">
                <a:solidFill>
                  <a:srgbClr val="1A1A2E"/>
                </a:solidFill>
                <a:latin typeface="Calibri"/>
              </a:rPr>
              <a:t>Raspberry Pi Sense HAT documentation</a:t>
            </a:r>
          </a:p>
          <a:p>
            <a:pPr lvl="1"/>
            <a:r>
              <a:rPr sz="1900" b="0">
                <a:solidFill>
                  <a:srgbClr val="1A1A2E"/>
                </a:solidFill>
                <a:latin typeface="Calibri"/>
              </a:rPr>
              <a:t>  https://www.raspberrypi.com/documentation/accessories/sense-hat.html</a:t>
            </a:r>
          </a:p>
          <a:p>
            <a:pPr/>
            <a:r>
              <a:rPr sz="1900" b="0">
                <a:solidFill>
                  <a:srgbClr val="1A1A2E"/>
                </a:solidFill>
                <a:latin typeface="Calibri"/>
              </a:rPr>
              <a:t/>
            </a:r>
          </a:p>
          <a:p>
            <a:pPr/>
            <a:r>
              <a:rPr sz="1900" b="0">
                <a:solidFill>
                  <a:srgbClr val="1A1A2E"/>
                </a:solidFill>
                <a:latin typeface="Calibri"/>
              </a:rPr>
              <a:t>Linux I2C dev interface (kernel docs)</a:t>
            </a:r>
          </a:p>
          <a:p>
            <a:pPr lvl="1"/>
            <a:r>
              <a:rPr sz="1900" b="0">
                <a:solidFill>
                  <a:srgbClr val="1A1A2E"/>
                </a:solidFill>
                <a:latin typeface="Calibri"/>
              </a:rPr>
              <a:t>  https://www.kernel.org/doc/html/latest/i2c/dev-interface.html</a:t>
            </a:r>
          </a:p>
          <a:p>
            <a:pPr/>
            <a:r>
              <a:rPr sz="1900" b="0">
                <a:solidFill>
                  <a:srgbClr val="1A1A2E"/>
                </a:solidFill>
                <a:latin typeface="Calibri"/>
              </a:rPr>
              <a:t/>
            </a:r>
          </a:p>
          <a:p>
            <a:pPr/>
            <a:r>
              <a:rPr sz="1900" b="0">
                <a:solidFill>
                  <a:srgbClr val="1A1A2E"/>
                </a:solidFill>
                <a:latin typeface="Calibri"/>
              </a:rPr>
              <a:t>Flask documentation</a:t>
            </a:r>
          </a:p>
          <a:p>
            <a:pPr lvl="1"/>
            <a:r>
              <a:rPr sz="1900" b="0">
                <a:solidFill>
                  <a:srgbClr val="1A1A2E"/>
                </a:solidFill>
                <a:latin typeface="Calibri"/>
              </a:rPr>
              <a:t>  https://flask.palletsprojects.com/</a:t>
            </a:r>
          </a:p>
          <a:p>
            <a:pPr/>
            <a:r>
              <a:rPr sz="1900" b="0">
                <a:solidFill>
                  <a:srgbClr val="1A1A2E"/>
                </a:solidFill>
                <a:latin typeface="Calibri"/>
              </a:rPr>
              <a:t/>
            </a:r>
          </a:p>
          <a:p>
            <a:pPr/>
            <a:r>
              <a:rPr sz="1900" b="0">
                <a:solidFill>
                  <a:srgbClr val="1A1A2E"/>
                </a:solidFill>
                <a:latin typeface="Calibri"/>
              </a:rPr>
              <a:t>Systemd service documentation</a:t>
            </a:r>
          </a:p>
          <a:p>
            <a:pPr lvl="1"/>
            <a:r>
              <a:rPr sz="1900" b="0">
                <a:solidFill>
                  <a:srgbClr val="1A1A2E"/>
                </a:solidFill>
                <a:latin typeface="Calibri"/>
              </a:rPr>
              <a:t>  https://www.freedesktop.org/software/systemd/man/systemd.service.html</a:t>
            </a:r>
          </a:p>
          <a:p>
            <a:pPr/>
            <a:r>
              <a:rPr sz="1900" b="0">
                <a:solidFill>
                  <a:srgbClr val="1A1A2E"/>
                </a:solidFill>
                <a:latin typeface="Calibri"/>
              </a:rPr>
              <a:t/>
            </a:r>
          </a:p>
          <a:p>
            <a:pPr/>
            <a:r>
              <a:rPr sz="1900" b="0">
                <a:solidFill>
                  <a:srgbClr val="1A1A2E"/>
                </a:solidFill>
                <a:latin typeface="Calibri"/>
              </a:rPr>
              <a:t>Bootlin embedded Linux training</a:t>
            </a:r>
          </a:p>
          <a:p>
            <a:pPr lvl="1"/>
            <a:r>
              <a:rPr sz="1900" b="0">
                <a:solidFill>
                  <a:srgbClr val="1A1A2E"/>
                </a:solidFill>
                <a:latin typeface="Calibri"/>
              </a:rPr>
              <a:t>  https://bootlin.com/doc/training/embedded-linux/</a:t>
            </a:r>
          </a:p>
        </p:txBody>
      </p:sp>
      <p:sp>
        <p:nvSpPr>
          <p:cNvPr id="7" name="TextBox 6"/>
          <p:cNvSpPr txBox="1"/>
          <p:nvPr/>
        </p:nvSpPr>
        <p:spPr>
          <a:xfrm>
            <a:off x="457200" y="6400800"/>
            <a:ext cx="2742840" cy="273960"/>
          </a:xfrm>
          <a:prstGeom prst="rect">
            <a:avLst/>
          </a:prstGeom>
          <a:noFill/>
        </p:spPr>
        <p:txBody>
          <a:bodyPr wrap="square"/>
          <a:lstStyle/>
          <a:p>
            <a:pPr algn="l"/>
            <a:r>
              <a:rPr sz="630" b="0">
                <a:solidFill>
                  <a:srgbClr val="808080"/>
                </a:solidFill>
                <a:latin typeface="Calibri"/>
              </a:rPr>
              <a:t>Build Path: AP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