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7.xml" ContentType="application/vnd.openxmlformats-officedocument.presentationml.slide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B310CC3-B340-4B5C-981F-B813C36F97C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embedded systems, the operating system has to meet strict timing constraints, which is achieved by the use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appropriate scheduling algorithms.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However, a major problem arises, when the real-time tasks share resources.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Priority inversion could occur, which leads to possible loss/damage.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Therefore, a basic understanding of real-time task scheduling algorithms and resource sharing protocols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needed. In turn,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POSIX-RT is the standardization of real-time operating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Questions in this Chapter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an RTOS? Why RTOS?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is it getting used?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it different from a traditional OS?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 to Realtime Linux                  https://www.youtube.com/watch?v=BKkX9WASfpI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Introduction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Embedded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Real Time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Cyber Physical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Microcomputers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Cross-compilers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No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_x005F_x000C_Real-Time Systems “RT”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systems provide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guaranteed worst-case response times to critical events,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acceptable average-case response times to noncritical events.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Systems “ES”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systems are computing systems that reside in a larger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Embedded Systems (“RTES”)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Represents a class of Embedded Systems with constraints of Real-Time.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ES/RTES and Cyber Physical Systems “CPS”. See this URL.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ES/RTES and CPS are often interchangeably used. e.g. Adaptive Cruise Control Systems, Artificial Pancreas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CPS integrates a continuous feedback loop and remediation/corrective measures.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predictability of response, given the “operating” constraints.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Reading &amp; References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 to 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https://www.youtube.com/watch?v=9Q-3c0gQcok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are at https://drive.google.com/drive/folders/0B5jlwlXJI8pJZ1hObzV4VHJNREk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_x005F_x000C__x005F_x000C_An embedded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built to control a specific function or a range of functions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is not designed to be programmed by an end user.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   Evolved as replacement for analog &amp; discrete logic-based boards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   Finer Control &amp; Improvement of Electro-Mechanical Performance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   Intellectual Property Protection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embedded operating system is an operating system for embedded computer systems. This type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system is typically designed to be resource-efficient and reliable. Resource efficiency comes 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cost of losing some functionality or granularity that larger computer operating systems provide, including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functions which may not be used by the specialized applications they run. Depending on the method used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multitasking, this type of OS is frequently considered to be a real-time operating system, or RTOS.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https://en.wikipedia.org/wiki/Embedded_operating_system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https://www.embedded.com/getting-started-with-embedded-linux-part-twelve-application-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development/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_x005F_x000C__x005F_x000C_Inside an Embedded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  Cores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main criteria for the processor is: can it provide the processing power needed to perform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tasks within the system? This seems obvious but it frequently occurs that the tasks are either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underestimated in terms of their size and/or complexity or that creeping elegance expands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specification to beyond the processor’s capability.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  Memory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Is an important part of any embedded system design and is heavily influenced by the software design;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memory essentially performs two functions within an embedded system: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Persistent Storage for software and 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Storage for data such as program variables and intermediate results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  IO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The main types of IO interfaces include: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Binary Interfaces These are simple external pins whose logic state can be controlled by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processor to either be a logic zero (off) or a logic one (on).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• Serial Interfaces These are interfaces that send or receive data in a serial mode.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Evolved From Microcontroller &amp; Expanded Microcontroller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Microcontrollers can be considered as self-contained systems with a processor, memory and IO so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that in many cases all that is needed to use them within an embedded system is to add software.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Microcontrollers are usually available in several forms: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Devices for prototyping or low volume production runs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Using volatile/non-volatile memory to allow software to be downloaded and saved.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Devices for low to medium volume production runs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One time programmable or OTP use.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Devices for high volume production runs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For high volumes, microcontrollers can be built with already programmed software.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microcontroller families having parts supporting external expansion for memory and/or I/O bus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Microprocessor 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Microprocessor-based embedded systems originally took existing general-purpose processors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constructed systems around them using external peripherals and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Board 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Instead of having hardware being designed and built; an alternative is to use board-based systems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provided by commodity hardware. The main advantage is the reduced work load and the availability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of ported software that can simply be utilised with very little effort. The disadvantages are higher cost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and in some cases restrictions in the functionality that is available.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_x005F_x000C_RTOS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Characterized by defined response time to external stimuli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Maximum defined time is more important than avg.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typical industry accepted figures for context switches and interrupt response times are about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10 microseconds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future of Preempt-RT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https://bootlin.com/blog/real-time-summit-2018/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_x005F_x000C__x005F_x000C_Task Swapping Method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choice of scheduler algorithms can play an important part in the design of an embedded system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dramatically affect the underlying design of the software. There are many different types of scheduler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that can be used, each with either different characteristics or different approaches to solving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same problem of how to assign priorities to schedule tasks.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choice of scheduler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 important part in the design of an embedded system and dramatically affects the underlying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design of the 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1.    Time Slice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Time slicing can be used within an embedded system where time critical operations are not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essential. To be more accurate about its definition, it describes the task switching mechanism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and not the algorithm behind it although its meaning has become synonymous with both.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Time slicing works by making the task switching regular periodic points in time. This means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any task that needs to run next will have to wait until the current time slice is completed or until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the current task suspends its operation. This technique can also be used as a scheduling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method as will be explained later in this chapter. The choice of which task to run next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determined by the scheduling algorithm and thus is nothing to do with the time slice mechanism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itself. It just happens that many time slice-based systems use a round-robin or other fairness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scheduler to distribute the time slices across all the tasks that need to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    total processing time needed to run all of them may be considerably less than the time provided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within a single time slot. This can be solved by artificially creating more context switch points by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getting each task to suspend after completion.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This may offer only a partial solution because a higher priority task may still have to wait on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lower priority task to complete. With time slicing, the lower priority task cannot be preempted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therefore the higher priority task must wait for the end of the time slice or the lower priority task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complete.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Cooperative Multitasking (?)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While it is not applicable to real-time operating systems but, it has been included for reference.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The idea of co-operative multitasking is that the tasks themselves co-operate between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themselves to provide the illusion of multitasking. This is done by periodically allowing other tasks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or applications the opportunity to execute.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This requires programming within the application and the system can be destroyed by a single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rogue program that hogs all the processing power. This method is therefore not reliable enough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for most real-time 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_x005F_x000C_Choice of Scheduler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pre-emption is the first choice for embedded systems because of its better system response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assignment of task priorities, is based on scheduler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1.   Rate Monotonic Scheduling “RMS”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Rate monotonic scheduling (RMS) is an approach that is used to assign task priority for a pre-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emptive system in such a way that the correct execution can be guaranteed. It assumes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task priorities are fixed for a given set of tasks and are not dynamically changed during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execution. It assumes that there are sufficient task priority levels for the task set and that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task set models periodic events only. This means that an interrupt that is generated by a serial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port peripheral is modelled as an event that occurs on a periodic rate determined by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rate, for example. Asynchronous events such as a user pressing a key are handled differently.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The key policy within RMS is that tasks with shorter execution periods are given the highest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priority within the system. This means that the faster executing tasks can pre-empt the slower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periodic tasks so that they can meet their deadlines. The advantage this gives the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designer is that it is easier to theoretically specify the system so that the tasks will meet their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deadlines without overloading the processor. This requires detailed knowledge about each task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and the time it takes to execute. This and its periodicity can be used to calculate the processor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loading.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_x005F_x000C__x005F_x000C_Priority Inversion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a lower priority task can continue running despite there being a higher priority task active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waiting to pre-empt.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Can occur due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1.    Disabling interrupts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While in the interrupt service routine, all other interrupts are disabled until the routine has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completed. This can cause a problem if another interrupt is received and held pending. What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happens is that the higher priority interrupt is held pending in favour of the lower priority one —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albeit that it occurred first.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As a result, priority inversion takes place until interrupts are reenabled at which point the higher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priority interrupt will start its exception processing, thus ending the priority inversion.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One metric of an operating system is the longest period of time that all interrupts are disabled.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This must then be added to any other interrupt latency calculation to determine the actual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latency period.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_x005F_x000C__x005F_x000C_Cyber Physical Systems is the integration of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 Computational elements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 Physical environment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 Feedback Loop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safe, reliable, predictable operation.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Adaptive Cruise Control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Artificial Pancreas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Avionics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Smart-Grid Power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Robotic Manufacturing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_x005F_x000C_Design Methodology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Mathematical Modeling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Properties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Verification Algorithms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_x005F_x000C_DESIGN CONSIDERATIONS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Processing power: How fast of a microprocessor will be required?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requirements: What types of RAM and NVM will be needed? how much?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Peripherals: What peripherals are required?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Reliability: Should the system be fail-proof? May it fail occasionally? What is the tolerable downtime?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upgrade: How will field upgrades be performed?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OBJECTIVES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Cross-Platform Development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Cross-Development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 and Linking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Mapping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OBJECTIVES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Cross-Platform Development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Cross-Development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 and Linking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Mapping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_x005F_x000C_PROGRAMMING LANGUAGE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Compiled vs Interpreted: Assembly, Classic C vs Java, Python.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Speed of Execution: Parallelism, Load Characteristics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_x005F_x000C_Cross-Development Toolchain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_x005F_x000C_ELF Linking 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_x005F_x000C_PREDEFINED HEADERS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_x005F_x000C_PREDEFINED HEADERS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_x005F_x000C_PREDEFINED HEADERS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_x005F_x000C_PREDEFINED HEADERS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_x005F_x000C_HARDWARE TERMS - REVIEW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Microprocessor Characteristics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Von Neumann and Harvard architectures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I/O Addressing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Endianness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organization of some classic microprocessors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PIC18F8720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Intel 8086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Intel Pentium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Arm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_x005F_x000C__x005F_x000C_Von Neumann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Data and instructions (executable code) are stored in the same address space.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The processor interfaces to memory through a single set of address/data buses.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Harvard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Data and instructions (executable code) are stored in separate address spaces.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There are two sets of address/data buses between processor and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Complex Instruction Set Computer (CISC)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runs “complex instructions“ where a single instruction may execute several low-level operations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Reduced Instruction Set Computer (RISC)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runs compact, uniform instructions where the amount of work any single instruction accomplishes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reduced.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_x005F_x000C_Examples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Evolved From Microcontroller &amp; Expanded Microcontroller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Microprocessor 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Board Based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_x005F_x000C_Whether integers are presented from left to right or right to left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Little-endian: the least significant byte stored at the lowest memory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Big-endian: the most significant byte stored at the lowest memory address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_x005F_x000C_INTEL PENTIUM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_x005F_x000C_INTEL PENTIUM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_x005F_x000C_ARM926EJ-S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_x005F_x000C_ARM926EJ-S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mapping (8-bit memory)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_x005F_x000C_ARM926EJ-S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mapping (32-bit memory)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_x005F_x000C_Embedded Operating Systems               https://en.wikipedia.org/wiki/Embedded_operating_system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 embedded operating system is an operating system for embedded computer systems, typically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designed to be resource-efficient and reliable.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Resource efficiency comes at the cost of losing some functionality or granularity that larger computer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operating systems provide, including functions which may not be used by the specialized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they 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Depending on the method used for multitasking, this type of OS is frequently considered to be a real-time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system, or RTOS.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_x005F_x000C_and execute applications; implying that the system is only able to run a single application and subtasks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within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https://en.wikipedia.org/wiki/Embedded_operating_system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_x005F_x000C_Notes                                                 PREEMPT_RT A real-time preemption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Since kernel 2.6.24 in mainline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Since kernel 2.6.25 in mainline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Realtime-Preempt patches 2.6.24.7-rt15 or higher required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Since kernel 2.6.30 in mainline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5) Not yet adapted to generic interrupt code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6) Since kernel 2.6.33 in mainline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7) Since kernel 2.6.39 in mainline Linux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Through the use of the real-time Linux kernel patch PREEMPT_RT, support for full preemption        of critical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sections, interrupt handlers, and "interrupt disable" code sequences can be supported. [75]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Partial mainline [76]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            integration of the real-time Linux kernel patch already brought some functionality to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kernel mainline.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Preemption improves latency, increases responsiveness, and makes Linux more suitable for desktop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real-time applications. Older versions of the kernel had a so-called big kernel  lock for synchronization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across the entire kernel, which was finally removed by Arnd Bergmann in 2011. [77]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Recommended reading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OSADL Project: Realtime Linux https://www.osadl.org/Realtime-Linux.projects-realtime-linux.0.html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two articles by Paul E. McKenney are somewhat outdated (2005 and 2007); in consequence, some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details are no longer reflecting the current situation of the PREEMPT_RT patches, but the principle is still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"A realtime preemption overview" by Paul E. McKenney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"SMP and Embedded Real Time" by Paul E. McKenney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_x005F_x000C_https://en.wikipedia.org/wiki/Template:Linux_kernel_timeline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_x005F_x000C_What is an OS?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1.Controls all application interaction with hardware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2.Generally is the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•   Role of file system(s), libraries, and applications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3.Is always memory resident in kernel space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4.Interface is through system calls for user processes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 REAL-TIME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Terms and Concepts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Real-time systems are classed as hard and soft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 real-time systems must meet deadlines.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Response cannot be missed or ignored.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Otherwise there could be an impact to safety or criticality.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 medical systems, military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Soft real-time systems can afford to miss some deadlines.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e.g. audio or video streaming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 RT systems are a mix – there are real-time expectations,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but there is a tolerance built into the system.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engine controls.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_x005F_x000C_Real-Time systems have 2 major requirements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Latency is the time required for servicing a request.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The request must be handled immediately, completely and uninterrupted.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e.g reading a bar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Jitter is the variance between the earliest and the latest time a task could be released relative to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invocation of the task, in a given sample interval. Jitter is noise.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e.g. sensor data handling.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_x005F_x000C__x005F_x000C__x005F_x000C__x005F_x000C_RT Microkernel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real-time Linux involve major patches to the existing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RTLinux and RTAI linux are both micro-kernel patches.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Linux kernel runs as a low priority task from micro-kernel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micro-kernel interrupts Linux to run a real-time task.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Supports POSIX 1003.1d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_x005F_x000C_Microkernel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Nanokernel/Picokernel Architecture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Small footprint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Offers hardware abstraction, but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without system services.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This Week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   Starts Next Chapter/Week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This Week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  Starts Next Chapter/Week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1. Introduction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2. Embedded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3. Real Time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4. Cyber Physical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5. Microcomputers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6. Cross-compilers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8. No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_x005F_x000C_Q&amp;A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Operating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https://en.wikipedia.org/wiki/Embedded_operating_system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 embedded operating system is an operating system for embedded computer systems, typically designed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be resource-efficient and reliable.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Resource efficiency comes at the cost of losing some functionality or granularity that larger computer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systems provide, including functions which may not be used by the specialized applications they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Depending on the method used for multitasking, this type of OS is frequently considered to be a real-time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operating system, or RTOS.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 Software Timeline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https://bootlin.com/doc/training/embedded-linux/embedded-linux-slides.pdf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https://en.wikipedia.org/wiki/Timeline_of_free_and_open-source_software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https://en.wikipedia.org/wiki/History_of_free_and_open-source_software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1983, Richard Stallman, GNU project and the free software concept.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gcc, gdb, glibc and other important tools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1991, Linus Torvalds, Linux kernel project, a Unix-like operating system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completely free operating system, GNU/Linux with GNU software and many open-source components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1995, Linux is popular on server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2000, Linux is popular on embedded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2008, Linux is popular on mobile devices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2010, Linux is popular on phones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2012, Linux is available on cheap, extensible hardware: Raspberry Pi, BeagleBone Black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Will Discuss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Overview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this course about?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Introduction to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are embedded systems?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Examples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Some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Hardware for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Again, some examples.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System Architecture of Embedded Linux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Environment for Embedded Linux Systems Development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No Assignment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Quiz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Starting out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became viable for embedded systems around 1999.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was when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Axis https://www.axis.com first released their Linux driven network camera,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TiVo https://business.tivo.com released their Digital Video Recorder (DVR).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Since then, Linux has become ever more popular in the embedded systems area; to the point that it is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preferred operating system of choice for many classes of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Today, in 2021, there are more than 2 billion devices running Linux across many classes of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include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large number of cellphones that run Android – which internally uses a Linux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 hundreds of millions of set top boxes, smart TVs, Wi-Fi routers, as well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very diverse range of devices such as vehicle diagnostics, weighing scales, industrial devices,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medical monitoring units.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Linux?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Full Operating System support needed for complexities of handling modern usage.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today’s TV is not the same as the old analog sets.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handle digital encrypted streams that need processing to handle images.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connected to internet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receive content from smartphones, tablets and home media servers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used to play games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Strong OS Features such as good scheduler, good network stack, good support for USB, Wi-Fi, Bluetooth,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many kinds of storage media, good support for multimedia devices and so on. It ticks all boxes.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Ported to a wide range of processor architectures, including those that are commonly found on SoC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designs – ARM, MIPS, x86 and PowerPC.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 Source means freedom to get the source code and modify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board support package can easily be created for a particular Soc board or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Easily add protocols, features and technologies missing from mainline source code, and,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remove features not needed to reduce memory and storage requirements.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is flexible.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Very active community – means Linux is up to date with current hardware, protocols and standards.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release of the kernel every 8 to 10 weeks; with each release containing code from 1000+ developers.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 Source licenses guarantee access to the source code. There is no vendor tie-in.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key advantage is the re-use of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open-source model provides many components for standard features, from hardware support to network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protocols, to multimedia, to graphics, to cryptographic libraries,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once a hardware device, or a protocol, or a feature gets to wide-spread use, there’s a high chance that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open-source components will support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enable quick design and develop of complex products with existing components.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There is no need to develop another operating system kernel, TCP/IP stack, USB stack or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graphical toolkit library.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focus on the value addition of the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duplicate on as many devices, free of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usage of only free software means cost of licenses is zero.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even development tools are free.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allows for higher budget elsewhere – hardware, training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Using Linux will not be free of cost.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will still need substantial learning and engineering efforts to achieve the goals.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control - over the software part of your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code availability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all components in system,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unlimited modifications, changes, tuning, debugging, optimization,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no time limits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with no lock-in or dependency from a third-party vendor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avoid any non-open-source components when the system is designed and developed, though.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Quality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widely used on millions of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higher quality than in-house development, or from proprietary vendors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design system with high-quality components at the very foundations.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Though, not all open-source components are of good quality, but most of the widely-used ones 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Community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developed by communities of developers and users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better than traditional support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provides high-quality support: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directly contact the main developers of the component you are using.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answer doesn’t depend what company you work for.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so, speeds up the resolution of problems when developing 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 need to understand how the community works to properly use the community support possibilities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Taking part into the community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for bug reporting, test of new versions or features, patches that fix bugs or add new features,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open-source components are usually not the core value of the product: it’s the interest of everybody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contribute 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 very motivating way of being recognized outside the company, communication with others in the same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field, opening of new possibilities, etc.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allows the company to be recognized in the open-source community and therefore get support more easily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be more attractive to open-source developers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1143000" y="694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Linux suitable for the project?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problem being solved does not justify the complexities of an 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works well when the problem justifies the need for an OS.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is especially good where connectivity, robustness and complex user interfaces are required.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does hardware do the job?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needs more resources compared to traditional RTOS’s such as VxWorks and QNX.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needs atleast a 32-bit processor and lots of memory.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have the right skills?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handling the early part of a project, board bring up, requires detailed knowledge of Linux and how it relates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problem being solved. Also, when debugging and tuning the application, the results need to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interpreted.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real-time handling?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can handle many real-time activities so long as certain steps/details are followed.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More to follow in Ch10.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need regulatory approval (medical, automotive, aerospace etc)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burden of regulatory verification and validation may make some other OS a better choice.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even if Linux is chosen in these circumstances, it may make sense to get a commercially available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distribution from a company that has supplied Linux for similar, existing products, being built.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is found in embedded systems such as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consumer electronics (set-top boxes, smart TVs, personal video recorders (PVRs),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in-vehicle infotainment (IVI),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network equipment (routers, switches, wireless access points (WAPs) or wireless routers),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machine control,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industrial automation,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navigation equipment,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spacecraft flight software,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medical instrumentation,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many, many more areas.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Because of versatility, Linux kernel can be also found in mobile devices that are touchscreen-based embedded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devices, such as smartphones and tablets, personal digital assistants (PDAs) and portable media players.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challenge for most learners because their computer experience is mainly based on GUI (Graphical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 interface) based interaction with the machine and high-level programming on the one hand and low-level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programming of small microcontrollers on the other hand. Further, the concept of command line interfaces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widely unknown.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Source: https://en.wikipedia.org/wiki/Linux_on_embedded_systems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Integration of Home Energy Management Systems (“HEMS”)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Embedded systems of the future will have interfaces that make use of the same kinds of speech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movement recognition facilities available today in a range of home-based devices.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Device Monitoring and Control: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HEMS need to be able to monitor and control different devices and appliances in a home. Device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 can be available to the user via either a web interface or phone/tablet application. In 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simplest form, device control should be available to the user manually. If the management system supports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smart scheduling, control can be automatic. Moreover, control of devices can be remote or local.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Seamless Communication between Devices: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HEMS provide communication between different devices. Each device may operate on a different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 technology, such as Wi-Fi, ZigBee, Z-Wave, CTA-2045 and others. The system should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capable of providing a way to support communication between different devices regardless of their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supporting communication protocol.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Demand Response: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basic requirement of the system for supporting DR is the ability to receive DR signals from a utility. For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better DR support, information for multiple homes in a community needs to be available, and the 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needs to be able to use an optimization method to intelligently respond to DR signals and allocate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resources to the homes efficiently.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Intelligence: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homeowners do not have any visibility or understanding of their energy usage, so they may not be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able to make appropriate decisions to reduce consumption. It is beneficial for HEMS to provide feedback to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user and make some automatic adjustments if allowed by the user. To achieve the energy-saving goal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 HEMS, smart scheduling and optimization algorithms need to be incorporated into the systems.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Data Management: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the smart grid era, information regarding energy usage can be provided at different granularities from 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wide variety of devices. HEMS should be capable of handling very large amounts of data efficiently.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Security and Privacy: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HEMS carry a lot of information regarding residents’ energy usage patterns and daily schedules. All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information needs to be encrypted and secure, as does communication between various devices and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HEMS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embedded Linux project must obtain, customize, and deploy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Toolchain: compiler and tools needed for creating code for target.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Bootloader: program to initialize the board and load Linux kernel.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Kernel: manages the system resources and interface to hardware.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Root FS: Container for libraries and programs that are needed once the kernel completes initialization.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4 elements are offered as a package when a SoC or board is bought.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they may not be the best choice or offer the full value addition, expected.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There is also the 5th element – that of, the application that enables the device to run and function.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where we look at two tools to automate the whole process: Yocto project and Buildroot.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Roles and Expectations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Open-Source Community: Loose knit alliance of developers from non-profit, for profit or academic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institutions.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Hardware Architects: Designers of the CPU – implement, or influence support for a CPU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e.g. Arm/Linaro (Arm Cortex-A) , Intel (x86, x86_64), SiFive (RISC-V), IBM (PowerPC).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SoC Vendors: Take the kernel and toolchain from the architects and modify to support their chips.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They also create the reference boards – designs used by board vendors to create development boards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working products. e.g. Broadcom, Intel, Microchip, NXP, Qualcomm, TI, Xilinx and many others.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Board Vendors: Take the reference boards and designs from the SoC Vendors and build them into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specific products. e.g. set-top boxes, cameras or create general purpose development boards.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 important category are the cheap development boards such as the Raspberry Pi and BeagleBoard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have their own ecosystem of software and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Linux Vendors: Offer Linux distributions that underwent strict regulatory verification and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across industry expectations/standards – such as medical, automotive, aerospace etc. Also, companies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such as Timesys, Wind River offer commercial Linux distributions.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form a chain – meaning that there is no free choice of components.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latest kernel from https://www.kernel.org cannot simply be taken;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usually, it does not have the support for the chip or board being used.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https://en.wikipedia.org/wiki/Embedded_operating_system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Development Workflow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Board Bring-Up: setup the development environment and create a working platform.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System Design: decision about system architecture, storage of programs and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also, howo to divide work between kernel device drivers and applications; and, how to initialize the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Applications Development: deploy Python applications, use Linux Process &amp; Threads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to deploy and package, how to effectively use Linux process and thread model, and how to manage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memory in a resource-constrained device.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Optimization and Debug: trace, profile and debug – both, in application and in kernel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Components are Open Source.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What it means?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Why Open-Source works the way it does?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How it impacts the “often” proprietary embedded device created from it?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Licenses and using Open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Source licenses are generally in two categories: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copyleft licenses such as GPL – GNU Public License,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permissive licenses such as BSD and MIT licenses.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Permissive Licenses have that one restriction, and except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permit any modifications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permit any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GPL Licenses, similarly as well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permit any modifications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permit any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However, with the requirement that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source code is freely available.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option is to put the source code on a public server, and,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Another option is to offer it to end-users upon a written request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Further, GPL prohibits incorporating GPL code into proprietary programs.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If any way it is done, then, that would make the GPL apply to the whole – meaning that GPL and proprietary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programs cannot be combined.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addition to the Linux Kernel,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gcc collection,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gdb,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many other similar tools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associated with the GNU project – all are covered by GPL.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standard libraries are licensed under GNU Lesser General Public License.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this permits linking to them from proprietary programs, otherwise,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if they are linked under GPL, then, as above, everything becomes GPL.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Then, there are issues too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similar to the owner, an intruder can have to the system code.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the defense to this is that, the images are signed by the vendor, so that unauthorized updates aren’t done.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But, that is an infringement of the owner’s rights to modify the software.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to look for when selecting hardware for an embedded Linux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CPU Architecture – supported by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Adequate Physical 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non-volatile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Serial port for debug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Initial Software 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Hardware Selection for this class.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Examples are intended to be generic.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please go with either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Raspberry Pi 4, 3 or 3 model B.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popular ARM-based single board computer on the market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Beaglebone Black,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widely available and cheap development board that can be used for serious embedded programming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Though several years old, it is open source hardware – unlike Raspberry Pi; meaning that board designs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freely available for anyone to build on top of the BeagleBone Black.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 a machine emulator that can be used to create a range of systems typical of embedded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Raspberry Pi 4,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Beaglebone Black,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1440" y="0"/>
            <a:ext cx="360" cy="7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Specs for Raspberry PI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https://www.raspberrypi.org/products/raspberry-pi-4-model-b/specifications/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Broadcom BCM2711, Quad core Cortex-A72 (ARM v8) 64-bit SoC @ 1.5GHz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2GB, 4GB or 8GB LPDDR4-3200 SDRAM (depending on model)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2.4 GHz and 5.0 GHz IEEE 802.11ac wireless, Bluetooth 5.0, 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Gigabit Ethernet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 USB 3.0 ports; 2 USB 2.0 ports.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Raspberry Pi standard 40 pin GPIO header (fully backwards compatible with previous boards)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 × micro-HDMI ports (up to 4kp60 supported)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2-lane MIPI DSI display 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2-lane MIPI CSI camera 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4-pole stereo audio and composite video port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H.265 (4kp60 decode), H264 (1080p60 decode, 1080p30 encode)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OpenGL ES 3.1, Vulkan 1.0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Micro-SD card slot for loading operating system and data storage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5V DC via USB-C connector (minimum 3A*)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5V DC via GPIO header (minimum 3A*)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CHAPTER OVERVIEW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This Chapter, We saw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Embedded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Real Time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Cyber Physical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Microcomputers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Cross-compilers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No Assignment/Quiz – this week.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9CBB02-269B-447C-B180-678DC55319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BDE902-FC2C-44B6-A206-7D5B62D468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1E43DD-5F65-47E4-8B37-B9B1EA09FF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34F2F9-C9B7-4587-A964-E4AD627D97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9D585E-5997-4888-A39A-BEE7F386EC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2FBC1D-EF7B-4406-B924-81755C050F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483159-2017-405E-A10D-2ED51E242C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A05A5F-1004-40A1-B274-4F83C3D1B2E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934595-1508-454D-82A5-02EE8E0CCD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E76700-8E75-42CF-AB22-B050817E5B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083CF3-1283-4760-99DA-DF8634B02A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Introduction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Introduction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Free 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Software is considered free when its license offers to all its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following four freedoms: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Freedom to run the software for any purpose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Freedom to study the software and to change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Freedom to redistribute copies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Freedom to distribute copies of modified 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These freedoms are granted for both commercial and non-commercial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They imply the availability of source code, software can be modified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distributed to customers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Good match for embedded systems!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https://bootlin.com/doc/training/embedded-linux/embedded-linux-slides.pdf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Chapter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Overview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Introduction to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Examples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for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Architecture of Embedded Linux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Environment for Embedded Linux Systems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Quiz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Embedded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use 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Linux Kernel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Other various open-source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embedded systems.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https://en.wikipedia.org/wiki/Embedded operating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So, why Embedded Linux?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Why 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Full Operating System support for complexities of modern usage.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Strong OS Features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Ported to a wide range of processor architectures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Open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Very active community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 Source licenses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key advantage is the re-use of components.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Open-source model provides many components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open-source components support hardware devices, a protocol, or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feature in wide-spread 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enable quick design and development of complex products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existing components.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Provides focus on the value addition of the product.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 ..2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Low Cost.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duplicate on as many devices, free of cost.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usage of only free software means cost of licenses is Zero.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even development tools are free.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allows for higher budget elsewhere — hardware, training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 ..3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Full control - over the software part of your system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source code availability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for all components in system,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with unlimited modifications, changes, tuning, debugging, optimization,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with no time limits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with no lock-in or dependency from a third-party vendor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debug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 ..4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Quality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widely used on millions of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higher quality than in-house development, or from proprietary vendors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design system with high-quality components at the very foundations.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 ..5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Community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developed by communities of developers and users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better than traditional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provides high-quality support: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directly contact the main developers of the component you are using.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answer doesn’t depend what company you work for.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so, speeds up the resolution of problems when developing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Advantages of Linux ..6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Taking part into the community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for bug reporting, test of new versions or features, patches that fix bugs or add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new features,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open-source components are usually not the core value of the product: it's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interest of everybody to contribute back.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 very motivating way of being recognized outside the company,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communication with others in the same field, opening of new possibilities, etc.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allows the company to be recognized in the open-source community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therefore get support more easily and be more attractive to open-source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So, when not to choose Linux?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Is Linux suitable for the project?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problem being solved does not justify the complexities of an 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does hardware do the job?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have the right skills?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real-time handling?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need regulatory approval (medical, automotive, aerospace etc)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https://en.wikipedia.org/wiki/Linux_on_embedded_systems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Proagrammina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Linux on embedded systems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Linux is found in embedded systems such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consumer electronics (set-top boxes, smart TVs, personal video recorders (PVRs),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in-vehicle infotainment (IVI),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network equipment (routers, switches, wireless access points (WAPs) or wireless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routers),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machine control,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industrial automation,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navigation equipment,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spacecraft flight software,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medical instrumentation, and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many, many more areas.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https://en.wikipedia.org/wiki/Linux_on_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Programming Rv Frank Vasquez. Chris Simmonds (Packt 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1143000" y="628560"/>
            <a:ext cx="7104240" cy="577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"/>
          <p:cNvSpPr txBox="1"/>
          <p:nvPr/>
        </p:nvSpPr>
        <p:spPr>
          <a:xfrm>
            <a:off x="685800" y="228600"/>
            <a:ext cx="8001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Exploring the embedded systems of the future https://www.securitysa.com/63410n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/>
          <p:cNvPicPr/>
          <p:nvPr/>
        </p:nvPicPr>
        <p:blipFill>
          <a:blip r:embed="rId1"/>
          <a:stretch/>
        </p:blipFill>
        <p:spPr>
          <a:xfrm>
            <a:off x="60480" y="594360"/>
            <a:ext cx="9143640" cy="573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 txBox="1"/>
          <p:nvPr/>
        </p:nvSpPr>
        <p:spPr>
          <a:xfrm>
            <a:off x="228600" y="228600"/>
            <a:ext cx="86868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Home Energy Management Systems: An Overview https://www.osti.gov/servlets/purl/1423114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4 elements of embedded Linux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Every embedded Linux project must obtain, customize, and deploy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Toolchain: compiler and tools needed for creating code for target.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Bootloader: program to initialize the board and load Linux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Kernel: manages the system resources and interface to hardware.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Root FS: Container for libraries and programs that are needed once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 kernel completes initialization.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Proarammina Bv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O2, O3,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Roles and Expectations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Who writes open source?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 about 4 elements of embedded Linux? Who maintains them?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Open-Source Community: Loose knit alliance of developers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from non-profit, for profit or academic institutions.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Hardware Architects: Designers of the CPU.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They implement, or influence support for a CPU architecture.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SoC Vendors: Take the kernel and toolchain from the architects and modify to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support their chips. They also create the reference boards.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Board Vendors: Take the reference boards and design from the SoC Vendors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and build them into specific products.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Linux Vendors: Offer Linux distributions that underwent strict regulatory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verification and validation across industry expectations/standards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Programming Rv Frank Vasquez. Chris Simmonds (Packt 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toolchain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Planning and Steps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Embedded Linux Development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Development Workflow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Board Bring-Up: setup the development environment and create a working platform.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System Design: decision about system architecture, storage of programs and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Applications Development: deploy Python applications, use Linux Process &amp; Threads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Optimization and Debug: trace, profile and debug in application and in kernel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Proagrammina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Embedded Linux Development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Open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Components are Open Source.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Consider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What it means?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Why Open-Source works the way it does?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How it impacts the “often” proprietary embedded device created from it?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Proagrammina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Licenses 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using Open Source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What does “free” mean when referencing Open Source?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When you first hear of it, is it “nothing to pay”?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Certainly, Open-Source guarantees using the software to develop and deploy, for free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However, the important idea is that — there is the freedom and guarantee to obtain the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source, modify it in anyway needed and, then redeploy 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It is this guarantee or license that provides the right of use.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 contrast, compare with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freeware which permit copying of binaries, however, there is no access to source,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free for personal, non-commercial use.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Proarammina Bv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So, What are Permissive Licenses?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They permit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modification of source code, and using in whichever way needed, so long 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The terms of the license are not modified.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Programming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And, What is GPL?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Are similar to permissive, in that, they too permit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modification of source code, and using in whichever way needed,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however,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they mandate the passing of the rights to obtain and modify the source to the users.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Proagrammina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Hardware Selection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What to look for when selecting hardware for an embedded Linux project.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CPU Architecture — supported by kernel.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Adequate Physical RAM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non-volatile storage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+ Serial port for debug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Initial Software loader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Proagrammina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kernel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Hardware Selection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457200" y="1097280"/>
            <a:ext cx="8229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for this class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Examples are intended to be generic.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However, for this class, please go with either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« Raspberry Pi 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Beaglebone Black, 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Mastering Embedded Linux Programming By Frank Vasquez. Chris Simmonds (Packt— Publisher)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"/>
          <p:cNvSpPr txBox="1"/>
          <p:nvPr/>
        </p:nvSpPr>
        <p:spPr>
          <a:xfrm>
            <a:off x="228600" y="228600"/>
            <a:ext cx="8458200" cy="6172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Hardware used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this course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Raspberry PI 4 for assignments. (or 3 or 3B), or BeagleBoard Black or QEMU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¢ Broadcom BCM2711, Quad core Cortex-A72 (ARM v8) 64-bit Soc @ 1.5GH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¢ 2GB, 4GB or 8GB LPDDR4-3200 SDRAM (depending on model)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¢ Gigabit Ethernet, 2.4 &amp; 5.0 GHz IEEE 802.11ac wireless, Bluetooth 5.0, 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¢ 2 USB 3.0 ports; 2 USB 2.0 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Micro-SD card slot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 standard 40 pin GPIO header (fully backwards compatible with previous boards)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¢ 2x micro-HDMI ports (up to 4kp60 supported)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Since most of you have already purchased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Raspberry PI and USB-TTL cable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Development Environment: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Linux (Ubuntu)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Quiz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Canvas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10 Questions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45 Mins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6 Attempts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Highest Retained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Assignment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1. None.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2. Make sure that you have the hardware unit for this class, for next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week.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Summary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457200" y="1097280"/>
            <a:ext cx="8229240" cy="50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In This Chapter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Introduction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Embedded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Real Time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Cyber Physical Systems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Microcomputers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¢ Cross-compilers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rgbClr val="333333"/>
                </a:solidFill>
                <a:effectLst/>
                <a:uFillTx/>
                <a:latin typeface="Calibri"/>
              </a:rPr>
              <a:t>* No Assignment/Quiz — this week.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18288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808080"/>
                </a:solidFill>
                <a:effectLst/>
                <a:uFillTx/>
                <a:latin typeface="Calibri"/>
              </a:rPr>
              <a:t>Outcomes: O1, O2, O3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32004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6400"/>
                </a:solidFill>
                <a:effectLst/>
                <a:uFillTx/>
                <a:latin typeface="Calibri"/>
              </a:rPr>
              <a:t>Build Path: cross-dev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5"/>
          <p:cNvSpPr/>
          <p:nvPr/>
        </p:nvSpPr>
        <p:spPr>
          <a:xfrm>
            <a:off x="5943600" y="64008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" b="0" u="none" strike="noStrike">
                <a:solidFill>
                  <a:srgbClr val="000080"/>
                </a:solidFill>
                <a:effectLst/>
                <a:uFillTx/>
                <a:latin typeface="Calibri"/>
              </a:rPr>
              <a:t>AI Layer: L1-BuildAssistant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LibreOffice/26.2.3.2$Linux_X86_64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2026-06-19T11:33:16Z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