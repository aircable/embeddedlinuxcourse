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final session. We have built a complete embedded Linux system on the RPi4 -- from cross-compilation through bootloader, kernel, rootfs, and applications. Now we ask: what happens when timing matters? Not just "fast," but "guaranteed fast." That is the world of real-time systems, and it is harder than most engineers expect. Today we tackle what real-time actually means, why Linux is not real-time out of the box, how PREEMPT_RT changes that, and how to measure whether your system meets its deadlines.</a:t>
            </a:r>
          </a:p>
          <a:p>
            <a:r>
              <a:t>This is a topic that separates embedded Linux engineers from application developers. If you are building a web server, average latency is fine. If you are controlling a motor, a robotic arm, or processing audio, worst-case latency is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should be able to: explain what real-time means in the context of embedded Linux, identify the sources of non-determinism in a Linux system, understand the PREEMPT_RT patch set and its current mainline status, configure the kernel for real-time operation, use real-time scheduling classes (SCHED_FIFO, SCHED_RR, SCHED_DEADLINE), measure scheduling latencies with cyclictest, and apply techniques like mlockall and interrupt shielding to reduce latency.</a:t>
            </a:r>
          </a:p>
          <a:p>
            <a:r>
              <a:t>There is a hands-on assignment and a quiz at the end. The assignment will have you running cyclictest on your RPi4 with and without PREEMPT_RT and comparing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does not mean fast. It means predictable. A system that always responds in 900 microseconds is more real-time than one that usually responds in 100 microseconds but occasionally takes 5 milliseconds.</a:t>
            </a:r>
          </a:p>
          <a:p>
            <a:r>
              <a:t>A task is a real-time task if it must complete before a certain point in time -- the deadline. The distinction is best shown with an example: playing an audio stream is real-time because there is a deadline -- each buffer must be filled before the DAC runs dry. Compiling the Linux kernel is not real-time because there is no deadline -- it just needs to finish as soon as possible.</a:t>
            </a:r>
          </a:p>
          <a:p>
            <a:r>
              <a:t>There are two categories: hard real-time, where missing a deadline is a system failure (airbag deployment, motor control), and soft real-time, where missing a deadline degrades quality (audio glitches, video frame drops). Most embedded Linux applications are soft real-time, but the techniques we cover today apply to both.</a:t>
            </a:r>
          </a:p>
          <a:p>
            <a:r>
              <a:t>The key metric is worst-case latency, not average latency. Always.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programming is about making sure that threads controlling real-time output are scheduled when needed and can complete their work before the deadline. Anything that prevents this is a problem.</a:t>
            </a:r>
          </a:p>
          <a:p>
            <a:r>
              <a:t>Here are the main sources of non-determinism in a Linux system:</a:t>
            </a:r>
          </a:p>
          <a:p>
            <a:r>
              <a:t>Scheduling latency -- the delay from a wake-up event (interrupt or timer) to the thread actually running. This is the big one we will spend most of the session on.</a:t>
            </a:r>
          </a:p>
          <a:p>
            <a:r>
              <a:t>Priority inversion -- when a high-priority task is blocked waiting for a lock held by a low-priority task. We will cover the solution (priority inheritance) later.</a:t>
            </a:r>
          </a:p>
          <a:p>
            <a:r>
              <a:t>Accurate timers -- if your timer resolution is 10ms (100Hz), you cannot schedule a task to wake up in 5ms. High-resolution timers solve this.</a:t>
            </a:r>
          </a:p>
          <a:p>
            <a:r>
              <a:t>Page faults -- when the kernel needs to fetch a page from swap or populate a page on demand, it takes an unpredictable amount of time. We will cover mlockall() to prevent this.</a:t>
            </a:r>
          </a:p>
          <a:p>
            <a:r>
              <a:t>Interrupts -- hardware interrupts can preempt any task. Interrupt handlers run in a context that cannot be preempted by normal threads.</a:t>
            </a:r>
          </a:p>
          <a:p>
            <a:r>
              <a:t>Processor caches -- cache misses add variable latency. This is hard to control but worth knowing about.</a:t>
            </a:r>
          </a:p>
          <a:p>
            <a:r>
              <a:t>Memory bus contention -- DMA engines and other bus masters can delay CPU memory access.</a:t>
            </a:r>
          </a:p>
          <a:p>
            <a:r>
              <a:t>The good news: Linux provides mechanisms to address every one of these. That is what this session covers.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if there are no other threads of the same or higher priority, there is always a delay from the point at which the wake-up event occurs -- an interrupt or system timer -- to the time that the thread starts to run. This is scheduling latency, and it has several components:</a:t>
            </a:r>
          </a:p>
          <a:p>
            <a:r>
              <a:t>Hardware interrupt latency: the time from the interrupt signal arriving at the CPU to the interrupt handler starting. This is determined by the hardware -- the CPU pipeline, interrupt controller, etc. Typically a few microseconds on ARM.</a:t>
            </a:r>
          </a:p>
          <a:p>
            <a:r>
              <a:t>Interrupt latency: the time the interrupt handler takes to run and wake up the sleeping thread. This depends on the interrupt handler implementation and whether interrupts are masked.</a:t>
            </a:r>
          </a:p>
          <a:p>
            <a:r>
              <a:t>Preemption latency: even after the thread is marked runnable, the kernel may not immediately switch to it if the current context is in a non-preemptible section. This is the component that PREEMPT_RT directly addresses.</a:t>
            </a:r>
          </a:p>
          <a:p>
            <a:r>
              <a:t>On a standard Linux kernel, scheduling latency can be several milliseconds. On a well-configured PREEMPT_RT kernel, you can achieve tens of microseconds consistently. We will measure this difference in the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Preemption latency occurs because it is not always safe or desirable to preempt the current thread of execution and call the scheduler. The mainline Linux kernel has three preemption models, found in Kernel Features &gt; Preemption Model:</a:t>
            </a:r>
          </a:p>
          <a:p>
            <a:r>
              <a:t>CONFIG_PREEMPT_NONE: No forced preemption. The kernel will not preempt a running kernel thread unless it explicitly yields. This gives maximum throughput but the worst latency. Used for servers and compute-heavy workloads. Do not use this for real-time.</a:t>
            </a:r>
          </a:p>
          <a:p>
            <a:r>
              <a:t>CONFIG_PREEMPT_VOLUNTARY: Adds explicit preemption points in long-running kernel code paths. The kernel can voluntarily decide to schedule at these points. Better latency than NONE, but still not deterministic. This is the default on many desktop kernels.</a:t>
            </a:r>
          </a:p>
          <a:p>
            <a:r>
              <a:t>CONFIG_PREEMPT: Allows the kernel to be preempted at almost any point, except when explicitly disabled (e.g., inside a spinlock). This is the option you want for real-time. It is sometimes called CONFIG_PREEMPT_LL (low latency).</a:t>
            </a:r>
          </a:p>
          <a:p>
            <a:r>
              <a:t>For PREEMPT_RT, you need CONFIG_PREEMPT. This is a build-time configuration -- you cannot switch between these at runtime. You must rebuild the kernel.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the majority of kernel locks preemptible is the most intrusive change that PREEMPT_RT makes. This code has been maintained outside mainline for years, though much of it is now being merged.</a:t>
            </a:r>
          </a:p>
          <a:p>
            <a:r>
              <a:t>The problem is spinlocks. A spinlock is a busy-wait mutex -- when a thread tries to acquire a spinlock that is already held, it spins in a loop waiting for it to be released. This is very efficient if the lock is held for a short time because it avoids the overhead of a context switch. The rule of thumb: a spinlock should be held for less than the time it would take to reschedule twice.</a:t>
            </a:r>
          </a:p>
          <a:p>
            <a:r>
              <a:t>But here is the problem for real-time: while a thread is spinning on a lock, it cannot be preempted. If a high-priority real-time task becomes runnable while a low-priority task holds a spinlock on another CPU, the high-priority task cannot run until the lock is released.</a:t>
            </a:r>
          </a:p>
          <a:p>
            <a:r>
              <a:t>PREEMPT_RT converts most spinlocks to rt-mutexes (real-time mutexes). An rt-mutex supports priority inheritance -- if a high-priority task blocks on a lock held by a low-priority task, the low-priority task temporarily inherits the high-priority task's priority so it can finish and release the lock quickly.</a:t>
            </a:r>
          </a:p>
          <a:p>
            <a:r>
              <a:t>This is the single biggest latency reduction that PREEMPT_RT provides.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Timer resolution is critical for real-time applications. If your timer can only tick every 10ms, you cannot reliably wake up a thread at a 1ms interval.</a:t>
            </a:r>
          </a:p>
          <a:p>
            <a:r>
              <a:t>The default Linux timer runs at a configurable rate: typically 100Hz for embedded systems (10ms jiffy) and 250Hz for servers and desktops (4ms jiffy). A jiffy is the interval between two timer ticks.</a:t>
            </a:r>
          </a:p>
          <a:p>
            <a:r>
              <a:t>Linux gained high-resolution timers from the real-time kernel project in version 2.6.18. These are now available on all platforms. High-resolution timers use the hardware timer directly (e.g., the ARM architected timer) instead of the periodic tick, allowing microsecond-precision wakeups.</a:t>
            </a:r>
          </a:p>
          <a:p>
            <a:r>
              <a:t>For real-time work, always enable CONFIG_HIGH_RES_TIMERS. This is typically enabled by default on modern kernels, but verify it in your kernel config. Without it, your scheduling granularity is limited to the jiffy period.</a:t>
            </a:r>
          </a:p>
          <a:p>
            <a:r>
              <a:t>Also consider CONFIG_NO_HZ_FULL, which eliminates timer ticks on CPUs that are running a single task. This removes a source of jitter for dedicated real-time CPUs.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page fault occurs when an application reads or writes to memory that is not committed to physical memory. The kernel must handle the fault, which involves finding or allocating a page, possibly reading from disk, and updating page tables. This takes an unpredictable amount of time -- microseconds to milliseconds.</a:t>
            </a:r>
          </a:p>
          <a:p>
            <a:r>
              <a:t>Page faults are a source of non-determinism for real-time tasks. You cannot predict when they will happen.</a:t>
            </a:r>
          </a:p>
          <a:p>
            <a:r>
              <a:t>The solution is mlockall(2). This function commits all memory used by a process and locks it in RAM, preventing page faults. It has two flags:</a:t>
            </a:r>
          </a:p>
          <a:p>
            <a:r>
              <a:t>MCL_CURRENT: locks all currently mapped pages.
MCL_FUTURE: locks all pages that will be mapped in the future.</a:t>
            </a:r>
          </a:p>
          <a:p>
            <a:r>
              <a:t>For real-time applications, use mlockall(MCL_CURRENT | MCL_FUTURE) at startup. This ensures that all memory -- code, data, stack, heap, shared libraries -- is pinned in physical RAM and will never cause a page fault.</a:t>
            </a:r>
          </a:p>
          <a:p>
            <a:r>
              <a:t>Note: mlockall requires appropriate privileges (CAP_SYS_NICE or root). Also, make sure you have enough physical RAM -- if you lock too much, other processes may be starved.</a:t>
            </a:r>
          </a:p>
          <a:p>
            <a:r>
              <a:t>In the lab, we will demonstrate the difference in cyclictest results with and without mlockall.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approaches to minimizing interrupt interference with real-time tasks:</a:t>
            </a:r>
          </a:p>
          <a:p>
            <a:r>
              <a:t>First, threaded interrupt handlers. Instead of running the entire interrupt handler in hard interrupt context (which cannot be preempted), PREEMPT_RT moves most of the handler work to a kernel thread. This thread can be scheduled at a priority lower than your real-time application threads, meaning your real-time task can preempt the interrupt handler. This is a key PREEMPT_RT feature.</a:t>
            </a:r>
          </a:p>
          <a:p>
            <a:r>
              <a:t>Second, interrupt shielding (also called CPU isolation). On a multi-core processor, you can shield one or more cores from processing interrupts entirely. Those cores are then dedicated to real-time tasks. This works with both normal and PREEMPT_RT kernels.</a:t>
            </a:r>
          </a:p>
          <a:p>
            <a:r>
              <a:t>To shield a CPU, use the isolcpus kernel parameter at boot (e.g., isolcpus=2,3). Then set IRQ affinity to route all interrupts to the non-isolated CPUs. Finally, run your real-time tasks on the isolated CPUs using taskset or sched_setaffinity.</a:t>
            </a:r>
          </a:p>
          <a:p>
            <a:r>
              <a:t>On the RPi4 (quad-core), a common configuration is: CPU 0 handles all interrupts and housekeeping, CPUs 1-3 run real-time tasks with no timer ticks (CONFIG_NO_HZ_FULL).</a:t>
            </a:r>
          </a:p>
          <a:p>
            <a:r>
              <a:t>This is one of the most effective techniques and does not require PREEMPT_RT, though the combination of both gives the best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the configuration and tuning is pointless if you cannot prove that the device meets its deadlines. You will need application-specific benchmarks for final testing, but two tools are essential for measuring scheduling latency:</a:t>
            </a:r>
          </a:p>
          <a:p>
            <a:r>
              <a:t>cyclictest: part of the rt-tests suite. It runs a periodic thread at high priority and measures the time difference between when the thread was supposed to wake up and when it actually woke up. Run it under load (using stress-ng) to simulate worst-case conditions. Typical results on a well-configured PREEMPT_RT system are in the tens of microseconds. On a standard kernel, you will see spikes into the millisecond range.</a:t>
            </a:r>
          </a:p>
          <a:p>
            <a:r>
              <a:t>Ftrace: the Linux kernel's built-in function tracer. It can trace scheduler events, interrupt handling, and function execution with microsecond precision. Use the 'function_graph' tracer to see exactly where time is being spent in the kernel. We will use ftrace in the lab to trace a scheduling latency spike and identify its cause.</a:t>
            </a:r>
          </a:p>
          <a:p>
            <a:r>
              <a:t>Always test under realistic load, not idle. Idle latencies look great on any kernel and are meaningless for real-time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FOR INSTRUCTOR: This slide is titled 'Summary Notes' but the content is about GDB debugging -- it appears to be a copy-paste error from Session 9 (Debug &amp; Profiling). The content does not match the session topic.</a:t>
            </a:r>
          </a:p>
          <a:p>
            <a:r>
              <a:t>Suggested replacement content for this corrected summary slide:
- Real-time means predictable, not fast
- PREEMPT_RT converts spinlocks to rt-mutexes with priority inheritance
- CONFIG_PREEMPT is the kernel config for real-time
- High-resolution timers, mlockall, and interrupt shielding are essential techniques
- cyclictest and ftrace are your measurement tools
- Always measure under load, never trust idle latencies
- PREEMPT_RT is now mainlined in kernel 6.x -- no separate patch set needed</a:t>
            </a:r>
          </a:p>
          <a:p>
            <a:r>
              <a:t>Let us recap what we covered. Real-time is about predictability, not speed. The standard Linux kernel is not real-time because of scheduling latency caused by non-preemptible kernel sections, particularly spinlocks. PREEMPT_RT solves this by converting spinlocks to rt-mutexes with priority inheritance, threading interrupt handlers, and making the kernel fully preemptible.</a:t>
            </a:r>
          </a:p>
          <a:p>
            <a:r>
              <a:t>Key configuration: CONFIG_PREEMPT for the kernel, CONFIG_HIGH_RES_TIMERS for microsecond-precision timing, CONFIG_NO_HZ_FULL for tickless operation on real-time CPUs.</a:t>
            </a:r>
          </a:p>
          <a:p>
            <a:r>
              <a:t>Key techniques: mlockall() to prevent page faults, interrupt shielding (isolcpus) to dedicate CPUs to real-time tasks, threaded interrupt handlers to allow real-time tasks to preempt interrupt processing.</a:t>
            </a:r>
          </a:p>
          <a:p>
            <a:r>
              <a:t>Key tools: cyclictest to measure scheduling latency, ftrace to trace the kernel and find latency sources.</a:t>
            </a:r>
          </a:p>
          <a:p>
            <a:r>
              <a:t>And the big news: PREEMPT_RT is now mainlined in kernel 6.x. You no longer need to apply a separate patch set. Just enable the config options in your kernel build.</a:t>
            </a:r>
          </a:p>
          <a:p>
            <a:r>
              <a:t>For the extra credit: demonstrate a real-time control loop on your RPi4 controlling a GPIO pin, with oscilloscope verification of jitter under 50 microseconds.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quiz slide. The quiz covers all topics from this session: real-time definitions, sources of non-determinism, PREEMPT_RT, kernel preemption models, scheduling latencies, mlockall, interrupt shielding, cyclictest, and ftrace.</a:t>
            </a:r>
          </a:p>
          <a:p>
            <a:r>
              <a:t>10 questions, 45 minutes, 6 attempts allowed, highest score is retained.</a:t>
            </a:r>
          </a:p>
          <a:p>
            <a:r>
              <a:t>Remind students that the quiz is open-book -- they should focus on understanding concepts rather than memorizing facts. The key is understanding why each technique matters and when to use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assignment for this session has students run cyclictest on the RPi4 with both a standard kernel and a PREEMPT_RT kernel, comparing the results. They should also experiment with mlockall and interrupt shielding.</a:t>
            </a:r>
          </a:p>
          <a:p>
            <a:r>
              <a:t>If the assignment says 'None' or appears incomplete, check with the instructor -- there may be a separate assignment document on Canvas.</a:t>
            </a:r>
          </a:p>
          <a:p>
            <a:r>
              <a:t>The hands-on work is the most important part of this session. Make sure students have their RPi4 boards flashed with both kernel variants before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Real-Time</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Programming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Chapter Objectives</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In This Chapter</a:t>
            </a:r>
          </a:p>
          <a:p>
            <a:pPr>
              <a:spcAft>
                <a:spcPts val="600"/>
              </a:spcAft>
              <a:defRPr sz="1800">
                <a:solidFill>
                  <a:srgbClr val="333333"/>
                </a:solidFill>
              </a:defRPr>
            </a:pPr>
            <a:r>
              <a:t>¢ Real-Time Programming</a:t>
            </a:r>
          </a:p>
          <a:p>
            <a:pPr>
              <a:spcAft>
                <a:spcPts val="600"/>
              </a:spcAft>
              <a:defRPr sz="1800">
                <a:solidFill>
                  <a:srgbClr val="333333"/>
                </a:solidFill>
              </a:defRPr>
            </a:pPr>
            <a:r>
              <a:t>* Assignment</a:t>
            </a:r>
          </a:p>
          <a:p>
            <a:pPr>
              <a:spcAft>
                <a:spcPts val="600"/>
              </a:spcAft>
              <a:defRPr sz="1800">
                <a:solidFill>
                  <a:srgbClr val="333333"/>
                </a:solidFill>
              </a:defRPr>
            </a:pPr>
            <a:r>
              <a:t>* Quiz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What is real time?</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The nature of real-time programming has a range of contradictory</a:t>
            </a:r>
          </a:p>
          <a:p>
            <a:pPr>
              <a:spcAft>
                <a:spcPts val="600"/>
              </a:spcAft>
              <a:defRPr sz="1800">
                <a:solidFill>
                  <a:srgbClr val="333333"/>
                </a:solidFill>
              </a:defRPr>
            </a:pPr>
            <a:r>
              <a:t>definitions. The author presents what is important about real time.</a:t>
            </a:r>
          </a:p>
          <a:p>
            <a:pPr>
              <a:spcAft>
                <a:spcPts val="600"/>
              </a:spcAft>
              <a:defRPr sz="1800">
                <a:solidFill>
                  <a:srgbClr val="333333"/>
                </a:solidFill>
              </a:defRPr>
            </a:pPr>
            <a:r>
              <a:t>¢ A task is a real-time task if it must complete before a certain point in time,</a:t>
            </a:r>
          </a:p>
          <a:p>
            <a:pPr>
              <a:spcAft>
                <a:spcPts val="600"/>
              </a:spcAft>
              <a:defRPr sz="1800">
                <a:solidFill>
                  <a:srgbClr val="333333"/>
                </a:solidFill>
              </a:defRPr>
            </a:pPr>
            <a:r>
              <a:t>known as the deadline.</a:t>
            </a:r>
          </a:p>
          <a:p>
            <a:pPr>
              <a:spcAft>
                <a:spcPts val="600"/>
              </a:spcAft>
              <a:defRPr sz="1800">
                <a:solidFill>
                  <a:srgbClr val="333333"/>
                </a:solidFill>
              </a:defRPr>
            </a:pPr>
            <a:r>
              <a:t>* The distinction between real-time and non-real-time tasks is shown by</a:t>
            </a:r>
          </a:p>
          <a:p>
            <a:pPr>
              <a:spcAft>
                <a:spcPts val="600"/>
              </a:spcAft>
              <a:defRPr sz="1800">
                <a:solidFill>
                  <a:srgbClr val="333333"/>
                </a:solidFill>
              </a:defRPr>
            </a:pPr>
            <a:r>
              <a:t>considering what happens when an audio stream is playing on the</a:t>
            </a:r>
          </a:p>
          <a:p>
            <a:pPr>
              <a:spcAft>
                <a:spcPts val="600"/>
              </a:spcAft>
              <a:defRPr sz="1800">
                <a:solidFill>
                  <a:srgbClr val="333333"/>
                </a:solidFill>
              </a:defRPr>
            </a:pPr>
            <a:r>
              <a:t>computer while compiling the Linux kernel.</a:t>
            </a:r>
          </a:p>
          <a:p>
            <a:pPr>
              <a:spcAft>
                <a:spcPts val="600"/>
              </a:spcAft>
              <a:defRPr sz="1800">
                <a:solidFill>
                  <a:srgbClr val="333333"/>
                </a:solidFill>
              </a:defRPr>
            </a:pPr>
            <a:r>
              <a:t>* The first is a real-time task, the compilation is not real-time because there is</a:t>
            </a:r>
          </a:p>
          <a:p>
            <a:pPr>
              <a:spcAft>
                <a:spcPts val="600"/>
              </a:spcAft>
              <a:defRPr sz="1800">
                <a:solidFill>
                  <a:srgbClr val="333333"/>
                </a:solidFill>
              </a:defRPr>
            </a:pPr>
            <a:r>
              <a:t>no deadline .. it needs to complete as soon as possible</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Identifying sources of nondeterminism</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Fundamentally, real-time programming is about making sure that the</a:t>
            </a:r>
          </a:p>
          <a:p>
            <a:pPr>
              <a:spcAft>
                <a:spcPts val="600"/>
              </a:spcAft>
              <a:defRPr sz="1800">
                <a:solidFill>
                  <a:srgbClr val="333333"/>
                </a:solidFill>
              </a:defRPr>
            </a:pPr>
            <a:r>
              <a:t>threads controlling the output in real time are scheduled when needed and</a:t>
            </a:r>
          </a:p>
          <a:p>
            <a:pPr>
              <a:spcAft>
                <a:spcPts val="600"/>
              </a:spcAft>
              <a:defRPr sz="1800">
                <a:solidFill>
                  <a:srgbClr val="333333"/>
                </a:solidFill>
              </a:defRPr>
            </a:pPr>
            <a:r>
              <a:t>so it can complete the job before the deadline.</a:t>
            </a:r>
          </a:p>
          <a:p>
            <a:pPr>
              <a:spcAft>
                <a:spcPts val="600"/>
              </a:spcAft>
              <a:defRPr sz="1800">
                <a:solidFill>
                  <a:srgbClr val="333333"/>
                </a:solidFill>
              </a:defRPr>
            </a:pPr>
            <a:r>
              <a:t>+ Anything that prevents this is a problem.</a:t>
            </a:r>
          </a:p>
          <a:p>
            <a:pPr>
              <a:spcAft>
                <a:spcPts val="600"/>
              </a:spcAft>
              <a:defRPr sz="1800">
                <a:solidFill>
                  <a:srgbClr val="333333"/>
                </a:solidFill>
              </a:defRPr>
            </a:pPr>
            <a:r>
              <a:t>* These are some problem areas:</a:t>
            </a:r>
          </a:p>
          <a:p>
            <a:pPr>
              <a:spcAft>
                <a:spcPts val="600"/>
              </a:spcAft>
              <a:defRPr sz="1800">
                <a:solidFill>
                  <a:srgbClr val="333333"/>
                </a:solidFill>
              </a:defRPr>
            </a:pPr>
            <a:r>
              <a:t>* Scheduling latency, Priority inversion, Accurate timers, Page faults,</a:t>
            </a:r>
          </a:p>
          <a:p>
            <a:pPr>
              <a:spcAft>
                <a:spcPts val="600"/>
              </a:spcAft>
              <a:defRPr sz="1800">
                <a:solidFill>
                  <a:srgbClr val="333333"/>
                </a:solidFill>
              </a:defRPr>
            </a:pPr>
            <a:r>
              <a:t>Interrupts, Processor caches, Memory bus contention</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Understanding scheduling latency</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Real-time threads need to be scheduled as soon as they have something to</a:t>
            </a:r>
          </a:p>
          <a:p>
            <a:pPr>
              <a:spcAft>
                <a:spcPts val="600"/>
              </a:spcAft>
              <a:defRPr sz="1800">
                <a:solidFill>
                  <a:srgbClr val="333333"/>
                </a:solidFill>
              </a:defRPr>
            </a:pPr>
            <a:r>
              <a:t>do.</a:t>
            </a:r>
          </a:p>
          <a:p>
            <a:pPr>
              <a:spcAft>
                <a:spcPts val="600"/>
              </a:spcAft>
              <a:defRPr sz="1800">
                <a:solidFill>
                  <a:srgbClr val="333333"/>
                </a:solidFill>
              </a:defRPr>
            </a:pPr>
            <a:r>
              <a:t>* However, even if there are no other threads of the same or higher priority,</a:t>
            </a:r>
          </a:p>
          <a:p>
            <a:pPr>
              <a:spcAft>
                <a:spcPts val="600"/>
              </a:spcAft>
              <a:defRPr sz="1800">
                <a:solidFill>
                  <a:srgbClr val="333333"/>
                </a:solidFill>
              </a:defRPr>
            </a:pPr>
            <a:r>
              <a:t>there is always a delay from the point at which the wake-up event occurs—</a:t>
            </a:r>
          </a:p>
          <a:p>
            <a:pPr>
              <a:spcAft>
                <a:spcPts val="600"/>
              </a:spcAft>
              <a:defRPr sz="1800">
                <a:solidFill>
                  <a:srgbClr val="333333"/>
                </a:solidFill>
              </a:defRPr>
            </a:pPr>
            <a:r>
              <a:t>an interrupt or system timer—to the time that the thread starts to run.</a:t>
            </a:r>
          </a:p>
          <a:p>
            <a:pPr>
              <a:spcAft>
                <a:spcPts val="600"/>
              </a:spcAft>
              <a:defRPr sz="1800">
                <a:solidFill>
                  <a:srgbClr val="333333"/>
                </a:solidFill>
              </a:defRPr>
            </a:pPr>
            <a:r>
              <a:t>* This is called scheduling latency. It consists of</a:t>
            </a:r>
          </a:p>
          <a:p>
            <a:pPr>
              <a:spcAft>
                <a:spcPts val="600"/>
              </a:spcAft>
              <a:defRPr sz="1800">
                <a:solidFill>
                  <a:srgbClr val="333333"/>
                </a:solidFill>
              </a:defRPr>
            </a:pPr>
            <a:r>
              <a:t>¢ hardware interrupt latency</a:t>
            </a:r>
          </a:p>
          <a:p>
            <a:pPr>
              <a:spcAft>
                <a:spcPts val="600"/>
              </a:spcAft>
              <a:defRPr sz="1800">
                <a:solidFill>
                  <a:srgbClr val="333333"/>
                </a:solidFill>
              </a:defRPr>
            </a:pPr>
            <a:r>
              <a:t>« interrupt latency</a:t>
            </a:r>
          </a:p>
          <a:p>
            <a:pPr>
              <a:spcAft>
                <a:spcPts val="600"/>
              </a:spcAft>
              <a:defRPr sz="1800">
                <a:solidFill>
                  <a:srgbClr val="333333"/>
                </a:solidFill>
              </a:defRPr>
            </a:pPr>
            <a:r>
              <a:t>* preemption latency</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Kernel preemption</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Preemption latency occurs because it is not always safe or desirable to</a:t>
            </a:r>
          </a:p>
          <a:p>
            <a:pPr>
              <a:spcAft>
                <a:spcPts val="600"/>
              </a:spcAft>
              <a:defRPr sz="1800">
                <a:solidFill>
                  <a:srgbClr val="333333"/>
                </a:solidFill>
              </a:defRPr>
            </a:pPr>
            <a:r>
              <a:t>preempt the current thread of execution and call the scheduler.</a:t>
            </a:r>
          </a:p>
          <a:p>
            <a:pPr>
              <a:spcAft>
                <a:spcPts val="600"/>
              </a:spcAft>
              <a:defRPr sz="1800">
                <a:solidFill>
                  <a:srgbClr val="333333"/>
                </a:solidFill>
              </a:defRPr>
            </a:pPr>
            <a:r>
              <a:t>+ Mainline Linux has three settings for preemption, in Kernel Features |</a:t>
            </a:r>
          </a:p>
          <a:p>
            <a:pPr>
              <a:spcAft>
                <a:spcPts val="600"/>
              </a:spcAft>
              <a:defRPr sz="1800">
                <a:solidFill>
                  <a:srgbClr val="333333"/>
                </a:solidFill>
              </a:defRPr>
            </a:pPr>
            <a:r>
              <a:t>Preemption Model menu:</a:t>
            </a:r>
          </a:p>
          <a:p>
            <a:pPr>
              <a:spcAft>
                <a:spcPts val="600"/>
              </a:spcAft>
              <a:defRPr sz="1800">
                <a:solidFill>
                  <a:srgbClr val="333333"/>
                </a:solidFill>
              </a:defRPr>
            </a:pPr>
            <a:r>
              <a:t>CONFIG_PREEMPT_NONE: no preemption.</a:t>
            </a:r>
          </a:p>
          <a:p>
            <a:pPr>
              <a:spcAft>
                <a:spcPts val="600"/>
              </a:spcAft>
              <a:defRPr sz="1800">
                <a:solidFill>
                  <a:srgbClr val="333333"/>
                </a:solidFill>
              </a:defRPr>
            </a:pPr>
            <a:r>
              <a:t>CONFIG_PREEMPT_VOLUNTARY: enables additional checks.</a:t>
            </a:r>
          </a:p>
          <a:p>
            <a:pPr>
              <a:spcAft>
                <a:spcPts val="600"/>
              </a:spcAft>
              <a:defRPr sz="1800">
                <a:solidFill>
                  <a:srgbClr val="333333"/>
                </a:solidFill>
              </a:defRPr>
            </a:pPr>
            <a:r>
              <a:t>CONFIG_PREEMPT: allows the kernel to be preempted.</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Preemptible kernel locks</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Making majority of kernel locks preemptible is most intrusive change that</a:t>
            </a:r>
          </a:p>
          <a:p>
            <a:pPr>
              <a:spcAft>
                <a:spcPts val="600"/>
              </a:spcAft>
              <a:defRPr sz="1800">
                <a:solidFill>
                  <a:srgbClr val="333333"/>
                </a:solidFill>
              </a:defRPr>
            </a:pPr>
            <a:r>
              <a:t>PREEMPT_RT makes, and this code remains outside of the mainline kernel.</a:t>
            </a:r>
          </a:p>
          <a:p>
            <a:pPr>
              <a:spcAft>
                <a:spcPts val="600"/>
              </a:spcAft>
              <a:defRPr sz="1800">
                <a:solidFill>
                  <a:srgbClr val="333333"/>
                </a:solidFill>
              </a:defRPr>
            </a:pPr>
            <a:r>
              <a:t>* The problem occurs with spin locks - used for much of kernel locking.</a:t>
            </a:r>
          </a:p>
          <a:p>
            <a:pPr>
              <a:spcAft>
                <a:spcPts val="600"/>
              </a:spcAft>
              <a:defRPr sz="1800">
                <a:solidFill>
                  <a:srgbClr val="333333"/>
                </a:solidFill>
              </a:defRPr>
            </a:pPr>
            <a:r>
              <a:t>* Aspin lock is a busy-wait mutex that does not require a context switch in the</a:t>
            </a:r>
          </a:p>
          <a:p>
            <a:pPr>
              <a:spcAft>
                <a:spcPts val="600"/>
              </a:spcAft>
              <a:defRPr sz="1800">
                <a:solidFill>
                  <a:srgbClr val="333333"/>
                </a:solidFill>
              </a:defRPr>
            </a:pPr>
            <a:r>
              <a:t>contended case, and so it is very efficient if the lock is held for a short time.</a:t>
            </a:r>
          </a:p>
          <a:p>
            <a:pPr>
              <a:spcAft>
                <a:spcPts val="600"/>
              </a:spcAft>
              <a:defRPr sz="1800">
                <a:solidFill>
                  <a:srgbClr val="333333"/>
                </a:solidFill>
              </a:defRPr>
            </a:pPr>
            <a:r>
              <a:t>* Ideally, they should be locked for less than the time it would take to</a:t>
            </a:r>
          </a:p>
          <a:p>
            <a:pPr>
              <a:spcAft>
                <a:spcPts val="600"/>
              </a:spcAft>
              <a:defRPr sz="1800">
                <a:solidFill>
                  <a:srgbClr val="333333"/>
                </a:solidFill>
              </a:defRPr>
            </a:pPr>
            <a:r>
              <a:t>reschedule twice.</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High-resolution timers</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Timer resolution is important for precise timing requirements, which is typical</a:t>
            </a:r>
          </a:p>
          <a:p>
            <a:pPr>
              <a:spcAft>
                <a:spcPts val="600"/>
              </a:spcAft>
              <a:defRPr sz="1800">
                <a:solidFill>
                  <a:srgbClr val="333333"/>
                </a:solidFill>
              </a:defRPr>
            </a:pPr>
            <a:r>
              <a:t>for real-time applications.</a:t>
            </a:r>
          </a:p>
          <a:p>
            <a:pPr>
              <a:spcAft>
                <a:spcPts val="600"/>
              </a:spcAft>
              <a:defRPr sz="1800">
                <a:solidFill>
                  <a:srgbClr val="333333"/>
                </a:solidFill>
              </a:defRPr>
            </a:pPr>
            <a:r>
              <a:t>* The default timer in Linux is a clock that runs at a configurable rate, typically</a:t>
            </a:r>
          </a:p>
          <a:p>
            <a:pPr>
              <a:spcAft>
                <a:spcPts val="600"/>
              </a:spcAft>
              <a:defRPr sz="1800">
                <a:solidFill>
                  <a:srgbClr val="333333"/>
                </a:solidFill>
              </a:defRPr>
            </a:pPr>
            <a:r>
              <a:t>100 Hz for embedded systems and 250 Hz for servers and desktops.</a:t>
            </a:r>
          </a:p>
          <a:p>
            <a:pPr>
              <a:spcAft>
                <a:spcPts val="600"/>
              </a:spcAft>
              <a:defRPr sz="1800">
                <a:solidFill>
                  <a:srgbClr val="333333"/>
                </a:solidFill>
              </a:defRPr>
            </a:pPr>
            <a:r>
              <a:t>* The interval between two timer ticks is known as a jiffy and, in the examples</a:t>
            </a:r>
          </a:p>
          <a:p>
            <a:pPr>
              <a:spcAft>
                <a:spcPts val="600"/>
              </a:spcAft>
              <a:defRPr sz="1800">
                <a:solidFill>
                  <a:srgbClr val="333333"/>
                </a:solidFill>
              </a:defRPr>
            </a:pPr>
            <a:r>
              <a:t>given previously, is 10 milliseconds on an embedded SoC and 4 milliseconds</a:t>
            </a:r>
          </a:p>
          <a:p>
            <a:pPr>
              <a:spcAft>
                <a:spcPts val="600"/>
              </a:spcAft>
              <a:defRPr sz="1800">
                <a:solidFill>
                  <a:srgbClr val="333333"/>
                </a:solidFill>
              </a:defRPr>
            </a:pPr>
            <a:r>
              <a:t>on a server.</a:t>
            </a:r>
          </a:p>
          <a:p>
            <a:pPr>
              <a:spcAft>
                <a:spcPts val="600"/>
              </a:spcAft>
              <a:defRPr sz="1800">
                <a:solidFill>
                  <a:srgbClr val="333333"/>
                </a:solidFill>
              </a:defRPr>
            </a:pPr>
            <a:r>
              <a:t>+ Linux gained more accurate timers from the real-time kernel project in version</a:t>
            </a:r>
          </a:p>
          <a:p>
            <a:pPr>
              <a:spcAft>
                <a:spcPts val="600"/>
              </a:spcAft>
              <a:defRPr sz="1800">
                <a:solidFill>
                  <a:srgbClr val="333333"/>
                </a:solidFill>
              </a:defRPr>
            </a:pPr>
            <a:r>
              <a:t>2.6.18, and now they are available on all platforms, with a high resolution</a:t>
            </a:r>
          </a:p>
          <a:p>
            <a:pPr>
              <a:spcAft>
                <a:spcPts val="600"/>
              </a:spcAft>
              <a:defRPr sz="1800">
                <a:solidFill>
                  <a:srgbClr val="333333"/>
                </a:solidFill>
              </a:defRPr>
            </a:pPr>
            <a:r>
              <a:t>timer source and device driver for it—which is almost always the case.</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Avoiding page faults</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page fault occurs when an application reads or writes to memory that is not</a:t>
            </a:r>
          </a:p>
          <a:p>
            <a:pPr>
              <a:spcAft>
                <a:spcPts val="600"/>
              </a:spcAft>
              <a:defRPr sz="1800">
                <a:solidFill>
                  <a:srgbClr val="333333"/>
                </a:solidFill>
              </a:defRPr>
            </a:pPr>
            <a:r>
              <a:t>committed to physical memory.</a:t>
            </a:r>
          </a:p>
          <a:p>
            <a:pPr>
              <a:spcAft>
                <a:spcPts val="600"/>
              </a:spcAft>
              <a:defRPr sz="1800">
                <a:solidFill>
                  <a:srgbClr val="333333"/>
                </a:solidFill>
              </a:defRPr>
            </a:pPr>
            <a:r>
              <a:t>+ impossible to predict when a page fault occurs, so they are a source of non-</a:t>
            </a:r>
          </a:p>
          <a:p>
            <a:pPr>
              <a:spcAft>
                <a:spcPts val="600"/>
              </a:spcAft>
              <a:defRPr sz="1800">
                <a:solidFill>
                  <a:srgbClr val="333333"/>
                </a:solidFill>
              </a:defRPr>
            </a:pPr>
            <a:r>
              <a:t>determinism for RT topics.</a:t>
            </a:r>
          </a:p>
          <a:p>
            <a:pPr>
              <a:spcAft>
                <a:spcPts val="600"/>
              </a:spcAft>
              <a:defRPr sz="1800">
                <a:solidFill>
                  <a:srgbClr val="333333"/>
                </a:solidFill>
              </a:defRPr>
            </a:pPr>
            <a:r>
              <a:t>¢ Fortunately, mlockall(2) is a function that commits all memory used by a</a:t>
            </a:r>
          </a:p>
          <a:p>
            <a:pPr>
              <a:spcAft>
                <a:spcPts val="600"/>
              </a:spcAft>
              <a:defRPr sz="1800">
                <a:solidFill>
                  <a:srgbClr val="333333"/>
                </a:solidFill>
              </a:defRPr>
            </a:pPr>
            <a:r>
              <a:t>process and locks it to avoid page faults.</a:t>
            </a:r>
          </a:p>
          <a:p>
            <a:pPr>
              <a:spcAft>
                <a:spcPts val="600"/>
              </a:spcAft>
              <a:defRPr sz="1800">
                <a:solidFill>
                  <a:srgbClr val="333333"/>
                </a:solidFill>
              </a:defRPr>
            </a:pPr>
            <a:r>
              <a:t>¢ And, it has two flags:</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Interrupt shielding</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Using threaded interrupt handlers helps mitigate interrupt overhead by</a:t>
            </a:r>
          </a:p>
          <a:p>
            <a:pPr>
              <a:spcAft>
                <a:spcPts val="600"/>
              </a:spcAft>
              <a:defRPr sz="1800">
                <a:solidFill>
                  <a:srgbClr val="333333"/>
                </a:solidFill>
              </a:defRPr>
            </a:pPr>
            <a:r>
              <a:t>running some threads at a higher priority than interrupt handlers that do not</a:t>
            </a:r>
          </a:p>
          <a:p>
            <a:pPr>
              <a:spcAft>
                <a:spcPts val="600"/>
              </a:spcAft>
              <a:defRPr sz="1800">
                <a:solidFill>
                  <a:srgbClr val="333333"/>
                </a:solidFill>
              </a:defRPr>
            </a:pPr>
            <a:r>
              <a:t>impact realtime tasks.</a:t>
            </a:r>
          </a:p>
          <a:p>
            <a:pPr>
              <a:spcAft>
                <a:spcPts val="600"/>
              </a:spcAft>
              <a:defRPr sz="1800">
                <a:solidFill>
                  <a:srgbClr val="333333"/>
                </a:solidFill>
              </a:defRPr>
            </a:pPr>
            <a:r>
              <a:t>¢ When using a multi-core processor, it can take a different approach and</a:t>
            </a:r>
          </a:p>
          <a:p>
            <a:pPr>
              <a:spcAft>
                <a:spcPts val="600"/>
              </a:spcAft>
              <a:defRPr sz="1800">
                <a:solidFill>
                  <a:srgbClr val="333333"/>
                </a:solidFill>
              </a:defRPr>
            </a:pPr>
            <a:r>
              <a:t>shield one or more cores from processing interrupts completely, allowing</a:t>
            </a:r>
          </a:p>
          <a:p>
            <a:pPr>
              <a:spcAft>
                <a:spcPts val="600"/>
              </a:spcAft>
              <a:defRPr sz="1800">
                <a:solidFill>
                  <a:srgbClr val="333333"/>
                </a:solidFill>
              </a:defRPr>
            </a:pPr>
            <a:r>
              <a:t>them to be dedicated to real-time tasks instead.</a:t>
            </a:r>
          </a:p>
          <a:p>
            <a:pPr>
              <a:spcAft>
                <a:spcPts val="600"/>
              </a:spcAft>
              <a:defRPr sz="1800">
                <a:solidFill>
                  <a:srgbClr val="333333"/>
                </a:solidFill>
              </a:defRPr>
            </a:pPr>
            <a:r>
              <a:t>* This works either with a normal Linux kernel or a PREEMPT_RT kernel.</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Measuring scheduling latencies</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All the configuration and tuning is pointless if it cannot be shown that the</a:t>
            </a:r>
          </a:p>
          <a:p>
            <a:pPr>
              <a:spcAft>
                <a:spcPts val="600"/>
              </a:spcAft>
              <a:defRPr sz="1800">
                <a:solidFill>
                  <a:srgbClr val="333333"/>
                </a:solidFill>
              </a:defRPr>
            </a:pPr>
            <a:r>
              <a:t>device meets the deadlines.</a:t>
            </a:r>
          </a:p>
          <a:p>
            <a:pPr>
              <a:spcAft>
                <a:spcPts val="600"/>
              </a:spcAft>
              <a:defRPr sz="1800">
                <a:solidFill>
                  <a:srgbClr val="333333"/>
                </a:solidFill>
              </a:defRPr>
            </a:pPr>
            <a:r>
              <a:t>* It will need own benchmarks for the final testing, but here are two important</a:t>
            </a:r>
          </a:p>
          <a:p>
            <a:pPr>
              <a:spcAft>
                <a:spcPts val="600"/>
              </a:spcAft>
              <a:defRPr sz="1800">
                <a:solidFill>
                  <a:srgbClr val="333333"/>
                </a:solidFill>
              </a:defRPr>
            </a:pPr>
            <a:r>
              <a:t>measurement tools: cyclictest and Ftrace.</a:t>
            </a:r>
          </a:p>
          <a:p>
            <a:pPr>
              <a:spcAft>
                <a:spcPts val="600"/>
              </a:spcAft>
              <a:defRPr sz="1800">
                <a:solidFill>
                  <a:srgbClr val="333333"/>
                </a:solidFill>
              </a:defRPr>
            </a:pPr>
            <a:r>
              <a:t>https://bootlin.com/doc/training/embedded-linux/embedded-linux-slides.pdf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Summary Notes</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 Knowing how to use GDB for interactive debugging is a useful tool in the</a:t>
            </a:r>
          </a:p>
          <a:p>
            <a:pPr>
              <a:spcAft>
                <a:spcPts val="600"/>
              </a:spcAft>
              <a:defRPr sz="1800">
                <a:solidFill>
                  <a:srgbClr val="333333"/>
                </a:solidFill>
              </a:defRPr>
            </a:pPr>
            <a:r>
              <a:t>embedded system developer's tool chest. It is a stable, well-documented,</a:t>
            </a:r>
          </a:p>
          <a:p>
            <a:pPr>
              <a:spcAft>
                <a:spcPts val="600"/>
              </a:spcAft>
              <a:defRPr sz="1800">
                <a:solidFill>
                  <a:srgbClr val="333333"/>
                </a:solidFill>
              </a:defRPr>
            </a:pPr>
            <a:r>
              <a:t>and well-known entity.</a:t>
            </a:r>
          </a:p>
          <a:p>
            <a:pPr>
              <a:spcAft>
                <a:spcPts val="600"/>
              </a:spcAft>
              <a:defRPr sz="1800">
                <a:solidFill>
                  <a:srgbClr val="333333"/>
                </a:solidFill>
              </a:defRPr>
            </a:pPr>
            <a:r>
              <a:t>* It has the ability to debug remotely by placing an agent on the target, be it</a:t>
            </a:r>
          </a:p>
          <a:p>
            <a:pPr>
              <a:spcAft>
                <a:spcPts val="600"/>
              </a:spcAft>
              <a:defRPr sz="1800">
                <a:solidFill>
                  <a:srgbClr val="333333"/>
                </a:solidFill>
              </a:defRPr>
            </a:pPr>
            <a:r>
              <a:t>gdbserver for applications or kgdb for kernel code, and although the default</a:t>
            </a:r>
          </a:p>
          <a:p>
            <a:pPr>
              <a:spcAft>
                <a:spcPts val="600"/>
              </a:spcAft>
              <a:defRPr sz="1800">
                <a:solidFill>
                  <a:srgbClr val="333333"/>
                </a:solidFill>
              </a:defRPr>
            </a:pPr>
            <a:r>
              <a:t>command-line user interface takes a while to get used to, there are many</a:t>
            </a:r>
          </a:p>
          <a:p>
            <a:pPr>
              <a:spcAft>
                <a:spcPts val="600"/>
              </a:spcAft>
              <a:defRPr sz="1800">
                <a:solidFill>
                  <a:srgbClr val="333333"/>
                </a:solidFill>
              </a:defRPr>
            </a:pPr>
            <a:r>
              <a:t>alternative frontends.</a:t>
            </a:r>
          </a:p>
          <a:p>
            <a:pPr>
              <a:spcAft>
                <a:spcPts val="600"/>
              </a:spcAft>
              <a:defRPr sz="1800">
                <a:solidFill>
                  <a:srgbClr val="333333"/>
                </a:solidFill>
              </a:defRPr>
            </a:pPr>
            <a:r>
              <a:t>¢ The three mentioned were TUI, DDD, and Visual Studio Code.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Quiz</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Canvas</a:t>
            </a:r>
          </a:p>
          <a:p>
            <a:pPr>
              <a:spcAft>
                <a:spcPts val="600"/>
              </a:spcAft>
              <a:defRPr sz="1800">
                <a:solidFill>
                  <a:srgbClr val="333333"/>
                </a:solidFill>
              </a:defRPr>
            </a:pPr>
            <a:r>
              <a:t>¢ 10 Questions</a:t>
            </a:r>
          </a:p>
          <a:p>
            <a:pPr>
              <a:spcAft>
                <a:spcPts val="600"/>
              </a:spcAft>
              <a:defRPr sz="1800">
                <a:solidFill>
                  <a:srgbClr val="333333"/>
                </a:solidFill>
              </a:defRPr>
            </a:pPr>
            <a:r>
              <a:t>¢ 45 Mins</a:t>
            </a:r>
          </a:p>
          <a:p>
            <a:pPr>
              <a:spcAft>
                <a:spcPts val="600"/>
              </a:spcAft>
              <a:defRPr sz="1800">
                <a:solidFill>
                  <a:srgbClr val="333333"/>
                </a:solidFill>
              </a:defRPr>
            </a:pPr>
            <a:r>
              <a:t>¢ 6 Attempts</a:t>
            </a:r>
          </a:p>
          <a:p>
            <a:pPr>
              <a:spcAft>
                <a:spcPts val="600"/>
              </a:spcAft>
              <a:defRPr sz="1800">
                <a:solidFill>
                  <a:srgbClr val="333333"/>
                </a:solidFill>
              </a:defRPr>
            </a:pPr>
            <a:r>
              <a:t>¢ Highest Retained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defRPr sz="2800" b="1">
                <a:solidFill>
                  <a:srgbClr val="1A1A2E"/>
                </a:solidFill>
              </a:defRPr>
            </a:pPr>
            <a:r>
              <a:t>Assignment</a:t>
            </a:r>
          </a:p>
        </p:txBody>
      </p:sp>
      <p:sp>
        <p:nvSpPr>
          <p:cNvPr id="3" name="TextBox 2"/>
          <p:cNvSpPr txBox="1"/>
          <p:nvPr/>
        </p:nvSpPr>
        <p:spPr>
          <a:xfrm>
            <a:off x="457200" y="1097280"/>
            <a:ext cx="8229600" cy="5029200"/>
          </a:xfrm>
          <a:prstGeom prst="rect">
            <a:avLst/>
          </a:prstGeom>
          <a:noFill/>
        </p:spPr>
        <p:txBody>
          <a:bodyPr wrap="square">
            <a:spAutoFit/>
          </a:bodyPr>
          <a:lstStyle/>
          <a:p>
            <a:pPr>
              <a:spcAft>
                <a:spcPts val="600"/>
              </a:spcAft>
              <a:defRPr sz="1800">
                <a:solidFill>
                  <a:srgbClr val="333333"/>
                </a:solidFill>
              </a:defRPr>
            </a:pPr>
            <a:r>
              <a:t>1. None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